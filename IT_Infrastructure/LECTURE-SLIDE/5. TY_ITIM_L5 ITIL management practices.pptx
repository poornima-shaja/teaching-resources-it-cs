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80"/>
  </p:notesMasterIdLst>
  <p:sldIdLst>
    <p:sldId id="256" r:id="rId2"/>
    <p:sldId id="257" r:id="rId3"/>
    <p:sldId id="345" r:id="rId4"/>
    <p:sldId id="258" r:id="rId5"/>
    <p:sldId id="346" r:id="rId6"/>
    <p:sldId id="353" r:id="rId7"/>
    <p:sldId id="341" r:id="rId8"/>
    <p:sldId id="342" r:id="rId9"/>
    <p:sldId id="347" r:id="rId10"/>
    <p:sldId id="348" r:id="rId11"/>
    <p:sldId id="338" r:id="rId12"/>
    <p:sldId id="350" r:id="rId13"/>
    <p:sldId id="351" r:id="rId14"/>
    <p:sldId id="352" r:id="rId15"/>
    <p:sldId id="275" r:id="rId16"/>
    <p:sldId id="343" r:id="rId17"/>
    <p:sldId id="354" r:id="rId18"/>
    <p:sldId id="339" r:id="rId19"/>
    <p:sldId id="344" r:id="rId20"/>
    <p:sldId id="355" r:id="rId21"/>
    <p:sldId id="356" r:id="rId22"/>
    <p:sldId id="357" r:id="rId23"/>
    <p:sldId id="358" r:id="rId24"/>
    <p:sldId id="280" r:id="rId25"/>
    <p:sldId id="359" r:id="rId26"/>
    <p:sldId id="360" r:id="rId27"/>
    <p:sldId id="361" r:id="rId28"/>
    <p:sldId id="362" r:id="rId29"/>
    <p:sldId id="366" r:id="rId30"/>
    <p:sldId id="363" r:id="rId31"/>
    <p:sldId id="364" r:id="rId32"/>
    <p:sldId id="367" r:id="rId33"/>
    <p:sldId id="368" r:id="rId34"/>
    <p:sldId id="369" r:id="rId35"/>
    <p:sldId id="370" r:id="rId36"/>
    <p:sldId id="371" r:id="rId37"/>
    <p:sldId id="372" r:id="rId38"/>
    <p:sldId id="373" r:id="rId39"/>
    <p:sldId id="374" r:id="rId40"/>
    <p:sldId id="375" r:id="rId41"/>
    <p:sldId id="376" r:id="rId42"/>
    <p:sldId id="377" r:id="rId43"/>
    <p:sldId id="378" r:id="rId44"/>
    <p:sldId id="379" r:id="rId45"/>
    <p:sldId id="380" r:id="rId46"/>
    <p:sldId id="381" r:id="rId47"/>
    <p:sldId id="382" r:id="rId48"/>
    <p:sldId id="383" r:id="rId49"/>
    <p:sldId id="384" r:id="rId50"/>
    <p:sldId id="385" r:id="rId51"/>
    <p:sldId id="386" r:id="rId52"/>
    <p:sldId id="387" r:id="rId53"/>
    <p:sldId id="388" r:id="rId54"/>
    <p:sldId id="389" r:id="rId55"/>
    <p:sldId id="390" r:id="rId56"/>
    <p:sldId id="391" r:id="rId57"/>
    <p:sldId id="392" r:id="rId58"/>
    <p:sldId id="393" r:id="rId59"/>
    <p:sldId id="394" r:id="rId60"/>
    <p:sldId id="397" r:id="rId61"/>
    <p:sldId id="395" r:id="rId62"/>
    <p:sldId id="398" r:id="rId63"/>
    <p:sldId id="396" r:id="rId64"/>
    <p:sldId id="399" r:id="rId65"/>
    <p:sldId id="400" r:id="rId66"/>
    <p:sldId id="402" r:id="rId67"/>
    <p:sldId id="401" r:id="rId68"/>
    <p:sldId id="403" r:id="rId69"/>
    <p:sldId id="404" r:id="rId70"/>
    <p:sldId id="405" r:id="rId71"/>
    <p:sldId id="413" r:id="rId72"/>
    <p:sldId id="406" r:id="rId73"/>
    <p:sldId id="407" r:id="rId74"/>
    <p:sldId id="414" r:id="rId75"/>
    <p:sldId id="415" r:id="rId76"/>
    <p:sldId id="416" r:id="rId77"/>
    <p:sldId id="409" r:id="rId78"/>
    <p:sldId id="412" r:id="rId79"/>
    <p:sldId id="417" r:id="rId80"/>
    <p:sldId id="418" r:id="rId81"/>
    <p:sldId id="419" r:id="rId82"/>
    <p:sldId id="421" r:id="rId83"/>
    <p:sldId id="420" r:id="rId84"/>
    <p:sldId id="432" r:id="rId85"/>
    <p:sldId id="422" r:id="rId86"/>
    <p:sldId id="425" r:id="rId87"/>
    <p:sldId id="426" r:id="rId88"/>
    <p:sldId id="427" r:id="rId89"/>
    <p:sldId id="428" r:id="rId90"/>
    <p:sldId id="429" r:id="rId91"/>
    <p:sldId id="430" r:id="rId92"/>
    <p:sldId id="431" r:id="rId93"/>
    <p:sldId id="433" r:id="rId94"/>
    <p:sldId id="434" r:id="rId95"/>
    <p:sldId id="435" r:id="rId96"/>
    <p:sldId id="436" r:id="rId97"/>
    <p:sldId id="438" r:id="rId98"/>
    <p:sldId id="439" r:id="rId99"/>
    <p:sldId id="441" r:id="rId100"/>
    <p:sldId id="442" r:id="rId101"/>
    <p:sldId id="443" r:id="rId102"/>
    <p:sldId id="445" r:id="rId103"/>
    <p:sldId id="446" r:id="rId104"/>
    <p:sldId id="447" r:id="rId105"/>
    <p:sldId id="448" r:id="rId106"/>
    <p:sldId id="449" r:id="rId107"/>
    <p:sldId id="450" r:id="rId108"/>
    <p:sldId id="451" r:id="rId109"/>
    <p:sldId id="458" r:id="rId110"/>
    <p:sldId id="452" r:id="rId111"/>
    <p:sldId id="453" r:id="rId112"/>
    <p:sldId id="454" r:id="rId113"/>
    <p:sldId id="455" r:id="rId114"/>
    <p:sldId id="456" r:id="rId115"/>
    <p:sldId id="457" r:id="rId116"/>
    <p:sldId id="459" r:id="rId117"/>
    <p:sldId id="460" r:id="rId118"/>
    <p:sldId id="461" r:id="rId119"/>
    <p:sldId id="462" r:id="rId120"/>
    <p:sldId id="463" r:id="rId121"/>
    <p:sldId id="464" r:id="rId122"/>
    <p:sldId id="465" r:id="rId123"/>
    <p:sldId id="466" r:id="rId124"/>
    <p:sldId id="468" r:id="rId125"/>
    <p:sldId id="469" r:id="rId126"/>
    <p:sldId id="470" r:id="rId127"/>
    <p:sldId id="472" r:id="rId128"/>
    <p:sldId id="471" r:id="rId129"/>
    <p:sldId id="477" r:id="rId130"/>
    <p:sldId id="473" r:id="rId131"/>
    <p:sldId id="478" r:id="rId132"/>
    <p:sldId id="474" r:id="rId133"/>
    <p:sldId id="479" r:id="rId134"/>
    <p:sldId id="480" r:id="rId135"/>
    <p:sldId id="481" r:id="rId136"/>
    <p:sldId id="483" r:id="rId137"/>
    <p:sldId id="485" r:id="rId138"/>
    <p:sldId id="484" r:id="rId139"/>
    <p:sldId id="486" r:id="rId140"/>
    <p:sldId id="487" r:id="rId141"/>
    <p:sldId id="488" r:id="rId142"/>
    <p:sldId id="493" r:id="rId143"/>
    <p:sldId id="490" r:id="rId144"/>
    <p:sldId id="491" r:id="rId145"/>
    <p:sldId id="492" r:id="rId146"/>
    <p:sldId id="494" r:id="rId147"/>
    <p:sldId id="495" r:id="rId148"/>
    <p:sldId id="496" r:id="rId149"/>
    <p:sldId id="518" r:id="rId150"/>
    <p:sldId id="519" r:id="rId151"/>
    <p:sldId id="520" r:id="rId152"/>
    <p:sldId id="521" r:id="rId153"/>
    <p:sldId id="523" r:id="rId154"/>
    <p:sldId id="522" r:id="rId155"/>
    <p:sldId id="524" r:id="rId156"/>
    <p:sldId id="525" r:id="rId157"/>
    <p:sldId id="526" r:id="rId158"/>
    <p:sldId id="527" r:id="rId159"/>
    <p:sldId id="528" r:id="rId160"/>
    <p:sldId id="529" r:id="rId161"/>
    <p:sldId id="530" r:id="rId162"/>
    <p:sldId id="531" r:id="rId163"/>
    <p:sldId id="532" r:id="rId164"/>
    <p:sldId id="533" r:id="rId165"/>
    <p:sldId id="534" r:id="rId166"/>
    <p:sldId id="535" r:id="rId167"/>
    <p:sldId id="536" r:id="rId168"/>
    <p:sldId id="537" r:id="rId169"/>
    <p:sldId id="538" r:id="rId170"/>
    <p:sldId id="539" r:id="rId171"/>
    <p:sldId id="542" r:id="rId172"/>
    <p:sldId id="541" r:id="rId173"/>
    <p:sldId id="543" r:id="rId174"/>
    <p:sldId id="544" r:id="rId175"/>
    <p:sldId id="545" r:id="rId176"/>
    <p:sldId id="549" r:id="rId177"/>
    <p:sldId id="547" r:id="rId178"/>
    <p:sldId id="548" r:id="rId179"/>
    <p:sldId id="550" r:id="rId180"/>
    <p:sldId id="551" r:id="rId181"/>
    <p:sldId id="552" r:id="rId182"/>
    <p:sldId id="553" r:id="rId183"/>
    <p:sldId id="554" r:id="rId184"/>
    <p:sldId id="556" r:id="rId185"/>
    <p:sldId id="555" r:id="rId186"/>
    <p:sldId id="557" r:id="rId187"/>
    <p:sldId id="558" r:id="rId188"/>
    <p:sldId id="559" r:id="rId189"/>
    <p:sldId id="560" r:id="rId190"/>
    <p:sldId id="564" r:id="rId191"/>
    <p:sldId id="561" r:id="rId192"/>
    <p:sldId id="563" r:id="rId193"/>
    <p:sldId id="565" r:id="rId194"/>
    <p:sldId id="566" r:id="rId195"/>
    <p:sldId id="567" r:id="rId196"/>
    <p:sldId id="568" r:id="rId197"/>
    <p:sldId id="570" r:id="rId198"/>
    <p:sldId id="572" r:id="rId199"/>
    <p:sldId id="573" r:id="rId200"/>
    <p:sldId id="574" r:id="rId201"/>
    <p:sldId id="575" r:id="rId202"/>
    <p:sldId id="571" r:id="rId203"/>
    <p:sldId id="576" r:id="rId204"/>
    <p:sldId id="577" r:id="rId205"/>
    <p:sldId id="578" r:id="rId206"/>
    <p:sldId id="579" r:id="rId207"/>
    <p:sldId id="580" r:id="rId208"/>
    <p:sldId id="582" r:id="rId209"/>
    <p:sldId id="586" r:id="rId210"/>
    <p:sldId id="585" r:id="rId211"/>
    <p:sldId id="587" r:id="rId212"/>
    <p:sldId id="588" r:id="rId213"/>
    <p:sldId id="589" r:id="rId214"/>
    <p:sldId id="590" r:id="rId215"/>
    <p:sldId id="591" r:id="rId216"/>
    <p:sldId id="594" r:id="rId217"/>
    <p:sldId id="595" r:id="rId218"/>
    <p:sldId id="596" r:id="rId219"/>
    <p:sldId id="597" r:id="rId220"/>
    <p:sldId id="598" r:id="rId221"/>
    <p:sldId id="599" r:id="rId222"/>
    <p:sldId id="601" r:id="rId223"/>
    <p:sldId id="602" r:id="rId224"/>
    <p:sldId id="603" r:id="rId225"/>
    <p:sldId id="604" r:id="rId226"/>
    <p:sldId id="606" r:id="rId227"/>
    <p:sldId id="605" r:id="rId228"/>
    <p:sldId id="600" r:id="rId229"/>
    <p:sldId id="607" r:id="rId230"/>
    <p:sldId id="608" r:id="rId231"/>
    <p:sldId id="609" r:id="rId232"/>
    <p:sldId id="610" r:id="rId233"/>
    <p:sldId id="612" r:id="rId234"/>
    <p:sldId id="613" r:id="rId235"/>
    <p:sldId id="614" r:id="rId236"/>
    <p:sldId id="615" r:id="rId237"/>
    <p:sldId id="616" r:id="rId238"/>
    <p:sldId id="623" r:id="rId239"/>
    <p:sldId id="617" r:id="rId240"/>
    <p:sldId id="618" r:id="rId241"/>
    <p:sldId id="619" r:id="rId242"/>
    <p:sldId id="620" r:id="rId243"/>
    <p:sldId id="621" r:id="rId244"/>
    <p:sldId id="624" r:id="rId245"/>
    <p:sldId id="622" r:id="rId246"/>
    <p:sldId id="625" r:id="rId247"/>
    <p:sldId id="626" r:id="rId248"/>
    <p:sldId id="627" r:id="rId249"/>
    <p:sldId id="628" r:id="rId250"/>
    <p:sldId id="629" r:id="rId251"/>
    <p:sldId id="630" r:id="rId252"/>
    <p:sldId id="631" r:id="rId253"/>
    <p:sldId id="632" r:id="rId254"/>
    <p:sldId id="633" r:id="rId255"/>
    <p:sldId id="634" r:id="rId256"/>
    <p:sldId id="635" r:id="rId257"/>
    <p:sldId id="637" r:id="rId258"/>
    <p:sldId id="636" r:id="rId259"/>
    <p:sldId id="517" r:id="rId260"/>
    <p:sldId id="497" r:id="rId261"/>
    <p:sldId id="498" r:id="rId262"/>
    <p:sldId id="499" r:id="rId263"/>
    <p:sldId id="500" r:id="rId264"/>
    <p:sldId id="501" r:id="rId265"/>
    <p:sldId id="502" r:id="rId266"/>
    <p:sldId id="503" r:id="rId267"/>
    <p:sldId id="504" r:id="rId268"/>
    <p:sldId id="505" r:id="rId269"/>
    <p:sldId id="515" r:id="rId270"/>
    <p:sldId id="516" r:id="rId271"/>
    <p:sldId id="507" r:id="rId272"/>
    <p:sldId id="508" r:id="rId273"/>
    <p:sldId id="509" r:id="rId274"/>
    <p:sldId id="510" r:id="rId275"/>
    <p:sldId id="513" r:id="rId276"/>
    <p:sldId id="511" r:id="rId277"/>
    <p:sldId id="514" r:id="rId278"/>
    <p:sldId id="269" r:id="rId279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718" autoAdjust="0"/>
    <p:restoredTop sz="94660"/>
  </p:normalViewPr>
  <p:slideViewPr>
    <p:cSldViewPr>
      <p:cViewPr varScale="1">
        <p:scale>
          <a:sx n="90" d="100"/>
          <a:sy n="90" d="100"/>
        </p:scale>
        <p:origin x="108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91" Type="http://schemas.openxmlformats.org/officeDocument/2006/relationships/slide" Target="slides/slide190.xml"/><Relationship Id="rId205" Type="http://schemas.openxmlformats.org/officeDocument/2006/relationships/slide" Target="slides/slide204.xml"/><Relationship Id="rId226" Type="http://schemas.openxmlformats.org/officeDocument/2006/relationships/slide" Target="slides/slide225.xml"/><Relationship Id="rId247" Type="http://schemas.openxmlformats.org/officeDocument/2006/relationships/slide" Target="slides/slide246.xml"/><Relationship Id="rId107" Type="http://schemas.openxmlformats.org/officeDocument/2006/relationships/slide" Target="slides/slide106.xml"/><Relationship Id="rId268" Type="http://schemas.openxmlformats.org/officeDocument/2006/relationships/slide" Target="slides/slide267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slide" Target="slides/slide180.xml"/><Relationship Id="rId216" Type="http://schemas.openxmlformats.org/officeDocument/2006/relationships/slide" Target="slides/slide215.xml"/><Relationship Id="rId237" Type="http://schemas.openxmlformats.org/officeDocument/2006/relationships/slide" Target="slides/slide236.xml"/><Relationship Id="rId258" Type="http://schemas.openxmlformats.org/officeDocument/2006/relationships/slide" Target="slides/slide257.xml"/><Relationship Id="rId279" Type="http://schemas.openxmlformats.org/officeDocument/2006/relationships/slide" Target="slides/slide278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92" Type="http://schemas.openxmlformats.org/officeDocument/2006/relationships/slide" Target="slides/slide191.xml"/><Relationship Id="rId206" Type="http://schemas.openxmlformats.org/officeDocument/2006/relationships/slide" Target="slides/slide205.xml"/><Relationship Id="rId227" Type="http://schemas.openxmlformats.org/officeDocument/2006/relationships/slide" Target="slides/slide226.xml"/><Relationship Id="rId248" Type="http://schemas.openxmlformats.org/officeDocument/2006/relationships/slide" Target="slides/slide247.xml"/><Relationship Id="rId269" Type="http://schemas.openxmlformats.org/officeDocument/2006/relationships/slide" Target="slides/slide268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280" Type="http://schemas.openxmlformats.org/officeDocument/2006/relationships/notesMaster" Target="notesMasters/notesMaster1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slide" Target="slides/slide181.xml"/><Relationship Id="rId217" Type="http://schemas.openxmlformats.org/officeDocument/2006/relationships/slide" Target="slides/slide216.xml"/><Relationship Id="rId6" Type="http://schemas.openxmlformats.org/officeDocument/2006/relationships/slide" Target="slides/slide5.xml"/><Relationship Id="rId238" Type="http://schemas.openxmlformats.org/officeDocument/2006/relationships/slide" Target="slides/slide237.xml"/><Relationship Id="rId259" Type="http://schemas.openxmlformats.org/officeDocument/2006/relationships/slide" Target="slides/slide258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270" Type="http://schemas.openxmlformats.org/officeDocument/2006/relationships/slide" Target="slides/slide269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172" Type="http://schemas.openxmlformats.org/officeDocument/2006/relationships/slide" Target="slides/slide171.xml"/><Relationship Id="rId193" Type="http://schemas.openxmlformats.org/officeDocument/2006/relationships/slide" Target="slides/slide192.xml"/><Relationship Id="rId207" Type="http://schemas.openxmlformats.org/officeDocument/2006/relationships/slide" Target="slides/slide206.xml"/><Relationship Id="rId228" Type="http://schemas.openxmlformats.org/officeDocument/2006/relationships/slide" Target="slides/slide227.xml"/><Relationship Id="rId249" Type="http://schemas.openxmlformats.org/officeDocument/2006/relationships/slide" Target="slides/slide24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260" Type="http://schemas.openxmlformats.org/officeDocument/2006/relationships/slide" Target="slides/slide259.xml"/><Relationship Id="rId265" Type="http://schemas.openxmlformats.org/officeDocument/2006/relationships/slide" Target="slides/slide264.xml"/><Relationship Id="rId281" Type="http://schemas.openxmlformats.org/officeDocument/2006/relationships/presProps" Target="presProps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13" Type="http://schemas.openxmlformats.org/officeDocument/2006/relationships/slide" Target="slides/slide212.xml"/><Relationship Id="rId218" Type="http://schemas.openxmlformats.org/officeDocument/2006/relationships/slide" Target="slides/slide217.xml"/><Relationship Id="rId234" Type="http://schemas.openxmlformats.org/officeDocument/2006/relationships/slide" Target="slides/slide233.xml"/><Relationship Id="rId239" Type="http://schemas.openxmlformats.org/officeDocument/2006/relationships/slide" Target="slides/slide238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50" Type="http://schemas.openxmlformats.org/officeDocument/2006/relationships/slide" Target="slides/slide249.xml"/><Relationship Id="rId255" Type="http://schemas.openxmlformats.org/officeDocument/2006/relationships/slide" Target="slides/slide254.xml"/><Relationship Id="rId271" Type="http://schemas.openxmlformats.org/officeDocument/2006/relationships/slide" Target="slides/slide270.xml"/><Relationship Id="rId276" Type="http://schemas.openxmlformats.org/officeDocument/2006/relationships/slide" Target="slides/slide275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slide" Target="slides/slide193.xml"/><Relationship Id="rId199" Type="http://schemas.openxmlformats.org/officeDocument/2006/relationships/slide" Target="slides/slide198.xml"/><Relationship Id="rId203" Type="http://schemas.openxmlformats.org/officeDocument/2006/relationships/slide" Target="slides/slide202.xml"/><Relationship Id="rId208" Type="http://schemas.openxmlformats.org/officeDocument/2006/relationships/slide" Target="slides/slide207.xml"/><Relationship Id="rId229" Type="http://schemas.openxmlformats.org/officeDocument/2006/relationships/slide" Target="slides/slide228.xml"/><Relationship Id="rId19" Type="http://schemas.openxmlformats.org/officeDocument/2006/relationships/slide" Target="slides/slide18.xml"/><Relationship Id="rId224" Type="http://schemas.openxmlformats.org/officeDocument/2006/relationships/slide" Target="slides/slide223.xml"/><Relationship Id="rId240" Type="http://schemas.openxmlformats.org/officeDocument/2006/relationships/slide" Target="slides/slide239.xml"/><Relationship Id="rId245" Type="http://schemas.openxmlformats.org/officeDocument/2006/relationships/slide" Target="slides/slide244.xml"/><Relationship Id="rId261" Type="http://schemas.openxmlformats.org/officeDocument/2006/relationships/slide" Target="slides/slide260.xml"/><Relationship Id="rId266" Type="http://schemas.openxmlformats.org/officeDocument/2006/relationships/slide" Target="slides/slide265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282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189" Type="http://schemas.openxmlformats.org/officeDocument/2006/relationships/slide" Target="slides/slide188.xml"/><Relationship Id="rId219" Type="http://schemas.openxmlformats.org/officeDocument/2006/relationships/slide" Target="slides/slide218.xml"/><Relationship Id="rId3" Type="http://schemas.openxmlformats.org/officeDocument/2006/relationships/slide" Target="slides/slide2.xml"/><Relationship Id="rId214" Type="http://schemas.openxmlformats.org/officeDocument/2006/relationships/slide" Target="slides/slide213.xml"/><Relationship Id="rId230" Type="http://schemas.openxmlformats.org/officeDocument/2006/relationships/slide" Target="slides/slide229.xml"/><Relationship Id="rId235" Type="http://schemas.openxmlformats.org/officeDocument/2006/relationships/slide" Target="slides/slide234.xml"/><Relationship Id="rId251" Type="http://schemas.openxmlformats.org/officeDocument/2006/relationships/slide" Target="slides/slide250.xml"/><Relationship Id="rId256" Type="http://schemas.openxmlformats.org/officeDocument/2006/relationships/slide" Target="slides/slide255.xml"/><Relationship Id="rId277" Type="http://schemas.openxmlformats.org/officeDocument/2006/relationships/slide" Target="slides/slide276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72" Type="http://schemas.openxmlformats.org/officeDocument/2006/relationships/slide" Target="slides/slide27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slide" Target="slides/slide178.xml"/><Relationship Id="rId195" Type="http://schemas.openxmlformats.org/officeDocument/2006/relationships/slide" Target="slides/slide194.xml"/><Relationship Id="rId209" Type="http://schemas.openxmlformats.org/officeDocument/2006/relationships/slide" Target="slides/slide208.xml"/><Relationship Id="rId190" Type="http://schemas.openxmlformats.org/officeDocument/2006/relationships/slide" Target="slides/slide189.xml"/><Relationship Id="rId204" Type="http://schemas.openxmlformats.org/officeDocument/2006/relationships/slide" Target="slides/slide203.xml"/><Relationship Id="rId220" Type="http://schemas.openxmlformats.org/officeDocument/2006/relationships/slide" Target="slides/slide219.xml"/><Relationship Id="rId225" Type="http://schemas.openxmlformats.org/officeDocument/2006/relationships/slide" Target="slides/slide224.xml"/><Relationship Id="rId241" Type="http://schemas.openxmlformats.org/officeDocument/2006/relationships/slide" Target="slides/slide240.xml"/><Relationship Id="rId246" Type="http://schemas.openxmlformats.org/officeDocument/2006/relationships/slide" Target="slides/slide245.xml"/><Relationship Id="rId267" Type="http://schemas.openxmlformats.org/officeDocument/2006/relationships/slide" Target="slides/slide266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262" Type="http://schemas.openxmlformats.org/officeDocument/2006/relationships/slide" Target="slides/slide261.xml"/><Relationship Id="rId283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185" Type="http://schemas.openxmlformats.org/officeDocument/2006/relationships/slide" Target="slides/slide18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slide" Target="slides/slide179.xml"/><Relationship Id="rId210" Type="http://schemas.openxmlformats.org/officeDocument/2006/relationships/slide" Target="slides/slide209.xml"/><Relationship Id="rId215" Type="http://schemas.openxmlformats.org/officeDocument/2006/relationships/slide" Target="slides/slide214.xml"/><Relationship Id="rId236" Type="http://schemas.openxmlformats.org/officeDocument/2006/relationships/slide" Target="slides/slide235.xml"/><Relationship Id="rId257" Type="http://schemas.openxmlformats.org/officeDocument/2006/relationships/slide" Target="slides/slide256.xml"/><Relationship Id="rId278" Type="http://schemas.openxmlformats.org/officeDocument/2006/relationships/slide" Target="slides/slide277.xml"/><Relationship Id="rId26" Type="http://schemas.openxmlformats.org/officeDocument/2006/relationships/slide" Target="slides/slide25.xml"/><Relationship Id="rId231" Type="http://schemas.openxmlformats.org/officeDocument/2006/relationships/slide" Target="slides/slide230.xml"/><Relationship Id="rId252" Type="http://schemas.openxmlformats.org/officeDocument/2006/relationships/slide" Target="slides/slide251.xml"/><Relationship Id="rId273" Type="http://schemas.openxmlformats.org/officeDocument/2006/relationships/slide" Target="slides/slide272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96" Type="http://schemas.openxmlformats.org/officeDocument/2006/relationships/slide" Target="slides/slide195.xml"/><Relationship Id="rId200" Type="http://schemas.openxmlformats.org/officeDocument/2006/relationships/slide" Target="slides/slide199.xml"/><Relationship Id="rId16" Type="http://schemas.openxmlformats.org/officeDocument/2006/relationships/slide" Target="slides/slide15.xml"/><Relationship Id="rId221" Type="http://schemas.openxmlformats.org/officeDocument/2006/relationships/slide" Target="slides/slide220.xml"/><Relationship Id="rId242" Type="http://schemas.openxmlformats.org/officeDocument/2006/relationships/slide" Target="slides/slide241.xml"/><Relationship Id="rId263" Type="http://schemas.openxmlformats.org/officeDocument/2006/relationships/slide" Target="slides/slide262.xml"/><Relationship Id="rId284" Type="http://schemas.openxmlformats.org/officeDocument/2006/relationships/tableStyles" Target="tableStyles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211" Type="http://schemas.openxmlformats.org/officeDocument/2006/relationships/slide" Target="slides/slide210.xml"/><Relationship Id="rId232" Type="http://schemas.openxmlformats.org/officeDocument/2006/relationships/slide" Target="slides/slide231.xml"/><Relationship Id="rId253" Type="http://schemas.openxmlformats.org/officeDocument/2006/relationships/slide" Target="slides/slide252.xml"/><Relationship Id="rId274" Type="http://schemas.openxmlformats.org/officeDocument/2006/relationships/slide" Target="slides/slide273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97" Type="http://schemas.openxmlformats.org/officeDocument/2006/relationships/slide" Target="slides/slide196.xml"/><Relationship Id="rId201" Type="http://schemas.openxmlformats.org/officeDocument/2006/relationships/slide" Target="slides/slide200.xml"/><Relationship Id="rId222" Type="http://schemas.openxmlformats.org/officeDocument/2006/relationships/slide" Target="slides/slide221.xml"/><Relationship Id="rId243" Type="http://schemas.openxmlformats.org/officeDocument/2006/relationships/slide" Target="slides/slide242.xml"/><Relationship Id="rId264" Type="http://schemas.openxmlformats.org/officeDocument/2006/relationships/slide" Target="slides/slide263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slide" Target="slides/slide186.xml"/><Relationship Id="rId1" Type="http://schemas.openxmlformats.org/officeDocument/2006/relationships/slideMaster" Target="slideMasters/slideMaster1.xml"/><Relationship Id="rId212" Type="http://schemas.openxmlformats.org/officeDocument/2006/relationships/slide" Target="slides/slide211.xml"/><Relationship Id="rId233" Type="http://schemas.openxmlformats.org/officeDocument/2006/relationships/slide" Target="slides/slide232.xml"/><Relationship Id="rId254" Type="http://schemas.openxmlformats.org/officeDocument/2006/relationships/slide" Target="slides/slide253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275" Type="http://schemas.openxmlformats.org/officeDocument/2006/relationships/slide" Target="slides/slide274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98" Type="http://schemas.openxmlformats.org/officeDocument/2006/relationships/slide" Target="slides/slide197.xml"/><Relationship Id="rId202" Type="http://schemas.openxmlformats.org/officeDocument/2006/relationships/slide" Target="slides/slide201.xml"/><Relationship Id="rId223" Type="http://schemas.openxmlformats.org/officeDocument/2006/relationships/slide" Target="slides/slide222.xml"/><Relationship Id="rId244" Type="http://schemas.openxmlformats.org/officeDocument/2006/relationships/slide" Target="slides/slide24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650E53-DE1B-407D-A709-579CCB904A60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143FC4-0F31-4797-9FA8-1F6AE70727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36065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43FC4-0F31-4797-9FA8-1F6AE7072728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30897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43FC4-0F31-4797-9FA8-1F6AE7072728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97304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C84B24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C84B24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4984" y="432816"/>
            <a:ext cx="3459183" cy="6123432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2934462" y="2177033"/>
            <a:ext cx="8770620" cy="0"/>
          </a:xfrm>
          <a:custGeom>
            <a:avLst/>
            <a:gdLst/>
            <a:ahLst/>
            <a:cxnLst/>
            <a:rect l="l" t="t" r="r" b="b"/>
            <a:pathLst>
              <a:path w="8770620">
                <a:moveTo>
                  <a:pt x="0" y="0"/>
                </a:moveTo>
                <a:lnTo>
                  <a:pt x="8770619" y="0"/>
                </a:lnTo>
              </a:path>
            </a:pathLst>
          </a:custGeom>
          <a:ln w="38100">
            <a:solidFill>
              <a:srgbClr val="79A8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2944368" y="2456687"/>
            <a:ext cx="3077845" cy="1516380"/>
          </a:xfrm>
          <a:custGeom>
            <a:avLst/>
            <a:gdLst/>
            <a:ahLst/>
            <a:cxnLst/>
            <a:rect l="l" t="t" r="r" b="b"/>
            <a:pathLst>
              <a:path w="3077845" h="1516379">
                <a:moveTo>
                  <a:pt x="3077845" y="757428"/>
                </a:moveTo>
                <a:lnTo>
                  <a:pt x="3066948" y="751078"/>
                </a:lnTo>
                <a:lnTo>
                  <a:pt x="2989199" y="705739"/>
                </a:lnTo>
                <a:lnTo>
                  <a:pt x="2985262" y="706755"/>
                </a:lnTo>
                <a:lnTo>
                  <a:pt x="2981706" y="712851"/>
                </a:lnTo>
                <a:lnTo>
                  <a:pt x="2982722" y="716661"/>
                </a:lnTo>
                <a:lnTo>
                  <a:pt x="3041700" y="751078"/>
                </a:lnTo>
                <a:lnTo>
                  <a:pt x="2528316" y="751078"/>
                </a:lnTo>
                <a:lnTo>
                  <a:pt x="2528316" y="0"/>
                </a:lnTo>
                <a:lnTo>
                  <a:pt x="0" y="0"/>
                </a:lnTo>
                <a:lnTo>
                  <a:pt x="0" y="1516380"/>
                </a:lnTo>
                <a:lnTo>
                  <a:pt x="2528316" y="1516380"/>
                </a:lnTo>
                <a:lnTo>
                  <a:pt x="2528316" y="763778"/>
                </a:lnTo>
                <a:lnTo>
                  <a:pt x="3041700" y="763778"/>
                </a:lnTo>
                <a:lnTo>
                  <a:pt x="2982722" y="798195"/>
                </a:lnTo>
                <a:lnTo>
                  <a:pt x="2981706" y="802005"/>
                </a:lnTo>
                <a:lnTo>
                  <a:pt x="2985262" y="808101"/>
                </a:lnTo>
                <a:lnTo>
                  <a:pt x="2989199" y="809117"/>
                </a:lnTo>
                <a:lnTo>
                  <a:pt x="3066948" y="763778"/>
                </a:lnTo>
                <a:lnTo>
                  <a:pt x="3077845" y="757428"/>
                </a:lnTo>
                <a:close/>
              </a:path>
            </a:pathLst>
          </a:custGeom>
          <a:solidFill>
            <a:srgbClr val="79A8A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2944368" y="2456688"/>
            <a:ext cx="2528570" cy="1516380"/>
          </a:xfrm>
          <a:custGeom>
            <a:avLst/>
            <a:gdLst/>
            <a:ahLst/>
            <a:cxnLst/>
            <a:rect l="l" t="t" r="r" b="b"/>
            <a:pathLst>
              <a:path w="2528570" h="1516379">
                <a:moveTo>
                  <a:pt x="0" y="1516380"/>
                </a:moveTo>
                <a:lnTo>
                  <a:pt x="2528316" y="1516380"/>
                </a:lnTo>
                <a:lnTo>
                  <a:pt x="2528316" y="0"/>
                </a:lnTo>
                <a:lnTo>
                  <a:pt x="0" y="0"/>
                </a:lnTo>
                <a:lnTo>
                  <a:pt x="0" y="151638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C84B24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C84B24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79780" y="130251"/>
            <a:ext cx="5954395" cy="124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C84B24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731010" y="2270505"/>
            <a:ext cx="8729980" cy="2527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5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search?q=MTBF&amp;oq=MTBF+%26+MTRS&amp;gs_lcrp=EgZjaHJvbWUyBggAEEUYOdIBBzE4OGowajeoAgCwAgA&amp;sourceid=chrome&amp;ie=UTF-8&amp;ved=2ahUKEwiO16ygn8qSAxXnna8BHdxnDAoQgK4QegYIAQgAEAM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www.google.com/search?q=MTTR&amp;oq=MTBF+%26+MTRS&amp;gs_lcrp=EgZjaHJvbWUyBggAEEUYOdIBBzE4OGowajeoAgCwAgA&amp;sourceid=chrome&amp;ie=UTF-8&amp;ved=2ahUKEwiO16ygn8qSAxXnna8BHdxnDAoQgK4QegYIAQgAEAQ" TargetMode="Externa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/Relationships>
</file>

<file path=ppt/slides/_rels/slide1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/Relationships>
</file>

<file path=ppt/slides/_rels/slide1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/Relationships>
</file>

<file path=ppt/slides/_rels/slide1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5.xml"/></Relationships>
</file>

<file path=ppt/slides/_rels/slide2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5.xml"/></Relationships>
</file>

<file path=ppt/slides/_rels/slide2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5.xml"/></Relationships>
</file>

<file path=ppt/slides/_rels/slide2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5.xml"/></Relationships>
</file>

<file path=ppt/slides/_rels/slide2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5.xml"/></Relationships>
</file>

<file path=ppt/slides/_rels/slide2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5.xml"/></Relationships>
</file>

<file path=ppt/slides/_rels/slide2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5.xml"/></Relationships>
</file>

<file path=ppt/slides/_rels/slide2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5.xml"/></Relationships>
</file>

<file path=ppt/slides/_rels/slide2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5.xml"/></Relationships>
</file>

<file path=ppt/slides/_rels/slide2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5.xml"/></Relationships>
</file>

<file path=ppt/slides/_rels/slide2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5.xml"/></Relationships>
</file>

<file path=ppt/slides/_rels/slide2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5.xml"/></Relationships>
</file>

<file path=ppt/slides/_rels/slide2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5.xml"/></Relationships>
</file>

<file path=ppt/slides/_rels/slide2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5.xml"/></Relationships>
</file>

<file path=ppt/slides/_rels/slide2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5.xml"/></Relationships>
</file>

<file path=ppt/slides/_rels/slide2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373187" y="945215"/>
            <a:ext cx="10363200" cy="2821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2650490">
              <a:lnSpc>
                <a:spcPts val="5550"/>
              </a:lnSpc>
            </a:pPr>
            <a:r>
              <a:rPr lang="en-US" sz="4400" b="0" spc="150" dirty="0">
                <a:solidFill>
                  <a:srgbClr val="FFFFFF"/>
                </a:solidFill>
                <a:latin typeface="Cambria"/>
                <a:cs typeface="Cambria"/>
              </a:rPr>
              <a:t>IT Infrastructure</a:t>
            </a:r>
            <a:br>
              <a:rPr lang="en-US" sz="4400" b="0" spc="150" dirty="0">
                <a:solidFill>
                  <a:srgbClr val="FFFFFF"/>
                </a:solidFill>
                <a:latin typeface="Cambria"/>
                <a:cs typeface="Cambria"/>
              </a:rPr>
            </a:br>
            <a:r>
              <a:rPr lang="en-US" sz="4400" b="0" spc="150" dirty="0">
                <a:solidFill>
                  <a:srgbClr val="FFFFFF"/>
                </a:solidFill>
                <a:latin typeface="Cambria"/>
                <a:cs typeface="Cambria"/>
              </a:rPr>
              <a:t>                      Management</a:t>
            </a:r>
            <a:br>
              <a:rPr lang="en-US" sz="4400" b="0" spc="150" dirty="0">
                <a:solidFill>
                  <a:srgbClr val="FFFFFF"/>
                </a:solidFill>
                <a:latin typeface="Cambria"/>
                <a:cs typeface="Cambria"/>
              </a:rPr>
            </a:br>
            <a:r>
              <a:rPr lang="en-US" sz="4400" b="0" spc="150" dirty="0">
                <a:solidFill>
                  <a:srgbClr val="FFFFFF"/>
                </a:solidFill>
                <a:latin typeface="Cambria"/>
                <a:cs typeface="Cambria"/>
              </a:rPr>
              <a:t>           </a:t>
            </a:r>
            <a:r>
              <a:rPr lang="en-US" sz="2400" b="0" spc="150" dirty="0">
                <a:solidFill>
                  <a:srgbClr val="FFFFFF"/>
                </a:solidFill>
                <a:latin typeface="Cambria"/>
                <a:cs typeface="Cambria"/>
              </a:rPr>
              <a:t>Chapter 5:  ITIL MANAGEMENT PRACTICES</a:t>
            </a:r>
            <a:br>
              <a:rPr lang="en-US" sz="4400" b="0" spc="210" dirty="0">
                <a:solidFill>
                  <a:srgbClr val="FFFFFF"/>
                </a:solidFill>
                <a:latin typeface="Cambria"/>
                <a:cs typeface="Cambria"/>
              </a:rPr>
            </a:br>
            <a:r>
              <a:rPr lang="en-US" sz="4400" b="0" spc="210" dirty="0">
                <a:solidFill>
                  <a:srgbClr val="FFFFFF"/>
                </a:solidFill>
                <a:latin typeface="Cambria"/>
                <a:cs typeface="Cambria"/>
              </a:rPr>
              <a:t>                       </a:t>
            </a:r>
            <a:r>
              <a:rPr lang="en-US" sz="3200" b="0" spc="210" dirty="0">
                <a:solidFill>
                  <a:srgbClr val="FFFFFF"/>
                </a:solidFill>
                <a:latin typeface="Cambria"/>
                <a:cs typeface="Cambria"/>
              </a:rPr>
              <a:t>TY B.Sc. (IT)</a:t>
            </a:r>
            <a:endParaRPr lang="en-US" sz="4400" dirty="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33290" y="3920997"/>
            <a:ext cx="2729865" cy="2744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FFFFFF"/>
                </a:solidFill>
                <a:latin typeface="Calibri"/>
                <a:cs typeface="Calibri"/>
              </a:rPr>
              <a:t>Semester</a:t>
            </a:r>
            <a:r>
              <a:rPr sz="17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spc="-25" dirty="0">
                <a:solidFill>
                  <a:srgbClr val="FFFFFF"/>
                </a:solidFill>
                <a:latin typeface="Calibri"/>
                <a:cs typeface="Calibri"/>
              </a:rPr>
              <a:t>VI</a:t>
            </a:r>
            <a:endParaRPr sz="1700" dirty="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410961" y="3766565"/>
            <a:ext cx="1371600" cy="0"/>
          </a:xfrm>
          <a:custGeom>
            <a:avLst/>
            <a:gdLst/>
            <a:ahLst/>
            <a:cxnLst/>
            <a:rect l="l" t="t" r="r" b="b"/>
            <a:pathLst>
              <a:path w="1371600">
                <a:moveTo>
                  <a:pt x="0" y="0"/>
                </a:moveTo>
                <a:lnTo>
                  <a:pt x="1371599" y="0"/>
                </a:lnTo>
              </a:path>
            </a:pathLst>
          </a:custGeom>
          <a:ln w="38100">
            <a:solidFill>
              <a:srgbClr val="00A4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45388" y="6519164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FDFCF8"/>
                </a:solidFill>
                <a:latin typeface="Cambria"/>
                <a:cs typeface="Cambria"/>
              </a:rPr>
              <a:t>1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7" name="object 3" descr="$PPTXTitle">
            <a:extLst>
              <a:ext uri="{FF2B5EF4-FFF2-40B4-BE49-F238E27FC236}">
                <a16:creationId xmlns:a16="http://schemas.microsoft.com/office/drawing/2014/main" id="{6FAB2A22-FBB1-FA70-ED68-3643E270AE45}"/>
              </a:ext>
            </a:extLst>
          </p:cNvPr>
          <p:cNvSpPr txBox="1">
            <a:spLocks/>
          </p:cNvSpPr>
          <p:nvPr/>
        </p:nvSpPr>
        <p:spPr>
          <a:xfrm>
            <a:off x="3189922" y="5105400"/>
            <a:ext cx="8546465" cy="13267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4000" b="1" i="0">
                <a:solidFill>
                  <a:srgbClr val="C84B24"/>
                </a:solidFill>
                <a:latin typeface="Segoe UI"/>
                <a:ea typeface="+mj-ea"/>
                <a:cs typeface="Segoe UI"/>
              </a:defRPr>
            </a:lvl1pPr>
          </a:lstStyle>
          <a:p>
            <a:pPr marL="12700" marR="5080" indent="2650490" algn="r">
              <a:lnSpc>
                <a:spcPts val="5550"/>
              </a:lnSpc>
            </a:pP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                                        Poornima .N</a:t>
            </a:r>
          </a:p>
          <a:p>
            <a:pPr marL="12700" marR="5080" indent="2650490" algn="r">
              <a:lnSpc>
                <a:spcPts val="5550"/>
              </a:lnSpc>
            </a:pP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Assistant Professor, Department of IT/CS</a:t>
            </a:r>
            <a:endParaRPr lang="en-US" sz="24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694372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1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IN" sz="4400" b="0" spc="225" dirty="0">
                <a:solidFill>
                  <a:schemeClr val="tx1"/>
                </a:solidFill>
                <a:latin typeface="Cambria"/>
                <a:cs typeface="Cambria"/>
              </a:rPr>
              <a:t>Topics</a:t>
            </a:r>
            <a:r>
              <a:rPr sz="4400" b="0" spc="140" dirty="0">
                <a:solidFill>
                  <a:schemeClr val="tx1"/>
                </a:solidFill>
                <a:latin typeface="Cambria"/>
                <a:cs typeface="Cambria"/>
              </a:rPr>
              <a:t>: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23EFCFC4-0D40-859A-7DDE-BBC33F376206}"/>
              </a:ext>
            </a:extLst>
          </p:cNvPr>
          <p:cNvSpPr txBox="1"/>
          <p:nvPr/>
        </p:nvSpPr>
        <p:spPr>
          <a:xfrm>
            <a:off x="2934462" y="2286000"/>
            <a:ext cx="8448040" cy="3256661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4000" b="1" dirty="0">
                <a:latin typeface="Centaur" panose="02030504050205020304" pitchFamily="18" charset="0"/>
              </a:rPr>
              <a:t>General Management Practices:</a:t>
            </a:r>
            <a:endParaRPr lang="en-US" sz="4000" dirty="0">
              <a:latin typeface="Centaur" panose="02030504050205020304" pitchFamily="18" charset="0"/>
            </a:endParaRPr>
          </a:p>
          <a:p>
            <a:pPr lvl="1"/>
            <a:endParaRPr lang="en-US" sz="4000" dirty="0">
              <a:latin typeface="Centaur" panose="02030504050205020304" pitchFamily="18" charset="0"/>
            </a:endParaRPr>
          </a:p>
          <a:p>
            <a:r>
              <a:rPr lang="en-US" sz="4000" b="1" dirty="0">
                <a:latin typeface="Centaur" panose="02030504050205020304" pitchFamily="18" charset="0"/>
              </a:rPr>
              <a:t>Service Management Practices:</a:t>
            </a:r>
            <a:endParaRPr lang="en-US" sz="4000" dirty="0">
              <a:latin typeface="Centaur" panose="02030504050205020304" pitchFamily="18" charset="0"/>
            </a:endParaRPr>
          </a:p>
          <a:p>
            <a:pPr lvl="1"/>
            <a:endParaRPr lang="en-US" sz="4000" dirty="0">
              <a:latin typeface="Centaur" panose="02030504050205020304" pitchFamily="18" charset="0"/>
            </a:endParaRPr>
          </a:p>
          <a:p>
            <a:r>
              <a:rPr lang="en-US" sz="4000" b="1" dirty="0">
                <a:latin typeface="Centaur" panose="02030504050205020304" pitchFamily="18" charset="0"/>
              </a:rPr>
              <a:t>Technical Management Practices:</a:t>
            </a:r>
            <a:endParaRPr lang="en-US" sz="4000" dirty="0">
              <a:latin typeface="Centaur" panose="020305040502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2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>
                <a:latin typeface="Centaur" panose="02030504050205020304" pitchFamily="18" charset="0"/>
              </a:rPr>
              <a:t> General management </a:t>
            </a:r>
            <a:br>
              <a:rPr lang="en-US" sz="4400" dirty="0"/>
            </a:b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70B6F45A-3E48-C83F-505A-1069ACABA0A4}"/>
              </a:ext>
            </a:extLst>
          </p:cNvPr>
          <p:cNvSpPr txBox="1"/>
          <p:nvPr/>
        </p:nvSpPr>
        <p:spPr>
          <a:xfrm>
            <a:off x="2934462" y="2286000"/>
            <a:ext cx="8448040" cy="2641108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4000" dirty="0">
                <a:latin typeface="Centaur" panose="02030504050205020304" pitchFamily="18" charset="0"/>
              </a:rPr>
              <a:t>General management practices have been adopted and adapted for service management from general</a:t>
            </a:r>
          </a:p>
          <a:p>
            <a:r>
              <a:rPr lang="en-US" sz="4000" dirty="0">
                <a:latin typeface="Centaur" panose="02030504050205020304" pitchFamily="18" charset="0"/>
              </a:rPr>
              <a:t>business management domains.</a:t>
            </a:r>
          </a:p>
        </p:txBody>
      </p:sp>
    </p:spTree>
    <p:extLst>
      <p:ext uri="{BB962C8B-B14F-4D97-AF65-F5344CB8AC3E}">
        <p14:creationId xmlns:p14="http://schemas.microsoft.com/office/powerpoint/2010/main" val="29980680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2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>
                <a:latin typeface="Centaur" panose="02030504050205020304" pitchFamily="18" charset="0"/>
              </a:rPr>
              <a:t> Service management </a:t>
            </a:r>
            <a:br>
              <a:rPr lang="en-US" sz="4400" dirty="0"/>
            </a:b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70B6F45A-3E48-C83F-505A-1069ACABA0A4}"/>
              </a:ext>
            </a:extLst>
          </p:cNvPr>
          <p:cNvSpPr txBox="1"/>
          <p:nvPr/>
        </p:nvSpPr>
        <p:spPr>
          <a:xfrm>
            <a:off x="2934462" y="2286000"/>
            <a:ext cx="8448040" cy="2025555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4000" dirty="0">
                <a:latin typeface="Centaur" panose="02030504050205020304" pitchFamily="18" charset="0"/>
              </a:rPr>
              <a:t>Service management practices have been developed in service management and ITSM industries.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2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>
                <a:latin typeface="Centaur" panose="02030504050205020304" pitchFamily="18" charset="0"/>
              </a:rPr>
              <a:t> Technical management </a:t>
            </a:r>
            <a:br>
              <a:rPr lang="en-US" sz="4400" dirty="0"/>
            </a:b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70B6F45A-3E48-C83F-505A-1069ACABA0A4}"/>
              </a:ext>
            </a:extLst>
          </p:cNvPr>
          <p:cNvSpPr txBox="1"/>
          <p:nvPr/>
        </p:nvSpPr>
        <p:spPr>
          <a:xfrm>
            <a:off x="2934462" y="2286000"/>
            <a:ext cx="8448040" cy="3872214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4000" dirty="0">
                <a:latin typeface="Centaur" panose="02030504050205020304" pitchFamily="18" charset="0"/>
              </a:rPr>
              <a:t>Technical management practices have been adapted from technology management domains for service</a:t>
            </a:r>
          </a:p>
          <a:p>
            <a:r>
              <a:rPr lang="en-US" sz="4000" dirty="0">
                <a:latin typeface="Centaur" panose="02030504050205020304" pitchFamily="18" charset="0"/>
              </a:rPr>
              <a:t>management purposes by expanding or shifting their focus from technology solutions to IT services.</a:t>
            </a:r>
          </a:p>
        </p:txBody>
      </p:sp>
    </p:spTree>
    <p:extLst>
      <p:ext uri="{BB962C8B-B14F-4D97-AF65-F5344CB8AC3E}">
        <p14:creationId xmlns:p14="http://schemas.microsoft.com/office/powerpoint/2010/main" val="6013167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3B74F-C29E-A290-E8BB-BE046C6C9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8802" y="2807585"/>
            <a:ext cx="6863398" cy="1231106"/>
          </a:xfrm>
        </p:spPr>
        <p:txBody>
          <a:bodyPr/>
          <a:lstStyle/>
          <a:p>
            <a:r>
              <a:rPr lang="en-IN" sz="4000" dirty="0"/>
              <a:t>1. Architecture management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13252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41258B-56D7-6882-F544-03C895CE66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7B68DE1-FC74-AE56-1BC3-B094E4F4902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39CD34CD-423B-3332-CE59-8C230B81496D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9F86A49D-358F-1096-4507-A69BF3356863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51B71E6-F932-0E77-477E-9C7D9A566E01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5C270EE6-4BE9-4843-E77C-11214482A0D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2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1. Architecture management:</a:t>
            </a:r>
            <a:br>
              <a:rPr lang="en-US" sz="4400" dirty="0"/>
            </a:b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B49188EB-7EF9-89B0-F562-E27ECF30D3B7}"/>
              </a:ext>
            </a:extLst>
          </p:cNvPr>
          <p:cNvSpPr txBox="1"/>
          <p:nvPr/>
        </p:nvSpPr>
        <p:spPr>
          <a:xfrm>
            <a:off x="2934462" y="2286000"/>
            <a:ext cx="8448040" cy="3502882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3600" i="1" dirty="0"/>
              <a:t>Architecture Management ensures all parts of the organization fit and work together properly (processes, people, technology).</a:t>
            </a:r>
            <a:br>
              <a:rPr lang="en-US" sz="3600" dirty="0"/>
            </a:br>
            <a:r>
              <a:rPr lang="en-US" sz="3600" dirty="0"/>
              <a:t>👉 Like a </a:t>
            </a:r>
            <a:r>
              <a:rPr lang="en-US" sz="3600" b="1" dirty="0"/>
              <a:t>blueprint</a:t>
            </a:r>
            <a:r>
              <a:rPr lang="en-US" sz="3600" dirty="0"/>
              <a:t> for services and systems.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1532168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8912D3A-5518-7FCA-A94A-1E9C0B85B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09C4085-DDC8-9220-EC15-A1AB6BA8C28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2E5F3CBF-E605-7658-228F-320A8D95C276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56B592BE-8BBF-4C0A-D894-579C8E07B3CC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B44E39A4-668F-71DE-1F7D-19007C76B9A5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0942337F-C447-ADD4-9940-EFBB7A1D5E6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2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1. Purpose:</a:t>
            </a:r>
            <a:br>
              <a:rPr lang="en-US" sz="4400" dirty="0"/>
            </a:b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F6B3E78B-E7D4-59CA-0CC7-E82D0E438D09}"/>
              </a:ext>
            </a:extLst>
          </p:cNvPr>
          <p:cNvSpPr txBox="1"/>
          <p:nvPr/>
        </p:nvSpPr>
        <p:spPr>
          <a:xfrm>
            <a:off x="2934462" y="2286000"/>
            <a:ext cx="8448040" cy="3625993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3200" dirty="0"/>
              <a:t>🎯 </a:t>
            </a:r>
            <a:r>
              <a:rPr lang="en-US" sz="3200" i="1" dirty="0"/>
              <a:t>To help the organization achieve its goals now and in the future, in a structured and Agile way.</a:t>
            </a:r>
            <a:endParaRPr lang="en-US" sz="3200" dirty="0"/>
          </a:p>
          <a:p>
            <a:r>
              <a:rPr lang="en-US" sz="3200" dirty="0"/>
              <a:t>✔ Reduce complexity</a:t>
            </a:r>
            <a:br>
              <a:rPr lang="en-US" sz="3200" dirty="0"/>
            </a:br>
            <a:r>
              <a:rPr lang="en-US" sz="3200" dirty="0"/>
              <a:t>✔ Manage change easily</a:t>
            </a:r>
            <a:br>
              <a:rPr lang="en-US" sz="3200" dirty="0"/>
            </a:br>
            <a:r>
              <a:rPr lang="en-US" sz="3200" dirty="0"/>
              <a:t>✔ Avoid risk and confusion</a:t>
            </a:r>
            <a:br>
              <a:rPr lang="en-US" sz="3200" dirty="0"/>
            </a:br>
            <a:r>
              <a:rPr lang="en-US" sz="3200" dirty="0"/>
              <a:t>✔ Improve automation &amp; efficiency</a:t>
            </a:r>
          </a:p>
        </p:txBody>
      </p:sp>
    </p:spTree>
    <p:extLst>
      <p:ext uri="{BB962C8B-B14F-4D97-AF65-F5344CB8AC3E}">
        <p14:creationId xmlns:p14="http://schemas.microsoft.com/office/powerpoint/2010/main" val="3670025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8912D3A-5518-7FCA-A94A-1E9C0B85B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09C4085-DDC8-9220-EC15-A1AB6BA8C28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2E5F3CBF-E605-7658-228F-320A8D95C276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56B592BE-8BBF-4C0A-D894-579C8E07B3CC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B44E39A4-668F-71DE-1F7D-19007C76B9A5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0942337F-C447-ADD4-9940-EFBB7A1D5E6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2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1. </a:t>
            </a:r>
            <a:r>
              <a:rPr lang="en-US" sz="4400" dirty="0"/>
              <a:t>Why do we need it?</a:t>
            </a:r>
            <a:br>
              <a:rPr lang="en-US" sz="4400" dirty="0"/>
            </a:b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F6B3E78B-E7D4-59CA-0CC7-E82D0E438D09}"/>
              </a:ext>
            </a:extLst>
          </p:cNvPr>
          <p:cNvSpPr txBox="1"/>
          <p:nvPr/>
        </p:nvSpPr>
        <p:spPr>
          <a:xfrm>
            <a:off x="2934462" y="2286000"/>
            <a:ext cx="8448040" cy="4118435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3200" dirty="0"/>
              <a:t>Without architecture management → organization becomes:</a:t>
            </a:r>
          </a:p>
          <a:p>
            <a:r>
              <a:rPr lang="en-US" sz="3200" dirty="0"/>
              <a:t>⚠️ Confusing systems</a:t>
            </a:r>
            <a:br>
              <a:rPr lang="en-US" sz="3200" dirty="0"/>
            </a:br>
            <a:r>
              <a:rPr lang="en-US" sz="3200" dirty="0"/>
              <a:t>⚠️ Different processes everywhere</a:t>
            </a:r>
            <a:br>
              <a:rPr lang="en-US" sz="3200" dirty="0"/>
            </a:br>
            <a:r>
              <a:rPr lang="en-US" sz="3200" dirty="0"/>
              <a:t>⚠️ Many outdated technologies</a:t>
            </a:r>
            <a:br>
              <a:rPr lang="en-US" sz="3200" dirty="0"/>
            </a:br>
            <a:r>
              <a:rPr lang="en-US" sz="3200" dirty="0"/>
              <a:t>⚠️ High risk when changes happen</a:t>
            </a:r>
          </a:p>
          <a:p>
            <a:r>
              <a:rPr lang="en-US" sz="3200" dirty="0"/>
              <a:t>So architecture gives </a:t>
            </a:r>
            <a:r>
              <a:rPr lang="en-US" sz="3200" b="1" dirty="0"/>
              <a:t>visibility + coordination</a:t>
            </a:r>
            <a:r>
              <a:rPr lang="en-US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873498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8912D3A-5518-7FCA-A94A-1E9C0B85B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09C4085-DDC8-9220-EC15-A1AB6BA8C28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2E5F3CBF-E605-7658-228F-320A8D95C276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56B592BE-8BBF-4C0A-D894-579C8E07B3CC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B44E39A4-668F-71DE-1F7D-19007C76B9A5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0942337F-C447-ADD4-9940-EFBB7A1D5E6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2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1. </a:t>
            </a:r>
            <a:r>
              <a:rPr lang="en-US" sz="4400" dirty="0"/>
              <a:t>Five Architecture Domains</a:t>
            </a:r>
            <a:endParaRPr sz="4400" dirty="0">
              <a:latin typeface="Cambria"/>
              <a:cs typeface="Cambria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C690106-A2BB-C62F-CDD3-FEDFD4AA2F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2317396"/>
              </p:ext>
            </p:extLst>
          </p:nvPr>
        </p:nvGraphicFramePr>
        <p:xfrm>
          <a:off x="2651251" y="2385846"/>
          <a:ext cx="8731250" cy="2743200"/>
        </p:xfrm>
        <a:graphic>
          <a:graphicData uri="http://schemas.openxmlformats.org/drawingml/2006/table">
            <a:tbl>
              <a:tblPr/>
              <a:tblGrid>
                <a:gridCol w="2225549">
                  <a:extLst>
                    <a:ext uri="{9D8B030D-6E8A-4147-A177-3AD203B41FA5}">
                      <a16:colId xmlns:a16="http://schemas.microsoft.com/office/drawing/2014/main" val="395422955"/>
                    </a:ext>
                  </a:extLst>
                </a:gridCol>
                <a:gridCol w="6505701">
                  <a:extLst>
                    <a:ext uri="{9D8B030D-6E8A-4147-A177-3AD203B41FA5}">
                      <a16:colId xmlns:a16="http://schemas.microsoft.com/office/drawing/2014/main" val="74607547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sz="2400"/>
                        <a:t>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Simple Student 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9653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400" b="1"/>
                        <a:t>Business</a:t>
                      </a:r>
                      <a:endParaRPr lang="en-IN" sz="2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College goals, courses, departments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120073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400" b="1"/>
                        <a:t>Service</a:t>
                      </a:r>
                      <a:endParaRPr lang="en-IN" sz="2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How admission portal, LMS, ERP connect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915976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400" b="1" dirty="0"/>
                        <a:t>Information</a:t>
                      </a:r>
                      <a:endParaRPr lang="en-IN" sz="2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Student records, results, attendance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8752095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400" b="1"/>
                        <a:t>Technology</a:t>
                      </a:r>
                      <a:endParaRPr lang="en-IN" sz="2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Wi-Fi, servers, software, lab systems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326028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400" b="1"/>
                        <a:t>Environmental</a:t>
                      </a:r>
                      <a:endParaRPr lang="en-IN" sz="2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Rules → NAAC, University norms, legal policies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52906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9460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D079B34-C210-21B5-EA76-713A6F4824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931" y="239753"/>
            <a:ext cx="9198137" cy="6378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1611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8912D3A-5518-7FCA-A94A-1E9C0B85B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09C4085-DDC8-9220-EC15-A1AB6BA8C28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2E5F3CBF-E605-7658-228F-320A8D95C276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56B592BE-8BBF-4C0A-D894-579C8E07B3CC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B44E39A4-668F-71DE-1F7D-19007C76B9A5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0942337F-C447-ADD4-9940-EFBB7A1D5E6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2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1. </a:t>
            </a:r>
            <a:r>
              <a:rPr lang="en-US" sz="4400" dirty="0"/>
              <a:t>Real College Example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F6B3E78B-E7D4-59CA-0CC7-E82D0E438D09}"/>
              </a:ext>
            </a:extLst>
          </p:cNvPr>
          <p:cNvSpPr txBox="1"/>
          <p:nvPr/>
        </p:nvSpPr>
        <p:spPr>
          <a:xfrm>
            <a:off x="2934462" y="2286000"/>
            <a:ext cx="8448040" cy="3625993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IN" sz="2800" dirty="0"/>
              <a:t>When college introduces </a:t>
            </a:r>
            <a:r>
              <a:rPr lang="en-IN" sz="2800" b="1" dirty="0"/>
              <a:t>new online exam system</a:t>
            </a:r>
            <a:r>
              <a:rPr lang="en-IN" sz="2800" dirty="0"/>
              <a:t>:</a:t>
            </a:r>
          </a:p>
          <a:p>
            <a:endParaRPr lang="en-IN" sz="2800" dirty="0"/>
          </a:p>
          <a:p>
            <a:r>
              <a:rPr lang="en-IN" sz="2800" dirty="0"/>
              <a:t>✔ Business → Who needs what?</a:t>
            </a:r>
            <a:br>
              <a:rPr lang="en-IN" sz="2800" dirty="0"/>
            </a:br>
            <a:r>
              <a:rPr lang="en-IN" sz="2800" dirty="0"/>
              <a:t>✔ Service → How modules fit together?</a:t>
            </a:r>
            <a:br>
              <a:rPr lang="en-IN" sz="2800" dirty="0"/>
            </a:br>
            <a:r>
              <a:rPr lang="en-IN" sz="2800" dirty="0"/>
              <a:t>✔ Information → Secure student data?</a:t>
            </a:r>
            <a:br>
              <a:rPr lang="en-IN" sz="2800" dirty="0"/>
            </a:br>
            <a:r>
              <a:rPr lang="en-IN" sz="2800" dirty="0"/>
              <a:t>✔ Technology → Wi-Fi, servers ready?</a:t>
            </a:r>
            <a:br>
              <a:rPr lang="en-IN" sz="2800" dirty="0"/>
            </a:br>
            <a:r>
              <a:rPr lang="en-IN" sz="2800" dirty="0"/>
              <a:t>✔ Environmental → University rules followed?</a:t>
            </a:r>
          </a:p>
          <a:p>
            <a:r>
              <a:rPr lang="en-IN" sz="2800" b="1" dirty="0"/>
              <a:t>That is Architecture Management in action!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3027994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8912D3A-5518-7FCA-A94A-1E9C0B85B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09C4085-DDC8-9220-EC15-A1AB6BA8C28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2E5F3CBF-E605-7658-228F-320A8D95C276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56B592BE-8BBF-4C0A-D894-579C8E07B3CC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B44E39A4-668F-71DE-1F7D-19007C76B9A5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0942337F-C447-ADD4-9940-EFBB7A1D5E6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2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1. </a:t>
            </a:r>
            <a:r>
              <a:rPr lang="en-US" sz="4400" dirty="0"/>
              <a:t>⏳ Activity: “Build Your Ideal College”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F6B3E78B-E7D4-59CA-0CC7-E82D0E438D09}"/>
              </a:ext>
            </a:extLst>
          </p:cNvPr>
          <p:cNvSpPr txBox="1"/>
          <p:nvPr/>
        </p:nvSpPr>
        <p:spPr>
          <a:xfrm>
            <a:off x="2934462" y="2286000"/>
            <a:ext cx="8448040" cy="3625993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2800" dirty="0"/>
              <a:t>Design a PERFECT college (as architects).</a:t>
            </a:r>
            <a:br>
              <a:rPr lang="en-US" sz="2800" dirty="0"/>
            </a:br>
            <a:r>
              <a:rPr lang="en-US" sz="2800" dirty="0"/>
              <a:t>What will you plan in each BSITE domain?</a:t>
            </a:r>
          </a:p>
          <a:p>
            <a:endParaRPr lang="en-US" sz="2800" dirty="0"/>
          </a:p>
          <a:p>
            <a:r>
              <a:rPr lang="en-IN" sz="2800" dirty="0"/>
              <a:t>✔ Business → Who needs what?</a:t>
            </a:r>
            <a:br>
              <a:rPr lang="en-IN" sz="2800" dirty="0"/>
            </a:br>
            <a:r>
              <a:rPr lang="en-IN" sz="2800" dirty="0"/>
              <a:t>✔ Service → How modules fit together?</a:t>
            </a:r>
            <a:br>
              <a:rPr lang="en-IN" sz="2800" dirty="0"/>
            </a:br>
            <a:r>
              <a:rPr lang="en-IN" sz="2800" dirty="0"/>
              <a:t>✔ Information → Secure student data?</a:t>
            </a:r>
            <a:br>
              <a:rPr lang="en-IN" sz="2800" dirty="0"/>
            </a:br>
            <a:r>
              <a:rPr lang="en-IN" sz="2800" dirty="0"/>
              <a:t>✔ Technology → Wi-Fi, servers ready?</a:t>
            </a:r>
            <a:br>
              <a:rPr lang="en-IN" sz="2800" dirty="0"/>
            </a:br>
            <a:r>
              <a:rPr lang="en-IN" sz="2800" dirty="0"/>
              <a:t>✔ Environmental → University rules followed?</a:t>
            </a:r>
          </a:p>
        </p:txBody>
      </p:sp>
    </p:spTree>
    <p:extLst>
      <p:ext uri="{BB962C8B-B14F-4D97-AF65-F5344CB8AC3E}">
        <p14:creationId xmlns:p14="http://schemas.microsoft.com/office/powerpoint/2010/main" val="26006281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3B74F-C29E-A290-E8BB-BE046C6C9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8802" y="2807585"/>
            <a:ext cx="6710998" cy="1231106"/>
          </a:xfrm>
        </p:spPr>
        <p:txBody>
          <a:bodyPr/>
          <a:lstStyle/>
          <a:p>
            <a:r>
              <a:rPr lang="en-IN" sz="4000" dirty="0"/>
              <a:t>2. Continual Improvement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964515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DD414B9-B90A-F669-2C51-DCEAF934DD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579B427-02E0-3818-B528-27CC02853E6E}"/>
              </a:ext>
            </a:extLst>
          </p:cNvPr>
          <p:cNvSpPr/>
          <p:nvPr/>
        </p:nvSpPr>
        <p:spPr>
          <a:xfrm>
            <a:off x="0" y="7620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DABD643F-0508-8BE8-F4C7-E58271DCF8ED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2919399F-F845-83CA-BBC6-04A7381D99F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3B7C0A9C-8282-3253-4D01-740FAD392F3C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1CB3F5A9-BF5C-BC5E-2FB9-BF1459AC37F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3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2. Continual Improvement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89EFF2F3-CCD0-8934-605B-567D98C1158F}"/>
              </a:ext>
            </a:extLst>
          </p:cNvPr>
          <p:cNvSpPr txBox="1"/>
          <p:nvPr/>
        </p:nvSpPr>
        <p:spPr>
          <a:xfrm>
            <a:off x="2934462" y="2286000"/>
            <a:ext cx="8448040" cy="2148665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3200" dirty="0"/>
              <a:t>Continual Improvement means regularly improving services, processes, and products so they remain aligned with changing business needs.</a:t>
            </a:r>
          </a:p>
        </p:txBody>
      </p:sp>
      <p:pic>
        <p:nvPicPr>
          <p:cNvPr id="2052" name="Picture 4" descr="Rocket Going Stock Illustrations – 574 Rocket Going Stock Illustrations,  Vectors &amp; Clipart - Dreamstime">
            <a:extLst>
              <a:ext uri="{FF2B5EF4-FFF2-40B4-BE49-F238E27FC236}">
                <a16:creationId xmlns:a16="http://schemas.microsoft.com/office/drawing/2014/main" id="{846DABEB-D138-C36E-E892-6B2D35E7BE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85" y="3740861"/>
            <a:ext cx="2654885" cy="2971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1688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DDB1C00-F1F2-7982-7DE2-B2F0D4691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5C6CEF7-8A35-647B-B53D-7C6144DC3B4A}"/>
              </a:ext>
            </a:extLst>
          </p:cNvPr>
          <p:cNvSpPr/>
          <p:nvPr/>
        </p:nvSpPr>
        <p:spPr>
          <a:xfrm>
            <a:off x="0" y="7620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ADE9EFF3-0C01-DA1A-0712-070D511D9BEB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06C8EDAB-94A5-8526-52FF-AB228366F0DB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00A58DD7-93E0-1FA3-94EB-F756EDF16ED0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96F7482F-EC97-5D14-C339-43F469C661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3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2. Why is it Important?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C43B38D4-2441-DD0B-0B87-AE94BAD4773A}"/>
              </a:ext>
            </a:extLst>
          </p:cNvPr>
          <p:cNvSpPr txBox="1"/>
          <p:nvPr/>
        </p:nvSpPr>
        <p:spPr>
          <a:xfrm>
            <a:off x="2934462" y="2286000"/>
            <a:ext cx="8448040" cy="3133550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3200" dirty="0"/>
              <a:t>💡 Because: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Customer expectations keep changing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Technology keeps changing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Competitors keep improving</a:t>
            </a:r>
          </a:p>
          <a:p>
            <a:r>
              <a:rPr lang="en-US" sz="3200" dirty="0"/>
              <a:t>➡️ So we must also </a:t>
            </a:r>
            <a:r>
              <a:rPr lang="en-US" sz="3200" i="1" dirty="0"/>
              <a:t>keep improving</a:t>
            </a:r>
            <a:r>
              <a:rPr lang="en-US" sz="3200" dirty="0"/>
              <a:t> — step by step.</a:t>
            </a:r>
          </a:p>
        </p:txBody>
      </p:sp>
    </p:spTree>
    <p:extLst>
      <p:ext uri="{BB962C8B-B14F-4D97-AF65-F5344CB8AC3E}">
        <p14:creationId xmlns:p14="http://schemas.microsoft.com/office/powerpoint/2010/main" val="33916058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DDB1C00-F1F2-7982-7DE2-B2F0D4691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5C6CEF7-8A35-647B-B53D-7C6144DC3B4A}"/>
              </a:ext>
            </a:extLst>
          </p:cNvPr>
          <p:cNvSpPr/>
          <p:nvPr/>
        </p:nvSpPr>
        <p:spPr>
          <a:xfrm>
            <a:off x="0" y="7620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ADE9EFF3-0C01-DA1A-0712-070D511D9BEB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06C8EDAB-94A5-8526-52FF-AB228366F0DB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00A58DD7-93E0-1FA3-94EB-F756EDF16ED0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96F7482F-EC97-5D14-C339-43F469C661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3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2. Real-Life Example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C43B38D4-2441-DD0B-0B87-AE94BAD4773A}"/>
              </a:ext>
            </a:extLst>
          </p:cNvPr>
          <p:cNvSpPr txBox="1"/>
          <p:nvPr/>
        </p:nvSpPr>
        <p:spPr>
          <a:xfrm>
            <a:off x="2873601" y="2115771"/>
            <a:ext cx="8448040" cy="671338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IN" sz="3200" dirty="0"/>
              <a:t>Example: Your College 🎓</a:t>
            </a:r>
            <a:endParaRPr lang="en-US" sz="32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632F632-B453-B5B1-73CC-9EC65A9AA5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5767477"/>
              </p:ext>
            </p:extLst>
          </p:nvPr>
        </p:nvGraphicFramePr>
        <p:xfrm>
          <a:off x="2831447" y="2787109"/>
          <a:ext cx="8731250" cy="3324428"/>
        </p:xfrm>
        <a:graphic>
          <a:graphicData uri="http://schemas.openxmlformats.org/drawingml/2006/table">
            <a:tbl>
              <a:tblPr/>
              <a:tblGrid>
                <a:gridCol w="3516404">
                  <a:extLst>
                    <a:ext uri="{9D8B030D-6E8A-4147-A177-3AD203B41FA5}">
                      <a16:colId xmlns:a16="http://schemas.microsoft.com/office/drawing/2014/main" val="1541285803"/>
                    </a:ext>
                  </a:extLst>
                </a:gridCol>
                <a:gridCol w="5214846">
                  <a:extLst>
                    <a:ext uri="{9D8B030D-6E8A-4147-A177-3AD203B41FA5}">
                      <a16:colId xmlns:a16="http://schemas.microsoft.com/office/drawing/2014/main" val="3525701007"/>
                    </a:ext>
                  </a:extLst>
                </a:gridCol>
              </a:tblGrid>
              <a:tr h="717334">
                <a:tc>
                  <a:txBody>
                    <a:bodyPr/>
                    <a:lstStyle/>
                    <a:p>
                      <a:r>
                        <a:rPr lang="en-IN" sz="2800" dirty="0"/>
                        <a:t>Before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After Improvement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9587729"/>
                  </a:ext>
                </a:extLst>
              </a:tr>
              <a:tr h="717334">
                <a:tc>
                  <a:txBody>
                    <a:bodyPr/>
                    <a:lstStyle/>
                    <a:p>
                      <a:r>
                        <a:rPr lang="en-IN" sz="2800" dirty="0"/>
                        <a:t>Slow admission process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Online form introduced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3038375"/>
                  </a:ext>
                </a:extLst>
              </a:tr>
              <a:tr h="717334">
                <a:tc>
                  <a:txBody>
                    <a:bodyPr/>
                    <a:lstStyle/>
                    <a:p>
                      <a:r>
                        <a:rPr lang="en-IN" sz="2800"/>
                        <a:t>Students confused about timetable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Timetable on WhatsApp + notice board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365508"/>
                  </a:ext>
                </a:extLst>
              </a:tr>
              <a:tr h="717334">
                <a:tc>
                  <a:txBody>
                    <a:bodyPr/>
                    <a:lstStyle/>
                    <a:p>
                      <a:r>
                        <a:rPr lang="en-IN" sz="2800"/>
                        <a:t>Delayed assignments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Google Classroom reminders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2499004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0A66B2EF-2875-8558-FEAD-81B9787720E3}"/>
              </a:ext>
            </a:extLst>
          </p:cNvPr>
          <p:cNvSpPr txBox="1"/>
          <p:nvPr/>
        </p:nvSpPr>
        <p:spPr>
          <a:xfrm>
            <a:off x="7086980" y="640660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👉 This is </a:t>
            </a:r>
            <a:r>
              <a:rPr lang="en-US" b="1" dirty="0"/>
              <a:t>Continual Improvement</a:t>
            </a:r>
            <a:r>
              <a:rPr lang="en-US" dirty="0"/>
              <a:t> in action.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377711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DA92871-C22B-BB6F-22F4-74ECF136F9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1707" y="254995"/>
            <a:ext cx="9068586" cy="6348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77986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8FE0407-7C2C-5CFE-F315-D56DD7963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DE2CDE3-278A-F61B-8E46-BA6E9BA922F4}"/>
              </a:ext>
            </a:extLst>
          </p:cNvPr>
          <p:cNvSpPr/>
          <p:nvPr/>
        </p:nvSpPr>
        <p:spPr>
          <a:xfrm>
            <a:off x="0" y="7620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6C8ED3C7-1379-E878-A423-77D00430B290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559512CA-266F-1C54-CA0C-54B04764A660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0FFF692D-1F9B-FC9E-1350-1630CA8786E7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6CE36B25-C79C-45E7-73D0-378DF0190F4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3</a:t>
            </a:r>
            <a:r>
              <a:rPr lang="en-IN"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2. Where Improvement Ideas Come From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FB762C82-C6BC-2CC1-AEF3-36B158019075}"/>
              </a:ext>
            </a:extLst>
          </p:cNvPr>
          <p:cNvSpPr txBox="1"/>
          <p:nvPr/>
        </p:nvSpPr>
        <p:spPr>
          <a:xfrm>
            <a:off x="2934462" y="2286000"/>
            <a:ext cx="8448040" cy="3625993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SWOT analysis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Audits or reviews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Customer feedback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Market changes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Problem management / incident data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Staff suggestions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IN" sz="3200" dirty="0"/>
              <a:t>DevOps / Agile feedback cycles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50031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8FE0407-7C2C-5CFE-F315-D56DD7963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DE2CDE3-278A-F61B-8E46-BA6E9BA922F4}"/>
              </a:ext>
            </a:extLst>
          </p:cNvPr>
          <p:cNvSpPr/>
          <p:nvPr/>
        </p:nvSpPr>
        <p:spPr>
          <a:xfrm>
            <a:off x="0" y="7620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6C8ED3C7-1379-E878-A423-77D00430B290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559512CA-266F-1C54-CA0C-54B04764A660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0FFF692D-1F9B-FC9E-1350-1630CA8786E7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6CE36B25-C79C-45E7-73D0-378DF0190F4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3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2. Who is Responsible?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FB762C82-C6BC-2CC1-AEF3-36B158019075}"/>
              </a:ext>
            </a:extLst>
          </p:cNvPr>
          <p:cNvSpPr txBox="1"/>
          <p:nvPr/>
        </p:nvSpPr>
        <p:spPr>
          <a:xfrm>
            <a:off x="2934462" y="2286000"/>
            <a:ext cx="8448040" cy="3625993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3200" dirty="0"/>
              <a:t>🔥 </a:t>
            </a:r>
            <a:r>
              <a:rPr lang="en-US" sz="3200" b="1" dirty="0"/>
              <a:t>EVERYONE.</a:t>
            </a:r>
            <a:r>
              <a:rPr lang="en-US" sz="3200" dirty="0"/>
              <a:t> Not only management.</a:t>
            </a:r>
          </a:p>
          <a:p>
            <a:endParaRPr lang="en-US" sz="3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Students can suggest improvements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Teachers improve teaching style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Management improves system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Vendors/suppliers must also improve service</a:t>
            </a:r>
          </a:p>
          <a:p>
            <a:r>
              <a:rPr lang="en-US" sz="3200" dirty="0"/>
              <a:t>Add line to make it memorable:</a:t>
            </a:r>
          </a:p>
        </p:txBody>
      </p:sp>
    </p:spTree>
    <p:extLst>
      <p:ext uri="{BB962C8B-B14F-4D97-AF65-F5344CB8AC3E}">
        <p14:creationId xmlns:p14="http://schemas.microsoft.com/office/powerpoint/2010/main" val="15257825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8FE0407-7C2C-5CFE-F315-D56DD7963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DE2CDE3-278A-F61B-8E46-BA6E9BA922F4}"/>
              </a:ext>
            </a:extLst>
          </p:cNvPr>
          <p:cNvSpPr/>
          <p:nvPr/>
        </p:nvSpPr>
        <p:spPr>
          <a:xfrm>
            <a:off x="0" y="7620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6C8ED3C7-1379-E878-A423-77D00430B290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559512CA-266F-1C54-CA0C-54B04764A660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0FFF692D-1F9B-FC9E-1350-1630CA8786E7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6CE36B25-C79C-45E7-73D0-378DF0190F4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3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2. Continual Improvement Register (CIR)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FB762C82-C6BC-2CC1-AEF3-36B158019075}"/>
              </a:ext>
            </a:extLst>
          </p:cNvPr>
          <p:cNvSpPr txBox="1"/>
          <p:nvPr/>
        </p:nvSpPr>
        <p:spPr>
          <a:xfrm>
            <a:off x="2934462" y="2286000"/>
            <a:ext cx="8448040" cy="1163780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3200" dirty="0"/>
              <a:t>A record where improvement ideas are stored, reviewed, and tracked until completed.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CB03C77-D915-E7F5-4A2D-B9A75EEE30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6619859"/>
              </p:ext>
            </p:extLst>
          </p:nvPr>
        </p:nvGraphicFramePr>
        <p:xfrm>
          <a:off x="2934462" y="3573824"/>
          <a:ext cx="8731251" cy="2982422"/>
        </p:xfrm>
        <a:graphic>
          <a:graphicData uri="http://schemas.openxmlformats.org/drawingml/2006/table">
            <a:tbl>
              <a:tblPr/>
              <a:tblGrid>
                <a:gridCol w="2910417">
                  <a:extLst>
                    <a:ext uri="{9D8B030D-6E8A-4147-A177-3AD203B41FA5}">
                      <a16:colId xmlns:a16="http://schemas.microsoft.com/office/drawing/2014/main" val="2227390330"/>
                    </a:ext>
                  </a:extLst>
                </a:gridCol>
                <a:gridCol w="2910417">
                  <a:extLst>
                    <a:ext uri="{9D8B030D-6E8A-4147-A177-3AD203B41FA5}">
                      <a16:colId xmlns:a16="http://schemas.microsoft.com/office/drawing/2014/main" val="3022317109"/>
                    </a:ext>
                  </a:extLst>
                </a:gridCol>
                <a:gridCol w="2910417">
                  <a:extLst>
                    <a:ext uri="{9D8B030D-6E8A-4147-A177-3AD203B41FA5}">
                      <a16:colId xmlns:a16="http://schemas.microsoft.com/office/drawing/2014/main" val="2771809962"/>
                    </a:ext>
                  </a:extLst>
                </a:gridCol>
              </a:tblGrid>
              <a:tr h="618307">
                <a:tc>
                  <a:txBody>
                    <a:bodyPr/>
                    <a:lstStyle/>
                    <a:p>
                      <a:r>
                        <a:rPr lang="en-IN" sz="2800"/>
                        <a:t>Idea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Priority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Status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6824760"/>
                  </a:ext>
                </a:extLst>
              </a:tr>
              <a:tr h="618307">
                <a:tc>
                  <a:txBody>
                    <a:bodyPr/>
                    <a:lstStyle/>
                    <a:p>
                      <a:r>
                        <a:rPr lang="en-IN" sz="2800"/>
                        <a:t>Online fees option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Completed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9545896"/>
                  </a:ext>
                </a:extLst>
              </a:tr>
              <a:tr h="1127501">
                <a:tc>
                  <a:txBody>
                    <a:bodyPr/>
                    <a:lstStyle/>
                    <a:p>
                      <a:r>
                        <a:rPr lang="en-IN" sz="2800" dirty="0"/>
                        <a:t>More fans in classrooms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Medium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In progress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3590456"/>
                  </a:ext>
                </a:extLst>
              </a:tr>
              <a:tr h="618307">
                <a:tc>
                  <a:txBody>
                    <a:bodyPr/>
                    <a:lstStyle/>
                    <a:p>
                      <a:r>
                        <a:rPr lang="en-IN" sz="2800"/>
                        <a:t>College app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Planned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43370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35868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8FE0407-7C2C-5CFE-F315-D56DD7963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DE2CDE3-278A-F61B-8E46-BA6E9BA922F4}"/>
              </a:ext>
            </a:extLst>
          </p:cNvPr>
          <p:cNvSpPr/>
          <p:nvPr/>
        </p:nvSpPr>
        <p:spPr>
          <a:xfrm>
            <a:off x="0" y="7620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6C8ED3C7-1379-E878-A423-77D00430B290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559512CA-266F-1C54-CA0C-54B04764A660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0FFF692D-1F9B-FC9E-1350-1630CA8786E7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6CE36B25-C79C-45E7-73D0-378DF0190F4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3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2. Activity Name: “Fix Your Classroom 🚧”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FB762C82-C6BC-2CC1-AEF3-36B158019075}"/>
              </a:ext>
            </a:extLst>
          </p:cNvPr>
          <p:cNvSpPr txBox="1"/>
          <p:nvPr/>
        </p:nvSpPr>
        <p:spPr>
          <a:xfrm>
            <a:off x="2934462" y="2286000"/>
            <a:ext cx="8448040" cy="3625993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Look around the classroom or college and find 2 things that can be improved.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They write them on paper or raise hand.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You choose 5 best ideas and convert them into a CIR table on the board.</a:t>
            </a:r>
          </a:p>
        </p:txBody>
      </p:sp>
    </p:spTree>
    <p:extLst>
      <p:ext uri="{BB962C8B-B14F-4D97-AF65-F5344CB8AC3E}">
        <p14:creationId xmlns:p14="http://schemas.microsoft.com/office/powerpoint/2010/main" val="34359015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A492361-29B5-A937-4459-84D2682AA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272649C-B749-2558-62F6-F9A4344ADDC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C4947E31-DF76-1E91-C8EB-86D5849FE0D4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254EB20E-108C-851D-492F-C9FE1BC7ADF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E22985A-98C3-4A13-2409-0803C1401EB4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52106C89-24A6-B418-73AF-E9440D7F8A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204479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3: Information Security Management (ISM)</a:t>
            </a:r>
            <a:br>
              <a:rPr lang="en-US" sz="4400" dirty="0"/>
            </a:b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0BA6ACE3-D776-D0B0-EFDA-BE10D9E7AF9B}"/>
              </a:ext>
            </a:extLst>
          </p:cNvPr>
          <p:cNvSpPr txBox="1"/>
          <p:nvPr/>
        </p:nvSpPr>
        <p:spPr>
          <a:xfrm>
            <a:off x="2934462" y="2286000"/>
            <a:ext cx="8448040" cy="1840889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3600" dirty="0"/>
              <a:t>It protects the organization's information from unauthorized access, misuse, loss, or damage.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DF5AFDC-D139-2E1E-6F3B-90AD832C77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494532"/>
            <a:ext cx="3429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8639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A492361-29B5-A937-4459-84D2682AA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272649C-B749-2558-62F6-F9A4344ADDC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C4947E31-DF76-1E91-C8EB-86D5849FE0D4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254EB20E-108C-851D-492F-C9FE1BC7ADF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E22985A-98C3-4A13-2409-0803C1401EB4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52106C89-24A6-B418-73AF-E9440D7F8A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3: Why is it Needed?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0BA6ACE3-D776-D0B0-EFDA-BE10D9E7AF9B}"/>
              </a:ext>
            </a:extLst>
          </p:cNvPr>
          <p:cNvSpPr txBox="1"/>
          <p:nvPr/>
        </p:nvSpPr>
        <p:spPr>
          <a:xfrm>
            <a:off x="2934462" y="2286000"/>
            <a:ext cx="8448040" cy="3625993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2800" dirty="0"/>
              <a:t>🤔 If someone steals: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Your exam question papers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Your bank OTP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Your login password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Your Aadhaar number</a:t>
            </a:r>
          </a:p>
          <a:p>
            <a:r>
              <a:rPr lang="en-US" sz="2800" dirty="0"/>
              <a:t>➡️ BOOM 💥 you're in trouble.</a:t>
            </a:r>
          </a:p>
          <a:p>
            <a:r>
              <a:rPr lang="en-US" sz="2800" dirty="0"/>
              <a:t>So we protect information just like we protect our money or phones.</a:t>
            </a:r>
          </a:p>
        </p:txBody>
      </p:sp>
      <p:pic>
        <p:nvPicPr>
          <p:cNvPr id="6148" name="Picture 4" descr="Steal: Over 70,014 Royalty-Free Licensable Stock Illustrations &amp; Drawings |  Shutterstock">
            <a:extLst>
              <a:ext uri="{FF2B5EF4-FFF2-40B4-BE49-F238E27FC236}">
                <a16:creationId xmlns:a16="http://schemas.microsoft.com/office/drawing/2014/main" id="{2267EF6A-31DF-0FFD-9B65-993BF03C5E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0" y="2239483"/>
            <a:ext cx="2476500" cy="266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35328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A492361-29B5-A937-4459-84D2682AA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272649C-B749-2558-62F6-F9A4344ADDC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C4947E31-DF76-1E91-C8EB-86D5849FE0D4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254EB20E-108C-851D-492F-C9FE1BC7ADF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E22985A-98C3-4A13-2409-0803C1401EB4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52106C89-24A6-B418-73AF-E9440D7F8A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US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lang="en-US"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3: The CIA Triad</a:t>
            </a:r>
            <a:endParaRPr lang="en-US" sz="4400" dirty="0">
              <a:latin typeface="Cambria"/>
              <a:cs typeface="Cambria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0BDD44C-1763-8558-B105-1C1DC43F47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170540"/>
              </p:ext>
            </p:extLst>
          </p:nvPr>
        </p:nvGraphicFramePr>
        <p:xfrm>
          <a:off x="1143001" y="2438406"/>
          <a:ext cx="10505127" cy="3986778"/>
        </p:xfrm>
        <a:graphic>
          <a:graphicData uri="http://schemas.openxmlformats.org/drawingml/2006/table">
            <a:tbl>
              <a:tblPr/>
              <a:tblGrid>
                <a:gridCol w="2593811">
                  <a:extLst>
                    <a:ext uri="{9D8B030D-6E8A-4147-A177-3AD203B41FA5}">
                      <a16:colId xmlns:a16="http://schemas.microsoft.com/office/drawing/2014/main" val="3260332369"/>
                    </a:ext>
                  </a:extLst>
                </a:gridCol>
                <a:gridCol w="4409607">
                  <a:extLst>
                    <a:ext uri="{9D8B030D-6E8A-4147-A177-3AD203B41FA5}">
                      <a16:colId xmlns:a16="http://schemas.microsoft.com/office/drawing/2014/main" val="2510578751"/>
                    </a:ext>
                  </a:extLst>
                </a:gridCol>
                <a:gridCol w="3501709">
                  <a:extLst>
                    <a:ext uri="{9D8B030D-6E8A-4147-A177-3AD203B41FA5}">
                      <a16:colId xmlns:a16="http://schemas.microsoft.com/office/drawing/2014/main" val="610357005"/>
                    </a:ext>
                  </a:extLst>
                </a:gridCol>
              </a:tblGrid>
              <a:tr h="637884">
                <a:tc>
                  <a:txBody>
                    <a:bodyPr/>
                    <a:lstStyle/>
                    <a:p>
                      <a:r>
                        <a:rPr lang="en-IN" sz="2400"/>
                        <a:t>🔑 Element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7506150"/>
                  </a:ext>
                </a:extLst>
              </a:tr>
              <a:tr h="1116298">
                <a:tc>
                  <a:txBody>
                    <a:bodyPr/>
                    <a:lstStyle/>
                    <a:p>
                      <a:r>
                        <a:rPr lang="en-IN" sz="2400" b="1"/>
                        <a:t>C – Confidentiality</a:t>
                      </a:r>
                      <a:endParaRPr lang="en-IN" sz="2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Only authorized people can access info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Password on phone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5583833"/>
                  </a:ext>
                </a:extLst>
              </a:tr>
              <a:tr h="1116298">
                <a:tc>
                  <a:txBody>
                    <a:bodyPr/>
                    <a:lstStyle/>
                    <a:p>
                      <a:r>
                        <a:rPr lang="en-IN" sz="2400" b="1"/>
                        <a:t>I – Integrity</a:t>
                      </a:r>
                      <a:endParaRPr lang="en-IN" sz="2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Information must remain accurate &amp; unchanged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Marksheet without tampering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0402532"/>
                  </a:ext>
                </a:extLst>
              </a:tr>
              <a:tr h="1116298">
                <a:tc>
                  <a:txBody>
                    <a:bodyPr/>
                    <a:lstStyle/>
                    <a:p>
                      <a:r>
                        <a:rPr lang="en-IN" sz="2400" b="1"/>
                        <a:t>A – Availability</a:t>
                      </a:r>
                      <a:endParaRPr lang="en-IN" sz="2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Information should be available when needed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Online banking server running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1105107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723EC0FB-3A6F-BF65-F45C-A99172D18ACC}"/>
              </a:ext>
            </a:extLst>
          </p:cNvPr>
          <p:cNvSpPr txBox="1"/>
          <p:nvPr/>
        </p:nvSpPr>
        <p:spPr>
          <a:xfrm>
            <a:off x="6324600" y="127980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⭐ This is the HEART ❤️ of Information Security.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712922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A492361-29B5-A937-4459-84D2682AA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272649C-B749-2558-62F6-F9A4344ADDC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C4947E31-DF76-1E91-C8EB-86D5849FE0D4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254EB20E-108C-851D-492F-C9FE1BC7ADF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E22985A-98C3-4A13-2409-0803C1401EB4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52106C89-24A6-B418-73AF-E9440D7F8A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3: Extra Security Concepts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0BA6ACE3-D776-D0B0-EFDA-BE10D9E7AF9B}"/>
              </a:ext>
            </a:extLst>
          </p:cNvPr>
          <p:cNvSpPr txBox="1"/>
          <p:nvPr/>
        </p:nvSpPr>
        <p:spPr>
          <a:xfrm>
            <a:off x="2934462" y="2286000"/>
            <a:ext cx="8448040" cy="2764218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2800" dirty="0"/>
              <a:t>✔ </a:t>
            </a:r>
            <a:r>
              <a:rPr lang="en-US" sz="2800" b="1" dirty="0"/>
              <a:t>Authentication:</a:t>
            </a:r>
            <a:r>
              <a:rPr lang="en-US" sz="2800" dirty="0"/>
              <a:t> Proving you are who you claim to be</a:t>
            </a:r>
            <a:br>
              <a:rPr lang="en-US" sz="2800" dirty="0"/>
            </a:br>
            <a:r>
              <a:rPr lang="en-US" sz="2800" dirty="0"/>
              <a:t>👉 Example: OTP login</a:t>
            </a:r>
          </a:p>
          <a:p>
            <a:r>
              <a:rPr lang="en-US" sz="2800" dirty="0"/>
              <a:t>✔ </a:t>
            </a:r>
            <a:r>
              <a:rPr lang="en-US" sz="2800" b="1" dirty="0"/>
              <a:t>Non-repudiation:</a:t>
            </a:r>
            <a:r>
              <a:rPr lang="en-US" sz="2800" dirty="0"/>
              <a:t> You can’t deny your actions later</a:t>
            </a:r>
            <a:br>
              <a:rPr lang="en-US" sz="2800" dirty="0"/>
            </a:br>
            <a:r>
              <a:rPr lang="en-US" sz="2800" dirty="0"/>
              <a:t>👉 Example: Digital signature, email trail</a:t>
            </a:r>
          </a:p>
        </p:txBody>
      </p:sp>
    </p:spTree>
    <p:extLst>
      <p:ext uri="{BB962C8B-B14F-4D97-AF65-F5344CB8AC3E}">
        <p14:creationId xmlns:p14="http://schemas.microsoft.com/office/powerpoint/2010/main" val="22837528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A492361-29B5-A937-4459-84D2682AA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272649C-B749-2558-62F6-F9A4344ADDC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C4947E31-DF76-1E91-C8EB-86D5849FE0D4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254EB20E-108C-851D-492F-C9FE1BC7ADF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E22985A-98C3-4A13-2409-0803C1401EB4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52106C89-24A6-B418-73AF-E9440D7F8A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3: Balance Needed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0BA6ACE3-D776-D0B0-EFDA-BE10D9E7AF9B}"/>
              </a:ext>
            </a:extLst>
          </p:cNvPr>
          <p:cNvSpPr txBox="1"/>
          <p:nvPr/>
        </p:nvSpPr>
        <p:spPr>
          <a:xfrm>
            <a:off x="2934462" y="2286000"/>
            <a:ext cx="8448040" cy="2764218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📌 Information security must balance: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🔹 Security (protect)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🔹 Innovation (work freely)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Quote for the slide: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“Too much security = no work.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security = disaster.”</a:t>
            </a:r>
          </a:p>
        </p:txBody>
      </p:sp>
    </p:spTree>
    <p:extLst>
      <p:ext uri="{BB962C8B-B14F-4D97-AF65-F5344CB8AC3E}">
        <p14:creationId xmlns:p14="http://schemas.microsoft.com/office/powerpoint/2010/main" val="14723031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A492361-29B5-A937-4459-84D2682AA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272649C-B749-2558-62F6-F9A4344ADDC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C4947E31-DF76-1E91-C8EB-86D5849FE0D4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254EB20E-108C-851D-492F-C9FE1BC7ADF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E22985A-98C3-4A13-2409-0803C1401EB4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52106C89-24A6-B418-73AF-E9440D7F8A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3: Methods Used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0BA6ACE3-D776-D0B0-EFDA-BE10D9E7AF9B}"/>
              </a:ext>
            </a:extLst>
          </p:cNvPr>
          <p:cNvSpPr txBox="1"/>
          <p:nvPr/>
        </p:nvSpPr>
        <p:spPr>
          <a:xfrm>
            <a:off x="2934462" y="2286000"/>
            <a:ext cx="8448040" cy="3625993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IN" sz="2800" dirty="0"/>
              <a:t>Security is implemented using:</a:t>
            </a:r>
          </a:p>
          <a:p>
            <a:r>
              <a:rPr lang="en-IN" sz="2800" dirty="0"/>
              <a:t>🔹 Policies</a:t>
            </a:r>
            <a:br>
              <a:rPr lang="en-IN" sz="2800" dirty="0"/>
            </a:br>
            <a:r>
              <a:rPr lang="en-IN" sz="2800" dirty="0"/>
              <a:t>🔹 Processes</a:t>
            </a:r>
            <a:br>
              <a:rPr lang="en-IN" sz="2800" dirty="0"/>
            </a:br>
            <a:r>
              <a:rPr lang="en-IN" sz="2800" dirty="0"/>
              <a:t>🔹 Behaviours &amp; culture</a:t>
            </a:r>
            <a:br>
              <a:rPr lang="en-IN" sz="2800" dirty="0"/>
            </a:br>
            <a:r>
              <a:rPr lang="en-IN" sz="2800" dirty="0"/>
              <a:t>🔹 Controls (firewalls, passwords, audits)</a:t>
            </a:r>
            <a:br>
              <a:rPr lang="en-IN" sz="2800" dirty="0"/>
            </a:br>
            <a:r>
              <a:rPr lang="en-IN" sz="2800" dirty="0"/>
              <a:t>🔹 Risk management 🔍</a:t>
            </a:r>
          </a:p>
          <a:p>
            <a:r>
              <a:rPr lang="en-IN" sz="2800" dirty="0"/>
              <a:t>🧠 Security isn’t only technology — it's about </a:t>
            </a:r>
            <a:r>
              <a:rPr lang="en-IN" sz="2800" b="1" dirty="0"/>
              <a:t>PEOPLE + PROCESS + TECH.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1105414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29E6692-6028-2D94-BAEE-C3125BBB4F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30125"/>
            <a:ext cx="9220200" cy="6652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083566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A492361-29B5-A937-4459-84D2682AA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272649C-B749-2558-62F6-F9A4344ADDC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C4947E31-DF76-1E91-C8EB-86D5849FE0D4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254EB20E-108C-851D-492F-C9FE1BC7ADF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E22985A-98C3-4A13-2409-0803C1401EB4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52106C89-24A6-B418-73AF-E9440D7F8A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3: Who Is Responsible?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0BA6ACE3-D776-D0B0-EFDA-BE10D9E7AF9B}"/>
              </a:ext>
            </a:extLst>
          </p:cNvPr>
          <p:cNvSpPr txBox="1"/>
          <p:nvPr/>
        </p:nvSpPr>
        <p:spPr>
          <a:xfrm>
            <a:off x="2969631" y="2080205"/>
            <a:ext cx="8448040" cy="4487767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👉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Everyone.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But usually managed by: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Chief Information Security Officer (CISO)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Information Security Team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⚠ Biggest weakness in security is NOT technology — it's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careless people.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 line: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Your password shouldn't be: Admin, pooja123,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ilovemyself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qwerty……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etc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22831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A492361-29B5-A937-4459-84D2682AA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272649C-B749-2558-62F6-F9A4344ADDC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C4947E31-DF76-1E91-C8EB-86D5849FE0D4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254EB20E-108C-851D-492F-C9FE1BC7ADF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E22985A-98C3-4A13-2409-0803C1401EB4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52106C89-24A6-B418-73AF-E9440D7F8A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3: Activity: “Spot the Risk” Game</a:t>
            </a:r>
            <a:endParaRPr sz="4400" dirty="0">
              <a:latin typeface="Cambria"/>
              <a:cs typeface="Cambria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2C199E4-8E7E-0210-5D08-C053113E8D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5421905"/>
              </p:ext>
            </p:extLst>
          </p:nvPr>
        </p:nvGraphicFramePr>
        <p:xfrm>
          <a:off x="2105659" y="2546139"/>
          <a:ext cx="9400541" cy="3879044"/>
        </p:xfrm>
        <a:graphic>
          <a:graphicData uri="http://schemas.openxmlformats.org/drawingml/2006/table">
            <a:tbl>
              <a:tblPr/>
              <a:tblGrid>
                <a:gridCol w="7199381">
                  <a:extLst>
                    <a:ext uri="{9D8B030D-6E8A-4147-A177-3AD203B41FA5}">
                      <a16:colId xmlns:a16="http://schemas.microsoft.com/office/drawing/2014/main" val="317736993"/>
                    </a:ext>
                  </a:extLst>
                </a:gridCol>
                <a:gridCol w="2201160">
                  <a:extLst>
                    <a:ext uri="{9D8B030D-6E8A-4147-A177-3AD203B41FA5}">
                      <a16:colId xmlns:a16="http://schemas.microsoft.com/office/drawing/2014/main" val="1852777837"/>
                    </a:ext>
                  </a:extLst>
                </a:gridCol>
              </a:tblGrid>
              <a:tr h="517206">
                <a:tc>
                  <a:txBody>
                    <a:bodyPr/>
                    <a:lstStyle/>
                    <a:p>
                      <a:r>
                        <a:rPr lang="en-IN" sz="2400"/>
                        <a:t>Scenario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Secure?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0861171"/>
                  </a:ext>
                </a:extLst>
              </a:tr>
              <a:tr h="905110">
                <a:tc>
                  <a:txBody>
                    <a:bodyPr/>
                    <a:lstStyle/>
                    <a:p>
                      <a:r>
                        <a:rPr lang="en-IN" sz="2400"/>
                        <a:t>Using same password everywhere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2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3412089"/>
                  </a:ext>
                </a:extLst>
              </a:tr>
              <a:tr h="517206">
                <a:tc>
                  <a:txBody>
                    <a:bodyPr/>
                    <a:lstStyle/>
                    <a:p>
                      <a:r>
                        <a:rPr lang="en-US" sz="2400"/>
                        <a:t>Locking laptop when leaving desk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2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1191017"/>
                  </a:ext>
                </a:extLst>
              </a:tr>
              <a:tr h="517206">
                <a:tc>
                  <a:txBody>
                    <a:bodyPr/>
                    <a:lstStyle/>
                    <a:p>
                      <a:r>
                        <a:rPr lang="en-IN" sz="2400" dirty="0"/>
                        <a:t>Sharing OTP with friend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2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2566562"/>
                  </a:ext>
                </a:extLst>
              </a:tr>
              <a:tr h="517206">
                <a:tc>
                  <a:txBody>
                    <a:bodyPr/>
                    <a:lstStyle/>
                    <a:p>
                      <a:r>
                        <a:rPr lang="en-IN" sz="2400"/>
                        <a:t>Enabling 2-factor authentication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2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1490502"/>
                  </a:ext>
                </a:extLst>
              </a:tr>
              <a:tr h="905110">
                <a:tc>
                  <a:txBody>
                    <a:bodyPr/>
                    <a:lstStyle/>
                    <a:p>
                      <a:r>
                        <a:rPr lang="en-US" sz="2400"/>
                        <a:t>Clicking unknown link saying "You won 5 crore"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2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61592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797723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3B74F-C29E-A290-E8BB-BE046C6C9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8802" y="2807585"/>
            <a:ext cx="6710998" cy="615553"/>
          </a:xfrm>
        </p:spPr>
        <p:txBody>
          <a:bodyPr/>
          <a:lstStyle/>
          <a:p>
            <a:r>
              <a:rPr lang="en-IN" sz="4000" dirty="0"/>
              <a:t>4. </a:t>
            </a:r>
            <a:r>
              <a:rPr lang="en-IN" dirty="0"/>
              <a:t>Knowledge Management</a:t>
            </a:r>
          </a:p>
        </p:txBody>
      </p:sp>
    </p:spTree>
    <p:extLst>
      <p:ext uri="{BB962C8B-B14F-4D97-AF65-F5344CB8AC3E}">
        <p14:creationId xmlns:p14="http://schemas.microsoft.com/office/powerpoint/2010/main" val="183126951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A492361-29B5-A937-4459-84D2682AA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272649C-B749-2558-62F6-F9A4344ADDC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C4947E31-DF76-1E91-C8EB-86D5849FE0D4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254EB20E-108C-851D-492F-C9FE1BC7ADF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E22985A-98C3-4A13-2409-0803C1401EB4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52106C89-24A6-B418-73AF-E9440D7F8A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4. What Is Knowledge Management?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0BA6ACE3-D776-D0B0-EFDA-BE10D9E7AF9B}"/>
              </a:ext>
            </a:extLst>
          </p:cNvPr>
          <p:cNvSpPr txBox="1"/>
          <p:nvPr/>
        </p:nvSpPr>
        <p:spPr>
          <a:xfrm>
            <a:off x="2969631" y="2080205"/>
            <a:ext cx="8448040" cy="2641108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4000" dirty="0"/>
              <a:t>Knowledge Management makes sure the </a:t>
            </a:r>
            <a:r>
              <a:rPr lang="en-US" sz="4000" i="1" dirty="0"/>
              <a:t>right information reaches the right people at the right time</a:t>
            </a:r>
            <a:r>
              <a:rPr lang="en-US" sz="4000" dirty="0"/>
              <a:t> so they can work smarter and faster.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278595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A492361-29B5-A937-4459-84D2682AA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272649C-B749-2558-62F6-F9A4344ADDC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C4947E31-DF76-1E91-C8EB-86D5849FE0D4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254EB20E-108C-851D-492F-C9FE1BC7ADF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E22985A-98C3-4A13-2409-0803C1401EB4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52106C89-24A6-B418-73AF-E9440D7F8A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4. Information vs Knowledge</a:t>
            </a:r>
            <a:endParaRPr sz="4400" dirty="0">
              <a:latin typeface="Cambria"/>
              <a:cs typeface="Cambria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15F0F3D-024B-9F56-A9D1-11F3DF3455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3686207"/>
              </p:ext>
            </p:extLst>
          </p:nvPr>
        </p:nvGraphicFramePr>
        <p:xfrm>
          <a:off x="2316604" y="2609850"/>
          <a:ext cx="8884796" cy="3409950"/>
        </p:xfrm>
        <a:graphic>
          <a:graphicData uri="http://schemas.openxmlformats.org/drawingml/2006/table">
            <a:tbl>
              <a:tblPr/>
              <a:tblGrid>
                <a:gridCol w="4442398">
                  <a:extLst>
                    <a:ext uri="{9D8B030D-6E8A-4147-A177-3AD203B41FA5}">
                      <a16:colId xmlns:a16="http://schemas.microsoft.com/office/drawing/2014/main" val="3327426920"/>
                    </a:ext>
                  </a:extLst>
                </a:gridCol>
                <a:gridCol w="4442398">
                  <a:extLst>
                    <a:ext uri="{9D8B030D-6E8A-4147-A177-3AD203B41FA5}">
                      <a16:colId xmlns:a16="http://schemas.microsoft.com/office/drawing/2014/main" val="2783996031"/>
                    </a:ext>
                  </a:extLst>
                </a:gridCol>
              </a:tblGrid>
              <a:tr h="60892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Information 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Knowledge 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1379622"/>
                  </a:ext>
                </a:extLst>
              </a:tr>
              <a:tr h="1096055">
                <a:tc>
                  <a:txBody>
                    <a:bodyPr/>
                    <a:lstStyle/>
                    <a:p>
                      <a:r>
                        <a:rPr lang="en-IN" sz="2400"/>
                        <a:t>Raw facts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Information + experience + context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6373371"/>
                  </a:ext>
                </a:extLst>
              </a:tr>
              <a:tr h="1096055">
                <a:tc>
                  <a:txBody>
                    <a:bodyPr/>
                    <a:lstStyle/>
                    <a:p>
                      <a:r>
                        <a:rPr lang="en-IN" sz="2400"/>
                        <a:t>Example: 300-page manual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A simple solution guide for service desk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6509808"/>
                  </a:ext>
                </a:extLst>
              </a:tr>
              <a:tr h="608920">
                <a:tc>
                  <a:txBody>
                    <a:bodyPr/>
                    <a:lstStyle/>
                    <a:p>
                      <a:r>
                        <a:rPr lang="en-IN" sz="2400"/>
                        <a:t>Not always useful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Useful when needed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29099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410408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A492361-29B5-A937-4459-84D2682AA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272649C-B749-2558-62F6-F9A4344ADDC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C4947E31-DF76-1E91-C8EB-86D5849FE0D4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254EB20E-108C-851D-492F-C9FE1BC7ADF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E22985A-98C3-4A13-2409-0803C1401EB4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52106C89-24A6-B418-73AF-E9440D7F8A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4. Types of Knowledge</a:t>
            </a:r>
            <a:endParaRPr sz="4400" dirty="0">
              <a:latin typeface="Cambria"/>
              <a:cs typeface="Cambria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9B396F2-F828-3200-3F99-265A1B346B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4689286"/>
              </p:ext>
            </p:extLst>
          </p:nvPr>
        </p:nvGraphicFramePr>
        <p:xfrm>
          <a:off x="2154575" y="2523005"/>
          <a:ext cx="8770620" cy="2353794"/>
        </p:xfrm>
        <a:graphic>
          <a:graphicData uri="http://schemas.openxmlformats.org/drawingml/2006/table">
            <a:tbl>
              <a:tblPr/>
              <a:tblGrid>
                <a:gridCol w="1739433">
                  <a:extLst>
                    <a:ext uri="{9D8B030D-6E8A-4147-A177-3AD203B41FA5}">
                      <a16:colId xmlns:a16="http://schemas.microsoft.com/office/drawing/2014/main" val="2584809335"/>
                    </a:ext>
                  </a:extLst>
                </a:gridCol>
                <a:gridCol w="3367918">
                  <a:extLst>
                    <a:ext uri="{9D8B030D-6E8A-4147-A177-3AD203B41FA5}">
                      <a16:colId xmlns:a16="http://schemas.microsoft.com/office/drawing/2014/main" val="1166684108"/>
                    </a:ext>
                  </a:extLst>
                </a:gridCol>
                <a:gridCol w="3663269">
                  <a:extLst>
                    <a:ext uri="{9D8B030D-6E8A-4147-A177-3AD203B41FA5}">
                      <a16:colId xmlns:a16="http://schemas.microsoft.com/office/drawing/2014/main" val="436082685"/>
                    </a:ext>
                  </a:extLst>
                </a:gridCol>
              </a:tblGrid>
              <a:tr h="784598">
                <a:tc>
                  <a:txBody>
                    <a:bodyPr/>
                    <a:lstStyle/>
                    <a:p>
                      <a:r>
                        <a:rPr lang="en-IN" sz="2400" dirty="0"/>
                        <a:t>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6885605"/>
                  </a:ext>
                </a:extLst>
              </a:tr>
              <a:tr h="784598">
                <a:tc>
                  <a:txBody>
                    <a:bodyPr/>
                    <a:lstStyle/>
                    <a:p>
                      <a:r>
                        <a:rPr lang="en-IN" sz="2400" b="1"/>
                        <a:t>Explicit</a:t>
                      </a:r>
                      <a:endParaRPr lang="en-IN" sz="2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Written, documented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Manuals, FAQs, SOPs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1960419"/>
                  </a:ext>
                </a:extLst>
              </a:tr>
              <a:tr h="784598">
                <a:tc>
                  <a:txBody>
                    <a:bodyPr/>
                    <a:lstStyle/>
                    <a:p>
                      <a:r>
                        <a:rPr lang="en-IN" sz="2400" b="1" dirty="0"/>
                        <a:t>Tacit</a:t>
                      </a:r>
                      <a:endParaRPr lang="en-IN" sz="2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In people's minds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Experience, skills, shortcuts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88193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324241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A492361-29B5-A937-4459-84D2682AA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272649C-B749-2558-62F6-F9A4344ADDC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C4947E31-DF76-1E91-C8EB-86D5849FE0D4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254EB20E-108C-851D-492F-C9FE1BC7ADF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E22985A-98C3-4A13-2409-0803C1401EB4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52106C89-24A6-B418-73AF-E9440D7F8A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4. What KM Ensures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0BA6ACE3-D776-D0B0-EFDA-BE10D9E7AF9B}"/>
              </a:ext>
            </a:extLst>
          </p:cNvPr>
          <p:cNvSpPr txBox="1"/>
          <p:nvPr/>
        </p:nvSpPr>
        <p:spPr>
          <a:xfrm>
            <a:off x="2969631" y="2080205"/>
            <a:ext cx="8448040" cy="4056880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2800" dirty="0"/>
              <a:t>Knowledge Management ensures:</a:t>
            </a:r>
          </a:p>
          <a:p>
            <a:r>
              <a:rPr lang="en-US" sz="2800" dirty="0"/>
              <a:t>✔ Right information</a:t>
            </a:r>
            <a:br>
              <a:rPr lang="en-US" sz="2800" dirty="0"/>
            </a:br>
            <a:r>
              <a:rPr lang="en-US" sz="2800" dirty="0"/>
              <a:t>✔ Correct format</a:t>
            </a:r>
            <a:br>
              <a:rPr lang="en-US" sz="2800" dirty="0"/>
            </a:br>
            <a:r>
              <a:rPr lang="en-US" sz="2800" dirty="0"/>
              <a:t>✔ Right time</a:t>
            </a:r>
            <a:br>
              <a:rPr lang="en-US" sz="2800" dirty="0"/>
            </a:br>
            <a:r>
              <a:rPr lang="en-US" sz="2800" dirty="0"/>
              <a:t>✔ To the right person</a:t>
            </a:r>
            <a:br>
              <a:rPr lang="en-US" sz="2800" dirty="0"/>
            </a:br>
            <a:r>
              <a:rPr lang="en-US" sz="2800" dirty="0"/>
              <a:t>✔ With proper access level</a:t>
            </a:r>
          </a:p>
          <a:p>
            <a:r>
              <a:rPr lang="en-US" sz="2800" dirty="0"/>
              <a:t>Example:</a:t>
            </a:r>
            <a:br>
              <a:rPr lang="en-US" sz="2800" dirty="0"/>
            </a:br>
            <a:r>
              <a:rPr lang="en-US" sz="2800" dirty="0"/>
              <a:t>Technician needs a solution fast — NOT a 20-page theory.</a:t>
            </a:r>
          </a:p>
        </p:txBody>
      </p:sp>
    </p:spTree>
    <p:extLst>
      <p:ext uri="{BB962C8B-B14F-4D97-AF65-F5344CB8AC3E}">
        <p14:creationId xmlns:p14="http://schemas.microsoft.com/office/powerpoint/2010/main" val="49837574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A492361-29B5-A937-4459-84D2682AA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272649C-B749-2558-62F6-F9A4344ADDC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C4947E31-DF76-1E91-C8EB-86D5849FE0D4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254EB20E-108C-851D-492F-C9FE1BC7ADF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E22985A-98C3-4A13-2409-0803C1401EB4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52106C89-24A6-B418-73AF-E9440D7F8A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4. 🎭 Class Activity: “Ask the Expert” Game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0BA6ACE3-D776-D0B0-EFDA-BE10D9E7AF9B}"/>
              </a:ext>
            </a:extLst>
          </p:cNvPr>
          <p:cNvSpPr txBox="1"/>
          <p:nvPr/>
        </p:nvSpPr>
        <p:spPr>
          <a:xfrm>
            <a:off x="2969631" y="2080205"/>
            <a:ext cx="8448040" cy="3625993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2800" dirty="0"/>
              <a:t>Steps:</a:t>
            </a:r>
          </a:p>
          <a:p>
            <a:r>
              <a:rPr lang="en-US" sz="2800" dirty="0"/>
              <a:t>1️⃣ Pick 3 students.</a:t>
            </a:r>
            <a:br>
              <a:rPr lang="en-US" sz="2800" dirty="0"/>
            </a:br>
            <a:r>
              <a:rPr lang="en-US" sz="2800" dirty="0"/>
              <a:t>2️⃣ They act as “Knowledge Desk”.</a:t>
            </a:r>
            <a:br>
              <a:rPr lang="en-US" sz="2800" dirty="0"/>
            </a:br>
            <a:r>
              <a:rPr lang="en-US" sz="2800" dirty="0"/>
              <a:t>3️⃣ Others ask them a simple tech or college-related question.</a:t>
            </a:r>
            <a:br>
              <a:rPr lang="en-US" sz="2800" dirty="0"/>
            </a:br>
            <a:r>
              <a:rPr lang="en-US" sz="2800" dirty="0"/>
              <a:t>4️⃣ If the student knows → 👍</a:t>
            </a:r>
            <a:br>
              <a:rPr lang="en-US" sz="2800" dirty="0"/>
            </a:br>
            <a:r>
              <a:rPr lang="en-US" sz="2800" dirty="0"/>
              <a:t>5️⃣ If not → They must ask another student (KM = sharing knowledge).</a:t>
            </a:r>
          </a:p>
        </p:txBody>
      </p:sp>
    </p:spTree>
    <p:extLst>
      <p:ext uri="{BB962C8B-B14F-4D97-AF65-F5344CB8AC3E}">
        <p14:creationId xmlns:p14="http://schemas.microsoft.com/office/powerpoint/2010/main" val="89979162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6C34AC6-B8EB-C408-D920-07C6DA16C2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128149"/>
            <a:ext cx="9296400" cy="6392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72166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3B74F-C29E-A290-E8BB-BE046C6C9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8802" y="2807585"/>
            <a:ext cx="7701598" cy="1231106"/>
          </a:xfrm>
        </p:spPr>
        <p:txBody>
          <a:bodyPr/>
          <a:lstStyle/>
          <a:p>
            <a:r>
              <a:rPr lang="en-IN" dirty="0"/>
              <a:t>5</a:t>
            </a:r>
            <a:r>
              <a:rPr lang="en-IN" sz="4000" dirty="0"/>
              <a:t>. </a:t>
            </a:r>
            <a:r>
              <a:rPr lang="en-IN" dirty="0"/>
              <a:t>Measurement and reporting</a:t>
            </a:r>
          </a:p>
        </p:txBody>
      </p:sp>
    </p:spTree>
    <p:extLst>
      <p:ext uri="{BB962C8B-B14F-4D97-AF65-F5344CB8AC3E}">
        <p14:creationId xmlns:p14="http://schemas.microsoft.com/office/powerpoint/2010/main" val="427355666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A492361-29B5-A937-4459-84D2682AA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272649C-B749-2558-62F6-F9A4344ADDC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C4947E31-DF76-1E91-C8EB-86D5849FE0D4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254EB20E-108C-851D-492F-C9FE1BC7ADF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E22985A-98C3-4A13-2409-0803C1401EB4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52106C89-24A6-B418-73AF-E9440D7F8A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5. What is Measurement &amp; Reporting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0BA6ACE3-D776-D0B0-EFDA-BE10D9E7AF9B}"/>
              </a:ext>
            </a:extLst>
          </p:cNvPr>
          <p:cNvSpPr txBox="1"/>
          <p:nvPr/>
        </p:nvSpPr>
        <p:spPr>
          <a:xfrm>
            <a:off x="3095752" y="2310181"/>
            <a:ext cx="8448040" cy="1471557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2800" dirty="0"/>
              <a:t>Measurement &amp; Reporting helps organizations </a:t>
            </a:r>
            <a:r>
              <a:rPr lang="en-US" sz="2800" b="1" dirty="0"/>
              <a:t>make better decisions</a:t>
            </a:r>
            <a:r>
              <a:rPr lang="en-US" sz="2800" dirty="0"/>
              <a:t> by </a:t>
            </a:r>
            <a:r>
              <a:rPr lang="en-US" sz="2800" b="1" dirty="0"/>
              <a:t>reducing uncertainty</a:t>
            </a:r>
            <a:r>
              <a:rPr lang="en-US" sz="2800" dirty="0"/>
              <a:t> through the correct collection and analysis of data.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C7ADB91-B64B-AF44-6D69-2D48FF53F5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3282" y="3781738"/>
            <a:ext cx="2971800" cy="297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872774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A492361-29B5-A937-4459-84D2682AA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272649C-B749-2558-62F6-F9A4344ADDC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C4947E31-DF76-1E91-C8EB-86D5849FE0D4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254EB20E-108C-851D-492F-C9FE1BC7ADF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E22985A-98C3-4A13-2409-0803C1401EB4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52106C89-24A6-B418-73AF-E9440D7F8A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5. What Do We Measure?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0BA6ACE3-D776-D0B0-EFDA-BE10D9E7AF9B}"/>
              </a:ext>
            </a:extLst>
          </p:cNvPr>
          <p:cNvSpPr txBox="1"/>
          <p:nvPr/>
        </p:nvSpPr>
        <p:spPr>
          <a:xfrm>
            <a:off x="3095752" y="2310181"/>
            <a:ext cx="8448040" cy="4056880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2800" b="1" dirty="0"/>
              <a:t>Managed objects</a:t>
            </a:r>
            <a:r>
              <a:rPr lang="en-US" sz="2800" dirty="0"/>
              <a:t> include: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Products &amp; services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Practices &amp; processes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Value chain activities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Teams &amp; individuals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Suppliers &amp; partners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Entire organization</a:t>
            </a:r>
          </a:p>
          <a:p>
            <a:r>
              <a:rPr lang="en-US" sz="2800" dirty="0"/>
              <a:t>➡ All these are </a:t>
            </a:r>
            <a:r>
              <a:rPr lang="en-US" sz="2800" i="1" dirty="0"/>
              <a:t>connected</a:t>
            </a:r>
            <a:r>
              <a:rPr lang="en-US" sz="2800" dirty="0"/>
              <a:t>, so their metrics are connected too.</a:t>
            </a:r>
          </a:p>
        </p:txBody>
      </p:sp>
    </p:spTree>
    <p:extLst>
      <p:ext uri="{BB962C8B-B14F-4D97-AF65-F5344CB8AC3E}">
        <p14:creationId xmlns:p14="http://schemas.microsoft.com/office/powerpoint/2010/main" val="162948729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A492361-29B5-A937-4459-84D2682AA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272649C-B749-2558-62F6-F9A4344ADDC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C4947E31-DF76-1E91-C8EB-86D5849FE0D4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254EB20E-108C-851D-492F-C9FE1BC7ADF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E22985A-98C3-4A13-2409-0803C1401EB4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52106C89-24A6-B418-73AF-E9440D7F8A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5. Why Measurement Matters?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0BA6ACE3-D776-D0B0-EFDA-BE10D9E7AF9B}"/>
              </a:ext>
            </a:extLst>
          </p:cNvPr>
          <p:cNvSpPr txBox="1"/>
          <p:nvPr/>
        </p:nvSpPr>
        <p:spPr>
          <a:xfrm>
            <a:off x="3095752" y="2310181"/>
            <a:ext cx="8448040" cy="3195105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2800" dirty="0"/>
              <a:t>🎯 Organizational goals could be about: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Profit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Growth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Customer satisfaction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Public service</a:t>
            </a:r>
          </a:p>
          <a:p>
            <a:r>
              <a:rPr lang="en-US" sz="2800" dirty="0" err="1"/>
              <a:t>MeasuremCompetitive</a:t>
            </a:r>
            <a:r>
              <a:rPr lang="en-US" sz="2800" dirty="0"/>
              <a:t> advantage</a:t>
            </a:r>
          </a:p>
          <a:p>
            <a:r>
              <a:rPr lang="en-US" sz="2800" dirty="0" err="1"/>
              <a:t>ent</a:t>
            </a:r>
            <a:r>
              <a:rPr lang="en-US" sz="2800" dirty="0"/>
              <a:t> links </a:t>
            </a:r>
            <a:r>
              <a:rPr lang="en-US" sz="2800" b="1" dirty="0"/>
              <a:t>big goals → CSFs → KPIs</a:t>
            </a:r>
            <a:r>
              <a:rPr lang="en-US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1888064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A492361-29B5-A937-4459-84D2682AA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272649C-B749-2558-62F6-F9A4344ADDC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C4947E31-DF76-1E91-C8EB-86D5849FE0D4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254EB20E-108C-851D-492F-C9FE1BC7ADF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E22985A-98C3-4A13-2409-0803C1401EB4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52106C89-24A6-B418-73AF-E9440D7F8A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5. CSF vs KPI</a:t>
            </a:r>
            <a:endParaRPr sz="4400" dirty="0">
              <a:latin typeface="Cambria"/>
              <a:cs typeface="Cambria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105C953-EEC6-65B3-8470-D9AEF23FFE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4581281"/>
              </p:ext>
            </p:extLst>
          </p:nvPr>
        </p:nvGraphicFramePr>
        <p:xfrm>
          <a:off x="2938291" y="2425053"/>
          <a:ext cx="9090024" cy="3232785"/>
        </p:xfrm>
        <a:graphic>
          <a:graphicData uri="http://schemas.openxmlformats.org/drawingml/2006/table">
            <a:tbl>
              <a:tblPr/>
              <a:tblGrid>
                <a:gridCol w="3030008">
                  <a:extLst>
                    <a:ext uri="{9D8B030D-6E8A-4147-A177-3AD203B41FA5}">
                      <a16:colId xmlns:a16="http://schemas.microsoft.com/office/drawing/2014/main" val="3365341570"/>
                    </a:ext>
                  </a:extLst>
                </a:gridCol>
                <a:gridCol w="3030008">
                  <a:extLst>
                    <a:ext uri="{9D8B030D-6E8A-4147-A177-3AD203B41FA5}">
                      <a16:colId xmlns:a16="http://schemas.microsoft.com/office/drawing/2014/main" val="1886731466"/>
                    </a:ext>
                  </a:extLst>
                </a:gridCol>
                <a:gridCol w="3030008">
                  <a:extLst>
                    <a:ext uri="{9D8B030D-6E8A-4147-A177-3AD203B41FA5}">
                      <a16:colId xmlns:a16="http://schemas.microsoft.com/office/drawing/2014/main" val="2893362296"/>
                    </a:ext>
                  </a:extLst>
                </a:gridCol>
              </a:tblGrid>
              <a:tr h="718397">
                <a:tc>
                  <a:txBody>
                    <a:bodyPr/>
                    <a:lstStyle/>
                    <a:p>
                      <a:r>
                        <a:rPr lang="en-IN" sz="2000"/>
                        <a:t>Term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06776863"/>
                  </a:ext>
                </a:extLst>
              </a:tr>
              <a:tr h="1257194">
                <a:tc>
                  <a:txBody>
                    <a:bodyPr/>
                    <a:lstStyle/>
                    <a:p>
                      <a:r>
                        <a:rPr lang="en-IN" sz="2000" b="1" dirty="0"/>
                        <a:t>CSF (Critical Success Factor)</a:t>
                      </a:r>
                      <a:endParaRPr lang="en-IN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A must-have condition to succeed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“Resolve 80% incidents on first call”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915615"/>
                  </a:ext>
                </a:extLst>
              </a:tr>
              <a:tr h="1257194">
                <a:tc>
                  <a:txBody>
                    <a:bodyPr/>
                    <a:lstStyle/>
                    <a:p>
                      <a:r>
                        <a:rPr lang="en-IN" sz="2000" b="1"/>
                        <a:t>KPI (Key Performance Indicator)</a:t>
                      </a:r>
                      <a:endParaRPr lang="en-IN" sz="2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A metric used to judge success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“First call resolution %”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89480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711326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A492361-29B5-A937-4459-84D2682AA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272649C-B749-2558-62F6-F9A4344ADDC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C4947E31-DF76-1E91-C8EB-86D5849FE0D4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254EB20E-108C-851D-492F-C9FE1BC7ADF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E22985A-98C3-4A13-2409-0803C1401EB4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52106C89-24A6-B418-73AF-E9440D7F8A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5. Why Measurement Matters?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0BA6ACE3-D776-D0B0-EFDA-BE10D9E7AF9B}"/>
              </a:ext>
            </a:extLst>
          </p:cNvPr>
          <p:cNvSpPr txBox="1"/>
          <p:nvPr/>
        </p:nvSpPr>
        <p:spPr>
          <a:xfrm>
            <a:off x="3095752" y="2310181"/>
            <a:ext cx="8448040" cy="3872214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2400" dirty="0"/>
              <a:t>KPIs can </a:t>
            </a:r>
            <a:r>
              <a:rPr lang="en-US" sz="2400" b="1" dirty="0"/>
              <a:t>motivate</a:t>
            </a:r>
            <a:r>
              <a:rPr lang="en-US" sz="2400" dirty="0"/>
              <a:t>, but they can also </a:t>
            </a:r>
            <a:r>
              <a:rPr lang="en-US" sz="2400" b="1" dirty="0"/>
              <a:t>spoil </a:t>
            </a:r>
            <a:r>
              <a:rPr lang="en-US" sz="2400" b="1" dirty="0" err="1"/>
              <a:t>behaviour</a:t>
            </a:r>
            <a:r>
              <a:rPr lang="en-US" sz="2400" dirty="0"/>
              <a:t> if used wrong.</a:t>
            </a:r>
          </a:p>
          <a:p>
            <a:r>
              <a:rPr lang="en-US" sz="2400" dirty="0"/>
              <a:t>📌 Example of Wrong KPI: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Service desk staff asked to </a:t>
            </a:r>
            <a:r>
              <a:rPr lang="en-US" sz="2400" b="1" dirty="0"/>
              <a:t>keep calls short</a:t>
            </a:r>
            <a:br>
              <a:rPr lang="en-US" sz="2400" dirty="0"/>
            </a:br>
            <a:r>
              <a:rPr lang="en-US" sz="2400" dirty="0"/>
              <a:t>→ They may rush calls → poor resolution → unhappy customers</a:t>
            </a:r>
          </a:p>
          <a:p>
            <a:r>
              <a:rPr lang="en-US" sz="2400" dirty="0"/>
              <a:t>✔ Better approach: </a:t>
            </a:r>
            <a:r>
              <a:rPr lang="en-US" sz="2400" b="1" dirty="0"/>
              <a:t>Team KPIs</a:t>
            </a:r>
            <a:r>
              <a:rPr lang="en-US" sz="2400" dirty="0"/>
              <a:t>, not individual-only KPIs</a:t>
            </a:r>
            <a:br>
              <a:rPr lang="en-US" sz="2400" dirty="0"/>
            </a:br>
            <a:r>
              <a:rPr lang="en-US" sz="2400" dirty="0"/>
              <a:t>😊 Encourages collaboration</a:t>
            </a:r>
            <a:br>
              <a:rPr lang="en-US" sz="2400" dirty="0"/>
            </a:br>
            <a:r>
              <a:rPr lang="en-US" sz="2400" dirty="0"/>
              <a:t>😊 Less pressure</a:t>
            </a:r>
            <a:br>
              <a:rPr lang="en-US" sz="2400" dirty="0"/>
            </a:br>
            <a:r>
              <a:rPr lang="en-US" sz="2400" dirty="0"/>
              <a:t>😊 Aligns with organizational value</a:t>
            </a:r>
          </a:p>
        </p:txBody>
      </p:sp>
    </p:spTree>
    <p:extLst>
      <p:ext uri="{BB962C8B-B14F-4D97-AF65-F5344CB8AC3E}">
        <p14:creationId xmlns:p14="http://schemas.microsoft.com/office/powerpoint/2010/main" val="148357170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A492361-29B5-A937-4459-84D2682AA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272649C-B749-2558-62F6-F9A4344ADDC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C4947E31-DF76-1E91-C8EB-86D5849FE0D4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254EB20E-108C-851D-492F-C9FE1BC7ADF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E22985A-98C3-4A13-2409-0803C1401EB4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52106C89-24A6-B418-73AF-E9440D7F8A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5. Good Measurement = Good Reporting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0BA6ACE3-D776-D0B0-EFDA-BE10D9E7AF9B}"/>
              </a:ext>
            </a:extLst>
          </p:cNvPr>
          <p:cNvSpPr txBox="1"/>
          <p:nvPr/>
        </p:nvSpPr>
        <p:spPr>
          <a:xfrm>
            <a:off x="3095752" y="2310181"/>
            <a:ext cx="8448040" cy="2641108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3200" dirty="0"/>
              <a:t>Metrics → Reports → Decisions</a:t>
            </a:r>
          </a:p>
          <a:p>
            <a:r>
              <a:rPr lang="en-US" sz="3200" dirty="0"/>
              <a:t>Reports should answer </a:t>
            </a:r>
            <a:r>
              <a:rPr lang="en-US" sz="3200" b="1" dirty="0"/>
              <a:t>two questions</a:t>
            </a:r>
            <a:r>
              <a:rPr lang="en-US" sz="3200" dirty="0"/>
              <a:t>:</a:t>
            </a:r>
          </a:p>
          <a:p>
            <a:r>
              <a:rPr lang="en-US" sz="3200" dirty="0"/>
              <a:t>1️⃣ </a:t>
            </a:r>
            <a:r>
              <a:rPr lang="en-US" sz="3200" i="1" dirty="0"/>
              <a:t>How far are we from the target?</a:t>
            </a:r>
            <a:br>
              <a:rPr lang="en-US" sz="3200" dirty="0"/>
            </a:br>
            <a:r>
              <a:rPr lang="en-US" sz="3200" dirty="0"/>
              <a:t>2️⃣ </a:t>
            </a:r>
            <a:r>
              <a:rPr lang="en-US" sz="3200" i="1" dirty="0"/>
              <a:t>What bottlenecks are stopping us?</a:t>
            </a:r>
            <a:endParaRPr lang="en-US" sz="3200" dirty="0"/>
          </a:p>
          <a:p>
            <a:r>
              <a:rPr lang="en-US" sz="3200" dirty="0"/>
              <a:t>🖼️ Idea: dashboard screenshot style</a:t>
            </a:r>
          </a:p>
        </p:txBody>
      </p:sp>
    </p:spTree>
    <p:extLst>
      <p:ext uri="{BB962C8B-B14F-4D97-AF65-F5344CB8AC3E}">
        <p14:creationId xmlns:p14="http://schemas.microsoft.com/office/powerpoint/2010/main" val="248601936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A492361-29B5-A937-4459-84D2682AA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272649C-B749-2558-62F6-F9A4344ADDC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C4947E31-DF76-1E91-C8EB-86D5849FE0D4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254EB20E-108C-851D-492F-C9FE1BC7ADF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E22985A-98C3-4A13-2409-0803C1401EB4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52106C89-24A6-B418-73AF-E9440D7F8A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5. What a Good Report Looks Like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0BA6ACE3-D776-D0B0-EFDA-BE10D9E7AF9B}"/>
              </a:ext>
            </a:extLst>
          </p:cNvPr>
          <p:cNvSpPr txBox="1"/>
          <p:nvPr/>
        </p:nvSpPr>
        <p:spPr>
          <a:xfrm>
            <a:off x="3095752" y="2310181"/>
            <a:ext cx="8448040" cy="4241546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2400" dirty="0"/>
              <a:t>✔ Clear</a:t>
            </a:r>
            <a:br>
              <a:rPr lang="en-US" sz="2400" dirty="0"/>
            </a:br>
            <a:r>
              <a:rPr lang="en-US" sz="2400" dirty="0"/>
              <a:t>✔ Visual</a:t>
            </a:r>
            <a:br>
              <a:rPr lang="en-US" sz="2400" dirty="0"/>
            </a:br>
            <a:r>
              <a:rPr lang="en-US" sz="2400" dirty="0"/>
              <a:t>✔ Relevant</a:t>
            </a:r>
            <a:br>
              <a:rPr lang="en-US" sz="2400" dirty="0"/>
            </a:br>
            <a:r>
              <a:rPr lang="en-US" sz="2400" dirty="0"/>
              <a:t>✔ Action-oriented</a:t>
            </a:r>
            <a:br>
              <a:rPr lang="en-US" sz="2400" dirty="0"/>
            </a:br>
            <a:r>
              <a:rPr lang="en-US" sz="2400" dirty="0"/>
              <a:t>✔ Up-to-date</a:t>
            </a:r>
            <a:br>
              <a:rPr lang="en-US" sz="2400" dirty="0"/>
            </a:br>
            <a:r>
              <a:rPr lang="en-US" sz="2400" dirty="0"/>
              <a:t>✔ Easy to understand</a:t>
            </a:r>
          </a:p>
          <a:p>
            <a:r>
              <a:rPr lang="en-US" sz="2400" dirty="0"/>
              <a:t>Examples: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Traffic light signals (red–yellow–green)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Trend charts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Pie charts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Progress bars</a:t>
            </a:r>
          </a:p>
        </p:txBody>
      </p:sp>
    </p:spTree>
    <p:extLst>
      <p:ext uri="{BB962C8B-B14F-4D97-AF65-F5344CB8AC3E}">
        <p14:creationId xmlns:p14="http://schemas.microsoft.com/office/powerpoint/2010/main" val="245559075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6902A32-A6C6-6CD9-FFA5-F0ADD40036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101214"/>
            <a:ext cx="9372599" cy="6395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754723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A492361-29B5-A937-4459-84D2682AA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272649C-B749-2558-62F6-F9A4344ADDC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C4947E31-DF76-1E91-C8EB-86D5849FE0D4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254EB20E-108C-851D-492F-C9FE1BC7ADF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E22985A-98C3-4A13-2409-0803C1401EB4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52106C89-24A6-B418-73AF-E9440D7F8A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5. 🎮 Class Activity “Dashboard Detective”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0BA6ACE3-D776-D0B0-EFDA-BE10D9E7AF9B}"/>
              </a:ext>
            </a:extLst>
          </p:cNvPr>
          <p:cNvSpPr txBox="1"/>
          <p:nvPr/>
        </p:nvSpPr>
        <p:spPr>
          <a:xfrm>
            <a:off x="3095752" y="2310181"/>
            <a:ext cx="8448040" cy="1040670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metric needs improvement?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is performing well?</a:t>
            </a:r>
          </a:p>
        </p:txBody>
      </p:sp>
    </p:spTree>
    <p:extLst>
      <p:ext uri="{BB962C8B-B14F-4D97-AF65-F5344CB8AC3E}">
        <p14:creationId xmlns:p14="http://schemas.microsoft.com/office/powerpoint/2010/main" val="138742880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Instagram Dashboard | Klipfolio">
            <a:extLst>
              <a:ext uri="{FF2B5EF4-FFF2-40B4-BE49-F238E27FC236}">
                <a16:creationId xmlns:a16="http://schemas.microsoft.com/office/drawing/2014/main" id="{5F587B42-2BCA-D670-3A3D-5C095237E9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0"/>
            <a:ext cx="94043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300656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3B74F-C29E-A290-E8BB-BE046C6C9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0" y="2667000"/>
            <a:ext cx="9677400" cy="1231106"/>
          </a:xfrm>
        </p:spPr>
        <p:txBody>
          <a:bodyPr/>
          <a:lstStyle/>
          <a:p>
            <a:r>
              <a:rPr lang="en-IN" dirty="0"/>
              <a:t>6</a:t>
            </a:r>
            <a:r>
              <a:rPr lang="en-IN" sz="4000" dirty="0"/>
              <a:t>. </a:t>
            </a:r>
            <a:r>
              <a:rPr lang="en-IN" dirty="0"/>
              <a:t>Organizational Change Management</a:t>
            </a:r>
          </a:p>
        </p:txBody>
      </p:sp>
    </p:spTree>
    <p:extLst>
      <p:ext uri="{BB962C8B-B14F-4D97-AF65-F5344CB8AC3E}">
        <p14:creationId xmlns:p14="http://schemas.microsoft.com/office/powerpoint/2010/main" val="254665936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492361-29B5-A937-4459-84D2682AA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272649C-B749-2558-62F6-F9A4344ADDC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C4947E31-DF76-1E91-C8EB-86D5849FE0D4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254EB20E-108C-851D-492F-C9FE1BC7ADF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E22985A-98C3-4A13-2409-0803C1401EB4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52106C89-24A6-B418-73AF-E9440D7F8A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6. </a:t>
            </a:r>
            <a:r>
              <a:rPr lang="en-IN" sz="4400" dirty="0"/>
              <a:t>Organizational Change Management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0BA6ACE3-D776-D0B0-EFDA-BE10D9E7AF9B}"/>
              </a:ext>
            </a:extLst>
          </p:cNvPr>
          <p:cNvSpPr txBox="1"/>
          <p:nvPr/>
        </p:nvSpPr>
        <p:spPr>
          <a:xfrm>
            <a:off x="3095752" y="2310181"/>
            <a:ext cx="8448040" cy="1471557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2800" dirty="0"/>
              <a:t>To ensure organizational changes are </a:t>
            </a:r>
            <a:r>
              <a:rPr lang="en-US" sz="2800" b="1" dirty="0"/>
              <a:t>smoothly implemented</a:t>
            </a:r>
            <a:r>
              <a:rPr lang="en-US" sz="2800" dirty="0"/>
              <a:t> and deliver </a:t>
            </a:r>
            <a:r>
              <a:rPr lang="en-US" sz="2800" b="1" dirty="0"/>
              <a:t>lasting benefits</a:t>
            </a:r>
            <a:r>
              <a:rPr lang="en-US" sz="2800" dirty="0"/>
              <a:t> by managing the </a:t>
            </a:r>
            <a:r>
              <a:rPr lang="en-US" sz="2800" b="1" dirty="0"/>
              <a:t>human aspects</a:t>
            </a:r>
            <a:r>
              <a:rPr lang="en-US" sz="2800" dirty="0"/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FFD47C-6480-BA06-E140-6D5F77A32C57}"/>
              </a:ext>
            </a:extLst>
          </p:cNvPr>
          <p:cNvSpPr txBox="1"/>
          <p:nvPr/>
        </p:nvSpPr>
        <p:spPr>
          <a:xfrm>
            <a:off x="3633498" y="5029200"/>
            <a:ext cx="609746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Activity:</a:t>
            </a:r>
            <a:br>
              <a:rPr lang="en-US" dirty="0"/>
            </a:br>
            <a:r>
              <a:rPr lang="en-US" dirty="0"/>
              <a:t>📌 </a:t>
            </a:r>
            <a:r>
              <a:rPr lang="en-US" i="1" dirty="0"/>
              <a:t>Quick poll:</a:t>
            </a:r>
            <a:r>
              <a:rPr lang="en-US" dirty="0"/>
              <a:t> “What makes people resist change the most? Fear? Workload? Confusion?”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0938029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492361-29B5-A937-4459-84D2682AA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272649C-B749-2558-62F6-F9A4344ADDC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C4947E31-DF76-1E91-C8EB-86D5849FE0D4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254EB20E-108C-851D-492F-C9FE1BC7ADF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E22985A-98C3-4A13-2409-0803C1401EB4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52106C89-24A6-B418-73AF-E9440D7F8A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6. </a:t>
            </a:r>
            <a:r>
              <a:rPr lang="en-IN" sz="4400" dirty="0"/>
              <a:t>Why Change Management?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0BA6ACE3-D776-D0B0-EFDA-BE10D9E7AF9B}"/>
              </a:ext>
            </a:extLst>
          </p:cNvPr>
          <p:cNvSpPr txBox="1"/>
          <p:nvPr/>
        </p:nvSpPr>
        <p:spPr>
          <a:xfrm>
            <a:off x="3095752" y="2310181"/>
            <a:ext cx="8448040" cy="1471557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Change affects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roles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behaviour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work methods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People are the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biggest factor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success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Without people’s support → even good changes fail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081372-A42B-4ED9-A42F-1F109E5E638F}"/>
              </a:ext>
            </a:extLst>
          </p:cNvPr>
          <p:cNvSpPr txBox="1"/>
          <p:nvPr/>
        </p:nvSpPr>
        <p:spPr>
          <a:xfrm>
            <a:off x="4326736" y="4953000"/>
            <a:ext cx="609746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Mini-game:</a:t>
            </a:r>
            <a:br>
              <a:rPr lang="en-US" dirty="0"/>
            </a:br>
            <a:r>
              <a:rPr lang="en-US" dirty="0"/>
              <a:t>❓ </a:t>
            </a:r>
            <a:r>
              <a:rPr lang="en-US" i="1" dirty="0"/>
              <a:t>True/False:</a:t>
            </a:r>
            <a:r>
              <a:rPr lang="en-US" dirty="0"/>
              <a:t> “Technology changes fail mainly due to technical issues.”</a:t>
            </a:r>
          </a:p>
        </p:txBody>
      </p:sp>
    </p:spTree>
    <p:extLst>
      <p:ext uri="{BB962C8B-B14F-4D97-AF65-F5344CB8AC3E}">
        <p14:creationId xmlns:p14="http://schemas.microsoft.com/office/powerpoint/2010/main" val="286417452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492361-29B5-A937-4459-84D2682AA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272649C-B749-2558-62F6-F9A4344ADDC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C4947E31-DF76-1E91-C8EB-86D5849FE0D4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254EB20E-108C-851D-492F-C9FE1BC7ADF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E22985A-98C3-4A13-2409-0803C1401EB4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52106C89-24A6-B418-73AF-E9440D7F8A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6. </a:t>
            </a:r>
            <a:r>
              <a:rPr lang="en-IN" sz="4400" dirty="0"/>
              <a:t>What OCM Achieves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0BA6ACE3-D776-D0B0-EFDA-BE10D9E7AF9B}"/>
              </a:ext>
            </a:extLst>
          </p:cNvPr>
          <p:cNvSpPr txBox="1"/>
          <p:nvPr/>
        </p:nvSpPr>
        <p:spPr>
          <a:xfrm>
            <a:off x="3095752" y="2310181"/>
            <a:ext cx="8448040" cy="2333331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2800" dirty="0"/>
              <a:t>Organizational Change Management helps: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Reduce resistance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Address impacts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Provide training &amp; communication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Ensure successful adoption</a:t>
            </a:r>
          </a:p>
        </p:txBody>
      </p:sp>
    </p:spTree>
    <p:extLst>
      <p:ext uri="{BB962C8B-B14F-4D97-AF65-F5344CB8AC3E}">
        <p14:creationId xmlns:p14="http://schemas.microsoft.com/office/powerpoint/2010/main" val="418944593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492361-29B5-A937-4459-84D2682AA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272649C-B749-2558-62F6-F9A4344ADDC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C4947E31-DF76-1E91-C8EB-86D5849FE0D4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254EB20E-108C-851D-492F-C9FE1BC7ADF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E22985A-98C3-4A13-2409-0803C1401EB4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52106C89-24A6-B418-73AF-E9440D7F8A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6. Essential Elements of Successful Change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0BA6ACE3-D776-D0B0-EFDA-BE10D9E7AF9B}"/>
              </a:ext>
            </a:extLst>
          </p:cNvPr>
          <p:cNvSpPr txBox="1"/>
          <p:nvPr/>
        </p:nvSpPr>
        <p:spPr>
          <a:xfrm>
            <a:off x="3095752" y="2310181"/>
            <a:ext cx="8448040" cy="1902444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2800" dirty="0"/>
              <a:t>1️⃣ Clear &amp; relevant objectives</a:t>
            </a:r>
            <a:br>
              <a:rPr lang="en-US" sz="2800" dirty="0"/>
            </a:br>
            <a:r>
              <a:rPr lang="en-US" sz="2800" dirty="0"/>
              <a:t>2️⃣ Strong &amp; committed leadership</a:t>
            </a:r>
            <a:br>
              <a:rPr lang="en-US" sz="2800" dirty="0"/>
            </a:br>
            <a:r>
              <a:rPr lang="en-US" sz="2800" dirty="0"/>
              <a:t>3️⃣ Willing &amp; prepared participants</a:t>
            </a:r>
            <a:br>
              <a:rPr lang="en-US" sz="2800" dirty="0"/>
            </a:br>
            <a:r>
              <a:rPr lang="en-US" sz="2800" dirty="0"/>
              <a:t>4️⃣ Sustained improvement</a:t>
            </a:r>
          </a:p>
        </p:txBody>
      </p:sp>
    </p:spTree>
    <p:extLst>
      <p:ext uri="{BB962C8B-B14F-4D97-AF65-F5344CB8AC3E}">
        <p14:creationId xmlns:p14="http://schemas.microsoft.com/office/powerpoint/2010/main" val="278968128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492361-29B5-A937-4459-84D2682AA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272649C-B749-2558-62F6-F9A4344ADDC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C4947E31-DF76-1E91-C8EB-86D5849FE0D4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254EB20E-108C-851D-492F-C9FE1BC7ADF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E22985A-98C3-4A13-2409-0803C1401EB4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52106C89-24A6-B418-73AF-E9440D7F8A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6. A. Clear &amp; Relevant Objectives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0BA6ACE3-D776-D0B0-EFDA-BE10D9E7AF9B}"/>
              </a:ext>
            </a:extLst>
          </p:cNvPr>
          <p:cNvSpPr txBox="1"/>
          <p:nvPr/>
        </p:nvSpPr>
        <p:spPr>
          <a:xfrm>
            <a:off x="3095752" y="2310181"/>
            <a:ext cx="8448040" cy="2764218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People support change when goals make sense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Objectives must provide </a:t>
            </a:r>
            <a:r>
              <a:rPr lang="en-US" sz="2800" b="1" dirty="0"/>
              <a:t>real value</a:t>
            </a:r>
            <a:endParaRPr lang="en-U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Must be communicated in context</a:t>
            </a:r>
          </a:p>
          <a:p>
            <a:r>
              <a:rPr lang="en-US" sz="2800" b="1" dirty="0"/>
              <a:t>Activity:</a:t>
            </a:r>
            <a:br>
              <a:rPr lang="en-US" sz="2800" dirty="0"/>
            </a:br>
            <a:r>
              <a:rPr lang="en-US" sz="2800" dirty="0"/>
              <a:t>✍️ </a:t>
            </a:r>
            <a:r>
              <a:rPr lang="en-US" sz="2800" i="1" dirty="0"/>
              <a:t>Micro-task:</a:t>
            </a:r>
            <a:r>
              <a:rPr lang="en-US" sz="2800" dirty="0"/>
              <a:t> Write 1 example of a “bad change objective”.</a:t>
            </a:r>
          </a:p>
        </p:txBody>
      </p:sp>
    </p:spTree>
    <p:extLst>
      <p:ext uri="{BB962C8B-B14F-4D97-AF65-F5344CB8AC3E}">
        <p14:creationId xmlns:p14="http://schemas.microsoft.com/office/powerpoint/2010/main" val="228770728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492361-29B5-A937-4459-84D2682AA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272649C-B749-2558-62F6-F9A4344ADDC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C4947E31-DF76-1E91-C8EB-86D5849FE0D4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254EB20E-108C-851D-492F-C9FE1BC7ADF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E22985A-98C3-4A13-2409-0803C1401EB4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52106C89-24A6-B418-73AF-E9440D7F8A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6. B</a:t>
            </a:r>
            <a:r>
              <a:rPr lang="en-US" sz="4400" b="1" dirty="0"/>
              <a:t>. Strong &amp; Committed Leadership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0BA6ACE3-D776-D0B0-EFDA-BE10D9E7AF9B}"/>
              </a:ext>
            </a:extLst>
          </p:cNvPr>
          <p:cNvSpPr txBox="1"/>
          <p:nvPr/>
        </p:nvSpPr>
        <p:spPr>
          <a:xfrm>
            <a:off x="3095752" y="2310181"/>
            <a:ext cx="8448040" cy="2333331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Sponsors advocate and authorize the change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Leaders must be </a:t>
            </a:r>
            <a:r>
              <a:rPr lang="en-US" sz="2800" b="1" dirty="0"/>
              <a:t>visible</a:t>
            </a:r>
            <a:r>
              <a:rPr lang="en-US" sz="2800" dirty="0"/>
              <a:t> and </a:t>
            </a:r>
            <a:r>
              <a:rPr lang="en-US" sz="2800" b="1" dirty="0"/>
              <a:t>consistent</a:t>
            </a:r>
            <a:endParaRPr lang="en-U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Communication from leaders builds trust</a:t>
            </a:r>
          </a:p>
          <a:p>
            <a:r>
              <a:rPr lang="en-US" sz="2800" b="1" dirty="0"/>
              <a:t>Activity:</a:t>
            </a:r>
            <a:br>
              <a:rPr lang="en-US" sz="2800" dirty="0"/>
            </a:br>
            <a:r>
              <a:rPr lang="en-US" sz="2800" dirty="0"/>
              <a:t>🎯 Identify: “Who is a sponsor? Who is a leader?”</a:t>
            </a:r>
          </a:p>
        </p:txBody>
      </p:sp>
    </p:spTree>
    <p:extLst>
      <p:ext uri="{BB962C8B-B14F-4D97-AF65-F5344CB8AC3E}">
        <p14:creationId xmlns:p14="http://schemas.microsoft.com/office/powerpoint/2010/main" val="34002443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492361-29B5-A937-4459-84D2682AA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272649C-B749-2558-62F6-F9A4344ADDC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C4947E31-DF76-1E91-C8EB-86D5849FE0D4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254EB20E-108C-851D-492F-C9FE1BC7ADF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E22985A-98C3-4A13-2409-0803C1401EB4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52106C89-24A6-B418-73AF-E9440D7F8A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6. C</a:t>
            </a:r>
            <a:r>
              <a:rPr lang="en-US" sz="4400" b="1" dirty="0"/>
              <a:t>. Willing &amp; Prepared Participants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0BA6ACE3-D776-D0B0-EFDA-BE10D9E7AF9B}"/>
              </a:ext>
            </a:extLst>
          </p:cNvPr>
          <p:cNvSpPr txBox="1"/>
          <p:nvPr/>
        </p:nvSpPr>
        <p:spPr>
          <a:xfrm>
            <a:off x="3095752" y="2310181"/>
            <a:ext cx="8448040" cy="2764218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People must believe the change matters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Training + awareness improves readiness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Frequent communication = lower fear</a:t>
            </a:r>
          </a:p>
          <a:p>
            <a:r>
              <a:rPr lang="en-US" sz="2800" b="1" dirty="0"/>
              <a:t>Activity:</a:t>
            </a:r>
            <a:br>
              <a:rPr lang="en-US" sz="2800" dirty="0"/>
            </a:br>
            <a:r>
              <a:rPr lang="en-US" sz="2800" dirty="0"/>
              <a:t>🗣️ Role-play: “Trainer convincing a team about upcoming change.”</a:t>
            </a:r>
          </a:p>
        </p:txBody>
      </p:sp>
    </p:spTree>
    <p:extLst>
      <p:ext uri="{BB962C8B-B14F-4D97-AF65-F5344CB8AC3E}">
        <p14:creationId xmlns:p14="http://schemas.microsoft.com/office/powerpoint/2010/main" val="277209041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492361-29B5-A937-4459-84D2682AA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272649C-B749-2558-62F6-F9A4344ADDC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C4947E31-DF76-1E91-C8EB-86D5849FE0D4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254EB20E-108C-851D-492F-C9FE1BC7ADF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E22985A-98C3-4A13-2409-0803C1401EB4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52106C89-24A6-B418-73AF-E9440D7F8A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6. D</a:t>
            </a:r>
            <a:r>
              <a:rPr lang="en-US" sz="4400" b="1" dirty="0"/>
              <a:t>. Sustained Improvement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0BA6ACE3-D776-D0B0-EFDA-BE10D9E7AF9B}"/>
              </a:ext>
            </a:extLst>
          </p:cNvPr>
          <p:cNvSpPr txBox="1"/>
          <p:nvPr/>
        </p:nvSpPr>
        <p:spPr>
          <a:xfrm>
            <a:off x="3095752" y="2310181"/>
            <a:ext cx="8448040" cy="3625993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Avoid “reverting to old habits”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Reinforce with:</a:t>
            </a:r>
            <a:br>
              <a:rPr lang="en-US" sz="2800" dirty="0"/>
            </a:br>
            <a:r>
              <a:rPr lang="en-US" sz="2800" dirty="0"/>
              <a:t>✔ Communication</a:t>
            </a:r>
            <a:br>
              <a:rPr lang="en-US" sz="2800" dirty="0"/>
            </a:br>
            <a:r>
              <a:rPr lang="en-US" sz="2800" dirty="0"/>
              <a:t>✔ Metrics</a:t>
            </a:r>
            <a:br>
              <a:rPr lang="en-US" sz="2800" dirty="0"/>
            </a:br>
            <a:r>
              <a:rPr lang="en-US" sz="2800" dirty="0"/>
              <a:t>✔ Leader support</a:t>
            </a:r>
            <a:br>
              <a:rPr lang="en-US" sz="2800" dirty="0"/>
            </a:br>
            <a:r>
              <a:rPr lang="en-US" sz="2800" dirty="0"/>
              <a:t>✔ Addressing impacts</a:t>
            </a:r>
          </a:p>
          <a:p>
            <a:r>
              <a:rPr lang="en-US" sz="2800" b="1" dirty="0"/>
              <a:t>Quick Quiz:</a:t>
            </a:r>
            <a:br>
              <a:rPr lang="en-US" sz="2800" dirty="0"/>
            </a:br>
            <a:r>
              <a:rPr lang="en-US" sz="2800" dirty="0"/>
              <a:t>“What happens if reinforcement is missing?”</a:t>
            </a:r>
          </a:p>
        </p:txBody>
      </p:sp>
    </p:spTree>
    <p:extLst>
      <p:ext uri="{BB962C8B-B14F-4D97-AF65-F5344CB8AC3E}">
        <p14:creationId xmlns:p14="http://schemas.microsoft.com/office/powerpoint/2010/main" val="304109224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492361-29B5-A937-4459-84D2682AA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272649C-B749-2558-62F6-F9A4344ADDC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C4947E31-DF76-1E91-C8EB-86D5849FE0D4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254EB20E-108C-851D-492F-C9FE1BC7ADF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E22985A-98C3-4A13-2409-0803C1401EB4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52106C89-24A6-B418-73AF-E9440D7F8A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6. Key OCM Activities</a:t>
            </a:r>
            <a:endParaRPr sz="4400" dirty="0">
              <a:latin typeface="Cambria"/>
              <a:cs typeface="Cambria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D8AC385-807C-FADE-3D80-517F2EACEA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8280957"/>
              </p:ext>
            </p:extLst>
          </p:nvPr>
        </p:nvGraphicFramePr>
        <p:xfrm>
          <a:off x="2325342" y="2242501"/>
          <a:ext cx="9257058" cy="4470152"/>
        </p:xfrm>
        <a:graphic>
          <a:graphicData uri="http://schemas.openxmlformats.org/drawingml/2006/table">
            <a:tbl>
              <a:tblPr/>
              <a:tblGrid>
                <a:gridCol w="4628529">
                  <a:extLst>
                    <a:ext uri="{9D8B030D-6E8A-4147-A177-3AD203B41FA5}">
                      <a16:colId xmlns:a16="http://schemas.microsoft.com/office/drawing/2014/main" val="3093032485"/>
                    </a:ext>
                  </a:extLst>
                </a:gridCol>
                <a:gridCol w="4628529">
                  <a:extLst>
                    <a:ext uri="{9D8B030D-6E8A-4147-A177-3AD203B41FA5}">
                      <a16:colId xmlns:a16="http://schemas.microsoft.com/office/drawing/2014/main" val="1187004221"/>
                    </a:ext>
                  </a:extLst>
                </a:gridCol>
              </a:tblGrid>
              <a:tr h="558769"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Activity</a:t>
                      </a:r>
                    </a:p>
                  </a:txBody>
                  <a:tcPr marL="78978" marR="78978" marT="39489" marB="394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Helps Deliver</a:t>
                      </a:r>
                    </a:p>
                  </a:txBody>
                  <a:tcPr marL="78978" marR="78978" marT="39489" marB="394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5010043"/>
                  </a:ext>
                </a:extLst>
              </a:tr>
              <a:tr h="558769">
                <a:tc>
                  <a:txBody>
                    <a:bodyPr/>
                    <a:lstStyle/>
                    <a:p>
                      <a:r>
                        <a:rPr lang="en-IN" sz="2400"/>
                        <a:t>Sense of urgency</a:t>
                      </a:r>
                    </a:p>
                  </a:txBody>
                  <a:tcPr marL="78978" marR="78978" marT="39489" marB="394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Clear objectives, willing participants</a:t>
                      </a:r>
                    </a:p>
                  </a:txBody>
                  <a:tcPr marL="78978" marR="78978" marT="39489" marB="394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2218291"/>
                  </a:ext>
                </a:extLst>
              </a:tr>
              <a:tr h="558769">
                <a:tc>
                  <a:txBody>
                    <a:bodyPr/>
                    <a:lstStyle/>
                    <a:p>
                      <a:r>
                        <a:rPr lang="en-IN" sz="2400" dirty="0"/>
                        <a:t>Stakeholder management</a:t>
                      </a:r>
                    </a:p>
                  </a:txBody>
                  <a:tcPr marL="78978" marR="78978" marT="39489" marB="394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Strong participants</a:t>
                      </a:r>
                    </a:p>
                  </a:txBody>
                  <a:tcPr marL="78978" marR="78978" marT="39489" marB="394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6027858"/>
                  </a:ext>
                </a:extLst>
              </a:tr>
              <a:tr h="558769">
                <a:tc>
                  <a:txBody>
                    <a:bodyPr/>
                    <a:lstStyle/>
                    <a:p>
                      <a:r>
                        <a:rPr lang="en-IN" sz="2400"/>
                        <a:t>Sponsor management</a:t>
                      </a:r>
                    </a:p>
                  </a:txBody>
                  <a:tcPr marL="78978" marR="78978" marT="39489" marB="394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Strong leadership</a:t>
                      </a:r>
                    </a:p>
                  </a:txBody>
                  <a:tcPr marL="78978" marR="78978" marT="39489" marB="394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7353745"/>
                  </a:ext>
                </a:extLst>
              </a:tr>
              <a:tr h="558769">
                <a:tc>
                  <a:txBody>
                    <a:bodyPr/>
                    <a:lstStyle/>
                    <a:p>
                      <a:r>
                        <a:rPr lang="en-IN" sz="2400"/>
                        <a:t>Communication</a:t>
                      </a:r>
                    </a:p>
                  </a:txBody>
                  <a:tcPr marL="78978" marR="78978" marT="39489" marB="394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Prepared participants</a:t>
                      </a:r>
                    </a:p>
                  </a:txBody>
                  <a:tcPr marL="78978" marR="78978" marT="39489" marB="394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2779711"/>
                  </a:ext>
                </a:extLst>
              </a:tr>
              <a:tr h="558769">
                <a:tc>
                  <a:txBody>
                    <a:bodyPr/>
                    <a:lstStyle/>
                    <a:p>
                      <a:r>
                        <a:rPr lang="en-IN" sz="2400"/>
                        <a:t>Empowerment</a:t>
                      </a:r>
                    </a:p>
                  </a:txBody>
                  <a:tcPr marL="78978" marR="78978" marT="39489" marB="394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Prepared participants</a:t>
                      </a:r>
                    </a:p>
                  </a:txBody>
                  <a:tcPr marL="78978" marR="78978" marT="39489" marB="394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7418714"/>
                  </a:ext>
                </a:extLst>
              </a:tr>
              <a:tr h="558769">
                <a:tc>
                  <a:txBody>
                    <a:bodyPr/>
                    <a:lstStyle/>
                    <a:p>
                      <a:r>
                        <a:rPr lang="en-IN" sz="2400"/>
                        <a:t>Resistance management</a:t>
                      </a:r>
                    </a:p>
                  </a:txBody>
                  <a:tcPr marL="78978" marR="78978" marT="39489" marB="394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Willing participants</a:t>
                      </a:r>
                    </a:p>
                  </a:txBody>
                  <a:tcPr marL="78978" marR="78978" marT="39489" marB="394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5777663"/>
                  </a:ext>
                </a:extLst>
              </a:tr>
              <a:tr h="558769">
                <a:tc>
                  <a:txBody>
                    <a:bodyPr/>
                    <a:lstStyle/>
                    <a:p>
                      <a:r>
                        <a:rPr lang="en-IN" sz="2400"/>
                        <a:t>Reinforcement</a:t>
                      </a:r>
                    </a:p>
                  </a:txBody>
                  <a:tcPr marL="78978" marR="78978" marT="39489" marB="394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Sustained improvement</a:t>
                      </a:r>
                    </a:p>
                  </a:txBody>
                  <a:tcPr marL="78978" marR="78978" marT="39489" marB="394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84090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416314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D65E91-6509-50D5-8B01-36E3373C5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D0935AC-24F2-3A2A-6606-486DC979B5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303299"/>
            <a:ext cx="8991600" cy="6147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210862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A492361-29B5-A937-4459-84D2682AA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272649C-B749-2558-62F6-F9A4344ADDC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C4947E31-DF76-1E91-C8EB-86D5849FE0D4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254EB20E-108C-851D-492F-C9FE1BC7ADF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E22985A-98C3-4A13-2409-0803C1401EB4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52106C89-24A6-B418-73AF-E9440D7F8A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6. 🎮 “Change Resistance Bingo”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AD95975-F86D-1F03-FF34-215A0B07A24B}"/>
              </a:ext>
            </a:extLst>
          </p:cNvPr>
          <p:cNvSpPr txBox="1"/>
          <p:nvPr/>
        </p:nvSpPr>
        <p:spPr>
          <a:xfrm>
            <a:off x="2667000" y="2389727"/>
            <a:ext cx="8457467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The school is switching to a new grading system.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We are introducing a new group project format.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The lunch menu is changing (e.g., healthier options only).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The dress code is being updated (e.g., stricter or more relaxed rules).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A new mandatory after-school program is being implemented.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The classroom seating arrangement will be flexible/chosen by students.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Students will be required to use a specific new software program for all assignments.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6415758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67F83A-ABD0-0A8C-8AF4-B70F1EC51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0099B96-1012-95B5-1ED6-C848A0BC67F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64C7F3B2-3C67-169B-1854-0E377A951E16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9F594D83-448C-7CA0-08B4-C5E8882E5C4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7487B093-F2F2-244A-D354-9B08047AC4F2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3254443F-7BD4-3AC4-F3B3-DF7E305DD0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6. 🎮 “Change Resistance Bingo”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33591515-96E7-052B-2EFC-B42FD5BA63BF}"/>
              </a:ext>
            </a:extLst>
          </p:cNvPr>
          <p:cNvSpPr txBox="1"/>
          <p:nvPr/>
        </p:nvSpPr>
        <p:spPr>
          <a:xfrm>
            <a:off x="3095752" y="1951141"/>
            <a:ext cx="8448040" cy="4610878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2400" dirty="0"/>
              <a:t>Learners mark boxes with common resistance lines like:</a:t>
            </a:r>
          </a:p>
          <a:p>
            <a:r>
              <a:rPr lang="en-US" sz="2400" dirty="0"/>
              <a:t>"This will never work."</a:t>
            </a:r>
          </a:p>
          <a:p>
            <a:r>
              <a:rPr lang="en-US" sz="2400" dirty="0"/>
              <a:t>"Why should we change?"</a:t>
            </a:r>
          </a:p>
          <a:p>
            <a:r>
              <a:rPr lang="en-US" sz="2400" dirty="0"/>
              <a:t>"We always did it this way."</a:t>
            </a:r>
          </a:p>
          <a:p>
            <a:r>
              <a:rPr lang="en-US" sz="2400" dirty="0"/>
              <a:t>"No one else is doing this."</a:t>
            </a:r>
          </a:p>
          <a:p>
            <a:r>
              <a:rPr lang="en-US" sz="2400" dirty="0"/>
              <a:t>"It's too complicated/hard."</a:t>
            </a:r>
          </a:p>
          <a:p>
            <a:r>
              <a:rPr lang="en-US" sz="2400" dirty="0"/>
              <a:t>"That's a stupid idea."</a:t>
            </a:r>
          </a:p>
          <a:p>
            <a:r>
              <a:rPr lang="en-US" sz="2400" dirty="0"/>
              <a:t>"It's going to be a lot more work."</a:t>
            </a:r>
          </a:p>
          <a:p>
            <a:r>
              <a:rPr lang="en-US" sz="2400" dirty="0"/>
              <a:t>"They didn't ask for our input."</a:t>
            </a:r>
          </a:p>
          <a:p>
            <a:r>
              <a:rPr lang="en-US" sz="2400" dirty="0"/>
              <a:t>"The old way was fine."</a:t>
            </a:r>
          </a:p>
          <a:p>
            <a:r>
              <a:rPr lang="en-US" sz="2400" dirty="0"/>
              <a:t>"I don't have enough time for this."</a:t>
            </a:r>
          </a:p>
          <a:p>
            <a:r>
              <a:rPr lang="en-US" sz="2400" dirty="0"/>
              <a:t>"This is just a fanny phase; it will pass</a:t>
            </a:r>
          </a:p>
        </p:txBody>
      </p:sp>
    </p:spTree>
    <p:extLst>
      <p:ext uri="{BB962C8B-B14F-4D97-AF65-F5344CB8AC3E}">
        <p14:creationId xmlns:p14="http://schemas.microsoft.com/office/powerpoint/2010/main" val="222561621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A492361-29B5-A937-4459-84D2682AA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272649C-B749-2558-62F6-F9A4344ADDC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C4947E31-DF76-1E91-C8EB-86D5849FE0D4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254EB20E-108C-851D-492F-C9FE1BC7ADF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E22985A-98C3-4A13-2409-0803C1401EB4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52106C89-24A6-B418-73AF-E9440D7F8A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6. Mini Case Study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0BA6ACE3-D776-D0B0-EFDA-BE10D9E7AF9B}"/>
              </a:ext>
            </a:extLst>
          </p:cNvPr>
          <p:cNvSpPr txBox="1"/>
          <p:nvPr/>
        </p:nvSpPr>
        <p:spPr>
          <a:xfrm>
            <a:off x="3095752" y="2310181"/>
            <a:ext cx="8448040" cy="2764218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2800" dirty="0"/>
              <a:t>“College introduces a new attendance system → students, teachers, admin impacted.”</a:t>
            </a:r>
            <a:br>
              <a:rPr lang="en-US" sz="2800" dirty="0"/>
            </a:br>
            <a:r>
              <a:rPr lang="en-US" sz="2800" dirty="0"/>
              <a:t>Ask: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Who are stakeholders?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What training is needed?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How to reduce resistance?</a:t>
            </a:r>
          </a:p>
        </p:txBody>
      </p:sp>
    </p:spTree>
    <p:extLst>
      <p:ext uri="{BB962C8B-B14F-4D97-AF65-F5344CB8AC3E}">
        <p14:creationId xmlns:p14="http://schemas.microsoft.com/office/powerpoint/2010/main" val="126451780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448F6E-4722-099A-98BE-B91B12A73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07F3F-9CC2-AB2A-8902-6FA8714FA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2667000"/>
            <a:ext cx="9677400" cy="615553"/>
          </a:xfrm>
        </p:spPr>
        <p:txBody>
          <a:bodyPr/>
          <a:lstStyle/>
          <a:p>
            <a:pPr algn="ctr"/>
            <a:r>
              <a:rPr lang="en-IN" sz="4000" dirty="0"/>
              <a:t>7. </a:t>
            </a:r>
            <a:r>
              <a:rPr lang="en-IN" dirty="0"/>
              <a:t>Portfolio Management</a:t>
            </a:r>
          </a:p>
        </p:txBody>
      </p:sp>
    </p:spTree>
    <p:extLst>
      <p:ext uri="{BB962C8B-B14F-4D97-AF65-F5344CB8AC3E}">
        <p14:creationId xmlns:p14="http://schemas.microsoft.com/office/powerpoint/2010/main" val="348983675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CE5214-CD44-DCB8-CF84-ADAF0E605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7859574-C66E-F520-10BA-B4C164A01B7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91781CB2-D720-0988-6994-305608AA21F9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C6369580-4603-AADC-76E4-8E7150CA1F1E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D81BCB05-3762-4755-125D-1DB7A68562A2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1D5F6DA2-3E6A-B5FA-026A-D61C7C84E5B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    </a:t>
            </a:r>
            <a:r>
              <a:rPr lang="en-IN" sz="4400" dirty="0"/>
              <a:t>7. Portfolio Management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436B76D4-9D6E-2D36-09CF-E1D2E1DBC2CF}"/>
              </a:ext>
            </a:extLst>
          </p:cNvPr>
          <p:cNvSpPr txBox="1"/>
          <p:nvPr/>
        </p:nvSpPr>
        <p:spPr>
          <a:xfrm>
            <a:off x="3095752" y="2058145"/>
            <a:ext cx="8448040" cy="4980210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2400" dirty="0"/>
              <a:t>Choosing the right work, at the right time, with the right resources.</a:t>
            </a:r>
          </a:p>
          <a:p>
            <a:r>
              <a:rPr lang="en-US" sz="2400" dirty="0"/>
              <a:t>Portfolio management =</a:t>
            </a:r>
            <a:br>
              <a:rPr lang="en-US" sz="2400" dirty="0"/>
            </a:br>
            <a:r>
              <a:rPr lang="en-US" sz="2400" dirty="0"/>
              <a:t>📂 </a:t>
            </a:r>
            <a:r>
              <a:rPr lang="en-US" sz="2400" i="1" dirty="0"/>
              <a:t>Deciding WHAT to do</a:t>
            </a:r>
            <a:br>
              <a:rPr lang="en-US" sz="2400" dirty="0"/>
            </a:br>
            <a:r>
              <a:rPr lang="en-US" sz="2400" dirty="0"/>
              <a:t>⏳ </a:t>
            </a:r>
            <a:r>
              <a:rPr lang="en-US" sz="2400" i="1" dirty="0"/>
              <a:t>WHEN to do it</a:t>
            </a:r>
            <a:br>
              <a:rPr lang="en-US" sz="2400" dirty="0"/>
            </a:br>
            <a:r>
              <a:rPr lang="en-US" sz="2400" dirty="0"/>
              <a:t>💰 </a:t>
            </a:r>
            <a:r>
              <a:rPr lang="en-US" sz="2400" i="1" dirty="0"/>
              <a:t>With HOW MUCH money &amp; people</a:t>
            </a:r>
            <a:endParaRPr lang="en-US" sz="2400" dirty="0"/>
          </a:p>
          <a:p>
            <a:r>
              <a:rPr lang="en-US" sz="2400" b="1" dirty="0"/>
              <a:t>Real-life example:</a:t>
            </a:r>
            <a:br>
              <a:rPr lang="en-US" sz="2400" dirty="0"/>
            </a:br>
            <a:r>
              <a:rPr lang="en-US" sz="2400" dirty="0"/>
              <a:t>College deciding:</a:t>
            </a:r>
          </a:p>
          <a:p>
            <a:r>
              <a:rPr lang="en-US" sz="2400" dirty="0"/>
              <a:t>New course ❓</a:t>
            </a:r>
          </a:p>
          <a:p>
            <a:r>
              <a:rPr lang="en-US" sz="2400" dirty="0"/>
              <a:t>New lab ❓</a:t>
            </a:r>
          </a:p>
          <a:p>
            <a:r>
              <a:rPr lang="en-US" sz="2400" dirty="0"/>
              <a:t>Website upgrade ❓</a:t>
            </a:r>
            <a:br>
              <a:rPr lang="en-US" sz="2400" dirty="0"/>
            </a:br>
            <a:r>
              <a:rPr lang="en-US" sz="2400" dirty="0"/>
              <a:t>(Not all at once!)</a:t>
            </a:r>
          </a:p>
          <a:p>
            <a:endParaRPr lang="en-US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A8C8F4-8D8C-600B-2CDB-8F481FC20804}"/>
              </a:ext>
            </a:extLst>
          </p:cNvPr>
          <p:cNvSpPr txBox="1"/>
          <p:nvPr/>
        </p:nvSpPr>
        <p:spPr>
          <a:xfrm>
            <a:off x="6119446" y="6096000"/>
            <a:ext cx="60974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Icebreaker:</a:t>
            </a:r>
            <a:br>
              <a:rPr lang="en-US" dirty="0"/>
            </a:br>
            <a:r>
              <a:rPr lang="en-US" dirty="0"/>
              <a:t>💬 Ask: </a:t>
            </a:r>
            <a:r>
              <a:rPr lang="en-US" i="1" dirty="0"/>
              <a:t>“Can an organization do EVERYTHING at once?”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3542298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32F2B7-D754-8103-2BC2-F2999B9D6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923C833-7B8F-DEDB-2530-139F88BD73C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8AA9D9A2-199D-C9A6-1D54-69ED7F24460E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157CAB7D-D2C6-72F5-C129-26F9B48315CE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54AB5CB-8169-799E-43B6-1535ECD218BF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47340C33-BAC6-3367-5A26-2D7EA2CF21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7. </a:t>
            </a:r>
            <a:r>
              <a:rPr lang="en-IN" sz="4400" dirty="0"/>
              <a:t>Portfolio vs Project </a:t>
            </a:r>
            <a:endParaRPr sz="4400" dirty="0">
              <a:latin typeface="Cambria"/>
              <a:cs typeface="Cambria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2BBF3ED-0BAF-24D3-1E07-42C093A5D3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3218346"/>
              </p:ext>
            </p:extLst>
          </p:nvPr>
        </p:nvGraphicFramePr>
        <p:xfrm>
          <a:off x="1730375" y="2802255"/>
          <a:ext cx="8731250" cy="2316480"/>
        </p:xfrm>
        <a:graphic>
          <a:graphicData uri="http://schemas.openxmlformats.org/drawingml/2006/table">
            <a:tbl>
              <a:tblPr/>
              <a:tblGrid>
                <a:gridCol w="4365625">
                  <a:extLst>
                    <a:ext uri="{9D8B030D-6E8A-4147-A177-3AD203B41FA5}">
                      <a16:colId xmlns:a16="http://schemas.microsoft.com/office/drawing/2014/main" val="2950848881"/>
                    </a:ext>
                  </a:extLst>
                </a:gridCol>
                <a:gridCol w="4365625">
                  <a:extLst>
                    <a:ext uri="{9D8B030D-6E8A-4147-A177-3AD203B41FA5}">
                      <a16:colId xmlns:a16="http://schemas.microsoft.com/office/drawing/2014/main" val="24612552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/>
                        <a:t>Portfolio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/>
                        <a:t>Project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68171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dirty="0"/>
                        <a:t>Big picture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/>
                        <a:t>One task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24111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/>
                        <a:t>Strategic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/>
                        <a:t>Operational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06213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/>
                        <a:t>Long-term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dirty="0"/>
                        <a:t>Short-term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8149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585344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060381-B247-D5C2-7488-0C9787771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0913093-74FD-ECEB-722C-8CF956F1BD0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F5D565CA-9830-C938-9210-63111EB53D1D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21CCE25E-B738-5ED5-4EBF-6151F7DB1076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A9B1FE24-870C-C5D8-8B35-9A604B595F52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2ADCE896-0C3F-896B-9158-383D4B8089B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7. </a:t>
            </a:r>
            <a:r>
              <a:rPr lang="en-IN" sz="4400" dirty="0"/>
              <a:t>Portfolio vs Project (Mini Game)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48939462-F2C4-731A-1183-AEB4222E819D}"/>
              </a:ext>
            </a:extLst>
          </p:cNvPr>
          <p:cNvSpPr txBox="1"/>
          <p:nvPr/>
        </p:nvSpPr>
        <p:spPr>
          <a:xfrm>
            <a:off x="838200" y="2357159"/>
            <a:ext cx="11238992" cy="4241546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Building a single mobile app to track fitness goals. → 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Managing all software products for a company like Google. → 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Creating a website for a local bakery. → 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Overseeing a company’s entire investment in various energy sources (solar, wind, oil). → </a:t>
            </a:r>
            <a:br>
              <a:rPr lang="en-IN" sz="2400" dirty="0"/>
            </a:br>
            <a:r>
              <a:rPr lang="en-IN" sz="2400" dirty="0"/>
              <a:t>Writing a single report on market trends for the next quarter. → 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Managing a country's total </a:t>
            </a:r>
            <a:r>
              <a:rPr lang="en-IN" sz="2400" dirty="0" err="1"/>
              <a:t>defense</a:t>
            </a:r>
            <a:r>
              <a:rPr lang="en-IN" sz="2400" dirty="0"/>
              <a:t> initiatives. → 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Organizing an annual school carnival. → 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Developing a multi-year plan for a city's public transportation system. → 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Painting a single room in a house. → 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Managing a real estate firm’s entire list of properties and developments. → </a:t>
            </a:r>
          </a:p>
        </p:txBody>
      </p:sp>
    </p:spTree>
    <p:extLst>
      <p:ext uri="{BB962C8B-B14F-4D97-AF65-F5344CB8AC3E}">
        <p14:creationId xmlns:p14="http://schemas.microsoft.com/office/powerpoint/2010/main" val="322661590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DE20C0-3004-0830-5198-9BD5804BA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A7C6847-9595-052C-60FF-37BFDD7ACFC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254CCE1D-C6B6-3116-63DE-DE60335C6637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F4681FC9-8BFE-7D13-799F-A5E4AFBB28C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9507872F-956F-FE88-771D-176EC3184807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E09E373C-A7DE-C6D3-BE93-0F4D4E798D5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7. Why Portfolio Management is Needed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4C44F634-7751-E46C-EA02-DA3E96391924}"/>
              </a:ext>
            </a:extLst>
          </p:cNvPr>
          <p:cNvSpPr txBox="1"/>
          <p:nvPr/>
        </p:nvSpPr>
        <p:spPr>
          <a:xfrm>
            <a:off x="3095752" y="2310181"/>
            <a:ext cx="8448040" cy="3195105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2800" dirty="0"/>
              <a:t>Without portfolio management:</a:t>
            </a:r>
          </a:p>
          <a:p>
            <a:r>
              <a:rPr lang="en-US" sz="2800" dirty="0"/>
              <a:t>Too many changes</a:t>
            </a:r>
          </a:p>
          <a:p>
            <a:r>
              <a:rPr lang="en-US" sz="2800" dirty="0"/>
              <a:t>Resource conflicts</a:t>
            </a:r>
          </a:p>
          <a:p>
            <a:r>
              <a:rPr lang="en-US" sz="2800" dirty="0"/>
              <a:t>Low-value projects survive</a:t>
            </a:r>
          </a:p>
          <a:p>
            <a:r>
              <a:rPr lang="en-US" sz="2800" dirty="0"/>
              <a:t>Strategy fails</a:t>
            </a:r>
          </a:p>
          <a:p>
            <a:r>
              <a:rPr lang="en-US" sz="2800" b="1" dirty="0"/>
              <a:t>Quick Question:</a:t>
            </a:r>
            <a:br>
              <a:rPr lang="en-US" sz="2800" dirty="0"/>
            </a:br>
            <a:r>
              <a:rPr lang="en-US" sz="2800" dirty="0"/>
              <a:t>❓ </a:t>
            </a:r>
            <a:r>
              <a:rPr lang="en-US" sz="2800" i="1" dirty="0"/>
              <a:t>“Is doing more work always good?”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752941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4E6734-284E-CC46-C4D9-C9AEA6AC9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55F4C9B-C6B6-716C-4E11-CE8887842CF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206EF7DB-7C64-FAE0-B2A4-C81EBE313E71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19DBCF6F-58C5-A902-3686-3E1A41629D0C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DB1E9121-FB34-A248-70E3-385125204BAF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F8409F9A-F655-5624-EA3E-1645FAEBF41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7. </a:t>
            </a:r>
            <a:r>
              <a:rPr lang="en-IN" sz="4400" dirty="0"/>
              <a:t>What Portfolio Management DOES 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08452FB0-E9A1-A436-065B-35F9828DC969}"/>
              </a:ext>
            </a:extLst>
          </p:cNvPr>
          <p:cNvSpPr txBox="1"/>
          <p:nvPr/>
        </p:nvSpPr>
        <p:spPr>
          <a:xfrm>
            <a:off x="3095752" y="2310181"/>
            <a:ext cx="8448040" cy="3195105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2800" dirty="0"/>
              <a:t>Portfolio management:</a:t>
            </a:r>
          </a:p>
          <a:p>
            <a:r>
              <a:rPr lang="en-US" sz="2800" dirty="0"/>
              <a:t>Balances </a:t>
            </a:r>
            <a:r>
              <a:rPr lang="en-US" sz="2800" b="1" dirty="0"/>
              <a:t>change vs business-as-usual</a:t>
            </a:r>
            <a:endParaRPr lang="en-US" sz="2800" dirty="0"/>
          </a:p>
          <a:p>
            <a:r>
              <a:rPr lang="en-US" sz="2800" dirty="0"/>
              <a:t>Aligns work with </a:t>
            </a:r>
            <a:r>
              <a:rPr lang="en-US" sz="2800" b="1" dirty="0"/>
              <a:t>strategy</a:t>
            </a:r>
            <a:endParaRPr lang="en-US" sz="2800" dirty="0"/>
          </a:p>
          <a:p>
            <a:r>
              <a:rPr lang="en-US" sz="2800" dirty="0"/>
              <a:t>Controls </a:t>
            </a:r>
            <a:r>
              <a:rPr lang="en-US" sz="2800" b="1" dirty="0"/>
              <a:t>investment &amp; risk</a:t>
            </a:r>
            <a:endParaRPr lang="en-US" sz="2800" dirty="0"/>
          </a:p>
          <a:p>
            <a:r>
              <a:rPr lang="en-US" sz="2800" b="1" dirty="0"/>
              <a:t>Activity:</a:t>
            </a:r>
            <a:br>
              <a:rPr lang="en-US" sz="2800" dirty="0"/>
            </a:br>
            <a:r>
              <a:rPr lang="en-US" sz="2800" dirty="0"/>
              <a:t>⚖️ Ask them to balance: </a:t>
            </a:r>
            <a:r>
              <a:rPr lang="en-US" sz="2800" i="1" dirty="0"/>
              <a:t>“New system vs maintaining old one”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10967251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0A6821-4E1A-4FF8-7EC6-4A17B1A20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E360FC9-AA8C-A69C-053C-86DFD23078A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A9B31AE3-0E43-CA12-46A9-86DB2956D385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D2B1CC29-C38B-2FD1-56B9-85A2EAAAF40A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B1A62291-0425-7161-796B-DCD5A86748DF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419DF00D-EB6A-4F70-797F-6D6004171C6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7. </a:t>
            </a:r>
            <a:r>
              <a:rPr lang="en-IN" sz="4400" dirty="0"/>
              <a:t>Activity 1: Evaluation &amp; Prioritization</a:t>
            </a:r>
            <a:endParaRPr sz="4400" dirty="0">
              <a:latin typeface="Cambria"/>
              <a:cs typeface="Cambria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8679C6A4-D775-5936-C47F-78948E3524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5221473"/>
              </p:ext>
            </p:extLst>
          </p:nvPr>
        </p:nvGraphicFramePr>
        <p:xfrm>
          <a:off x="2514600" y="3135368"/>
          <a:ext cx="8731248" cy="2960632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182812">
                  <a:extLst>
                    <a:ext uri="{9D8B030D-6E8A-4147-A177-3AD203B41FA5}">
                      <a16:colId xmlns:a16="http://schemas.microsoft.com/office/drawing/2014/main" val="2705792709"/>
                    </a:ext>
                  </a:extLst>
                </a:gridCol>
                <a:gridCol w="2182812">
                  <a:extLst>
                    <a:ext uri="{9D8B030D-6E8A-4147-A177-3AD203B41FA5}">
                      <a16:colId xmlns:a16="http://schemas.microsoft.com/office/drawing/2014/main" val="2080463106"/>
                    </a:ext>
                  </a:extLst>
                </a:gridCol>
                <a:gridCol w="2182812">
                  <a:extLst>
                    <a:ext uri="{9D8B030D-6E8A-4147-A177-3AD203B41FA5}">
                      <a16:colId xmlns:a16="http://schemas.microsoft.com/office/drawing/2014/main" val="2406651531"/>
                    </a:ext>
                  </a:extLst>
                </a:gridCol>
                <a:gridCol w="2182812">
                  <a:extLst>
                    <a:ext uri="{9D8B030D-6E8A-4147-A177-3AD203B41FA5}">
                      <a16:colId xmlns:a16="http://schemas.microsoft.com/office/drawing/2014/main" val="2214653520"/>
                    </a:ext>
                  </a:extLst>
                </a:gridCol>
              </a:tblGrid>
              <a:tr h="74015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b="1" dirty="0"/>
                        <a:t>Project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b="1" dirty="0"/>
                        <a:t>Value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b="1" dirty="0"/>
                        <a:t>Cost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b="1" dirty="0"/>
                        <a:t>Strategic Fit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0252295"/>
                  </a:ext>
                </a:extLst>
              </a:tr>
              <a:tr h="74015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/>
                        <a:t>High</a:t>
                      </a:r>
                      <a:endParaRPr lang="en-IN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dirty="0"/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dirty="0"/>
                        <a:t>Strong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3645836"/>
                  </a:ext>
                </a:extLst>
              </a:tr>
              <a:tr h="74015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dirty="0"/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/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/>
                        <a:t>Weak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7778762"/>
                  </a:ext>
                </a:extLst>
              </a:tr>
              <a:tr h="74015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/>
                        <a:t>Very 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dirty="0"/>
                        <a:t>Strong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2114345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05E7D5A4-A8B6-A4D2-9699-4C254C5AAA47}"/>
              </a:ext>
            </a:extLst>
          </p:cNvPr>
          <p:cNvSpPr txBox="1"/>
          <p:nvPr/>
        </p:nvSpPr>
        <p:spPr>
          <a:xfrm>
            <a:off x="2160437" y="2222974"/>
            <a:ext cx="60974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📋 Mini-Case</a:t>
            </a:r>
          </a:p>
          <a:p>
            <a:pPr>
              <a:buNone/>
            </a:pPr>
            <a:r>
              <a:rPr lang="en-US" b="1" dirty="0"/>
              <a:t>3 Projects, budget for only 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700354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B82EDE-F806-1BCB-F30C-C3023E73C9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6FD30FF-BF79-3F5B-80DD-4C1C89D1F96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DB1E902F-F158-A545-D24A-2D74B89383BA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AB007BC5-0AE0-60F5-0061-4CA0D76E1D30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2C6075FB-B641-35EA-2AEC-023F0893C863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A2DFF8AE-8B2B-B20C-822F-9AE611AA4FA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7. Activity 2: Linking to Outcomes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9880BB2-A014-C167-0C58-FC80E02D5FEF}"/>
              </a:ext>
            </a:extLst>
          </p:cNvPr>
          <p:cNvSpPr txBox="1"/>
          <p:nvPr/>
        </p:nvSpPr>
        <p:spPr>
          <a:xfrm>
            <a:off x="2160437" y="2222974"/>
            <a:ext cx="60974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🎮 Game: Match the Following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0FBEB6F-61B4-1FA3-65C9-01E598003C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644109"/>
              </p:ext>
            </p:extLst>
          </p:nvPr>
        </p:nvGraphicFramePr>
        <p:xfrm>
          <a:off x="2438400" y="2709991"/>
          <a:ext cx="8731250" cy="3728571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2788795">
                  <a:extLst>
                    <a:ext uri="{9D8B030D-6E8A-4147-A177-3AD203B41FA5}">
                      <a16:colId xmlns:a16="http://schemas.microsoft.com/office/drawing/2014/main" val="2759347430"/>
                    </a:ext>
                  </a:extLst>
                </a:gridCol>
                <a:gridCol w="5942455">
                  <a:extLst>
                    <a:ext uri="{9D8B030D-6E8A-4147-A177-3AD203B41FA5}">
                      <a16:colId xmlns:a16="http://schemas.microsoft.com/office/drawing/2014/main" val="3301894056"/>
                    </a:ext>
                  </a:extLst>
                </a:gridCol>
              </a:tblGrid>
              <a:tr h="6428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Item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Correct Match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5885897"/>
                  </a:ext>
                </a:extLst>
              </a:tr>
              <a:tr h="6428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Service</a:t>
                      </a:r>
                      <a:endParaRPr lang="en-IN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/>
                        <a:t>Long-term strategic benefit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9902764"/>
                  </a:ext>
                </a:extLst>
              </a:tr>
              <a:tr h="6428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Product</a:t>
                      </a:r>
                      <a:endParaRPr lang="en-IN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/>
                        <a:t>Achieving a business goal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5366873"/>
                  </a:ext>
                </a:extLst>
              </a:tr>
              <a:tr h="6428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Project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/>
                        <a:t>Revenue generation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4039329"/>
                  </a:ext>
                </a:extLst>
              </a:tr>
              <a:tr h="11571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Programme</a:t>
                      </a:r>
                      <a:endParaRPr lang="en-IN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/>
                        <a:t>Customer satisfaction / Availability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49449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57490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A36659-0C8B-8958-1D12-B71A0CEBC1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6ED595A-E237-BD8E-40DA-27E53D4A4E4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1456400D-2EA8-F9AE-1A0C-C4BF295C6127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99D5B340-1903-FC10-1C73-7961226A376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1041F8BE-B4EC-D9B2-12AF-4701EE2E47B1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2FD7C0B8-F02D-3133-80A5-B83EEBE3E3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7. </a:t>
            </a:r>
            <a:r>
              <a:rPr lang="en-IN" sz="4400" dirty="0"/>
              <a:t>Activity 3: Portfolio Reviews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29C43AA1-87CA-E45A-911F-98C25ED64217}"/>
              </a:ext>
            </a:extLst>
          </p:cNvPr>
          <p:cNvSpPr txBox="1"/>
          <p:nvPr/>
        </p:nvSpPr>
        <p:spPr>
          <a:xfrm>
            <a:off x="3095752" y="2167946"/>
            <a:ext cx="8448040" cy="4918654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2800" b="1" dirty="0"/>
              <a:t>❓ Question</a:t>
            </a:r>
          </a:p>
          <a:p>
            <a:r>
              <a:rPr lang="en-US" sz="2800" b="1" dirty="0"/>
              <a:t>“What should be reviewed FIRST?</a:t>
            </a:r>
          </a:p>
          <a:p>
            <a:endParaRPr lang="en-US" sz="2800" b="1" dirty="0"/>
          </a:p>
          <a:p>
            <a:r>
              <a:rPr lang="en-US" sz="2800" b="1" dirty="0"/>
              <a:t>Options:</a:t>
            </a:r>
          </a:p>
          <a:p>
            <a:r>
              <a:rPr lang="en-US" sz="2800" dirty="0"/>
              <a:t>Value</a:t>
            </a:r>
          </a:p>
          <a:p>
            <a:r>
              <a:rPr lang="en-US" sz="2800" dirty="0"/>
              <a:t>Strategic fit</a:t>
            </a:r>
          </a:p>
          <a:p>
            <a:r>
              <a:rPr lang="en-US" sz="2800" dirty="0"/>
              <a:t>Benefits</a:t>
            </a:r>
          </a:p>
          <a:p>
            <a:r>
              <a:rPr lang="en-US" sz="2800" dirty="0"/>
              <a:t>Risks</a:t>
            </a:r>
          </a:p>
          <a:p>
            <a:r>
              <a:rPr lang="en-US" sz="2800" dirty="0"/>
              <a:t>Costs</a:t>
            </a:r>
          </a:p>
          <a:p>
            <a:r>
              <a:rPr lang="en-US" sz="2800" dirty="0"/>
              <a:t>Progress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0163486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D0AFA2-5128-7075-9F4E-725D2D04D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BAFCF61-B7AB-6939-66AC-48EF6031443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9C40E31C-9C8C-0000-066E-3C245B9806B8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088FF196-3C7D-6738-1FC6-0DFFE8EF73EE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07663F7D-7DAF-7ECF-028B-7F8AA2F5810D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7FE5C5C2-90CB-E428-064B-144BDB3CEF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r>
              <a:rPr lang="en-IN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dirty="0"/>
              <a:t>7. Types of Portfolios (Overview)</a:t>
            </a:r>
            <a:endParaRPr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FC698AF9-C0C0-3801-309B-82307F1F56BE}"/>
              </a:ext>
            </a:extLst>
          </p:cNvPr>
          <p:cNvSpPr txBox="1"/>
          <p:nvPr/>
        </p:nvSpPr>
        <p:spPr>
          <a:xfrm>
            <a:off x="3095752" y="2310181"/>
            <a:ext cx="8448040" cy="2394886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600" dirty="0"/>
              <a:t>Portfolio management includes:</a:t>
            </a:r>
          </a:p>
          <a:p>
            <a:r>
              <a:rPr lang="en-IN" sz="3600" dirty="0"/>
              <a:t>1️⃣ Product/Service Portfolio</a:t>
            </a:r>
            <a:br>
              <a:rPr lang="en-IN" sz="3600" dirty="0"/>
            </a:br>
            <a:r>
              <a:rPr lang="en-IN" sz="3600" dirty="0"/>
              <a:t>2️⃣ Project Portfolio</a:t>
            </a:r>
            <a:br>
              <a:rPr lang="en-IN" sz="3600" dirty="0"/>
            </a:br>
            <a:r>
              <a:rPr lang="en-IN" sz="3600" dirty="0"/>
              <a:t>3️⃣ Customer Portfolio</a:t>
            </a:r>
          </a:p>
        </p:txBody>
      </p:sp>
    </p:spTree>
    <p:extLst>
      <p:ext uri="{BB962C8B-B14F-4D97-AF65-F5344CB8AC3E}">
        <p14:creationId xmlns:p14="http://schemas.microsoft.com/office/powerpoint/2010/main" val="185546698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5F2C1C-E05A-87BC-4EF5-E2F46F378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093689B-6E9B-E6C1-50A1-4187342BA37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63858272-57F5-6431-78B1-6C9C1D3020A5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A9C41395-A07E-D75E-EAB6-5B16454B72AC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E108CC5B-069A-BE57-C52B-1D4E1E2B3E31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BD8EFEC1-62BF-999A-6D3A-04EBF8A8C49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r>
              <a:rPr lang="en-IN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dirty="0"/>
              <a:t>7. </a:t>
            </a:r>
            <a:r>
              <a:rPr lang="en-IN" dirty="0"/>
              <a:t>Product/Service Portfolio</a:t>
            </a:r>
            <a:endParaRPr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FD6A22C3-E3FD-D5E0-D4D8-0577E3C7331A}"/>
              </a:ext>
            </a:extLst>
          </p:cNvPr>
          <p:cNvSpPr txBox="1"/>
          <p:nvPr/>
        </p:nvSpPr>
        <p:spPr>
          <a:xfrm>
            <a:off x="3095752" y="2065433"/>
            <a:ext cx="8448040" cy="4487767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2800" dirty="0"/>
              <a:t>Includes:</a:t>
            </a:r>
          </a:p>
          <a:p>
            <a:r>
              <a:rPr lang="en-US" sz="2800" dirty="0"/>
              <a:t>All current services</a:t>
            </a:r>
          </a:p>
          <a:p>
            <a:r>
              <a:rPr lang="en-US" sz="2800" dirty="0"/>
              <a:t>New services</a:t>
            </a:r>
          </a:p>
          <a:p>
            <a:r>
              <a:rPr lang="en-US" sz="2800" dirty="0"/>
              <a:t>Improvements</a:t>
            </a:r>
          </a:p>
          <a:p>
            <a:r>
              <a:rPr lang="en-US" sz="2800" dirty="0"/>
              <a:t>Third-party services</a:t>
            </a:r>
          </a:p>
          <a:p>
            <a:r>
              <a:rPr lang="en-US" sz="2800" dirty="0"/>
              <a:t>Represents:</a:t>
            </a:r>
          </a:p>
          <a:p>
            <a:r>
              <a:rPr lang="en-US" sz="2800" dirty="0"/>
              <a:t>Commitments</a:t>
            </a:r>
          </a:p>
          <a:p>
            <a:r>
              <a:rPr lang="en-US" sz="2800" dirty="0"/>
              <a:t>Investments</a:t>
            </a:r>
          </a:p>
          <a:p>
            <a:r>
              <a:rPr lang="en-US" sz="2800" b="1" dirty="0"/>
              <a:t>Example:</a:t>
            </a:r>
            <a:br>
              <a:rPr lang="en-US" sz="2800" dirty="0"/>
            </a:br>
            <a:r>
              <a:rPr lang="en-US" sz="2800" dirty="0"/>
              <a:t>College offerings: Degree, Certificate, Online courses</a:t>
            </a:r>
          </a:p>
        </p:txBody>
      </p:sp>
    </p:spTree>
    <p:extLst>
      <p:ext uri="{BB962C8B-B14F-4D97-AF65-F5344CB8AC3E}">
        <p14:creationId xmlns:p14="http://schemas.microsoft.com/office/powerpoint/2010/main" val="416146868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9CB80-6DB9-5B6F-9476-932EB4785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4228707-8C99-8537-151B-F2A50D3515F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A1C356E0-1F1D-4AD6-6AC1-22592A7A8850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E0D8E171-2B58-476F-C1CA-BA1CCA1F8B59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3E3794C0-B8FF-E97F-7734-48E618404E8C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B18F5037-81E9-7206-7466-D95A7C6967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r>
              <a:rPr lang="en-IN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dirty="0"/>
              <a:t>7. </a:t>
            </a:r>
            <a:r>
              <a:rPr lang="en-IN" dirty="0"/>
              <a:t>Project Portfolio</a:t>
            </a:r>
            <a:endParaRPr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5A931CEB-A8BC-AE29-F7D5-315A3A5955BB}"/>
              </a:ext>
            </a:extLst>
          </p:cNvPr>
          <p:cNvSpPr txBox="1"/>
          <p:nvPr/>
        </p:nvSpPr>
        <p:spPr>
          <a:xfrm>
            <a:off x="3095752" y="2057400"/>
            <a:ext cx="8448040" cy="4610878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3600" dirty="0"/>
              <a:t>Used to:</a:t>
            </a:r>
          </a:p>
          <a:p>
            <a:r>
              <a:rPr lang="en-US" sz="3600" dirty="0"/>
              <a:t>Manage authorized projects</a:t>
            </a:r>
          </a:p>
          <a:p>
            <a:r>
              <a:rPr lang="en-US" sz="3600" dirty="0"/>
              <a:t>Avoid duplication</a:t>
            </a:r>
          </a:p>
          <a:p>
            <a:r>
              <a:rPr lang="en-US" sz="3600" dirty="0"/>
              <a:t>Control scope, cost, time</a:t>
            </a:r>
          </a:p>
          <a:p>
            <a:r>
              <a:rPr lang="en-US" sz="3600" dirty="0"/>
              <a:t>Manage programs (multiple projects)</a:t>
            </a:r>
          </a:p>
          <a:p>
            <a:r>
              <a:rPr lang="en-US" sz="3600" b="1" dirty="0"/>
              <a:t>Game:</a:t>
            </a:r>
            <a:br>
              <a:rPr lang="en-US" sz="3600" dirty="0"/>
            </a:br>
            <a:r>
              <a:rPr lang="en-US" sz="3600" dirty="0"/>
              <a:t>🧩 Identify: Single project or </a:t>
            </a:r>
            <a:r>
              <a:rPr lang="en-US" sz="3600" dirty="0" err="1"/>
              <a:t>programme</a:t>
            </a:r>
            <a:r>
              <a:rPr lang="en-US" sz="36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650102148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7550E-4169-0396-238A-F291D90EC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AD56E11-628F-8242-E7B4-B31CCAB267A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493EFB6C-1761-7943-9DD5-4772DC49DEF6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FB105C9E-C895-E0C4-A1DC-9E082D1F06D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84C9D96E-A56B-523B-A93A-A32A4BE6E6A6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45A2956B-03EE-C418-4B0C-585565270B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r>
              <a:rPr lang="en-IN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dirty="0"/>
              <a:t>7. </a:t>
            </a:r>
            <a:r>
              <a:rPr lang="en-IN" dirty="0"/>
              <a:t>Customer Portfolio</a:t>
            </a:r>
            <a:endParaRPr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88F9D66A-CA23-DF05-383F-1BF6E1808444}"/>
              </a:ext>
            </a:extLst>
          </p:cNvPr>
          <p:cNvSpPr txBox="1"/>
          <p:nvPr/>
        </p:nvSpPr>
        <p:spPr>
          <a:xfrm>
            <a:off x="3095752" y="2057400"/>
            <a:ext cx="8448040" cy="4487767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2800" dirty="0"/>
              <a:t>Maintained by:</a:t>
            </a:r>
          </a:p>
          <a:p>
            <a:r>
              <a:rPr lang="en-US" sz="2800" dirty="0"/>
              <a:t>Relationship management</a:t>
            </a:r>
          </a:p>
          <a:p>
            <a:r>
              <a:rPr lang="en-US" sz="2800" dirty="0"/>
              <a:t>Records:</a:t>
            </a:r>
          </a:p>
          <a:p>
            <a:r>
              <a:rPr lang="en-US" sz="2800" dirty="0"/>
              <a:t>All customers</a:t>
            </a:r>
          </a:p>
          <a:p>
            <a:r>
              <a:rPr lang="en-US" sz="2800" dirty="0"/>
              <a:t>Internal &amp; external</a:t>
            </a:r>
          </a:p>
          <a:p>
            <a:r>
              <a:rPr lang="en-US" sz="2800" dirty="0"/>
              <a:t>Used to:</a:t>
            </a:r>
          </a:p>
          <a:p>
            <a:r>
              <a:rPr lang="en-US" sz="2800" dirty="0"/>
              <a:t>Understand customer outcomes</a:t>
            </a:r>
          </a:p>
          <a:p>
            <a:r>
              <a:rPr lang="en-US" sz="2800" dirty="0"/>
              <a:t>Validate value with customers</a:t>
            </a:r>
          </a:p>
          <a:p>
            <a:r>
              <a:rPr lang="en-US" sz="2800" b="1" dirty="0"/>
              <a:t>Activity:</a:t>
            </a:r>
            <a:br>
              <a:rPr lang="en-US" sz="2800" dirty="0"/>
            </a:br>
            <a:r>
              <a:rPr lang="en-US" sz="2800" dirty="0"/>
              <a:t>👥 List internal vs external customers of your college</a:t>
            </a:r>
          </a:p>
        </p:txBody>
      </p:sp>
    </p:spTree>
    <p:extLst>
      <p:ext uri="{BB962C8B-B14F-4D97-AF65-F5344CB8AC3E}">
        <p14:creationId xmlns:p14="http://schemas.microsoft.com/office/powerpoint/2010/main" val="254707212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249F6A-F0D1-86A6-E3B2-79B1858FC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5D4D298-2F39-0F3C-1A0A-2B63335D16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152400"/>
            <a:ext cx="8991600" cy="673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891148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EE852C-E4DA-931C-6DFF-699276DC6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950BC5C-6BFC-A391-2D69-28AB0827104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24B242DE-38BC-65B4-968F-B73473469901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4B181ABE-38F2-3E80-79EA-D3E0F1057C22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6F91A2F4-A8D9-E2AF-8E30-998997E30981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63B2697F-8ADF-96F1-4A7E-70382485998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7. </a:t>
            </a:r>
            <a:r>
              <a:rPr lang="en-IN" sz="4400" dirty="0"/>
              <a:t>Exit Activity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2BDF3CA1-9944-7C2F-F7D3-454C03460BC9}"/>
              </a:ext>
            </a:extLst>
          </p:cNvPr>
          <p:cNvSpPr txBox="1"/>
          <p:nvPr/>
        </p:nvSpPr>
        <p:spPr>
          <a:xfrm>
            <a:off x="2286000" y="2310181"/>
            <a:ext cx="9257792" cy="3625993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2800" b="1" dirty="0"/>
              <a:t>🏁 Exit Activity (With Options)</a:t>
            </a:r>
          </a:p>
          <a:p>
            <a:r>
              <a:rPr lang="en-US" sz="2800" b="1" dirty="0"/>
              <a:t>✍️ Complete the sentence by choosing ONE option:</a:t>
            </a:r>
          </a:p>
          <a:p>
            <a:r>
              <a:rPr lang="en-US" sz="2800" b="1" dirty="0"/>
              <a:t>“Portfolio management is important because…”</a:t>
            </a:r>
            <a:endParaRPr lang="en-US" sz="2800" dirty="0"/>
          </a:p>
          <a:p>
            <a:r>
              <a:rPr lang="en-US" sz="2800" dirty="0"/>
              <a:t>A️⃣ it aligns work with </a:t>
            </a:r>
            <a:r>
              <a:rPr lang="en-US" sz="2800" b="1" dirty="0"/>
              <a:t>business strategy</a:t>
            </a:r>
            <a:br>
              <a:rPr lang="en-US" sz="2800" dirty="0"/>
            </a:br>
            <a:r>
              <a:rPr lang="en-US" sz="2800" dirty="0"/>
              <a:t>B️⃣ it helps use </a:t>
            </a:r>
            <a:r>
              <a:rPr lang="en-US" sz="2800" b="1" dirty="0"/>
              <a:t>resources efficiently</a:t>
            </a:r>
            <a:br>
              <a:rPr lang="en-US" sz="2800" dirty="0"/>
            </a:br>
            <a:r>
              <a:rPr lang="en-US" sz="2800" dirty="0"/>
              <a:t>C️⃣ it ensures focus on </a:t>
            </a:r>
            <a:r>
              <a:rPr lang="en-US" sz="2800" b="1" dirty="0"/>
              <a:t>value delivery</a:t>
            </a:r>
            <a:br>
              <a:rPr lang="en-US" sz="2800" dirty="0"/>
            </a:br>
            <a:r>
              <a:rPr lang="en-US" sz="2800" dirty="0"/>
              <a:t>D️⃣ it avoids </a:t>
            </a:r>
            <a:r>
              <a:rPr lang="en-US" sz="2800" b="1" dirty="0"/>
              <a:t>random decision-making</a:t>
            </a:r>
            <a:br>
              <a:rPr lang="en-US" sz="2800" dirty="0"/>
            </a:br>
            <a:r>
              <a:rPr lang="en-US" sz="2800" dirty="0"/>
              <a:t>E️⃣ </a:t>
            </a:r>
            <a:r>
              <a:rPr lang="en-US" sz="2800" b="1" dirty="0"/>
              <a:t>All of the above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508281245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8DC75-DA54-3F6E-FB4D-230CB90FE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2583A-F199-1D85-F1EE-2AE54E69C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2667000"/>
            <a:ext cx="9677400" cy="984885"/>
          </a:xfrm>
        </p:spPr>
        <p:txBody>
          <a:bodyPr/>
          <a:lstStyle/>
          <a:p>
            <a:pPr algn="ctr"/>
            <a:r>
              <a:rPr lang="en-IN" dirty="0"/>
              <a:t>8</a:t>
            </a:r>
            <a:r>
              <a:rPr lang="en-IN" sz="4000" dirty="0"/>
              <a:t>. </a:t>
            </a:r>
            <a:r>
              <a:rPr lang="en-IN" dirty="0"/>
              <a:t>Project Management</a:t>
            </a:r>
            <a:br>
              <a:rPr lang="en-IN" dirty="0"/>
            </a:br>
            <a:r>
              <a:rPr lang="en-IN" sz="2400" b="0" i="1" dirty="0"/>
              <a:t>Turning plans into results</a:t>
            </a:r>
            <a:endParaRPr lang="en-IN" b="0" i="1" dirty="0"/>
          </a:p>
        </p:txBody>
      </p:sp>
    </p:spTree>
    <p:extLst>
      <p:ext uri="{BB962C8B-B14F-4D97-AF65-F5344CB8AC3E}">
        <p14:creationId xmlns:p14="http://schemas.microsoft.com/office/powerpoint/2010/main" val="1862044707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E4778F-92CE-E3E2-F0BF-2AA9778448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14B020C-8F39-F53C-F68A-200ADDC09BA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D8024F3C-FA7A-D27E-EA9A-4BAE9B500CAE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06DC31F8-2948-90C4-62A3-F3C10B5547E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2D6DE122-50AA-77DD-D419-C592D85C3579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812867F4-B872-53FD-70C3-67FBFFBCF56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    </a:t>
            </a:r>
            <a:r>
              <a:rPr lang="en-IN" sz="4400" dirty="0"/>
              <a:t>8. Project Management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1E644E86-1CFE-7DFF-C34B-B2B618901AB9}"/>
              </a:ext>
            </a:extLst>
          </p:cNvPr>
          <p:cNvSpPr txBox="1"/>
          <p:nvPr/>
        </p:nvSpPr>
        <p:spPr>
          <a:xfrm>
            <a:off x="3095752" y="2058145"/>
            <a:ext cx="8448040" cy="3625993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2800" dirty="0"/>
              <a:t>Project management means:</a:t>
            </a:r>
          </a:p>
          <a:p>
            <a:r>
              <a:rPr lang="en-US" sz="2800" dirty="0"/>
              <a:t>Planning the work</a:t>
            </a:r>
          </a:p>
          <a:p>
            <a:r>
              <a:rPr lang="en-US" sz="2800" dirty="0"/>
              <a:t>Assigning people</a:t>
            </a:r>
          </a:p>
          <a:p>
            <a:r>
              <a:rPr lang="en-US" sz="2800" dirty="0"/>
              <a:t>Tracking progress</a:t>
            </a:r>
          </a:p>
          <a:p>
            <a:r>
              <a:rPr lang="en-US" sz="2800" dirty="0"/>
              <a:t>Fixing problems</a:t>
            </a:r>
          </a:p>
          <a:p>
            <a:r>
              <a:rPr lang="en-US" sz="2800" dirty="0"/>
              <a:t>Keeping people motivated</a:t>
            </a:r>
          </a:p>
          <a:p>
            <a:r>
              <a:rPr lang="en-US" sz="2800" b="1" dirty="0"/>
              <a:t>Real-life example:</a:t>
            </a:r>
            <a:br>
              <a:rPr lang="en-US" sz="2800" dirty="0"/>
            </a:br>
            <a:r>
              <a:rPr lang="en-US" sz="2800" dirty="0"/>
              <a:t>🎉 College fest planning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466468-9FE1-3476-6A3F-6583772E3956}"/>
              </a:ext>
            </a:extLst>
          </p:cNvPr>
          <p:cNvSpPr txBox="1"/>
          <p:nvPr/>
        </p:nvSpPr>
        <p:spPr>
          <a:xfrm>
            <a:off x="6119446" y="6096000"/>
            <a:ext cx="60974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👉 </a:t>
            </a:r>
            <a:r>
              <a:rPr lang="en-US" i="1" dirty="0"/>
              <a:t>Project management = making sure the project ACTUALLY finishes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30283179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B07B26-AC05-471C-BE83-D21B07252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19CC0D0-69EA-0945-436A-38CBEFD0917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163BCB79-4D70-0536-F5DF-C65A49EF9A8D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E0C60899-13AC-527B-4426-9DCF36743F2C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1BC92310-C108-D4F1-291F-E7E7602096F6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D2A57A78-8A7E-828A-6103-45417AAA5BB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8. What is a Project?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66195B42-B68F-86F9-5D10-ED62CDE63A49}"/>
              </a:ext>
            </a:extLst>
          </p:cNvPr>
          <p:cNvSpPr txBox="1"/>
          <p:nvPr/>
        </p:nvSpPr>
        <p:spPr>
          <a:xfrm>
            <a:off x="3095752" y="2058145"/>
            <a:ext cx="8448040" cy="2764218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2400" dirty="0"/>
              <a:t>A project is:</a:t>
            </a:r>
          </a:p>
          <a:p>
            <a:r>
              <a:rPr lang="en-US" sz="2400" b="1" dirty="0"/>
              <a:t>Temporary</a:t>
            </a:r>
            <a:endParaRPr lang="en-US" sz="2400" dirty="0"/>
          </a:p>
          <a:p>
            <a:r>
              <a:rPr lang="en-US" sz="2400" dirty="0"/>
              <a:t>Has a </a:t>
            </a:r>
            <a:r>
              <a:rPr lang="en-US" sz="2400" b="1" dirty="0"/>
              <a:t>clear goal</a:t>
            </a:r>
            <a:endParaRPr lang="en-US" sz="2400" dirty="0"/>
          </a:p>
          <a:p>
            <a:r>
              <a:rPr lang="en-US" sz="2400" dirty="0"/>
              <a:t>Delivers </a:t>
            </a:r>
            <a:r>
              <a:rPr lang="en-US" sz="2400" b="1" dirty="0"/>
              <a:t>one or more outputs</a:t>
            </a:r>
            <a:endParaRPr lang="en-US" sz="2400" dirty="0"/>
          </a:p>
          <a:p>
            <a:r>
              <a:rPr lang="en-US" sz="2400" dirty="0"/>
              <a:t>Based on a </a:t>
            </a:r>
            <a:r>
              <a:rPr lang="en-US" sz="2400" b="1" dirty="0"/>
              <a:t>business case</a:t>
            </a:r>
            <a:endParaRPr lang="en-US" sz="2400" dirty="0"/>
          </a:p>
          <a:p>
            <a:r>
              <a:rPr lang="en-US" sz="2400" b="1" dirty="0"/>
              <a:t>Ask students:</a:t>
            </a:r>
            <a:br>
              <a:rPr lang="en-US" sz="2400" dirty="0"/>
            </a:br>
            <a:r>
              <a:rPr lang="en-US" sz="2400" dirty="0"/>
              <a:t>❓ “Is daily teaching a project?” (NO – business as usual)</a:t>
            </a:r>
          </a:p>
        </p:txBody>
      </p:sp>
    </p:spTree>
    <p:extLst>
      <p:ext uri="{BB962C8B-B14F-4D97-AF65-F5344CB8AC3E}">
        <p14:creationId xmlns:p14="http://schemas.microsoft.com/office/powerpoint/2010/main" val="1858025105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18F5A9-DF2E-89AD-A909-524EC1BAD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E82B2CC-7F50-2A1C-1A2D-884F713ED9D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3B15E31B-29C1-A1F7-3314-8FB623025966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A8B33129-5A13-0229-48BA-C8EB46CC9AFD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D8BE1CC8-07D1-467E-DDA9-2782DDF3A517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9C9DF5D1-5A6D-2B3C-53F0-9C2DC51624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8. </a:t>
            </a:r>
            <a:r>
              <a:rPr lang="en-US" sz="4400" dirty="0"/>
              <a:t>Why Project Management is Important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B6E54FAA-7CB3-EC44-E9AA-53D31AEA3D37}"/>
              </a:ext>
            </a:extLst>
          </p:cNvPr>
          <p:cNvSpPr txBox="1"/>
          <p:nvPr/>
        </p:nvSpPr>
        <p:spPr>
          <a:xfrm>
            <a:off x="3095752" y="2310181"/>
            <a:ext cx="8448040" cy="2641108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4000" dirty="0"/>
              <a:t>Organizations must balance:</a:t>
            </a:r>
            <a:br>
              <a:rPr lang="en-US" sz="4000" dirty="0"/>
            </a:br>
            <a:r>
              <a:rPr lang="en-US" sz="4000" dirty="0"/>
              <a:t>1️⃣ Running current operations</a:t>
            </a:r>
            <a:br>
              <a:rPr lang="en-US" sz="4000" dirty="0"/>
            </a:br>
            <a:r>
              <a:rPr lang="en-US" sz="4000" dirty="0"/>
              <a:t>2️⃣ Transforming to survive</a:t>
            </a:r>
            <a:br>
              <a:rPr lang="en-US" sz="4000" dirty="0"/>
            </a:br>
            <a:r>
              <a:rPr lang="en-US" sz="4000" dirty="0"/>
              <a:t>3️⃣ Continually improving services</a:t>
            </a:r>
          </a:p>
        </p:txBody>
      </p:sp>
    </p:spTree>
    <p:extLst>
      <p:ext uri="{BB962C8B-B14F-4D97-AF65-F5344CB8AC3E}">
        <p14:creationId xmlns:p14="http://schemas.microsoft.com/office/powerpoint/2010/main" val="99336132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458826-A9C0-84FD-B06A-C68EF4842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4C3D4FC-8E7A-6921-7EBB-6516950158C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979762FD-4E5C-25B9-56F2-4692DBA0A19B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80525446-5431-DAD4-B95C-923693EA8D82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FF7CAA5B-0B5E-D7D4-88DB-89E79A871B73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BED73154-F7E9-3190-5049-D04C20910B8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8. </a:t>
            </a:r>
            <a:r>
              <a:rPr lang="en-US" sz="4400" dirty="0"/>
              <a:t>Project vs Business as Usual (Game)</a:t>
            </a:r>
            <a:endParaRPr sz="4400" dirty="0">
              <a:latin typeface="Cambria"/>
              <a:cs typeface="Cambria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89F4F83-391F-ED94-F471-CDA62ABDBB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1465987"/>
              </p:ext>
            </p:extLst>
          </p:nvPr>
        </p:nvGraphicFramePr>
        <p:xfrm>
          <a:off x="1730375" y="2802254"/>
          <a:ext cx="8731250" cy="2988944"/>
        </p:xfrm>
        <a:graphic>
          <a:graphicData uri="http://schemas.openxmlformats.org/drawingml/2006/table">
            <a:tbl>
              <a:tblPr/>
              <a:tblGrid>
                <a:gridCol w="4365625">
                  <a:extLst>
                    <a:ext uri="{9D8B030D-6E8A-4147-A177-3AD203B41FA5}">
                      <a16:colId xmlns:a16="http://schemas.microsoft.com/office/drawing/2014/main" val="1024787064"/>
                    </a:ext>
                  </a:extLst>
                </a:gridCol>
                <a:gridCol w="4365625">
                  <a:extLst>
                    <a:ext uri="{9D8B030D-6E8A-4147-A177-3AD203B41FA5}">
                      <a16:colId xmlns:a16="http://schemas.microsoft.com/office/drawing/2014/main" val="2543829982"/>
                    </a:ext>
                  </a:extLst>
                </a:gridCol>
              </a:tblGrid>
              <a:tr h="7472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/>
                        <a:t>Project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/>
                        <a:t>Business as Usual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3854373"/>
                  </a:ext>
                </a:extLst>
              </a:tr>
              <a:tr h="7472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/>
                        <a:t>Temporary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/>
                        <a:t>Ongoing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9858186"/>
                  </a:ext>
                </a:extLst>
              </a:tr>
              <a:tr h="7472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dirty="0"/>
                        <a:t>Has end date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dirty="0"/>
                        <a:t>No end date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1161504"/>
                  </a:ext>
                </a:extLst>
              </a:tr>
              <a:tr h="7472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/>
                        <a:t>Change-focused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dirty="0"/>
                        <a:t>Stability-focused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76281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552074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9EAEA-4958-CD16-3946-AEF932309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68E1898-290E-4D21-9E0D-A63D3394892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6D96E3FC-C4AD-6F0C-E43B-438AFA3DD9FF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58D252AC-4B14-966C-45C2-779101883819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008B51BA-B0D6-B499-94F5-2F0F5C423271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C63BEF2A-6285-4DD1-2E1B-43189294E84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8. Standalone Project or Programme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3232A320-9253-5566-D24A-10E041F06A67}"/>
              </a:ext>
            </a:extLst>
          </p:cNvPr>
          <p:cNvSpPr txBox="1"/>
          <p:nvPr/>
        </p:nvSpPr>
        <p:spPr>
          <a:xfrm>
            <a:off x="3095752" y="2310181"/>
            <a:ext cx="8448040" cy="3625993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2800" dirty="0"/>
              <a:t>Projects can be:</a:t>
            </a:r>
          </a:p>
          <a:p>
            <a:r>
              <a:rPr lang="en-US" sz="2800" dirty="0"/>
              <a:t>Standalone</a:t>
            </a:r>
          </a:p>
          <a:p>
            <a:r>
              <a:rPr lang="en-US" sz="2800" dirty="0"/>
              <a:t>Part of a </a:t>
            </a:r>
            <a:r>
              <a:rPr lang="en-US" sz="2800" b="1" dirty="0" err="1"/>
              <a:t>programme</a:t>
            </a:r>
            <a:r>
              <a:rPr lang="en-US" sz="2800" dirty="0"/>
              <a:t> (many related projects)</a:t>
            </a:r>
          </a:p>
          <a:p>
            <a:r>
              <a:rPr lang="en-US" sz="2800" b="1" dirty="0"/>
              <a:t>Example:</a:t>
            </a:r>
            <a:br>
              <a:rPr lang="en-US" sz="2800" dirty="0"/>
            </a:br>
            <a:r>
              <a:rPr lang="en-US" sz="2800" dirty="0"/>
              <a:t>📱 App development </a:t>
            </a:r>
            <a:r>
              <a:rPr lang="en-US" sz="2800" dirty="0" err="1"/>
              <a:t>programme</a:t>
            </a:r>
            <a:r>
              <a:rPr lang="en-US" sz="2800" dirty="0"/>
              <a:t>:</a:t>
            </a:r>
          </a:p>
          <a:p>
            <a:r>
              <a:rPr lang="en-US" sz="2800" dirty="0"/>
              <a:t>UI project</a:t>
            </a:r>
          </a:p>
          <a:p>
            <a:r>
              <a:rPr lang="en-US" sz="2800" dirty="0"/>
              <a:t>Backend project</a:t>
            </a:r>
          </a:p>
          <a:p>
            <a:r>
              <a:rPr lang="en-US" sz="2800" dirty="0"/>
              <a:t>Testing project</a:t>
            </a:r>
          </a:p>
        </p:txBody>
      </p:sp>
    </p:spTree>
    <p:extLst>
      <p:ext uri="{BB962C8B-B14F-4D97-AF65-F5344CB8AC3E}">
        <p14:creationId xmlns:p14="http://schemas.microsoft.com/office/powerpoint/2010/main" val="1824215363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D69877-4DA6-CAFF-EC85-5726E6FDB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A73A605-ED70-94F2-13D6-1AD42591820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DB0E2EE0-68AC-AFD9-2F3D-9E87A0DE59D9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817ED223-D563-BA46-FF87-EDB51EED742C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942C4F85-E8AB-F9C9-9A1E-8C531ED4A9DC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B32D9908-B3B8-C136-B6FD-1F7A9625858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8. Project &amp; Project Portfolio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E33CC310-0BCE-14FA-6C39-15BED309C862}"/>
              </a:ext>
            </a:extLst>
          </p:cNvPr>
          <p:cNvSpPr txBox="1"/>
          <p:nvPr/>
        </p:nvSpPr>
        <p:spPr>
          <a:xfrm>
            <a:off x="3095752" y="2310181"/>
            <a:ext cx="8448040" cy="2333331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2800" dirty="0"/>
              <a:t>Even single projects:</a:t>
            </a:r>
          </a:p>
          <a:p>
            <a:r>
              <a:rPr lang="en-US" sz="2800" dirty="0"/>
              <a:t>Must align with </a:t>
            </a:r>
            <a:r>
              <a:rPr lang="en-US" sz="2800" b="1" dirty="0"/>
              <a:t>project portfolio</a:t>
            </a:r>
            <a:endParaRPr lang="en-US" sz="2800" dirty="0"/>
          </a:p>
          <a:p>
            <a:r>
              <a:rPr lang="en-US" sz="2800" dirty="0"/>
              <a:t>Must match </a:t>
            </a:r>
            <a:r>
              <a:rPr lang="en-US" sz="2800" b="1" dirty="0"/>
              <a:t>organizational strategy</a:t>
            </a:r>
            <a:endParaRPr lang="en-US" sz="2800" dirty="0"/>
          </a:p>
          <a:p>
            <a:r>
              <a:rPr lang="en-US" sz="2800" b="1" dirty="0"/>
              <a:t>Question:</a:t>
            </a:r>
            <a:br>
              <a:rPr lang="en-US" sz="2800" dirty="0"/>
            </a:br>
            <a:r>
              <a:rPr lang="en-US" sz="2800" dirty="0"/>
              <a:t>❓ “Should useless projects be allowed?”</a:t>
            </a:r>
          </a:p>
        </p:txBody>
      </p:sp>
    </p:spTree>
    <p:extLst>
      <p:ext uri="{BB962C8B-B14F-4D97-AF65-F5344CB8AC3E}">
        <p14:creationId xmlns:p14="http://schemas.microsoft.com/office/powerpoint/2010/main" val="919818861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69910C-F1BD-474C-99B9-281D49BE9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65A0C07-2130-A569-DCD8-551C32C2192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419B9C1F-6808-E443-3A4C-A777FCF11BF0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1900878B-DF0D-973E-C1B8-DBAD09EFB7E3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A9115E27-F5D6-6C6B-8EFE-F70B60F5895E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DF8CD204-A030-A95C-399E-C62087F61D1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8. </a:t>
            </a:r>
            <a:r>
              <a:rPr lang="en-US" sz="4400" dirty="0"/>
              <a:t>Risk of Poor Project Management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836B377D-ECE3-D9BC-7127-60754EAE8BB7}"/>
              </a:ext>
            </a:extLst>
          </p:cNvPr>
          <p:cNvSpPr txBox="1"/>
          <p:nvPr/>
        </p:nvSpPr>
        <p:spPr>
          <a:xfrm>
            <a:off x="3095752" y="2167946"/>
            <a:ext cx="8448040" cy="2333331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2800" dirty="0"/>
              <a:t>Without proper management:</a:t>
            </a:r>
          </a:p>
          <a:p>
            <a:r>
              <a:rPr lang="en-US" sz="2800" dirty="0"/>
              <a:t>Resource conflicts</a:t>
            </a:r>
          </a:p>
          <a:p>
            <a:r>
              <a:rPr lang="en-US" sz="2800" dirty="0"/>
              <a:t>Service disruption</a:t>
            </a:r>
          </a:p>
          <a:p>
            <a:r>
              <a:rPr lang="en-US" sz="2800" dirty="0"/>
              <a:t>Customer dissatisfaction</a:t>
            </a:r>
          </a:p>
          <a:p>
            <a:r>
              <a:rPr lang="en-US" sz="2800" dirty="0"/>
              <a:t>Employee burnout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DB452B-5358-7EC0-7BB7-2234E94DEB6D}"/>
              </a:ext>
            </a:extLst>
          </p:cNvPr>
          <p:cNvSpPr txBox="1"/>
          <p:nvPr/>
        </p:nvSpPr>
        <p:spPr>
          <a:xfrm>
            <a:off x="5669552" y="4756308"/>
            <a:ext cx="609746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Quick discussion:</a:t>
            </a:r>
            <a:br>
              <a:rPr lang="en-US" sz="1800" dirty="0"/>
            </a:br>
            <a:r>
              <a:rPr lang="en-US" sz="1800" dirty="0"/>
              <a:t>😵 “What happens if everyone works on projects AND daily work?”</a:t>
            </a:r>
          </a:p>
        </p:txBody>
      </p:sp>
    </p:spTree>
    <p:extLst>
      <p:ext uri="{BB962C8B-B14F-4D97-AF65-F5344CB8AC3E}">
        <p14:creationId xmlns:p14="http://schemas.microsoft.com/office/powerpoint/2010/main" val="3183471952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D5FA04-5B88-9D5D-05E7-C73FFFAFE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B7FD296-5936-65B3-C278-201D39CB72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024A69FF-F203-2252-9A41-AB190C74EF39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E14461FC-DFB0-9C5A-8636-BC2B74FF0A2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C442C554-0151-447D-EC3D-B50F38921B54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FD7A17D4-76EC-1536-5F9F-9D4832B202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r>
              <a:rPr lang="en-IN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dirty="0"/>
              <a:t> 8. </a:t>
            </a:r>
            <a:r>
              <a:rPr lang="en-US" dirty="0"/>
              <a:t>Role of People in Projects</a:t>
            </a:r>
            <a:endParaRPr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4AB0588F-4233-6031-0B0E-AB94556A168E}"/>
              </a:ext>
            </a:extLst>
          </p:cNvPr>
          <p:cNvSpPr txBox="1"/>
          <p:nvPr/>
        </p:nvSpPr>
        <p:spPr>
          <a:xfrm>
            <a:off x="3095752" y="2310181"/>
            <a:ext cx="8448040" cy="4056880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3600" dirty="0"/>
              <a:t>Projects depend on:</a:t>
            </a:r>
          </a:p>
          <a:p>
            <a:r>
              <a:rPr lang="en-US" sz="3600" dirty="0"/>
              <a:t>Right people</a:t>
            </a:r>
          </a:p>
          <a:p>
            <a:r>
              <a:rPr lang="en-US" sz="3600" dirty="0"/>
              <a:t>Right skills</a:t>
            </a:r>
          </a:p>
          <a:p>
            <a:r>
              <a:rPr lang="en-US" sz="3600" dirty="0"/>
              <a:t>Right time</a:t>
            </a:r>
          </a:p>
          <a:p>
            <a:r>
              <a:rPr lang="en-US" sz="3600" dirty="0"/>
              <a:t>Even best plan fails if:</a:t>
            </a:r>
            <a:br>
              <a:rPr lang="en-US" sz="3600" dirty="0"/>
            </a:br>
            <a:r>
              <a:rPr lang="en-US" sz="3600" dirty="0"/>
              <a:t>❌ People are missing</a:t>
            </a:r>
            <a:br>
              <a:rPr lang="en-US" sz="3600" dirty="0"/>
            </a:br>
            <a:r>
              <a:rPr lang="en-US" sz="3600" dirty="0"/>
              <a:t>❌ No cooperation</a:t>
            </a:r>
          </a:p>
        </p:txBody>
      </p:sp>
    </p:spTree>
    <p:extLst>
      <p:ext uri="{BB962C8B-B14F-4D97-AF65-F5344CB8AC3E}">
        <p14:creationId xmlns:p14="http://schemas.microsoft.com/office/powerpoint/2010/main" val="494426812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F0ACC3-398D-9360-CBAD-F321F89F6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52F5F69-54D1-4CA0-2162-0F163447DA5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AA22AA32-9B92-8F0B-0E79-8164BAFC7D4B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69DF3C43-E9EC-47CE-F1D6-1FBDCC075A5A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AA7F33C6-9865-D665-AA1B-CB7985E4C672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83194E15-36F0-C581-141F-392632E76B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r>
              <a:rPr lang="en-IN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dirty="0"/>
              <a:t> 8. Project Team Reality</a:t>
            </a:r>
            <a:endParaRPr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421B5530-7372-3C28-976B-B7D1233BC229}"/>
              </a:ext>
            </a:extLst>
          </p:cNvPr>
          <p:cNvSpPr txBox="1"/>
          <p:nvPr/>
        </p:nvSpPr>
        <p:spPr>
          <a:xfrm>
            <a:off x="3095752" y="2065433"/>
            <a:ext cx="8448040" cy="3502882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3600" dirty="0"/>
              <a:t>Project team members:</a:t>
            </a:r>
          </a:p>
          <a:p>
            <a:r>
              <a:rPr lang="en-US" sz="3600" dirty="0"/>
              <a:t>Often come from daily operations</a:t>
            </a:r>
          </a:p>
          <a:p>
            <a:r>
              <a:rPr lang="en-US" sz="3600" dirty="0"/>
              <a:t>Work full-time or part-time</a:t>
            </a:r>
          </a:p>
          <a:p>
            <a:r>
              <a:rPr lang="en-US" sz="3600" dirty="0"/>
              <a:t>Must balance both roles</a:t>
            </a:r>
          </a:p>
          <a:p>
            <a:r>
              <a:rPr lang="en-US" sz="3600" b="1" dirty="0"/>
              <a:t>Relatable example:</a:t>
            </a:r>
            <a:br>
              <a:rPr lang="en-US" sz="3600" dirty="0"/>
            </a:br>
            <a:r>
              <a:rPr lang="en-US" sz="3600" dirty="0"/>
              <a:t>👩‍🏫 Teacher + committee work</a:t>
            </a:r>
          </a:p>
        </p:txBody>
      </p:sp>
    </p:spTree>
    <p:extLst>
      <p:ext uri="{BB962C8B-B14F-4D97-AF65-F5344CB8AC3E}">
        <p14:creationId xmlns:p14="http://schemas.microsoft.com/office/powerpoint/2010/main" val="3332742595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8A44EC-D95A-C52B-37C3-D7A67767C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629D529-AD36-DA8C-2C38-C43065629B7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6B951B8B-6930-86E9-EFF4-1CA98529076B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517455F2-2ED9-6E53-B420-766AA9D8A3D8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92F7AC5B-88F2-A631-1BCC-02BC2836FE7D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17F86226-BB4A-5B66-30B0-93178D36986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r>
              <a:rPr lang="en-IN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dirty="0"/>
              <a:t> 8. Project Delivery Approaches</a:t>
            </a:r>
            <a:endParaRPr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D5C11020-8B2D-EAF3-8436-D0984D5F18F9}"/>
              </a:ext>
            </a:extLst>
          </p:cNvPr>
          <p:cNvSpPr txBox="1"/>
          <p:nvPr/>
        </p:nvSpPr>
        <p:spPr>
          <a:xfrm>
            <a:off x="3095752" y="2057400"/>
            <a:ext cx="8448040" cy="1286891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2400" dirty="0"/>
              <a:t>Two common methods:</a:t>
            </a:r>
            <a:br>
              <a:rPr lang="en-US" sz="2400" dirty="0"/>
            </a:br>
            <a:r>
              <a:rPr lang="en-US" sz="2400" dirty="0"/>
              <a:t>1️⃣ Waterfall</a:t>
            </a:r>
            <a:br>
              <a:rPr lang="en-US" sz="2400" dirty="0"/>
            </a:br>
            <a:r>
              <a:rPr lang="en-US" sz="2400" dirty="0"/>
              <a:t>2️⃣ Agile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8EA78C7-E0D7-28FF-6A96-EEE12E227B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4019717"/>
              </p:ext>
            </p:extLst>
          </p:nvPr>
        </p:nvGraphicFramePr>
        <p:xfrm>
          <a:off x="2812542" y="3657602"/>
          <a:ext cx="8731250" cy="2930116"/>
        </p:xfrm>
        <a:graphic>
          <a:graphicData uri="http://schemas.openxmlformats.org/drawingml/2006/table">
            <a:tbl>
              <a:tblPr/>
              <a:tblGrid>
                <a:gridCol w="4365625">
                  <a:extLst>
                    <a:ext uri="{9D8B030D-6E8A-4147-A177-3AD203B41FA5}">
                      <a16:colId xmlns:a16="http://schemas.microsoft.com/office/drawing/2014/main" val="113607259"/>
                    </a:ext>
                  </a:extLst>
                </a:gridCol>
                <a:gridCol w="4365625">
                  <a:extLst>
                    <a:ext uri="{9D8B030D-6E8A-4147-A177-3AD203B41FA5}">
                      <a16:colId xmlns:a16="http://schemas.microsoft.com/office/drawing/2014/main" val="2503811458"/>
                    </a:ext>
                  </a:extLst>
                </a:gridCol>
              </a:tblGrid>
              <a:tr h="7325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600" dirty="0"/>
                        <a:t>Waterfall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600"/>
                        <a:t>Agile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0621533"/>
                  </a:ext>
                </a:extLst>
              </a:tr>
              <a:tr h="7325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600" dirty="0"/>
                        <a:t>Fixed plan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600"/>
                        <a:t>Flexible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187477"/>
                  </a:ext>
                </a:extLst>
              </a:tr>
              <a:tr h="7325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600"/>
                        <a:t>Slow changes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600"/>
                        <a:t>Fast changes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4075875"/>
                  </a:ext>
                </a:extLst>
              </a:tr>
              <a:tr h="7325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600"/>
                        <a:t>Heavy documentation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600" dirty="0"/>
                        <a:t>Working output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86459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5653986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444E44-CF49-C915-0677-3D42A91CE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C2CD40F-18FD-4BB8-D5CE-41A261D5718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91FEEDB5-94D6-0F53-E51A-4D9B3E23B7DE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F2713CB7-09D9-4D6E-3DDB-8D0CF19DF452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5B55C0BC-BA20-CDDC-19DC-71A52693D542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1EB3AA2C-2A4E-BDCD-7DA5-D02969E0F1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124457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r>
              <a:rPr lang="en-IN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dirty="0"/>
              <a:t> 8. Value Chain: Design &amp; Transition AND Obtain / Build</a:t>
            </a:r>
            <a:endParaRPr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0BD10719-00FE-546E-86C7-7502C9880494}"/>
              </a:ext>
            </a:extLst>
          </p:cNvPr>
          <p:cNvSpPr txBox="1"/>
          <p:nvPr/>
        </p:nvSpPr>
        <p:spPr>
          <a:xfrm>
            <a:off x="3095752" y="2057400"/>
            <a:ext cx="8448040" cy="4610878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2400" dirty="0"/>
              <a:t>New service design = project</a:t>
            </a:r>
          </a:p>
          <a:p>
            <a:r>
              <a:rPr lang="en-US" sz="2400" dirty="0"/>
              <a:t>Major changes = project</a:t>
            </a:r>
          </a:p>
          <a:p>
            <a:r>
              <a:rPr lang="en-US" sz="2400" b="1" dirty="0"/>
              <a:t>Example:</a:t>
            </a:r>
            <a:br>
              <a:rPr lang="en-US" sz="2400" dirty="0"/>
            </a:br>
            <a:r>
              <a:rPr lang="en-US" sz="2400" dirty="0"/>
              <a:t>🖥️ New ERP system rollout</a:t>
            </a:r>
          </a:p>
          <a:p>
            <a:endParaRPr lang="en-US" sz="2400" dirty="0"/>
          </a:p>
          <a:p>
            <a:r>
              <a:rPr lang="en-US" sz="2400" dirty="0"/>
              <a:t>Resource acquisition</a:t>
            </a:r>
          </a:p>
          <a:p>
            <a:r>
              <a:rPr lang="en-US" sz="2400" dirty="0"/>
              <a:t>Development</a:t>
            </a:r>
          </a:p>
          <a:p>
            <a:r>
              <a:rPr lang="en-US" sz="2400" dirty="0"/>
              <a:t>Integration</a:t>
            </a:r>
          </a:p>
          <a:p>
            <a:r>
              <a:rPr lang="en-US" sz="2400" dirty="0"/>
              <a:t>All managed as projects</a:t>
            </a:r>
          </a:p>
          <a:p>
            <a:r>
              <a:rPr lang="en-US" sz="2400" b="1" dirty="0"/>
              <a:t>Ask:</a:t>
            </a:r>
            <a:br>
              <a:rPr lang="en-US" sz="2400" dirty="0"/>
            </a:br>
            <a:r>
              <a:rPr lang="en-US" sz="2400" dirty="0"/>
              <a:t>❓ “Can development happen without planning?”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91448953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5544FE-2FAE-6FFA-6E9D-8F95C72BE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912A3AA-1736-FC72-A033-60E10EF0DD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195710"/>
            <a:ext cx="9296400" cy="6466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1355592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35FB12-C455-A5F3-165C-D1BE9F57B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4050B5B-269D-7FF5-8395-9CB13BCEBFB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91133254-BD58-F227-7465-7A362C9FEAEB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B561534B-A856-36A8-DB81-AD3FAD5F8DD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F37D5B3B-8245-B6FE-C491-708D967EBB1F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6C267505-7CD3-2137-E516-B1BC2BB6DC0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8. Summary Slide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E5CADB94-60FB-46CB-ED66-248B6488A364}"/>
              </a:ext>
            </a:extLst>
          </p:cNvPr>
          <p:cNvSpPr txBox="1"/>
          <p:nvPr/>
        </p:nvSpPr>
        <p:spPr>
          <a:xfrm>
            <a:off x="3095752" y="2310181"/>
            <a:ext cx="8448040" cy="2948884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3600" dirty="0"/>
              <a:t>✅ Ensures projects succeed</a:t>
            </a:r>
            <a:br>
              <a:rPr lang="en-US" sz="3600" dirty="0"/>
            </a:br>
            <a:r>
              <a:rPr lang="en-US" sz="3600" dirty="0"/>
              <a:t>✅ Manages change safely</a:t>
            </a:r>
            <a:br>
              <a:rPr lang="en-US" sz="3600" dirty="0"/>
            </a:br>
            <a:r>
              <a:rPr lang="en-US" sz="3600" dirty="0"/>
              <a:t>✅ Balances projects &amp; operations</a:t>
            </a:r>
            <a:br>
              <a:rPr lang="en-US" sz="3600" dirty="0"/>
            </a:br>
            <a:r>
              <a:rPr lang="en-US" sz="3600" dirty="0"/>
              <a:t>✅ Supports all value chain activities</a:t>
            </a:r>
            <a:br>
              <a:rPr lang="en-US" sz="3600" dirty="0"/>
            </a:br>
            <a:r>
              <a:rPr lang="en-US" sz="3600" dirty="0"/>
              <a:t>✅ People are the key factor</a:t>
            </a:r>
          </a:p>
        </p:txBody>
      </p:sp>
    </p:spTree>
    <p:extLst>
      <p:ext uri="{BB962C8B-B14F-4D97-AF65-F5344CB8AC3E}">
        <p14:creationId xmlns:p14="http://schemas.microsoft.com/office/powerpoint/2010/main" val="2043743413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BAE3E5-584C-446C-E0FC-298A7BCCF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EBE95-5CE4-799F-3DD6-2862B968C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2667000"/>
            <a:ext cx="9677400" cy="923330"/>
          </a:xfrm>
        </p:spPr>
        <p:txBody>
          <a:bodyPr/>
          <a:lstStyle/>
          <a:p>
            <a:pPr algn="ctr"/>
            <a:r>
              <a:rPr lang="en-IN" dirty="0"/>
              <a:t>9. </a:t>
            </a:r>
            <a:r>
              <a:rPr lang="en-US" dirty="0"/>
              <a:t>Relationship</a:t>
            </a:r>
            <a:r>
              <a:rPr lang="en-IN" dirty="0"/>
              <a:t> Management</a:t>
            </a:r>
            <a:br>
              <a:rPr lang="en-IN" dirty="0"/>
            </a:br>
            <a:r>
              <a:rPr lang="en-US" sz="2000" b="0" i="1" dirty="0"/>
              <a:t>Because services are built on relationships</a:t>
            </a:r>
            <a:endParaRPr lang="en-IN" b="0" i="1" dirty="0"/>
          </a:p>
        </p:txBody>
      </p:sp>
    </p:spTree>
    <p:extLst>
      <p:ext uri="{BB962C8B-B14F-4D97-AF65-F5344CB8AC3E}">
        <p14:creationId xmlns:p14="http://schemas.microsoft.com/office/powerpoint/2010/main" val="1956955955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6D444D-4F66-A5EB-066D-F0E9C9AD1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BE8A370-EEE3-283C-AC48-39E82BCF8EB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981452F4-5462-D3D9-1454-D77C9E9AF8E9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9C9E7167-B4B4-A79D-9E23-E7B0B9F80563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786B5DEF-5CD0-84F9-613D-C052B62C6CB4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AB3403B6-60A5-B971-7607-8AD69170DC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 </a:t>
            </a:r>
            <a:r>
              <a:rPr lang="en-IN" sz="4400" dirty="0"/>
              <a:t>9. </a:t>
            </a:r>
            <a:r>
              <a:rPr lang="en-US" sz="4400" dirty="0"/>
              <a:t>Relationship</a:t>
            </a:r>
            <a:r>
              <a:rPr lang="en-IN" sz="4400" dirty="0"/>
              <a:t> Management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DEF8663C-979D-9EE7-0028-3AEA54321ED5}"/>
              </a:ext>
            </a:extLst>
          </p:cNvPr>
          <p:cNvSpPr txBox="1"/>
          <p:nvPr/>
        </p:nvSpPr>
        <p:spPr>
          <a:xfrm>
            <a:off x="3095752" y="2058145"/>
            <a:ext cx="8448040" cy="2948884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3600" dirty="0"/>
              <a:t>Relationship management means:</a:t>
            </a:r>
          </a:p>
          <a:p>
            <a:r>
              <a:rPr lang="en-US" sz="3600" dirty="0"/>
              <a:t>Understanding people’s needs</a:t>
            </a:r>
          </a:p>
          <a:p>
            <a:r>
              <a:rPr lang="en-US" sz="3600" dirty="0"/>
              <a:t>Talking to them regularly</a:t>
            </a:r>
          </a:p>
          <a:p>
            <a:r>
              <a:rPr lang="en-US" sz="3600" dirty="0"/>
              <a:t>Solving conflicts</a:t>
            </a:r>
          </a:p>
          <a:p>
            <a:r>
              <a:rPr lang="en-US" sz="3600" dirty="0"/>
              <a:t>Keeping everyone satisfied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53468D-E1F1-43D3-22BC-AEA18F27A66E}"/>
              </a:ext>
            </a:extLst>
          </p:cNvPr>
          <p:cNvSpPr txBox="1"/>
          <p:nvPr/>
        </p:nvSpPr>
        <p:spPr>
          <a:xfrm>
            <a:off x="6119446" y="6096000"/>
            <a:ext cx="60974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👉 </a:t>
            </a:r>
            <a:r>
              <a:rPr lang="en-US" sz="1800" i="1" dirty="0"/>
              <a:t>Good services come from good relationships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1593642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12D8E-0B20-4404-46CD-E28D268D1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E2B2ACA-A619-6C02-64F1-4B392EAE1A0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AFA6B000-2DCC-0535-D129-85D7B5C5CBD9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D9E2EC25-60F4-5293-CFED-5C0A6C63EC63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B87842EB-999F-D9C9-77DB-DB02A1B956C4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7B2E54E3-CCE1-1DCA-258B-AC214ADC5B8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9. Who Are Stakeholders?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3567B903-1EE9-C173-5B8F-E138429393AF}"/>
              </a:ext>
            </a:extLst>
          </p:cNvPr>
          <p:cNvSpPr txBox="1"/>
          <p:nvPr/>
        </p:nvSpPr>
        <p:spPr>
          <a:xfrm>
            <a:off x="3095752" y="2058145"/>
            <a:ext cx="8448040" cy="4487767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2800" dirty="0"/>
              <a:t>Stakeholders include:</a:t>
            </a:r>
          </a:p>
          <a:p>
            <a:r>
              <a:rPr lang="en-US" sz="2800" dirty="0"/>
              <a:t>Customers</a:t>
            </a:r>
          </a:p>
          <a:p>
            <a:r>
              <a:rPr lang="en-US" sz="2800" dirty="0"/>
              <a:t>Users</a:t>
            </a:r>
          </a:p>
          <a:p>
            <a:r>
              <a:rPr lang="en-US" sz="2800" dirty="0"/>
              <a:t>Sponsors</a:t>
            </a:r>
          </a:p>
          <a:p>
            <a:r>
              <a:rPr lang="en-US" sz="2800" dirty="0"/>
              <a:t>Employees</a:t>
            </a:r>
          </a:p>
          <a:p>
            <a:r>
              <a:rPr lang="en-US" sz="2800" dirty="0"/>
              <a:t>Suppliers</a:t>
            </a:r>
          </a:p>
          <a:p>
            <a:r>
              <a:rPr lang="en-US" sz="2800" dirty="0"/>
              <a:t>Partners</a:t>
            </a:r>
          </a:p>
          <a:p>
            <a:r>
              <a:rPr lang="en-US" sz="2800" dirty="0"/>
              <a:t>🎮 </a:t>
            </a:r>
            <a:r>
              <a:rPr lang="en-US" sz="2800" b="1" dirty="0"/>
              <a:t>Activity:</a:t>
            </a:r>
            <a:br>
              <a:rPr lang="en-US" sz="2800" dirty="0"/>
            </a:br>
            <a:r>
              <a:rPr lang="en-US" sz="2800" dirty="0"/>
              <a:t>Ask students:</a:t>
            </a:r>
            <a:br>
              <a:rPr lang="en-US" sz="2800" dirty="0"/>
            </a:br>
            <a:r>
              <a:rPr lang="en-US" sz="2800" dirty="0"/>
              <a:t>❓ “Who are the stakeholders in our college?”</a:t>
            </a:r>
          </a:p>
        </p:txBody>
      </p:sp>
    </p:spTree>
    <p:extLst>
      <p:ext uri="{BB962C8B-B14F-4D97-AF65-F5344CB8AC3E}">
        <p14:creationId xmlns:p14="http://schemas.microsoft.com/office/powerpoint/2010/main" val="426342608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6ACE8E-3C49-1B9D-9405-9D0E91E47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0E915B5-6C5C-882A-7930-1B030CF0E0C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5D27E48F-7130-99E1-1403-DCC4BD464415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A3C414D5-8350-1596-5A4C-3B0ECE72C9C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FC986C7D-E6A0-1F54-4516-D9FEB1164C98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B7740C17-6405-0866-142B-6637CAE0E4E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9. What Relationship Management Does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F86D49E0-3D28-58F6-A07A-844729941280}"/>
              </a:ext>
            </a:extLst>
          </p:cNvPr>
          <p:cNvSpPr txBox="1"/>
          <p:nvPr/>
        </p:nvSpPr>
        <p:spPr>
          <a:xfrm>
            <a:off x="3095752" y="2310181"/>
            <a:ext cx="8448040" cy="2948884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3600" dirty="0"/>
              <a:t>This practice ensures that:</a:t>
            </a:r>
          </a:p>
          <a:p>
            <a:r>
              <a:rPr lang="en-US" sz="3600" dirty="0"/>
              <a:t>✔ Stakeholder needs are understood</a:t>
            </a:r>
            <a:br>
              <a:rPr lang="en-US" sz="3600" dirty="0"/>
            </a:br>
            <a:r>
              <a:rPr lang="en-US" sz="3600" dirty="0"/>
              <a:t>✔ Right products/services are prioritized</a:t>
            </a:r>
            <a:br>
              <a:rPr lang="en-US" sz="3600" dirty="0"/>
            </a:br>
            <a:r>
              <a:rPr lang="en-US" sz="3600" dirty="0"/>
              <a:t>✔ Customer satisfaction stays high</a:t>
            </a:r>
            <a:br>
              <a:rPr lang="en-US" sz="3600" dirty="0"/>
            </a:br>
            <a:r>
              <a:rPr lang="en-US" sz="3600" dirty="0"/>
              <a:t>✔ Trust is built and maintained</a:t>
            </a:r>
          </a:p>
        </p:txBody>
      </p:sp>
    </p:spTree>
    <p:extLst>
      <p:ext uri="{BB962C8B-B14F-4D97-AF65-F5344CB8AC3E}">
        <p14:creationId xmlns:p14="http://schemas.microsoft.com/office/powerpoint/2010/main" val="1975083199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05158-C2DF-DA25-908D-8AC51192E5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9819F90-3948-F9CE-829F-BFDEFB9DB9E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A03AB2A9-ED9E-C1FF-3060-627BE2F8D500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7B106D66-283A-B0CA-8AC0-494563B1231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E1B62A88-2F8C-C07D-A0AA-C75F7A69008D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2665366F-0642-17D5-4BEA-08781B6C95E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9. Customer Priorities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D7468E90-4FD5-453D-B33D-3BF1A721E0A2}"/>
              </a:ext>
            </a:extLst>
          </p:cNvPr>
          <p:cNvSpPr txBox="1"/>
          <p:nvPr/>
        </p:nvSpPr>
        <p:spPr>
          <a:xfrm>
            <a:off x="3095752" y="2310181"/>
            <a:ext cx="8448040" cy="3625993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3200" dirty="0"/>
              <a:t>Relationship management helps:</a:t>
            </a:r>
          </a:p>
          <a:p>
            <a:r>
              <a:rPr lang="en-US" sz="3200" dirty="0"/>
              <a:t>Identify customer priorities</a:t>
            </a:r>
          </a:p>
          <a:p>
            <a:r>
              <a:rPr lang="en-US" sz="3200" dirty="0"/>
              <a:t>Align them with </a:t>
            </a:r>
            <a:r>
              <a:rPr lang="en-US" sz="3200" b="1" dirty="0"/>
              <a:t>business outcomes</a:t>
            </a:r>
            <a:endParaRPr lang="en-US" sz="3200" dirty="0"/>
          </a:p>
          <a:p>
            <a:r>
              <a:rPr lang="en-US" sz="3200" dirty="0"/>
              <a:t>Clearly communicate requirements</a:t>
            </a:r>
          </a:p>
          <a:p>
            <a:r>
              <a:rPr lang="en-US" sz="3200" b="1" dirty="0"/>
              <a:t>Example:</a:t>
            </a:r>
            <a:br>
              <a:rPr lang="en-US" sz="3200" dirty="0"/>
            </a:br>
            <a:r>
              <a:rPr lang="en-US" sz="3200" dirty="0"/>
              <a:t>🎓 Students want faster exam results → IT system upgrade</a:t>
            </a:r>
          </a:p>
        </p:txBody>
      </p:sp>
    </p:spTree>
    <p:extLst>
      <p:ext uri="{BB962C8B-B14F-4D97-AF65-F5344CB8AC3E}">
        <p14:creationId xmlns:p14="http://schemas.microsoft.com/office/powerpoint/2010/main" val="2888105212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744A03-1E20-3EFF-5E55-753027238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FA636B8-7E0A-4875-8B12-4D77B69877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3A3DAAA1-778B-1F8E-96EB-BD0D40046161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0DDA6C53-CBBE-CDC7-D719-B25B834E6058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F40DD447-DD90-3D3C-D61D-C7ED7EE2BDA6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BE6276B9-4B98-C432-7768-B32D324CD02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9. Handling Complaints &amp; Escalations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A0580134-F6A8-93B8-E9A8-CD72D9AB8D3A}"/>
              </a:ext>
            </a:extLst>
          </p:cNvPr>
          <p:cNvSpPr txBox="1"/>
          <p:nvPr/>
        </p:nvSpPr>
        <p:spPr>
          <a:xfrm>
            <a:off x="3095752" y="2310181"/>
            <a:ext cx="8448040" cy="3625993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2800" dirty="0"/>
              <a:t>Ensures complaints are:</a:t>
            </a:r>
          </a:p>
          <a:p>
            <a:r>
              <a:rPr lang="en-US" sz="2800" dirty="0"/>
              <a:t>Handled </a:t>
            </a:r>
            <a:r>
              <a:rPr lang="en-US" sz="2800" b="1" dirty="0"/>
              <a:t>sympathetically</a:t>
            </a:r>
            <a:endParaRPr lang="en-US" sz="2800" dirty="0"/>
          </a:p>
          <a:p>
            <a:r>
              <a:rPr lang="en-US" sz="2800" dirty="0"/>
              <a:t>Follow a </a:t>
            </a:r>
            <a:r>
              <a:rPr lang="en-US" sz="2800" b="1" dirty="0"/>
              <a:t>formal process</a:t>
            </a:r>
            <a:endParaRPr lang="en-US" sz="2800" dirty="0"/>
          </a:p>
          <a:p>
            <a:r>
              <a:rPr lang="en-US" sz="2800" dirty="0"/>
              <a:t>Resolved professionally</a:t>
            </a:r>
          </a:p>
          <a:p>
            <a:endParaRPr lang="en-US" sz="2800" dirty="0"/>
          </a:p>
          <a:p>
            <a:endParaRPr lang="en-US" sz="2800" dirty="0"/>
          </a:p>
          <a:p>
            <a:r>
              <a:rPr lang="en-US" sz="2800" b="1" dirty="0"/>
              <a:t>Key exam phrase:</a:t>
            </a:r>
            <a:br>
              <a:rPr lang="en-US" sz="2800" dirty="0"/>
            </a:br>
            <a:r>
              <a:rPr lang="en-US" sz="2800" dirty="0"/>
              <a:t>👉 “Sympathetic yet formal process”</a:t>
            </a:r>
          </a:p>
        </p:txBody>
      </p:sp>
    </p:spTree>
    <p:extLst>
      <p:ext uri="{BB962C8B-B14F-4D97-AF65-F5344CB8AC3E}">
        <p14:creationId xmlns:p14="http://schemas.microsoft.com/office/powerpoint/2010/main" val="4036397454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337099-EE8C-B2F0-3BCE-8246084A6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830D84A-B1C3-CB3F-02F7-B28A9F45A06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D42F78D6-81C4-158F-4D4D-2BFD3751B754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944454CD-4F42-AE59-7A88-DFD007133996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74AE46AF-3A57-F6C5-C5ED-238395CEDB48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B1856E2C-EAEE-0969-651E-F8D5D0D74F8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18601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r>
              <a:rPr lang="en-IN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dirty="0"/>
              <a:t> 9. </a:t>
            </a:r>
            <a:r>
              <a:rPr lang="en-US" dirty="0"/>
              <a:t>Value Creation Through Relationships</a:t>
            </a:r>
            <a:br>
              <a:rPr lang="en-US" dirty="0"/>
            </a:br>
            <a:endParaRPr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805BDF1B-CDF6-624E-59CB-6013EFEEB209}"/>
              </a:ext>
            </a:extLst>
          </p:cNvPr>
          <p:cNvSpPr txBox="1"/>
          <p:nvPr/>
        </p:nvSpPr>
        <p:spPr>
          <a:xfrm>
            <a:off x="3095752" y="2310181"/>
            <a:ext cx="8448040" cy="4056880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3600" dirty="0"/>
              <a:t>Relationship management ensures:</a:t>
            </a:r>
          </a:p>
          <a:p>
            <a:r>
              <a:rPr lang="en-US" sz="3600" dirty="0"/>
              <a:t>Services create value for customers</a:t>
            </a:r>
          </a:p>
          <a:p>
            <a:r>
              <a:rPr lang="en-US" sz="3600" dirty="0"/>
              <a:t>Services also benefit the organization</a:t>
            </a:r>
          </a:p>
          <a:p>
            <a:r>
              <a:rPr lang="en-US" sz="3600" dirty="0"/>
              <a:t>Win–win outcomes</a:t>
            </a:r>
          </a:p>
          <a:p>
            <a:r>
              <a:rPr lang="en-US" sz="3600" dirty="0"/>
              <a:t>🧠 </a:t>
            </a:r>
            <a:r>
              <a:rPr lang="en-US" sz="3600" b="1" dirty="0"/>
              <a:t>Think:</a:t>
            </a:r>
            <a:br>
              <a:rPr lang="en-US" sz="3600" dirty="0"/>
            </a:br>
            <a:r>
              <a:rPr lang="en-US" sz="3600" dirty="0"/>
              <a:t>❓ Can value be created if relationships are bad?</a:t>
            </a:r>
          </a:p>
        </p:txBody>
      </p:sp>
    </p:spTree>
    <p:extLst>
      <p:ext uri="{BB962C8B-B14F-4D97-AF65-F5344CB8AC3E}">
        <p14:creationId xmlns:p14="http://schemas.microsoft.com/office/powerpoint/2010/main" val="4089647600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92701A-DD8D-E21E-0696-19EB1D271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89CB281-311C-4642-5E0D-533BD86EEE9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0BC75FB8-F8F4-0D2D-9589-88B7BE52F55F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62C411DD-CAA6-0A2C-E22D-8F5BA78ED790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9CA26F68-05AB-6E70-93A2-0A9CCD3E3687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CCA32F30-96EC-E027-6E9A-8E0A6EFE331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r>
              <a:rPr lang="en-IN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dirty="0"/>
              <a:t> 9. Managing Conflicting Needs</a:t>
            </a:r>
            <a:endParaRPr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0B4DEB80-D390-9648-4697-5708091F1CAD}"/>
              </a:ext>
            </a:extLst>
          </p:cNvPr>
          <p:cNvSpPr txBox="1"/>
          <p:nvPr/>
        </p:nvSpPr>
        <p:spPr>
          <a:xfrm>
            <a:off x="3095752" y="2065433"/>
            <a:ext cx="8448040" cy="3502882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3600" dirty="0"/>
              <a:t>Example:</a:t>
            </a:r>
          </a:p>
          <a:p>
            <a:r>
              <a:rPr lang="en-US" sz="3600" dirty="0"/>
              <a:t>Students want flexible deadlines</a:t>
            </a:r>
          </a:p>
          <a:p>
            <a:r>
              <a:rPr lang="en-US" sz="3600" dirty="0"/>
              <a:t>Management wants strict rules</a:t>
            </a:r>
          </a:p>
          <a:p>
            <a:r>
              <a:rPr lang="en-US" sz="3600" dirty="0"/>
              <a:t>Relationship management:</a:t>
            </a:r>
            <a:br>
              <a:rPr lang="en-US" sz="3600" dirty="0"/>
            </a:br>
            <a:r>
              <a:rPr lang="en-US" sz="3600" dirty="0"/>
              <a:t>✔ Mediates conflicts</a:t>
            </a:r>
            <a:br>
              <a:rPr lang="en-US" sz="3600" dirty="0"/>
            </a:br>
            <a:r>
              <a:rPr lang="en-US" sz="3600" dirty="0"/>
              <a:t>✔ Finds balance</a:t>
            </a:r>
          </a:p>
        </p:txBody>
      </p:sp>
    </p:spTree>
    <p:extLst>
      <p:ext uri="{BB962C8B-B14F-4D97-AF65-F5344CB8AC3E}">
        <p14:creationId xmlns:p14="http://schemas.microsoft.com/office/powerpoint/2010/main" val="881837953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F54DCD-9793-024B-0DE8-D783687A8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925275B-3D29-8704-FEF3-45AF7A01886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E1BD0DE2-CB3D-8B85-0527-72C1BBC8261E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F221048A-94F6-06AB-8647-7E4099AB9F78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8E52EB2D-B02F-A0C7-2A7F-946336804B54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6685DED0-CE16-4E4C-9801-2A691C5C4A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r>
              <a:rPr lang="en-IN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dirty="0"/>
              <a:t> 9. Not Only Customers!</a:t>
            </a:r>
            <a:endParaRPr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7E8D82F9-6467-A52A-D82D-0BCBF2FFB5B1}"/>
              </a:ext>
            </a:extLst>
          </p:cNvPr>
          <p:cNvSpPr txBox="1"/>
          <p:nvPr/>
        </p:nvSpPr>
        <p:spPr>
          <a:xfrm>
            <a:off x="3095752" y="2057400"/>
            <a:ext cx="8448040" cy="4056880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3600" dirty="0"/>
              <a:t>Organizations must manage:</a:t>
            </a:r>
          </a:p>
          <a:p>
            <a:r>
              <a:rPr lang="en-US" sz="3600" dirty="0"/>
              <a:t>Internal stakeholders</a:t>
            </a:r>
          </a:p>
          <a:p>
            <a:r>
              <a:rPr lang="en-US" sz="3600" dirty="0"/>
              <a:t>External stakeholders</a:t>
            </a:r>
          </a:p>
          <a:p>
            <a:r>
              <a:rPr lang="en-US" sz="3600" dirty="0"/>
              <a:t>Not just service consumers!</a:t>
            </a:r>
          </a:p>
          <a:p>
            <a:r>
              <a:rPr lang="en-US" sz="3600" b="1" dirty="0"/>
              <a:t>Key reminder:</a:t>
            </a:r>
            <a:br>
              <a:rPr lang="en-US" sz="3600" dirty="0"/>
            </a:br>
            <a:r>
              <a:rPr lang="en-US" sz="3600" dirty="0"/>
              <a:t>👉 Ignoring internal stakeholders = service failure</a:t>
            </a:r>
          </a:p>
        </p:txBody>
      </p:sp>
    </p:spTree>
    <p:extLst>
      <p:ext uri="{BB962C8B-B14F-4D97-AF65-F5344CB8AC3E}">
        <p14:creationId xmlns:p14="http://schemas.microsoft.com/office/powerpoint/2010/main" val="2736512493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420160-30BE-A3EC-147D-0FDC4BD78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6B401C4-AA19-F59A-B730-1746271329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1" y="197134"/>
            <a:ext cx="9251144" cy="6432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767767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3486F3-4695-FFF5-18AA-6A0BE8060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E952A89-C0FC-C71E-AFEE-E9AC16159D4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E4787ACF-3807-4999-879A-7D8CAFE756AF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800CBBBD-D75B-52D8-5C34-F47795ADE1F2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154A7AC6-1EEE-BC75-FAF4-06E8F0735971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45634662-DA36-A367-4988-CEF5D956B34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9. Summary Slide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C07B3AA6-80C2-35B5-E286-036414EE310D}"/>
              </a:ext>
            </a:extLst>
          </p:cNvPr>
          <p:cNvSpPr txBox="1"/>
          <p:nvPr/>
        </p:nvSpPr>
        <p:spPr>
          <a:xfrm>
            <a:off x="3095752" y="2310181"/>
            <a:ext cx="8448040" cy="2948884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3600" dirty="0"/>
              <a:t>✅ Builds trust</a:t>
            </a:r>
            <a:br>
              <a:rPr lang="en-US" sz="3600" dirty="0"/>
            </a:br>
            <a:r>
              <a:rPr lang="en-US" sz="3600" dirty="0"/>
              <a:t>✅ Manages stakeholders</a:t>
            </a:r>
            <a:br>
              <a:rPr lang="en-US" sz="3600" dirty="0"/>
            </a:br>
            <a:r>
              <a:rPr lang="en-US" sz="3600" dirty="0"/>
              <a:t>✅ Handles conflicts</a:t>
            </a:r>
            <a:br>
              <a:rPr lang="en-US" sz="3600" dirty="0"/>
            </a:br>
            <a:r>
              <a:rPr lang="en-US" sz="3600" dirty="0"/>
              <a:t>✅ Improves satisfaction</a:t>
            </a:r>
            <a:br>
              <a:rPr lang="en-US" sz="3600" dirty="0"/>
            </a:br>
            <a:r>
              <a:rPr lang="en-US" sz="3600" dirty="0"/>
              <a:t>✅ Supports value creation</a:t>
            </a:r>
          </a:p>
        </p:txBody>
      </p:sp>
    </p:spTree>
    <p:extLst>
      <p:ext uri="{BB962C8B-B14F-4D97-AF65-F5344CB8AC3E}">
        <p14:creationId xmlns:p14="http://schemas.microsoft.com/office/powerpoint/2010/main" val="3912693452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21B80A-E81B-5AB4-12E0-A0EB15BEE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A6498-EE04-7186-598C-8C78C0F59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2667000"/>
            <a:ext cx="9677400" cy="923330"/>
          </a:xfrm>
        </p:spPr>
        <p:txBody>
          <a:bodyPr/>
          <a:lstStyle/>
          <a:p>
            <a:pPr algn="ctr"/>
            <a:r>
              <a:rPr lang="en-IN" dirty="0"/>
              <a:t>10. </a:t>
            </a:r>
            <a:r>
              <a:rPr lang="en-US" dirty="0"/>
              <a:t>Risk </a:t>
            </a:r>
            <a:r>
              <a:rPr lang="en-IN" dirty="0"/>
              <a:t>Management</a:t>
            </a:r>
            <a:br>
              <a:rPr lang="en-IN" dirty="0"/>
            </a:br>
            <a:r>
              <a:rPr lang="en-US" sz="2000" dirty="0"/>
              <a:t>“Is taking no risk also a risk?”</a:t>
            </a:r>
            <a:endParaRPr lang="en-IN" b="0" i="1" dirty="0"/>
          </a:p>
        </p:txBody>
      </p:sp>
    </p:spTree>
    <p:extLst>
      <p:ext uri="{BB962C8B-B14F-4D97-AF65-F5344CB8AC3E}">
        <p14:creationId xmlns:p14="http://schemas.microsoft.com/office/powerpoint/2010/main" val="3682784192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F8803C-40E9-5A4D-1B99-257177E1C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DB83BCA-0A72-5E43-24B1-9973549DA69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958E37FD-9F3D-050E-3FAB-E73048A694DD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1F41D626-C53E-B780-72F9-D0F40833085C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78594BB7-B9BD-C011-F619-464C11D00E3F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7AE77A54-C523-FC44-4F00-9FEE7042A4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 </a:t>
            </a:r>
            <a:r>
              <a:rPr lang="en-IN" sz="4400" dirty="0"/>
              <a:t>10. </a:t>
            </a:r>
            <a:r>
              <a:rPr lang="en-US" sz="4400" dirty="0"/>
              <a:t>Risk</a:t>
            </a:r>
            <a:r>
              <a:rPr lang="en-IN" sz="4400" dirty="0"/>
              <a:t> Management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DF674528-1798-F0D9-4901-F1B1AFBD85B9}"/>
              </a:ext>
            </a:extLst>
          </p:cNvPr>
          <p:cNvSpPr txBox="1"/>
          <p:nvPr/>
        </p:nvSpPr>
        <p:spPr>
          <a:xfrm>
            <a:off x="3095752" y="2058145"/>
            <a:ext cx="8448040" cy="2394886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3600" dirty="0"/>
              <a:t>Risk management means:</a:t>
            </a:r>
          </a:p>
          <a:p>
            <a:r>
              <a:rPr lang="en-US" sz="3600" dirty="0"/>
              <a:t>Knowing </a:t>
            </a:r>
            <a:r>
              <a:rPr lang="en-US" sz="3600" b="1" dirty="0"/>
              <a:t>what can go wrong</a:t>
            </a:r>
            <a:endParaRPr lang="en-US" sz="3600" dirty="0"/>
          </a:p>
          <a:p>
            <a:r>
              <a:rPr lang="en-US" sz="3600" dirty="0"/>
              <a:t>Knowing </a:t>
            </a:r>
            <a:r>
              <a:rPr lang="en-US" sz="3600" b="1" dirty="0"/>
              <a:t>what can go right</a:t>
            </a:r>
            <a:endParaRPr lang="en-US" sz="3600" dirty="0"/>
          </a:p>
          <a:p>
            <a:r>
              <a:rPr lang="en-US" sz="3600" dirty="0"/>
              <a:t>Deciding </a:t>
            </a:r>
            <a:r>
              <a:rPr lang="en-US" sz="3600" b="1" dirty="0"/>
              <a:t>what risk is worth taking</a:t>
            </a:r>
            <a:endParaRPr lang="en-US" sz="3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0AC559-15E8-B4FD-C975-FCB82DB5971C}"/>
              </a:ext>
            </a:extLst>
          </p:cNvPr>
          <p:cNvSpPr txBox="1"/>
          <p:nvPr/>
        </p:nvSpPr>
        <p:spPr>
          <a:xfrm>
            <a:off x="6119446" y="6096000"/>
            <a:ext cx="60974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👉 </a:t>
            </a:r>
            <a:r>
              <a:rPr lang="en-US" i="1" dirty="0"/>
              <a:t>Risk includes both threats and opportunities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2389100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E6E9F-CD6E-DCD5-1BC0-90DC9C667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DAE51F0-A04C-5742-42FF-DC176125491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EC98809F-D275-55B0-4F82-08EE1BF287E0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AA33F97A-825D-0195-733A-C35763F3C3BA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EEEC2B94-EC96-20C7-E97D-9587D7DD9741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BF620A3A-2544-1299-DC79-B6FA5E0659E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10. </a:t>
            </a:r>
            <a:r>
              <a:rPr lang="en-US" sz="4400" dirty="0"/>
              <a:t>Risk Is NOT Always Bad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FA5C3A97-E1A6-C074-1576-6823269D6468}"/>
              </a:ext>
            </a:extLst>
          </p:cNvPr>
          <p:cNvSpPr txBox="1"/>
          <p:nvPr/>
        </p:nvSpPr>
        <p:spPr>
          <a:xfrm>
            <a:off x="3095752" y="2058145"/>
            <a:ext cx="8448040" cy="4056880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3600" dirty="0"/>
              <a:t>⚠️ Threat risk:</a:t>
            </a:r>
          </a:p>
          <a:p>
            <a:r>
              <a:rPr lang="en-US" sz="3600" dirty="0"/>
              <a:t>System failure</a:t>
            </a:r>
          </a:p>
          <a:p>
            <a:r>
              <a:rPr lang="en-US" sz="3600" dirty="0"/>
              <a:t>Data loss</a:t>
            </a:r>
          </a:p>
          <a:p>
            <a:r>
              <a:rPr lang="en-US" sz="3600" dirty="0"/>
              <a:t>🌱 Opportunity risk:</a:t>
            </a:r>
          </a:p>
          <a:p>
            <a:r>
              <a:rPr lang="en-US" sz="3600" dirty="0"/>
              <a:t>Launching a new app</a:t>
            </a:r>
          </a:p>
          <a:p>
            <a:r>
              <a:rPr lang="en-US" sz="3600" dirty="0"/>
              <a:t>Entering a new market</a:t>
            </a:r>
          </a:p>
          <a:p>
            <a:r>
              <a:rPr lang="en-US" sz="3600" dirty="0"/>
              <a:t>❌ Avoiding opportunity = also a risk!</a:t>
            </a:r>
          </a:p>
        </p:txBody>
      </p:sp>
    </p:spTree>
    <p:extLst>
      <p:ext uri="{BB962C8B-B14F-4D97-AF65-F5344CB8AC3E}">
        <p14:creationId xmlns:p14="http://schemas.microsoft.com/office/powerpoint/2010/main" val="339775375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29519-6642-3B88-F755-75F0CC3075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58D151F-39B5-5015-AA49-2A18D8E0501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0D59BAD3-27F7-4FCA-3A5D-226A2794C9C6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62BE627D-C73D-9E5C-489F-6D27A0416D4D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6F536DFC-7627-92D1-A3A4-E5C8405F8C83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8671A1DA-9DE7-57F1-F068-48AFD963FFC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10. Portfolio &amp; Risk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AF98553D-ACE6-40B9-4E8D-0E30954DDD46}"/>
              </a:ext>
            </a:extLst>
          </p:cNvPr>
          <p:cNvSpPr txBox="1"/>
          <p:nvPr/>
        </p:nvSpPr>
        <p:spPr>
          <a:xfrm>
            <a:off x="1905000" y="2310181"/>
            <a:ext cx="9638792" cy="4056880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3600" dirty="0"/>
              <a:t>Every:</a:t>
            </a:r>
          </a:p>
          <a:p>
            <a:r>
              <a:rPr lang="en-US" sz="3600" dirty="0"/>
              <a:t>Product , Service and Project</a:t>
            </a:r>
          </a:p>
          <a:p>
            <a:r>
              <a:rPr lang="en-US" sz="3600" dirty="0"/>
              <a:t>Has </a:t>
            </a:r>
            <a:r>
              <a:rPr lang="en-US" sz="3600" b="1" dirty="0"/>
              <a:t>associated risks</a:t>
            </a:r>
            <a:r>
              <a:rPr lang="en-US" sz="3600" dirty="0"/>
              <a:t>.</a:t>
            </a:r>
          </a:p>
          <a:p>
            <a:r>
              <a:rPr lang="en-US" sz="3600" dirty="0"/>
              <a:t>✔ Good service management → opportunity</a:t>
            </a:r>
            <a:br>
              <a:rPr lang="en-US" sz="3600" dirty="0"/>
            </a:br>
            <a:r>
              <a:rPr lang="en-US" sz="3600" dirty="0"/>
              <a:t>❌ Poor service management → threat</a:t>
            </a:r>
          </a:p>
          <a:p>
            <a:r>
              <a:rPr lang="en-US" sz="3600" b="1" dirty="0"/>
              <a:t>Example:</a:t>
            </a:r>
            <a:br>
              <a:rPr lang="en-US" sz="3600" dirty="0"/>
            </a:br>
            <a:r>
              <a:rPr lang="en-US" sz="3600" dirty="0"/>
              <a:t>New service = value opportunity + failure risk</a:t>
            </a:r>
          </a:p>
        </p:txBody>
      </p:sp>
    </p:spTree>
    <p:extLst>
      <p:ext uri="{BB962C8B-B14F-4D97-AF65-F5344CB8AC3E}">
        <p14:creationId xmlns:p14="http://schemas.microsoft.com/office/powerpoint/2010/main" val="2178913566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BD183-E18B-1206-745D-4F232CBF1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C888721-B9D5-BC88-B4D7-2B8B9AFE851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445E9D8D-870C-B0F1-33AC-720C2AECEFE7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E9CFACC0-06FE-9D43-0F57-233B0903C64A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51EA0C7C-D53E-F5B4-0ABA-670A54A98E68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B55ADC31-4690-8914-32DB-5946E627617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10. Three Core Risk Activities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17E6B1EA-B8D0-D2A4-A5FF-F47C1D4A4A85}"/>
              </a:ext>
            </a:extLst>
          </p:cNvPr>
          <p:cNvSpPr txBox="1"/>
          <p:nvPr/>
        </p:nvSpPr>
        <p:spPr>
          <a:xfrm>
            <a:off x="3095752" y="2310181"/>
            <a:ext cx="8448040" cy="2148665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3200" dirty="0"/>
              <a:t>Risk management requires:</a:t>
            </a:r>
          </a:p>
          <a:p>
            <a:r>
              <a:rPr lang="en-US" sz="3200" dirty="0"/>
              <a:t>1️⃣ </a:t>
            </a:r>
            <a:r>
              <a:rPr lang="en-US" sz="3200" b="1" dirty="0"/>
              <a:t>Identify</a:t>
            </a:r>
            <a:br>
              <a:rPr lang="en-US" sz="3200" dirty="0"/>
            </a:br>
            <a:r>
              <a:rPr lang="en-US" sz="3200" dirty="0"/>
              <a:t>2️⃣ </a:t>
            </a:r>
            <a:r>
              <a:rPr lang="en-US" sz="3200" b="1" dirty="0"/>
              <a:t>Assess</a:t>
            </a:r>
            <a:br>
              <a:rPr lang="en-US" sz="3200" dirty="0"/>
            </a:br>
            <a:r>
              <a:rPr lang="en-US" sz="3200" dirty="0"/>
              <a:t>3️⃣ </a:t>
            </a:r>
            <a:r>
              <a:rPr lang="en-US" sz="3200" b="1" dirty="0"/>
              <a:t>Treat</a:t>
            </a:r>
            <a:endParaRPr lang="en-US" sz="3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84105A-A0F0-D29A-94FE-56B14E69A0FA}"/>
              </a:ext>
            </a:extLst>
          </p:cNvPr>
          <p:cNvSpPr txBox="1"/>
          <p:nvPr/>
        </p:nvSpPr>
        <p:spPr>
          <a:xfrm>
            <a:off x="7924800" y="1161711"/>
            <a:ext cx="60974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Are the </a:t>
            </a:r>
            <a:r>
              <a:rPr lang="en-US" b="1" dirty="0"/>
              <a:t>benefits worth the risk?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27110202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Risk Management Essentials | security">
            <a:extLst>
              <a:ext uri="{FF2B5EF4-FFF2-40B4-BE49-F238E27FC236}">
                <a16:creationId xmlns:a16="http://schemas.microsoft.com/office/drawing/2014/main" id="{CD226668-0C08-08CE-4F70-7D901146BF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762000"/>
            <a:ext cx="11097363" cy="464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0067554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7438BC-7AF2-3159-F92B-983B2AC26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EE9E870-B2FA-A0A2-DA1F-9AC687AB742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D63C1D2B-E824-AB9F-DD6E-15A2A55B6C19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0B34C172-41B8-4C38-552F-1A01DBEC434D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ACA77D73-FA4D-B61D-08E1-D160B172B08D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085E9496-77D7-B30F-6F68-DA5190DC60B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10. Risk Identification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CF5D2C30-F283-B2BD-71CD-E310E4101FF6}"/>
              </a:ext>
            </a:extLst>
          </p:cNvPr>
          <p:cNvSpPr txBox="1"/>
          <p:nvPr/>
        </p:nvSpPr>
        <p:spPr>
          <a:xfrm>
            <a:off x="3095752" y="2310181"/>
            <a:ext cx="8448040" cy="2948884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3600" dirty="0"/>
              <a:t>✔ Identify uncertainties</a:t>
            </a:r>
            <a:br>
              <a:rPr lang="en-US" sz="3600" dirty="0"/>
            </a:br>
            <a:r>
              <a:rPr lang="en-US" sz="3600" dirty="0"/>
              <a:t>✔ Describe them clearly</a:t>
            </a:r>
            <a:br>
              <a:rPr lang="en-US" sz="3600" dirty="0"/>
            </a:br>
            <a:r>
              <a:rPr lang="en-US" sz="3600" dirty="0"/>
              <a:t>✔ Ensure common understanding</a:t>
            </a:r>
          </a:p>
          <a:p>
            <a:r>
              <a:rPr lang="en-US" sz="3600" dirty="0"/>
              <a:t>Example:</a:t>
            </a:r>
          </a:p>
          <a:p>
            <a:r>
              <a:rPr lang="en-US" sz="3600" dirty="0"/>
              <a:t>“Server may crash during peak usage”</a:t>
            </a:r>
          </a:p>
        </p:txBody>
      </p:sp>
    </p:spTree>
    <p:extLst>
      <p:ext uri="{BB962C8B-B14F-4D97-AF65-F5344CB8AC3E}">
        <p14:creationId xmlns:p14="http://schemas.microsoft.com/office/powerpoint/2010/main" val="4116432457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6EDBD-160E-79E3-2997-F34A8F31E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E48F561-F14B-CED6-2372-A7133C4C6CC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CD097E49-B11D-81DD-887E-DC97BBF8042A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7F31ECD8-503D-2D6D-58AF-29FD1E6DCF50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8E939585-5A94-1B0F-B0C4-99623CAB27AF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397FF381-BDD6-D9DC-02AB-CAE215F2F1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124457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r>
              <a:rPr lang="en-IN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dirty="0"/>
              <a:t> 10. Risk Assessment</a:t>
            </a:r>
            <a:br>
              <a:rPr lang="en-US" dirty="0"/>
            </a:br>
            <a:endParaRPr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6B1DE79D-D5AC-B9B3-2623-26B8D353B405}"/>
              </a:ext>
            </a:extLst>
          </p:cNvPr>
          <p:cNvSpPr txBox="1"/>
          <p:nvPr/>
        </p:nvSpPr>
        <p:spPr>
          <a:xfrm>
            <a:off x="3095752" y="2310181"/>
            <a:ext cx="8448040" cy="2948884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3600" dirty="0"/>
              <a:t>Assess:</a:t>
            </a:r>
          </a:p>
          <a:p>
            <a:r>
              <a:rPr lang="en-US" sz="3600" b="1" dirty="0"/>
              <a:t>Probability</a:t>
            </a:r>
            <a:r>
              <a:rPr lang="en-US" sz="3600" dirty="0"/>
              <a:t> (How likely?)</a:t>
            </a:r>
          </a:p>
          <a:p>
            <a:r>
              <a:rPr lang="en-US" sz="3600" b="1" dirty="0"/>
              <a:t>Impact</a:t>
            </a:r>
            <a:r>
              <a:rPr lang="en-US" sz="3600" dirty="0"/>
              <a:t> (How serious?)</a:t>
            </a:r>
          </a:p>
          <a:p>
            <a:r>
              <a:rPr lang="en-US" sz="3600" b="1" dirty="0"/>
              <a:t>Proximity</a:t>
            </a:r>
            <a:r>
              <a:rPr lang="en-US" sz="3600" dirty="0"/>
              <a:t> (How soon?)</a:t>
            </a:r>
          </a:p>
          <a:p>
            <a:r>
              <a:rPr lang="en-US" sz="3600" dirty="0"/>
              <a:t>🎯 Result: </a:t>
            </a:r>
            <a:r>
              <a:rPr lang="en-US" sz="3600" b="1" dirty="0"/>
              <a:t>Risk exposure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326832891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89375-15C3-3309-67C6-2F5C1F483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E390E51-A494-56D2-0CC7-A5B3A1455A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D15D21DC-E44B-2E40-0FCE-EADBDF4D001F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1008C33C-DE2B-8538-F1F7-DFB1F351690F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71646BA4-9A2A-867B-3446-20579D7690FB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4B936DA0-313A-F082-0805-E365F5C5B83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r>
              <a:rPr lang="en-IN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dirty="0"/>
              <a:t> 10. Risk Treatment</a:t>
            </a:r>
            <a:endParaRPr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0E882892-A5D2-BA91-D50C-58CA372FD66A}"/>
              </a:ext>
            </a:extLst>
          </p:cNvPr>
          <p:cNvSpPr txBox="1"/>
          <p:nvPr/>
        </p:nvSpPr>
        <p:spPr>
          <a:xfrm>
            <a:off x="3095752" y="2065433"/>
            <a:ext cx="8448040" cy="4610878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3200" b="1" dirty="0"/>
              <a:t>Decide what to do:</a:t>
            </a:r>
          </a:p>
          <a:p>
            <a:r>
              <a:rPr lang="en-US" sz="3200" dirty="0"/>
              <a:t>Avoid</a:t>
            </a:r>
          </a:p>
          <a:p>
            <a:r>
              <a:rPr lang="en-US" sz="3200" dirty="0"/>
              <a:t>Reduce</a:t>
            </a:r>
          </a:p>
          <a:p>
            <a:r>
              <a:rPr lang="en-US" sz="3200" dirty="0"/>
              <a:t>Share</a:t>
            </a:r>
          </a:p>
          <a:p>
            <a:r>
              <a:rPr lang="en-US" sz="3200" dirty="0"/>
              <a:t>Accept</a:t>
            </a:r>
          </a:p>
          <a:p>
            <a:r>
              <a:rPr lang="en-US" sz="3200" b="1" dirty="0"/>
              <a:t>Assign:</a:t>
            </a:r>
            <a:br>
              <a:rPr lang="en-US" sz="3200" dirty="0"/>
            </a:br>
            <a:r>
              <a:rPr lang="en-US" sz="3200" dirty="0"/>
              <a:t>✔ Owners</a:t>
            </a:r>
            <a:br>
              <a:rPr lang="en-US" sz="3200" dirty="0"/>
            </a:br>
            <a:r>
              <a:rPr lang="en-US" sz="3200" dirty="0"/>
              <a:t>✔ Actions</a:t>
            </a:r>
            <a:br>
              <a:rPr lang="en-US" sz="3200" dirty="0"/>
            </a:br>
            <a:r>
              <a:rPr lang="en-US" sz="3200" dirty="0"/>
              <a:t>✔ Monitoring</a:t>
            </a:r>
          </a:p>
        </p:txBody>
      </p:sp>
    </p:spTree>
    <p:extLst>
      <p:ext uri="{BB962C8B-B14F-4D97-AF65-F5344CB8AC3E}">
        <p14:creationId xmlns:p14="http://schemas.microsoft.com/office/powerpoint/2010/main" val="4256733242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4618EE-9814-DA67-9D86-EE59A0201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57921BB-F336-0BC4-627D-04FC93F3FF5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63AB984D-2B2E-9F89-6996-CF75CFE4D30A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B5D82FA3-60D8-96CE-EB64-EB5BBFD1C14F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5EC47282-475B-7923-1440-B0848D37AD6E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F3346787-7960-483D-2976-C08EA00E101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124457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r>
              <a:rPr lang="en-IN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dirty="0"/>
              <a:t> 10. </a:t>
            </a:r>
            <a:r>
              <a:rPr lang="en-US" dirty="0"/>
              <a:t>Principle: Risk Is Part of Business</a:t>
            </a:r>
            <a:endParaRPr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AE249E82-15A9-15BB-5171-755EC233B067}"/>
              </a:ext>
            </a:extLst>
          </p:cNvPr>
          <p:cNvSpPr txBox="1"/>
          <p:nvPr/>
        </p:nvSpPr>
        <p:spPr>
          <a:xfrm>
            <a:off x="3095752" y="2057400"/>
            <a:ext cx="8448040" cy="2948884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3600" dirty="0"/>
              <a:t>✔ Risk cannot be eliminated</a:t>
            </a:r>
            <a:br>
              <a:rPr lang="en-US" sz="3600" dirty="0"/>
            </a:br>
            <a:r>
              <a:rPr lang="en-US" sz="3600" dirty="0"/>
              <a:t>✔ Risk-taking is necessary</a:t>
            </a:r>
            <a:br>
              <a:rPr lang="en-US" sz="3600" dirty="0"/>
            </a:br>
            <a:r>
              <a:rPr lang="en-US" sz="3600" dirty="0"/>
              <a:t>✔ Must align with </a:t>
            </a:r>
            <a:r>
              <a:rPr lang="en-US" sz="3600" b="1" dirty="0"/>
              <a:t>risk appetite</a:t>
            </a:r>
            <a:endParaRPr lang="en-US" sz="3600" dirty="0"/>
          </a:p>
          <a:p>
            <a:r>
              <a:rPr lang="en-US" sz="3600" dirty="0"/>
              <a:t>🧠 </a:t>
            </a:r>
            <a:r>
              <a:rPr lang="en-US" sz="3600" b="1" dirty="0"/>
              <a:t>Risk appetite</a:t>
            </a:r>
            <a:r>
              <a:rPr lang="en-US" sz="3600" dirty="0"/>
              <a:t> = how much risk an organization is willing to take</a:t>
            </a:r>
          </a:p>
        </p:txBody>
      </p:sp>
    </p:spTree>
    <p:extLst>
      <p:ext uri="{BB962C8B-B14F-4D97-AF65-F5344CB8AC3E}">
        <p14:creationId xmlns:p14="http://schemas.microsoft.com/office/powerpoint/2010/main" val="346844556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BA3D7-00F4-8A75-2503-498D3D247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1FC1CA6-537D-AACF-A5A3-6C48DD9F48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1" y="197134"/>
            <a:ext cx="9251144" cy="6432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683805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ED9129-FB11-A53B-F5E0-EC46168EF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7F5BE71-A98D-5729-D603-C1751E5848E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DB40CD92-2EFF-F486-E177-999CC1125C45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92DE4740-60AB-62DC-9B28-BB1BFB698DBC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972B81A5-3694-563B-5F5E-224B9D7C2684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AAC467D5-693F-ABFF-44CA-57A758BC94F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10. Good Risk Behaviour Includes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B957A9F1-AC4B-02A3-C252-24ECF496147C}"/>
              </a:ext>
            </a:extLst>
          </p:cNvPr>
          <p:cNvSpPr txBox="1"/>
          <p:nvPr/>
        </p:nvSpPr>
        <p:spPr>
          <a:xfrm>
            <a:off x="3095752" y="2310181"/>
            <a:ext cx="8448040" cy="3502882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3600" dirty="0"/>
              <a:t>Risk management depends on </a:t>
            </a:r>
            <a:r>
              <a:rPr lang="en-US" sz="3600" b="1" dirty="0"/>
              <a:t>people behavior</a:t>
            </a:r>
            <a:r>
              <a:rPr lang="en-US" sz="3600" dirty="0"/>
              <a:t>.</a:t>
            </a:r>
          </a:p>
          <a:p>
            <a:r>
              <a:rPr lang="en-US" sz="3600" dirty="0"/>
              <a:t>✔ Reporting incidents</a:t>
            </a:r>
            <a:br>
              <a:rPr lang="en-US" sz="3600" dirty="0"/>
            </a:br>
            <a:r>
              <a:rPr lang="en-US" sz="3600" dirty="0"/>
              <a:t>✔ Reporting opportunities</a:t>
            </a:r>
            <a:br>
              <a:rPr lang="en-US" sz="3600" dirty="0"/>
            </a:br>
            <a:r>
              <a:rPr lang="en-US" sz="3600" dirty="0"/>
              <a:t>✔ Clear roles &amp; responsibilities</a:t>
            </a:r>
            <a:br>
              <a:rPr lang="en-US" sz="3600" dirty="0"/>
            </a:br>
            <a:r>
              <a:rPr lang="en-US" sz="3600" dirty="0"/>
              <a:t>✔ Fair reward systems</a:t>
            </a:r>
          </a:p>
        </p:txBody>
      </p:sp>
    </p:spTree>
    <p:extLst>
      <p:ext uri="{BB962C8B-B14F-4D97-AF65-F5344CB8AC3E}">
        <p14:creationId xmlns:p14="http://schemas.microsoft.com/office/powerpoint/2010/main" val="3377603569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FBFDD5-A931-B681-4DA9-854AD6005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3453135-D0F0-BA3C-A57A-E88DCEDC057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7BB84F49-0EC2-BE74-8D75-FDE6826A13D5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5B279EDB-4ACB-62E2-90CC-5320DC0E004E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A5BDFB4-DC78-9E03-63AC-BC88C7CE2F4E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9E43C531-E09B-26AE-A329-00BB67C2772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10. ISO 31000 Connection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407955D4-0D0A-E0D4-4113-86E686CB0391}"/>
              </a:ext>
            </a:extLst>
          </p:cNvPr>
          <p:cNvSpPr txBox="1"/>
          <p:nvPr/>
        </p:nvSpPr>
        <p:spPr>
          <a:xfrm>
            <a:off x="3095752" y="2310181"/>
            <a:ext cx="8448040" cy="4610878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3600" dirty="0"/>
              <a:t>ISO 31000 says:</a:t>
            </a:r>
          </a:p>
          <a:p>
            <a:r>
              <a:rPr lang="en-US" sz="3600" dirty="0"/>
              <a:t>“Risk management creates and protects value”</a:t>
            </a:r>
          </a:p>
          <a:p>
            <a:r>
              <a:rPr lang="en-IN" sz="3600" dirty="0"/>
              <a:t>Benefits:</a:t>
            </a:r>
          </a:p>
          <a:p>
            <a:r>
              <a:rPr lang="en-IN" sz="3600" dirty="0"/>
              <a:t>Improves performance</a:t>
            </a:r>
          </a:p>
          <a:p>
            <a:r>
              <a:rPr lang="en-IN" sz="3600" dirty="0"/>
              <a:t>Encourages innovation</a:t>
            </a:r>
          </a:p>
          <a:p>
            <a:r>
              <a:rPr lang="en-IN" sz="3600" dirty="0"/>
              <a:t>Supports objectives</a:t>
            </a:r>
          </a:p>
          <a:p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596460322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827B9-32DD-CA86-A350-F5CADAED3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6A6CBC5-01D4-F2BA-B0AE-725C962118E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70E0058A-2AA4-05A4-AF1F-2569AFAD6651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D2323213-9362-1C2D-C922-C79F679B976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D5817F33-AFE2-D5CD-6269-AE3972603840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5A09A73A-E582-1A19-1804-177C7A49233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10. Classroom Activity: “Risk Spotter” ⚠️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4F6266F8-A7BD-9746-4549-CD032DE1ACE9}"/>
              </a:ext>
            </a:extLst>
          </p:cNvPr>
          <p:cNvSpPr txBox="1"/>
          <p:nvPr/>
        </p:nvSpPr>
        <p:spPr>
          <a:xfrm>
            <a:off x="3095752" y="2310181"/>
            <a:ext cx="8448040" cy="3502882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3600" dirty="0"/>
              <a:t>Give scenario:</a:t>
            </a:r>
          </a:p>
          <a:p>
            <a:r>
              <a:rPr lang="en-US" sz="3600" dirty="0"/>
              <a:t>College online exam system</a:t>
            </a:r>
          </a:p>
          <a:p>
            <a:r>
              <a:rPr lang="en-US" sz="3600" dirty="0"/>
              <a:t>Ask students to list:</a:t>
            </a:r>
          </a:p>
          <a:p>
            <a:r>
              <a:rPr lang="en-US" sz="3600" dirty="0"/>
              <a:t>2 threats</a:t>
            </a:r>
          </a:p>
          <a:p>
            <a:r>
              <a:rPr lang="en-US" sz="3600" dirty="0"/>
              <a:t>1 opportunity</a:t>
            </a:r>
          </a:p>
          <a:p>
            <a:r>
              <a:rPr lang="en-US" sz="3600" dirty="0"/>
              <a:t>1 risk treatment</a:t>
            </a:r>
          </a:p>
        </p:txBody>
      </p:sp>
    </p:spTree>
    <p:extLst>
      <p:ext uri="{BB962C8B-B14F-4D97-AF65-F5344CB8AC3E}">
        <p14:creationId xmlns:p14="http://schemas.microsoft.com/office/powerpoint/2010/main" val="4231276181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6AECA4-87D8-42DB-0AFE-C657B27A8A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FE9E11E-8FE5-5F8F-397B-0938811719A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AB866C3E-D0D3-B26F-E352-98438CD5B1C7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6C3F37B9-B6D1-F53B-EA93-30254EC8CA7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004819F8-0BC5-022A-7A51-36625A899736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36E99233-1479-3AB2-4D8B-83DEC1E36A1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10. Exam Memory Box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6D3A83CF-01A0-E2C4-A41C-3A1283BADC17}"/>
              </a:ext>
            </a:extLst>
          </p:cNvPr>
          <p:cNvSpPr txBox="1"/>
          <p:nvPr/>
        </p:nvSpPr>
        <p:spPr>
          <a:xfrm>
            <a:off x="3095752" y="2310181"/>
            <a:ext cx="8448040" cy="3502882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3600" dirty="0"/>
              <a:t>🧠 Remember:</a:t>
            </a:r>
          </a:p>
          <a:p>
            <a:r>
              <a:rPr lang="en-US" sz="3600" dirty="0"/>
              <a:t>Threat + Opportunity</a:t>
            </a:r>
          </a:p>
          <a:p>
            <a:r>
              <a:rPr lang="en-US" sz="3600" dirty="0"/>
              <a:t>Identify–Assess–Treat</a:t>
            </a:r>
          </a:p>
          <a:p>
            <a:r>
              <a:rPr lang="en-US" sz="3600" dirty="0"/>
              <a:t>Risk appetite</a:t>
            </a:r>
          </a:p>
          <a:p>
            <a:r>
              <a:rPr lang="en-US" sz="3600" dirty="0"/>
              <a:t>Risk culture</a:t>
            </a:r>
          </a:p>
          <a:p>
            <a:r>
              <a:rPr lang="en-US" sz="3600" dirty="0"/>
              <a:t>ISO 31000</a:t>
            </a:r>
          </a:p>
        </p:txBody>
      </p:sp>
    </p:spTree>
    <p:extLst>
      <p:ext uri="{BB962C8B-B14F-4D97-AF65-F5344CB8AC3E}">
        <p14:creationId xmlns:p14="http://schemas.microsoft.com/office/powerpoint/2010/main" val="34220932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BFFDD-2D15-4220-726C-9436BE55A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reating and maintaining a robust financial management syst">
            <a:extLst>
              <a:ext uri="{FF2B5EF4-FFF2-40B4-BE49-F238E27FC236}">
                <a16:creationId xmlns:a16="http://schemas.microsoft.com/office/drawing/2014/main" id="{C6BD6902-5FD3-063D-1D23-C78D4FE2F2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700" y="142312"/>
            <a:ext cx="11049000" cy="6563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BC1E39D3-81D9-8172-D6EF-CE099D9A5BDE}"/>
              </a:ext>
            </a:extLst>
          </p:cNvPr>
          <p:cNvSpPr txBox="1">
            <a:spLocks/>
          </p:cNvSpPr>
          <p:nvPr/>
        </p:nvSpPr>
        <p:spPr>
          <a:xfrm>
            <a:off x="1371600" y="2667000"/>
            <a:ext cx="9677400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C84B24"/>
                </a:solidFill>
                <a:latin typeface="Segoe UI"/>
                <a:ea typeface="+mj-ea"/>
                <a:cs typeface="Segoe UI"/>
              </a:defRPr>
            </a:lvl1pPr>
          </a:lstStyle>
          <a:p>
            <a:pPr algn="ctr"/>
            <a:r>
              <a:rPr lang="en-IN"/>
              <a:t>11. Service Financial Management</a:t>
            </a:r>
            <a:br>
              <a:rPr lang="en-IN"/>
            </a:br>
            <a:r>
              <a:rPr lang="en-US" sz="2000"/>
              <a:t>💰 </a:t>
            </a:r>
            <a:r>
              <a:rPr lang="en-US" sz="2000" i="1"/>
              <a:t>Managing money for services</a:t>
            </a:r>
            <a:endParaRPr lang="en-IN" b="0" i="1" dirty="0"/>
          </a:p>
        </p:txBody>
      </p:sp>
    </p:spTree>
    <p:extLst>
      <p:ext uri="{BB962C8B-B14F-4D97-AF65-F5344CB8AC3E}">
        <p14:creationId xmlns:p14="http://schemas.microsoft.com/office/powerpoint/2010/main" val="3054702043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2022F-130F-30B3-500A-CC967E879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C0B1617-4D38-6DDB-EF8E-B54EE25811A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FAECE700-163E-4393-E869-C3D165C98C81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705283B3-69FC-6D00-5D59-D8AEA9A9222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33097A2D-DDC3-AF26-47B9-0BB0EA676969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5CF19DB8-0160-FFF2-0E3B-8ECF2FC7E11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 </a:t>
            </a:r>
            <a:r>
              <a:rPr lang="en-IN" sz="4400" dirty="0"/>
              <a:t>11. </a:t>
            </a:r>
            <a:r>
              <a:rPr lang="en-US" sz="4400" dirty="0"/>
              <a:t>Service financial management 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C1CE3847-AF15-B81C-BEDF-FBEE7E5D8B99}"/>
              </a:ext>
            </a:extLst>
          </p:cNvPr>
          <p:cNvSpPr txBox="1"/>
          <p:nvPr/>
        </p:nvSpPr>
        <p:spPr>
          <a:xfrm>
            <a:off x="3095752" y="2058145"/>
            <a:ext cx="8448040" cy="2948884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3600" dirty="0"/>
              <a:t>Service financial management answers:</a:t>
            </a:r>
          </a:p>
          <a:p>
            <a:r>
              <a:rPr lang="en-US" sz="3600" dirty="0"/>
              <a:t>Where should we spend money?</a:t>
            </a:r>
          </a:p>
          <a:p>
            <a:r>
              <a:rPr lang="en-US" sz="3600" dirty="0"/>
              <a:t>How much does a service cost?</a:t>
            </a:r>
          </a:p>
          <a:p>
            <a:r>
              <a:rPr lang="en-US" sz="3600" dirty="0"/>
              <a:t>Are we getting value for money?</a:t>
            </a:r>
          </a:p>
          <a:p>
            <a:r>
              <a:rPr lang="en-US" sz="3600" dirty="0"/>
              <a:t>💡 </a:t>
            </a:r>
            <a:r>
              <a:rPr lang="en-US" sz="3600" i="1" dirty="0"/>
              <a:t>Right service + right cost + right value</a:t>
            </a:r>
            <a:endParaRPr lang="en-US" sz="3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848954-6EFD-77B4-FDBC-EAAE9B601164}"/>
              </a:ext>
            </a:extLst>
          </p:cNvPr>
          <p:cNvSpPr txBox="1"/>
          <p:nvPr/>
        </p:nvSpPr>
        <p:spPr>
          <a:xfrm>
            <a:off x="6119446" y="6096000"/>
            <a:ext cx="60974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Supports organization’s strategies and plans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62248800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E6D197-7D7C-832E-BF12-969140065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D222F56-B7A9-D635-9209-EA041EADD90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750C60B7-6149-7B05-F079-7F8F4F557000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C804E625-7B29-ACF1-EC22-0912902A7E0D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6EED365-D9BD-2ED9-28F5-90A97A4034B7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DDC39067-BD49-2F6C-2491-0FA04F28B27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11. Finance = Common Language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B86E2640-0B52-EAFA-F870-4D954330F4A9}"/>
              </a:ext>
            </a:extLst>
          </p:cNvPr>
          <p:cNvSpPr txBox="1"/>
          <p:nvPr/>
        </p:nvSpPr>
        <p:spPr>
          <a:xfrm>
            <a:off x="3095752" y="2058145"/>
            <a:ext cx="8448040" cy="3502882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3600" dirty="0"/>
              <a:t>Finance allows communication with:</a:t>
            </a:r>
          </a:p>
          <a:p>
            <a:r>
              <a:rPr lang="en-US" sz="3600" dirty="0"/>
              <a:t>Management</a:t>
            </a:r>
          </a:p>
          <a:p>
            <a:r>
              <a:rPr lang="en-US" sz="3600" dirty="0"/>
              <a:t>Customers</a:t>
            </a:r>
          </a:p>
          <a:p>
            <a:r>
              <a:rPr lang="en-US" sz="3600" dirty="0"/>
              <a:t>Suppliers</a:t>
            </a:r>
          </a:p>
          <a:p>
            <a:r>
              <a:rPr lang="en-US" sz="3600" dirty="0"/>
              <a:t>Investors</a:t>
            </a:r>
          </a:p>
          <a:p>
            <a:r>
              <a:rPr lang="en-US" sz="3600" dirty="0"/>
              <a:t>💬 Everyone understands </a:t>
            </a:r>
            <a:r>
              <a:rPr lang="en-US" sz="3600" b="1" dirty="0"/>
              <a:t>money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35564418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4DA298-83D8-40D8-D340-3F74090DE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9F5A21D-F3DE-2B2E-4573-B159D0832E6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7EFA7E14-85A6-16AB-CA1B-7728B0427B11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C069DAEC-A45A-18E8-02F9-A35CACC72D88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978C2253-5DB0-CEB1-8600-4E3FC2C728C2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BFC0B258-0FD5-1068-1ACA-DE925DF12BB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11. Budgeting &amp; Costing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3A8B61FF-8E65-1EA3-C921-FBCC9E0F9DF0}"/>
              </a:ext>
            </a:extLst>
          </p:cNvPr>
          <p:cNvSpPr txBox="1"/>
          <p:nvPr/>
        </p:nvSpPr>
        <p:spPr>
          <a:xfrm>
            <a:off x="1905000" y="2057400"/>
            <a:ext cx="9638792" cy="4610878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3600" dirty="0"/>
              <a:t>Predicting and controlling income &amp; expenditure</a:t>
            </a:r>
          </a:p>
          <a:p>
            <a:r>
              <a:rPr lang="en-US" sz="3600" dirty="0"/>
              <a:t>Includes:</a:t>
            </a:r>
          </a:p>
          <a:p>
            <a:r>
              <a:rPr lang="en-US" sz="3600" dirty="0"/>
              <a:t>Setting budgets</a:t>
            </a:r>
          </a:p>
          <a:p>
            <a:r>
              <a:rPr lang="en-US" sz="3600" dirty="0"/>
              <a:t>Monitoring spending</a:t>
            </a:r>
          </a:p>
          <a:p>
            <a:r>
              <a:rPr lang="en-US" sz="3600" dirty="0"/>
              <a:t>Forecasting service demand</a:t>
            </a:r>
          </a:p>
          <a:p>
            <a:r>
              <a:rPr lang="en-US" sz="3600" dirty="0"/>
              <a:t>🎓 </a:t>
            </a:r>
            <a:r>
              <a:rPr lang="en-US" sz="3600" b="1" dirty="0"/>
              <a:t>College example:</a:t>
            </a:r>
            <a:br>
              <a:rPr lang="en-US" sz="3600" dirty="0"/>
            </a:br>
            <a:r>
              <a:rPr lang="en-US" sz="3600" dirty="0"/>
              <a:t>Department budget planning for labs</a:t>
            </a:r>
          </a:p>
        </p:txBody>
      </p:sp>
    </p:spTree>
    <p:extLst>
      <p:ext uri="{BB962C8B-B14F-4D97-AF65-F5344CB8AC3E}">
        <p14:creationId xmlns:p14="http://schemas.microsoft.com/office/powerpoint/2010/main" val="704192816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FBDCA-8284-8524-0A0F-56CBE4AD4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276028F-3905-A6EA-5FFC-CC18C72E75D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F9227191-DC26-E22F-6634-58318C294D9D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80A17E41-6D61-AFCE-D1ED-7E83237A2933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84D0A9DC-31B6-1BCC-46DC-78E1B9843464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4D6CA948-036D-E586-6CE0-080B3D8BE3B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11. Service-Based Budgeting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C27C0092-C4D4-D6FB-6474-827DD8FC6D07}"/>
              </a:ext>
            </a:extLst>
          </p:cNvPr>
          <p:cNvSpPr txBox="1"/>
          <p:nvPr/>
        </p:nvSpPr>
        <p:spPr>
          <a:xfrm>
            <a:off x="3095752" y="2310181"/>
            <a:ext cx="8448040" cy="1656223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3200" dirty="0"/>
              <a:t>Full cost of providing a service</a:t>
            </a:r>
          </a:p>
          <a:p>
            <a:r>
              <a:rPr lang="en-US" sz="3200" dirty="0"/>
              <a:t>Full cost of consuming a service</a:t>
            </a:r>
          </a:p>
          <a:p>
            <a:r>
              <a:rPr lang="en-US" sz="3200" dirty="0"/>
              <a:t>🧠 Not just “IT cost” → “Cost per service”</a:t>
            </a:r>
          </a:p>
        </p:txBody>
      </p:sp>
    </p:spTree>
    <p:extLst>
      <p:ext uri="{BB962C8B-B14F-4D97-AF65-F5344CB8AC3E}">
        <p14:creationId xmlns:p14="http://schemas.microsoft.com/office/powerpoint/2010/main" val="883839573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80512-F6B5-D24B-A44E-B31519B83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F555538-D4AD-DCEA-67D3-576E00E10CC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FC543D20-9D1D-C94F-B571-D6AFB46E3AA9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908F4C34-92B1-6EF2-6892-3D29F6B6125D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A58F9C7E-86B0-0308-99BB-04C49A136D33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AA66A785-8236-1538-2D6B-6AF4E298D8A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11. Accounting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38E70D11-D6F4-48BC-3C23-45C3CF3D4453}"/>
              </a:ext>
            </a:extLst>
          </p:cNvPr>
          <p:cNvSpPr txBox="1"/>
          <p:nvPr/>
        </p:nvSpPr>
        <p:spPr>
          <a:xfrm>
            <a:off x="3095752" y="2310181"/>
            <a:ext cx="8448040" cy="4056880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3600" dirty="0"/>
              <a:t>Track how money is actually spent</a:t>
            </a:r>
          </a:p>
          <a:p>
            <a:r>
              <a:rPr lang="en-US" sz="3600" dirty="0"/>
              <a:t>Includes:</a:t>
            </a:r>
          </a:p>
          <a:p>
            <a:r>
              <a:rPr lang="en-US" sz="3600" dirty="0"/>
              <a:t>Forecast vs actual comparison</a:t>
            </a:r>
          </a:p>
          <a:p>
            <a:r>
              <a:rPr lang="en-US" sz="3600" dirty="0"/>
              <a:t>Cost per:</a:t>
            </a:r>
          </a:p>
          <a:p>
            <a:pPr lvl="1"/>
            <a:r>
              <a:rPr lang="en-US" sz="3600" dirty="0"/>
              <a:t>Customer</a:t>
            </a:r>
          </a:p>
          <a:p>
            <a:pPr lvl="1"/>
            <a:r>
              <a:rPr lang="en-US" sz="3600" dirty="0"/>
              <a:t>Service</a:t>
            </a:r>
          </a:p>
          <a:p>
            <a:pPr lvl="1"/>
            <a:r>
              <a:rPr lang="en-US" sz="3600" dirty="0"/>
              <a:t>Activity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095F13-2A79-862A-3C33-E9279C19E5A1}"/>
              </a:ext>
            </a:extLst>
          </p:cNvPr>
          <p:cNvSpPr txBox="1"/>
          <p:nvPr/>
        </p:nvSpPr>
        <p:spPr>
          <a:xfrm>
            <a:off x="8991600" y="5197212"/>
            <a:ext cx="255219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Uses:</a:t>
            </a:r>
            <a:br>
              <a:rPr lang="en-US" sz="1800" dirty="0"/>
            </a:br>
            <a:r>
              <a:rPr lang="en-US" sz="1800" dirty="0"/>
              <a:t>✔ Ledgers</a:t>
            </a:r>
            <a:br>
              <a:rPr lang="en-US" sz="1800" dirty="0"/>
            </a:br>
            <a:r>
              <a:rPr lang="en-US" sz="1800" dirty="0"/>
              <a:t>✔ Journals</a:t>
            </a:r>
            <a:br>
              <a:rPr lang="en-US" sz="1800" dirty="0"/>
            </a:br>
            <a:r>
              <a:rPr lang="en-US" sz="1800" dirty="0"/>
              <a:t>✔ Charts of accounts</a:t>
            </a:r>
          </a:p>
        </p:txBody>
      </p:sp>
    </p:spTree>
    <p:extLst>
      <p:ext uri="{BB962C8B-B14F-4D97-AF65-F5344CB8AC3E}">
        <p14:creationId xmlns:p14="http://schemas.microsoft.com/office/powerpoint/2010/main" val="1220862748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3955AE-20F1-1A84-E396-5248069E8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1F2CAD9-0461-4ED2-2FB0-0F89242B74A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DAD83AFA-65BF-942B-F52E-9654083C1A50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918A33FC-26EF-0499-5E4B-4BA9CDECA622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C3E38C77-EF40-3813-8A50-BC501D3C0AC7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D4A77B2B-9886-4F79-6115-206D3E085F6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r>
              <a:rPr lang="en-IN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dirty="0"/>
              <a:t> 11. Charging</a:t>
            </a:r>
            <a:endParaRPr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33852ACE-3E47-DE2A-0F03-4824D7C8A99C}"/>
              </a:ext>
            </a:extLst>
          </p:cNvPr>
          <p:cNvSpPr txBox="1"/>
          <p:nvPr/>
        </p:nvSpPr>
        <p:spPr>
          <a:xfrm>
            <a:off x="3095752" y="2310181"/>
            <a:ext cx="8448040" cy="2948884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3600" dirty="0"/>
              <a:t>Billing customers for services used</a:t>
            </a:r>
          </a:p>
          <a:p>
            <a:r>
              <a:rPr lang="en-US" sz="3600" dirty="0"/>
              <a:t>✔ Mostly for </a:t>
            </a:r>
            <a:r>
              <a:rPr lang="en-US" sz="3600" b="1" dirty="0"/>
              <a:t>external customers</a:t>
            </a:r>
            <a:br>
              <a:rPr lang="en-US" sz="3600" dirty="0"/>
            </a:br>
            <a:r>
              <a:rPr lang="en-US" sz="3600" dirty="0"/>
              <a:t>✔ Charging is optional</a:t>
            </a:r>
            <a:br>
              <a:rPr lang="en-US" sz="3600" dirty="0"/>
            </a:br>
            <a:r>
              <a:rPr lang="en-US" sz="3600" dirty="0"/>
              <a:t>❌ Funding is NOT optional</a:t>
            </a:r>
          </a:p>
          <a:p>
            <a:r>
              <a:rPr lang="en-US" sz="3600" dirty="0"/>
              <a:t>🧠 All services must be funded somehow</a:t>
            </a:r>
          </a:p>
        </p:txBody>
      </p:sp>
    </p:spTree>
    <p:extLst>
      <p:ext uri="{BB962C8B-B14F-4D97-AF65-F5344CB8AC3E}">
        <p14:creationId xmlns:p14="http://schemas.microsoft.com/office/powerpoint/2010/main" val="2109755923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A61433-3673-FC7B-7B1C-18207F25D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1B6E6A3-75E6-13C0-F8AF-5ACF9BA8751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CF6DF279-528C-3B46-36F1-D4C897FB8B0D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B6192219-C051-C9DC-DA90-52213680BBF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100990D1-8339-C889-39AA-A909CBE61418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5F5E9A2B-691C-9C0B-6DBE-B32120155D1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124457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r>
              <a:rPr lang="en-IN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dirty="0"/>
              <a:t> 11. </a:t>
            </a:r>
            <a:r>
              <a:rPr lang="en-US" dirty="0"/>
              <a:t>Classroom Activity: “Who Pays?” 💸</a:t>
            </a:r>
            <a:endParaRPr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A80B1CFD-58D8-B24C-C6C3-C03976E4CD61}"/>
              </a:ext>
            </a:extLst>
          </p:cNvPr>
          <p:cNvSpPr txBox="1"/>
          <p:nvPr/>
        </p:nvSpPr>
        <p:spPr>
          <a:xfrm>
            <a:off x="3095752" y="2065433"/>
            <a:ext cx="8448040" cy="3625993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3200" dirty="0"/>
              <a:t>Give examples:</a:t>
            </a:r>
          </a:p>
          <a:p>
            <a:r>
              <a:rPr lang="en-US" sz="3200" dirty="0"/>
              <a:t>College Wi-Fi</a:t>
            </a:r>
          </a:p>
          <a:p>
            <a:r>
              <a:rPr lang="en-US" sz="3200" dirty="0"/>
              <a:t>Netflix</a:t>
            </a:r>
          </a:p>
          <a:p>
            <a:r>
              <a:rPr lang="en-US" sz="3200" dirty="0"/>
              <a:t>Cloud storage</a:t>
            </a:r>
          </a:p>
          <a:p>
            <a:r>
              <a:rPr lang="en-US" sz="3200" dirty="0"/>
              <a:t>Ask:</a:t>
            </a:r>
            <a:br>
              <a:rPr lang="en-US" sz="3200" dirty="0"/>
            </a:br>
            <a:r>
              <a:rPr lang="en-US" sz="3200" dirty="0"/>
              <a:t>✔ Who pays?</a:t>
            </a:r>
            <a:br>
              <a:rPr lang="en-US" sz="3200" dirty="0"/>
            </a:br>
            <a:r>
              <a:rPr lang="en-US" sz="3200" dirty="0"/>
              <a:t>✔ Fixed or usage-based?</a:t>
            </a:r>
          </a:p>
        </p:txBody>
      </p:sp>
    </p:spTree>
    <p:extLst>
      <p:ext uri="{BB962C8B-B14F-4D97-AF65-F5344CB8AC3E}">
        <p14:creationId xmlns:p14="http://schemas.microsoft.com/office/powerpoint/2010/main" val="317744474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8C0557-48EE-0E48-66D0-0BEFBC86E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CD228E3-1307-755B-ADF9-9FB318C3AD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62393"/>
            <a:ext cx="8915400" cy="6369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503630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3A2EAC-C377-1E68-E06E-97695EF31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A29A855-EED8-68D9-0909-4F3FCC7ED38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A4C52FB1-6C2E-7699-4BBF-12ADA67E3F0F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789ED8EA-183B-AB72-B2F1-028B9E7A519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C6E1C492-9E25-C722-CCBB-A816489ABF40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F331A6FE-8EF0-A056-E0E0-494CBFDB1C1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r>
              <a:rPr lang="en-IN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dirty="0"/>
              <a:t> 11. Value Chain: Plan</a:t>
            </a:r>
            <a:endParaRPr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169D1D0B-6CFC-1DF1-5D4B-583FDEBA917C}"/>
              </a:ext>
            </a:extLst>
          </p:cNvPr>
          <p:cNvSpPr txBox="1"/>
          <p:nvPr/>
        </p:nvSpPr>
        <p:spPr>
          <a:xfrm>
            <a:off x="3095752" y="2057400"/>
            <a:ext cx="8448040" cy="2948884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3600" dirty="0"/>
              <a:t>Supports planning with:</a:t>
            </a:r>
          </a:p>
          <a:p>
            <a:r>
              <a:rPr lang="en-US" sz="3600" dirty="0"/>
              <a:t>Budgets</a:t>
            </a:r>
          </a:p>
          <a:p>
            <a:r>
              <a:rPr lang="en-US" sz="3600" dirty="0"/>
              <a:t>Forecasts</a:t>
            </a:r>
          </a:p>
          <a:p>
            <a:r>
              <a:rPr lang="en-US" sz="3600" dirty="0"/>
              <a:t>Financial reports</a:t>
            </a:r>
          </a:p>
          <a:p>
            <a:r>
              <a:rPr lang="en-US" sz="3600" dirty="0"/>
              <a:t>📌 No plan works without money</a:t>
            </a:r>
          </a:p>
        </p:txBody>
      </p:sp>
    </p:spTree>
    <p:extLst>
      <p:ext uri="{BB962C8B-B14F-4D97-AF65-F5344CB8AC3E}">
        <p14:creationId xmlns:p14="http://schemas.microsoft.com/office/powerpoint/2010/main" val="2596276400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E009AE-282E-1A06-D6CD-EBACDF4BF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F9EE9B9-6705-9708-5363-E06B8A13469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236F1B13-53F4-3AE1-CB16-85C522563669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8D0C98AF-00D4-6113-7F6A-ACC9986006E0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2E47A2C8-4D3E-3A97-423B-FB5C1273105F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8442BFF0-B1BF-9B39-8627-3C07AA1E919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r>
              <a:rPr lang="en-IN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dirty="0"/>
              <a:t> 11. </a:t>
            </a:r>
            <a:r>
              <a:rPr lang="en-US" dirty="0"/>
              <a:t>IT Budgets: Old vs New</a:t>
            </a:r>
            <a:endParaRPr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BA4BA515-36ED-1A21-1B5B-DC88794580D2}"/>
              </a:ext>
            </a:extLst>
          </p:cNvPr>
          <p:cNvSpPr txBox="1"/>
          <p:nvPr/>
        </p:nvSpPr>
        <p:spPr>
          <a:xfrm>
            <a:off x="3095752" y="2057400"/>
            <a:ext cx="8448040" cy="4610878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3600" b="1" dirty="0"/>
              <a:t>Traditional IT:</a:t>
            </a:r>
            <a:endParaRPr lang="en-US" sz="3600" dirty="0"/>
          </a:p>
          <a:p>
            <a:r>
              <a:rPr lang="en-US" sz="3600" dirty="0"/>
              <a:t>CAPEX (one-time purchase)</a:t>
            </a:r>
          </a:p>
          <a:p>
            <a:r>
              <a:rPr lang="en-US" sz="3600" dirty="0"/>
              <a:t>Fixed budgets</a:t>
            </a:r>
          </a:p>
          <a:p>
            <a:r>
              <a:rPr lang="en-US" sz="3600" b="1" dirty="0"/>
              <a:t>Modern IT (Cloud):</a:t>
            </a:r>
            <a:endParaRPr lang="en-US" sz="3600" dirty="0"/>
          </a:p>
          <a:p>
            <a:r>
              <a:rPr lang="en-US" sz="3600" dirty="0"/>
              <a:t>OPEX (subscription)</a:t>
            </a:r>
          </a:p>
          <a:p>
            <a:r>
              <a:rPr lang="en-US" sz="3600" dirty="0"/>
              <a:t>Pay-as-you-use</a:t>
            </a:r>
          </a:p>
          <a:p>
            <a:r>
              <a:rPr lang="en-US" sz="3600" dirty="0"/>
              <a:t>🧠 Example: Buying server vs AWS subscription</a:t>
            </a:r>
          </a:p>
        </p:txBody>
      </p:sp>
    </p:spTree>
    <p:extLst>
      <p:ext uri="{BB962C8B-B14F-4D97-AF65-F5344CB8AC3E}">
        <p14:creationId xmlns:p14="http://schemas.microsoft.com/office/powerpoint/2010/main" val="2449910372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1C6C93-F10D-53E2-E57C-4288B6EC15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5ED7377-AC03-69E3-1B1A-3D998B4D60F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FE4204CF-B195-845E-8156-3574D835FF3E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CD1F4788-0CC5-745E-4DFF-29974997B5C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57E74F59-9361-4E79-F807-9DD15DC6DEC5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EF3A3726-F009-2DAA-B1D8-A2FD7BB4AB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11. CAPEX vs OPEX</a:t>
            </a:r>
            <a:endParaRPr sz="4400" dirty="0">
              <a:latin typeface="Cambria"/>
              <a:cs typeface="Cambria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02823CC-4EBC-E99A-B313-0BC7E389B4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418250"/>
              </p:ext>
            </p:extLst>
          </p:nvPr>
        </p:nvGraphicFramePr>
        <p:xfrm>
          <a:off x="4114800" y="2289227"/>
          <a:ext cx="5584826" cy="3979544"/>
        </p:xfrm>
        <a:graphic>
          <a:graphicData uri="http://schemas.openxmlformats.org/drawingml/2006/table">
            <a:tbl>
              <a:tblPr/>
              <a:tblGrid>
                <a:gridCol w="2792413">
                  <a:extLst>
                    <a:ext uri="{9D8B030D-6E8A-4147-A177-3AD203B41FA5}">
                      <a16:colId xmlns:a16="http://schemas.microsoft.com/office/drawing/2014/main" val="1716277405"/>
                    </a:ext>
                  </a:extLst>
                </a:gridCol>
                <a:gridCol w="2792413">
                  <a:extLst>
                    <a:ext uri="{9D8B030D-6E8A-4147-A177-3AD203B41FA5}">
                      <a16:colId xmlns:a16="http://schemas.microsoft.com/office/drawing/2014/main" val="2763481949"/>
                    </a:ext>
                  </a:extLst>
                </a:gridCol>
              </a:tblGrid>
              <a:tr h="99488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3200"/>
                        <a:t>CAPEX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3200" dirty="0"/>
                        <a:t>OPEX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4876320"/>
                  </a:ext>
                </a:extLst>
              </a:tr>
              <a:tr h="9948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/>
                        <a:t>One-time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dirty="0"/>
                        <a:t>Ongoing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2623160"/>
                  </a:ext>
                </a:extLst>
              </a:tr>
              <a:tr h="9948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/>
                        <a:t>Fixed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/>
                        <a:t>Variable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8785364"/>
                  </a:ext>
                </a:extLst>
              </a:tr>
              <a:tr h="9948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/>
                        <a:t>Hardware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dirty="0"/>
                        <a:t>Subscription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42811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7852517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8A4585-E280-193D-4A50-B667760F2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7A35D20-E529-CBC4-15EB-D1EDD90CE96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61191C9F-0187-8A67-B516-3B8887192AEA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575BA998-79F1-D39F-008F-AD445C2B099E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B9A02EEB-E8FF-755C-D063-081DFE948B7B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A418E3BE-B96E-2A23-99A1-001A36F6C36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r>
              <a:rPr lang="en-IN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dirty="0"/>
              <a:t> 11. Procurement Challenges</a:t>
            </a:r>
            <a:endParaRPr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406FFEBB-813C-CCC2-F5AB-65781562E5DD}"/>
              </a:ext>
            </a:extLst>
          </p:cNvPr>
          <p:cNvSpPr txBox="1"/>
          <p:nvPr/>
        </p:nvSpPr>
        <p:spPr>
          <a:xfrm>
            <a:off x="3095752" y="2057400"/>
            <a:ext cx="8448040" cy="4056880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IN" sz="3600" dirty="0"/>
              <a:t>Cloud services: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3600" dirty="0"/>
              <a:t>Variable pricing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3600" dirty="0"/>
              <a:t>Usage-based payment</a:t>
            </a:r>
          </a:p>
          <a:p>
            <a:r>
              <a:rPr lang="en-IN" sz="3600" dirty="0"/>
              <a:t>Organizations must:</a:t>
            </a:r>
            <a:br>
              <a:rPr lang="en-IN" sz="3600" dirty="0"/>
            </a:br>
            <a:r>
              <a:rPr lang="en-IN" sz="3600" dirty="0"/>
              <a:t>✔ Update procurement rules</a:t>
            </a:r>
            <a:br>
              <a:rPr lang="en-IN" sz="3600" dirty="0"/>
            </a:br>
            <a:r>
              <a:rPr lang="en-IN" sz="3600" dirty="0"/>
              <a:t>✔ Train staff</a:t>
            </a:r>
          </a:p>
          <a:p>
            <a:r>
              <a:rPr lang="en-IN" sz="3600" dirty="0"/>
              <a:t>Otherwise → barrier to digital services</a:t>
            </a:r>
          </a:p>
        </p:txBody>
      </p:sp>
    </p:spTree>
    <p:extLst>
      <p:ext uri="{BB962C8B-B14F-4D97-AF65-F5344CB8AC3E}">
        <p14:creationId xmlns:p14="http://schemas.microsoft.com/office/powerpoint/2010/main" val="933238547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0DE358-4415-5555-9DD3-40D01CE6A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28A4E06-7554-608D-530E-51C18138200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093FCFC9-8AF7-B4B6-3FD6-E56EC05B0F63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AB6E77D8-35FA-DA50-5CDD-A83A81429CBC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6A1131CF-869F-E7CA-0757-ABF034F32572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341293D9-B5C6-12CC-4539-6013B9ADB6A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11. Exam Memory Box 🧠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720A4E6E-5DBE-8F13-8783-796E69818093}"/>
              </a:ext>
            </a:extLst>
          </p:cNvPr>
          <p:cNvSpPr txBox="1"/>
          <p:nvPr/>
        </p:nvSpPr>
        <p:spPr>
          <a:xfrm>
            <a:off x="3095752" y="2310181"/>
            <a:ext cx="8448040" cy="3502882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IN" sz="3600" dirty="0"/>
              <a:t>Remember:</a:t>
            </a:r>
            <a:br>
              <a:rPr lang="en-IN" sz="3600" dirty="0"/>
            </a:br>
            <a:r>
              <a:rPr lang="en-IN" sz="3600" dirty="0"/>
              <a:t>✔ Budgeting, Accounting, Charging</a:t>
            </a:r>
            <a:br>
              <a:rPr lang="en-IN" sz="3600" dirty="0"/>
            </a:br>
            <a:r>
              <a:rPr lang="en-IN" sz="3600" dirty="0"/>
              <a:t>✔ CAPEX vs OPEX</a:t>
            </a:r>
            <a:br>
              <a:rPr lang="en-IN" sz="3600" dirty="0"/>
            </a:br>
            <a:r>
              <a:rPr lang="en-IN" sz="3600" dirty="0"/>
              <a:t>✔ ROI</a:t>
            </a:r>
            <a:br>
              <a:rPr lang="en-IN" sz="3600" dirty="0"/>
            </a:br>
            <a:r>
              <a:rPr lang="en-IN" sz="3600" dirty="0"/>
              <a:t>✔ Funding vs Charging</a:t>
            </a:r>
            <a:br>
              <a:rPr lang="en-IN" sz="3600" dirty="0"/>
            </a:br>
            <a:r>
              <a:rPr lang="en-IN" sz="3600" dirty="0"/>
              <a:t>✔ Finance supports SVS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81530100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0DE358-4415-5555-9DD3-40D01CE6A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28A4E06-7554-608D-530E-51C18138200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093FCFC9-8AF7-B4B6-3FD6-E56EC05B0F63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AB6E77D8-35FA-DA50-5CDD-A83A81429CBC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6A1131CF-869F-E7CA-0757-ABF034F32572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341293D9-B5C6-12CC-4539-6013B9ADB6A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Strategy Management (What &amp; Why)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720A4E6E-5DBE-8F13-8783-796E69818093}"/>
              </a:ext>
            </a:extLst>
          </p:cNvPr>
          <p:cNvSpPr txBox="1"/>
          <p:nvPr/>
        </p:nvSpPr>
        <p:spPr>
          <a:xfrm>
            <a:off x="3095752" y="2310181"/>
            <a:ext cx="8448040" cy="3625993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3200" dirty="0"/>
              <a:t>Strategy management decides: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/>
              <a:t>Where the organization wants to go</a:t>
            </a:r>
            <a:endParaRPr lang="en-US" sz="3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/>
              <a:t>How it will get there</a:t>
            </a:r>
            <a:endParaRPr lang="en-US" sz="3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/>
              <a:t>How resources will be used</a:t>
            </a:r>
            <a:endParaRPr lang="en-US" sz="3200" dirty="0"/>
          </a:p>
          <a:p>
            <a:r>
              <a:rPr lang="en-US" sz="3200" dirty="0"/>
              <a:t>👉 It sets </a:t>
            </a:r>
            <a:r>
              <a:rPr lang="en-US" sz="3200" b="1" dirty="0"/>
              <a:t>direction, priorities, and focus</a:t>
            </a:r>
            <a:endParaRPr lang="en-US" sz="3200" dirty="0"/>
          </a:p>
          <a:p>
            <a:r>
              <a:rPr lang="en-US" sz="3200" dirty="0"/>
              <a:t>🧠 </a:t>
            </a:r>
            <a:r>
              <a:rPr lang="en-US" sz="3200" i="1" dirty="0"/>
              <a:t>Strategy = long-term direction of the organization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792315544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0DE358-4415-5555-9DD3-40D01CE6A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28A4E06-7554-608D-530E-51C18138200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093FCFC9-8AF7-B4B6-3FD6-E56EC05B0F63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AB6E77D8-35FA-DA50-5CDD-A83A81429CBC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6A1131CF-869F-E7CA-0757-ABF034F32572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341293D9-B5C6-12CC-4539-6013B9ADB6A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What Strategy Management Does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720A4E6E-5DBE-8F13-8783-796E69818093}"/>
              </a:ext>
            </a:extLst>
          </p:cNvPr>
          <p:cNvSpPr txBox="1"/>
          <p:nvPr/>
        </p:nvSpPr>
        <p:spPr>
          <a:xfrm>
            <a:off x="3095752" y="2310181"/>
            <a:ext cx="8448040" cy="2641108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3200" dirty="0"/>
              <a:t>Strategy management helps the organization to: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Understand </a:t>
            </a:r>
            <a:r>
              <a:rPr lang="en-US" sz="3200" b="1" dirty="0"/>
              <a:t>environment &amp; opportunities</a:t>
            </a:r>
            <a:endParaRPr lang="en-US" sz="3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Identify </a:t>
            </a:r>
            <a:r>
              <a:rPr lang="en-US" sz="3200" b="1" dirty="0"/>
              <a:t>constraints &amp; risks</a:t>
            </a:r>
            <a:endParaRPr lang="en-US" sz="3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Define </a:t>
            </a:r>
            <a:r>
              <a:rPr lang="en-US" sz="3200" b="1" dirty="0"/>
              <a:t>vision, mission &amp; goals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647170704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0DE358-4415-5555-9DD3-40D01CE6A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28A4E06-7554-608D-530E-51C18138200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093FCFC9-8AF7-B4B6-3FD6-E56EC05B0F63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AB6E77D8-35FA-DA50-5CDD-A83A81429CBC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6A1131CF-869F-E7CA-0757-ABF034F32572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341293D9-B5C6-12CC-4539-6013B9ADB6A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Modern Strategy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720A4E6E-5DBE-8F13-8783-796E69818093}"/>
              </a:ext>
            </a:extLst>
          </p:cNvPr>
          <p:cNvSpPr txBox="1"/>
          <p:nvPr/>
        </p:nvSpPr>
        <p:spPr>
          <a:xfrm>
            <a:off x="3095752" y="2057400"/>
            <a:ext cx="8448040" cy="4487767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3200" dirty="0"/>
              <a:t>Strategy should: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Encourage </a:t>
            </a:r>
            <a:r>
              <a:rPr lang="en-US" sz="3200" b="1" dirty="0"/>
              <a:t>creativity</a:t>
            </a:r>
            <a:endParaRPr lang="en-US" sz="3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Still stay aligned with </a:t>
            </a:r>
            <a:r>
              <a:rPr lang="en-US" sz="3200" b="1" dirty="0"/>
              <a:t>organizational goals</a:t>
            </a:r>
            <a:endParaRPr lang="en-US" sz="3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Balance: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dirty="0"/>
              <a:t>Daily operations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dirty="0"/>
              <a:t>Innovation &amp; future growth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Earlier: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rigid long-term planning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Now: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flexible + agile + lean strategy</a:t>
            </a:r>
            <a:br>
              <a:rPr lang="en-US" sz="3200" dirty="0"/>
            </a:b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339183775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9D68E7B-CF0D-91A7-622A-BFBB14BEAB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4205" y="582683"/>
            <a:ext cx="7963590" cy="5692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31404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E8C8CC-C8DA-F217-6AA2-181133C6A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D83A656-B373-B528-A6AA-69829E75CFA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5322DE9B-BB26-9E69-FC50-A9E46EFA3D83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33353D6A-04F7-03D5-F84B-BDE71E4F4869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379588AE-B4FF-85EA-39EC-E0257E95078B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AD77BC18-2AEC-DB60-D6C3-1AC5489FA62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SUPPLIER MANAGEMENT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E9BD8660-7634-3901-6218-3BC96B308981}"/>
              </a:ext>
            </a:extLst>
          </p:cNvPr>
          <p:cNvSpPr txBox="1"/>
          <p:nvPr/>
        </p:nvSpPr>
        <p:spPr>
          <a:xfrm>
            <a:off x="3095752" y="2310181"/>
            <a:ext cx="8448040" cy="3502882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IN" sz="3600" dirty="0"/>
              <a:t>Supplier management ensures suppliers deliver quality products and services as per agreement.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Manage 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suppliers &amp; contracts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 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value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 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risk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825822058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7D734F-3192-1224-D24A-2A4161CC7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A52FD6C-9A10-CFF8-3C05-A732696500E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5F7E206F-7C3A-9C4B-A64E-610BB09E1E3E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4A743D21-48A5-F86C-42EE-BBA795C0BC2F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2DA0CA5F-9792-31A8-B681-7EAC0932F475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9E2A202E-B964-F493-B1E7-763104D8E9F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Core Activities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6784FEDA-5526-A383-9E6A-F98EAF10279D}"/>
              </a:ext>
            </a:extLst>
          </p:cNvPr>
          <p:cNvSpPr txBox="1"/>
          <p:nvPr/>
        </p:nvSpPr>
        <p:spPr>
          <a:xfrm>
            <a:off x="3095752" y="2310181"/>
            <a:ext cx="8448040" cy="2948884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Maintain 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supplier strategy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Negotiate 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contracts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Manage 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relationships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Monitor 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supplier performance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Renew / terminate contracts</a:t>
            </a:r>
          </a:p>
        </p:txBody>
      </p:sp>
    </p:spTree>
    <p:extLst>
      <p:ext uri="{BB962C8B-B14F-4D97-AF65-F5344CB8AC3E}">
        <p14:creationId xmlns:p14="http://schemas.microsoft.com/office/powerpoint/2010/main" val="2143704392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AB2394-1071-CE25-53CA-89FE6DC9C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5F2908A-8BDA-190C-0A92-3D821070DDB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AC9E9874-2FCA-9991-1982-6330D1D038C4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81D28764-2B2A-DE4A-5CC4-ED3A117E77AF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954D2EE5-0843-5CA5-C095-D0F26D41D761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D591251D-F6FF-17AE-4D3C-01CBD266DED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Supplier Types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FB36372F-CD5D-9003-403C-80FBC315EB73}"/>
              </a:ext>
            </a:extLst>
          </p:cNvPr>
          <p:cNvSpPr txBox="1"/>
          <p:nvPr/>
        </p:nvSpPr>
        <p:spPr>
          <a:xfrm>
            <a:off x="3095752" y="2310181"/>
            <a:ext cx="8448040" cy="2948884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Insourcing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work done internally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Outsourcing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work given to external supplier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Single sourcing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one supplier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Multi-sourcing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multiple suppliers</a:t>
            </a:r>
          </a:p>
        </p:txBody>
      </p:sp>
    </p:spTree>
    <p:extLst>
      <p:ext uri="{BB962C8B-B14F-4D97-AF65-F5344CB8AC3E}">
        <p14:creationId xmlns:p14="http://schemas.microsoft.com/office/powerpoint/2010/main" val="2345650933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D394C1-4E7E-43FE-3B0D-90158A369D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D62E187-77F4-C112-A07F-3A53A4B02C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4B29DCDE-5072-E35D-39B5-75E3433D8E69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4AC81B9D-F019-E1E4-3B8E-092352D1BC6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95D5D4E0-1CCD-246A-51A9-A782A10F0126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65CC57FC-A3ED-40AB-3556-F069A929E0F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Supplier Evaluation Criteria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B0A9A84D-0033-C357-44EC-25ADAB329A7A}"/>
              </a:ext>
            </a:extLst>
          </p:cNvPr>
          <p:cNvSpPr txBox="1"/>
          <p:nvPr/>
        </p:nvSpPr>
        <p:spPr>
          <a:xfrm>
            <a:off x="3095752" y="2310181"/>
            <a:ext cx="8448040" cy="2394886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IN" sz="3600" b="1" dirty="0"/>
              <a:t>I-R-C</a:t>
            </a:r>
            <a:endParaRPr lang="en-IN" sz="3600" dirty="0"/>
          </a:p>
          <a:p>
            <a:r>
              <a:rPr lang="en-IN" sz="3600" b="1" dirty="0"/>
              <a:t>Importance</a:t>
            </a:r>
            <a:endParaRPr lang="en-IN" sz="3600" dirty="0"/>
          </a:p>
          <a:p>
            <a:r>
              <a:rPr lang="en-IN" sz="3600" b="1" dirty="0"/>
              <a:t>Risk</a:t>
            </a:r>
            <a:endParaRPr lang="en-IN" sz="3600" dirty="0"/>
          </a:p>
          <a:p>
            <a:r>
              <a:rPr lang="en-IN" sz="3600" b="1" dirty="0"/>
              <a:t>Cost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127001997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C7DDF-BCF2-CB8E-6619-859814661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B24A9DD-334B-42D3-BDE6-7C3B2CFD8C6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786FC550-2EA8-1955-A773-516751E7C3C8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65F1598F-AC13-419A-49FF-5710503409F0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2BE5E27D-57D6-6713-45AD-B11E92D3CEFB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36247867-814B-7322-4182-07C028E587F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Service Integration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28E4C986-1D73-FCE3-3457-654AB082542C}"/>
              </a:ext>
            </a:extLst>
          </p:cNvPr>
          <p:cNvSpPr txBox="1"/>
          <p:nvPr/>
        </p:nvSpPr>
        <p:spPr>
          <a:xfrm>
            <a:off x="3095752" y="2310181"/>
            <a:ext cx="8448040" cy="3502882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3600" b="1" dirty="0"/>
              <a:t>Service integration coordinates multiple suppliers to deliver end-to-end service.</a:t>
            </a:r>
            <a:endParaRPr lang="en-US" sz="3600" dirty="0"/>
          </a:p>
          <a:p>
            <a:r>
              <a:rPr lang="en-US" sz="3600" dirty="0"/>
              <a:t>Can be internal</a:t>
            </a:r>
          </a:p>
          <a:p>
            <a:r>
              <a:rPr lang="en-US" sz="3600" dirty="0"/>
              <a:t>Or external integrator</a:t>
            </a:r>
          </a:p>
          <a:p>
            <a:r>
              <a:rPr lang="en-US" sz="3600" dirty="0"/>
              <a:t>Or hybrid</a:t>
            </a:r>
          </a:p>
        </p:txBody>
      </p:sp>
    </p:spTree>
    <p:extLst>
      <p:ext uri="{BB962C8B-B14F-4D97-AF65-F5344CB8AC3E}">
        <p14:creationId xmlns:p14="http://schemas.microsoft.com/office/powerpoint/2010/main" val="2008899172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547289F-5C9A-8C52-20D6-C2865182FF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9412" y="628407"/>
            <a:ext cx="8253175" cy="5601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8338573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46C21A-FA53-8E97-CBE1-F2DC0510D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2FEFAF6-77C7-ABE4-FDB6-30DCC48E10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72D24123-C4A0-EFDC-EF61-F9EC562BB559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C47B04B6-85AF-88CA-18F9-5C075CCEE066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5101C334-D471-6311-896D-4A2D55D28E87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F428E1E1-F033-4F5F-7999-A610039DCFD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Workforce and talent management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3E35F53E-EE84-EE6B-C81D-46CC18B3E45B}"/>
              </a:ext>
            </a:extLst>
          </p:cNvPr>
          <p:cNvSpPr txBox="1"/>
          <p:nvPr/>
        </p:nvSpPr>
        <p:spPr>
          <a:xfrm>
            <a:off x="3095752" y="2310181"/>
            <a:ext cx="8448040" cy="3502882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3600" dirty="0"/>
              <a:t>Ensures right people, right skills, right role, right time.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 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business goals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 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organizational velocity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 skill gaps</a:t>
            </a:r>
            <a:endParaRPr lang="en-US" sz="3600" dirty="0"/>
          </a:p>
          <a:p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582449636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C02AF0-C624-A5C4-6D9B-630BD0C5E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9C830E7-5D32-4BF5-BA67-2653510F2D9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9DF52DDE-61B2-7BC9-300D-E1E7BB7B594D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31C7C8AC-A053-DC55-3146-A15ADEB1D8F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1C7B97FE-C42D-6B90-0476-2B3D0E0E7726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0515E14F-1A99-486D-AC48-55D4DA53DCE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Important Definitions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A68AAAB7-2161-80F1-2A6C-1F38A7494903}"/>
              </a:ext>
            </a:extLst>
          </p:cNvPr>
          <p:cNvSpPr txBox="1"/>
          <p:nvPr/>
        </p:nvSpPr>
        <p:spPr>
          <a:xfrm>
            <a:off x="3095752" y="2310181"/>
            <a:ext cx="8448040" cy="2394886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Organizational velocity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speed &amp; efficiency of organization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Competencies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knowledge + skills + ability + attitude</a:t>
            </a:r>
          </a:p>
        </p:txBody>
      </p:sp>
    </p:spTree>
    <p:extLst>
      <p:ext uri="{BB962C8B-B14F-4D97-AF65-F5344CB8AC3E}">
        <p14:creationId xmlns:p14="http://schemas.microsoft.com/office/powerpoint/2010/main" val="624621847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2AB68B-60ED-49B9-06DC-B3C928638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4F225D8-0CE9-13AF-82DE-C7D62E64061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662C0036-6131-1A18-445A-9520F582A2A5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BAE46AC7-475A-3380-65B5-5B0B5E978DCC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7128BF84-C74E-DAC9-34A6-F70390022D98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7C45A87D-BB02-E3D2-308B-BA1F4175F8E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Activities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0952389D-7E74-0A79-8356-9D64EC189B7F}"/>
              </a:ext>
            </a:extLst>
          </p:cNvPr>
          <p:cNvSpPr txBox="1"/>
          <p:nvPr/>
        </p:nvSpPr>
        <p:spPr>
          <a:xfrm>
            <a:off x="3095752" y="2310181"/>
            <a:ext cx="8448040" cy="3502882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Workforce planning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Recruitment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Learning &amp; development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Performance measurement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Personal development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Mentoring &amp; succession planning</a:t>
            </a:r>
          </a:p>
        </p:txBody>
      </p:sp>
    </p:spTree>
    <p:extLst>
      <p:ext uri="{BB962C8B-B14F-4D97-AF65-F5344CB8AC3E}">
        <p14:creationId xmlns:p14="http://schemas.microsoft.com/office/powerpoint/2010/main" val="2342623576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86F3A51-D244-EBB6-9EC5-D8C432CDB9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0377" y="205460"/>
            <a:ext cx="8131245" cy="6447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9170001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F4FF24-2A10-DC5E-5AE1-2C9921499D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66FCD62-4DCE-5636-63FA-D9CD4B6027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5119" y="342632"/>
            <a:ext cx="8321761" cy="6172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7198603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E4FD2-F8B9-922F-8335-1A1E2E013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4C052-1846-A79E-B762-F9ED92FBD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8202" y="2813447"/>
            <a:ext cx="8311198" cy="1231106"/>
          </a:xfrm>
        </p:spPr>
        <p:txBody>
          <a:bodyPr/>
          <a:lstStyle/>
          <a:p>
            <a:r>
              <a:rPr lang="en-IN" dirty="0"/>
              <a:t>   Services</a:t>
            </a:r>
            <a:r>
              <a:rPr lang="en-IN" sz="4000" dirty="0"/>
              <a:t> </a:t>
            </a:r>
            <a:r>
              <a:rPr lang="en-IN" dirty="0"/>
              <a:t>M</a:t>
            </a:r>
            <a:r>
              <a:rPr lang="en-IN" sz="4000" dirty="0"/>
              <a:t>anagement Practices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73560347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41FD8D-82C2-CFB9-00B7-B0DC5D71A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FC651-0B36-6CE8-AF39-F02D704FC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8802" y="2807585"/>
            <a:ext cx="7472998" cy="615553"/>
          </a:xfrm>
        </p:spPr>
        <p:txBody>
          <a:bodyPr/>
          <a:lstStyle/>
          <a:p>
            <a:r>
              <a:rPr lang="en-IN" dirty="0"/>
              <a:t>2.1 Availability Management</a:t>
            </a:r>
          </a:p>
        </p:txBody>
      </p:sp>
    </p:spTree>
    <p:extLst>
      <p:ext uri="{BB962C8B-B14F-4D97-AF65-F5344CB8AC3E}">
        <p14:creationId xmlns:p14="http://schemas.microsoft.com/office/powerpoint/2010/main" val="49554729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452DDD-C171-C06D-8800-9D17E806D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1A89075-D823-4AE1-3179-6A9898943B6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DB8C20F4-1688-9AD2-DDA1-8B7065555421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5F3FC83D-F6C7-5E86-144D-0AA85F0392AD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3CA57B4D-5D22-4810-CC71-00AF74F01EC9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A18B7452-F486-814A-35C5-F20609E6DEC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Availability Management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1DE94D68-C8DF-3352-CDAE-228C41F0014E}"/>
              </a:ext>
            </a:extLst>
          </p:cNvPr>
          <p:cNvSpPr txBox="1"/>
          <p:nvPr/>
        </p:nvSpPr>
        <p:spPr>
          <a:xfrm>
            <a:off x="3095752" y="2310181"/>
            <a:ext cx="8448040" cy="1840889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3600" dirty="0"/>
              <a:t>To ensure that services deliver agreed levels of availability to meet customer and user needs.</a:t>
            </a:r>
          </a:p>
        </p:txBody>
      </p:sp>
    </p:spTree>
    <p:extLst>
      <p:ext uri="{BB962C8B-B14F-4D97-AF65-F5344CB8AC3E}">
        <p14:creationId xmlns:p14="http://schemas.microsoft.com/office/powerpoint/2010/main" val="13487824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CB10CE-787A-9C98-1B3B-E960565D5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9F19147-8130-21BE-F009-1342911E6FD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1D8B023E-E373-D2F7-3684-53D37C06CC27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766E3AAB-95CB-02E8-786F-53EED113BD3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315893A3-4D9B-D093-E35F-60F9E760C073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75EDF462-0FB6-7FE5-6368-027049CFB69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What is Availability?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2B838EE2-4479-3E87-82EB-B029674AC7D4}"/>
              </a:ext>
            </a:extLst>
          </p:cNvPr>
          <p:cNvSpPr txBox="1"/>
          <p:nvPr/>
        </p:nvSpPr>
        <p:spPr>
          <a:xfrm>
            <a:off x="3095752" y="2310181"/>
            <a:ext cx="8448040" cy="1286891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3600" dirty="0"/>
              <a:t>Ability of a service to perform its agreed function when required.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5887874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A7B9E9-F227-6AB9-6CD2-5F36E112C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3C6928B-002A-F5F8-9F04-82AFE9F3D29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354D4B84-43EC-8AD7-C55D-378ADFA3332E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CF3226C2-182C-2835-35B2-6BE4F979DA29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0F579A10-E0B2-EC70-9994-ED7788484F81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8DC8D235-8CF3-AC17-5A11-DA0E23C8E21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Key Activities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A3C80FD6-2C72-7F5F-6377-1D6B9186F228}"/>
              </a:ext>
            </a:extLst>
          </p:cNvPr>
          <p:cNvSpPr txBox="1"/>
          <p:nvPr/>
        </p:nvSpPr>
        <p:spPr>
          <a:xfrm>
            <a:off x="3095752" y="2310181"/>
            <a:ext cx="8448040" cy="2948884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Agree availability targets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Design systems to meet availability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Monitor and measure availability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Analyse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failures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Plan improvements</a:t>
            </a:r>
          </a:p>
        </p:txBody>
      </p:sp>
    </p:spTree>
    <p:extLst>
      <p:ext uri="{BB962C8B-B14F-4D97-AF65-F5344CB8AC3E}">
        <p14:creationId xmlns:p14="http://schemas.microsoft.com/office/powerpoint/2010/main" val="2323626867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29996-9E35-A616-AF76-52069F0F6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C67DFB7-494E-83F0-03B7-0865C84784E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DA3C26D0-6B3D-1660-89EA-998A0F5FDDBE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E0FA16A9-437C-A409-0879-B8E886664CDB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B0157E23-A29F-AB3F-2A56-C7F2D2DBB5C4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08367315-03D8-3BDE-ED3B-61E4BDB2816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MTBF &amp; MTRS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080D989E-6239-62C2-A005-7BC6C66F4925}"/>
              </a:ext>
            </a:extLst>
          </p:cNvPr>
          <p:cNvSpPr txBox="1"/>
          <p:nvPr/>
        </p:nvSpPr>
        <p:spPr>
          <a:xfrm>
            <a:off x="3095752" y="2310181"/>
            <a:ext cx="8448040" cy="2394886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MTBF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How often service fails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MTRS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How fast service is restored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3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3600" dirty="0"/>
              <a:t>Availability = Fail less OR recover faster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8E4AA5-41B8-98EB-D68A-1322F4700947}"/>
              </a:ext>
            </a:extLst>
          </p:cNvPr>
          <p:cNvSpPr txBox="1"/>
          <p:nvPr/>
        </p:nvSpPr>
        <p:spPr>
          <a:xfrm>
            <a:off x="3200400" y="1305203"/>
            <a:ext cx="7696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i="0" dirty="0">
                <a:solidFill>
                  <a:schemeClr val="accent2"/>
                </a:solidFill>
                <a:effectLst/>
                <a:latin typeface="Google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MTBF</a:t>
            </a:r>
            <a:r>
              <a:rPr lang="en-US" sz="2000" b="0" i="0" dirty="0">
                <a:solidFill>
                  <a:schemeClr val="accent2"/>
                </a:solidFill>
                <a:effectLst/>
                <a:latin typeface="Google Sans"/>
              </a:rPr>
              <a:t> (Mean Time Between Failures) and </a:t>
            </a:r>
            <a:r>
              <a:rPr lang="en-US" sz="2000" b="0" i="0" dirty="0">
                <a:solidFill>
                  <a:schemeClr val="accent2"/>
                </a:solidFill>
                <a:effectLst/>
                <a:latin typeface="Google Sa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MTTR</a:t>
            </a:r>
            <a:r>
              <a:rPr lang="en-US" sz="2000" b="0" i="0" dirty="0">
                <a:solidFill>
                  <a:schemeClr val="accent2"/>
                </a:solidFill>
                <a:effectLst/>
                <a:latin typeface="Google Sans"/>
              </a:rPr>
              <a:t> (Mean Time To Repair)</a:t>
            </a:r>
            <a:endParaRPr lang="en-IN" sz="20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7304251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F44E17-9001-9B82-06C7-FB1AE84F2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6E71347-4CE1-9D66-7E53-466918261D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0" y="258510"/>
            <a:ext cx="8534400" cy="6340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631575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6F235-A8E1-C3E5-4865-CB17847A6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CD0D5-81CA-097D-E2C6-A42365FF7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8802" y="2807585"/>
            <a:ext cx="7472998" cy="615553"/>
          </a:xfrm>
        </p:spPr>
        <p:txBody>
          <a:bodyPr/>
          <a:lstStyle/>
          <a:p>
            <a:r>
              <a:rPr lang="en-IN" dirty="0"/>
              <a:t>2.2 Business Analysis</a:t>
            </a:r>
          </a:p>
        </p:txBody>
      </p:sp>
    </p:spTree>
    <p:extLst>
      <p:ext uri="{BB962C8B-B14F-4D97-AF65-F5344CB8AC3E}">
        <p14:creationId xmlns:p14="http://schemas.microsoft.com/office/powerpoint/2010/main" val="2866761898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110C2C-32F0-1109-1D35-DBBEF13A1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4ABB333-092F-FD32-C1EF-B52DB6FD612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780458EC-0F1F-8424-74D1-1DAA20D3D523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252808D7-33C4-73BC-C281-E7F6BAC28E7B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B26ACB9C-3D5F-FFEC-1910-3DB632FD4D99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0932E842-6A3E-822D-807A-5EBD352F94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Business Analysis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1CF7DF17-9F78-81CB-C840-37E5AA5D1CD8}"/>
              </a:ext>
            </a:extLst>
          </p:cNvPr>
          <p:cNvSpPr txBox="1"/>
          <p:nvPr/>
        </p:nvSpPr>
        <p:spPr>
          <a:xfrm>
            <a:off x="3095752" y="2310181"/>
            <a:ext cx="8448040" cy="1840889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3600" dirty="0"/>
              <a:t>To </a:t>
            </a:r>
            <a:r>
              <a:rPr lang="en-US" sz="3600" dirty="0" err="1"/>
              <a:t>analyse</a:t>
            </a:r>
            <a:r>
              <a:rPr lang="en-US" sz="3600" dirty="0"/>
              <a:t> business needs and recommend solutions that create value for stakeholders.</a:t>
            </a:r>
          </a:p>
        </p:txBody>
      </p:sp>
    </p:spTree>
    <p:extLst>
      <p:ext uri="{BB962C8B-B14F-4D97-AF65-F5344CB8AC3E}">
        <p14:creationId xmlns:p14="http://schemas.microsoft.com/office/powerpoint/2010/main" val="540228645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EE77A-95E3-A010-699C-46D66C24D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20B5CAC-E089-44FC-4DBA-11AEDF6E73B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B1A57351-D3E3-860A-3260-FA5B0CB942BD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450D00BC-355A-252C-D393-BCB8AB338366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39A0EE72-3479-68CA-3654-F476E3BAFF18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9BF7823F-86B7-25BC-50FC-99F555E1DD7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What is Business Analysis?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E7A9F1B7-8622-7150-4E60-D78E21878C61}"/>
              </a:ext>
            </a:extLst>
          </p:cNvPr>
          <p:cNvSpPr txBox="1"/>
          <p:nvPr/>
        </p:nvSpPr>
        <p:spPr>
          <a:xfrm>
            <a:off x="3095752" y="2310181"/>
            <a:ext cx="8448040" cy="2394886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3600" b="1" dirty="0"/>
              <a:t>Business Analysis focuses on:</a:t>
            </a:r>
            <a:endParaRPr lang="en-US" sz="3600" dirty="0"/>
          </a:p>
          <a:p>
            <a:r>
              <a:rPr lang="en-US" sz="3600" dirty="0"/>
              <a:t>Understanding business problems</a:t>
            </a:r>
          </a:p>
          <a:p>
            <a:r>
              <a:rPr lang="en-US" sz="3600" dirty="0"/>
              <a:t>Identifying needs and opportunities</a:t>
            </a:r>
          </a:p>
          <a:p>
            <a:r>
              <a:rPr lang="en-US" sz="3600" dirty="0"/>
              <a:t>Recommending solutions</a:t>
            </a:r>
          </a:p>
        </p:txBody>
      </p:sp>
    </p:spTree>
    <p:extLst>
      <p:ext uri="{BB962C8B-B14F-4D97-AF65-F5344CB8AC3E}">
        <p14:creationId xmlns:p14="http://schemas.microsoft.com/office/powerpoint/2010/main" val="2875541576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0B08FC-51E9-74DE-4128-414831F3B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75A54EE-568A-9459-CBFF-ABC3862D9F1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5BEB9141-50B2-E55F-D22D-98EB173A851B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FF9D68DE-50B3-4E61-CBC2-61FB40A3B2AC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58B09D0D-BA8E-04A2-0649-9BF88D8E4449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AF812C19-B263-EC5D-23C2-107D2AD1E3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Key Activities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60CD458C-5A48-3E75-B082-70726078F7F7}"/>
              </a:ext>
            </a:extLst>
          </p:cNvPr>
          <p:cNvSpPr txBox="1"/>
          <p:nvPr/>
        </p:nvSpPr>
        <p:spPr>
          <a:xfrm>
            <a:off x="3095752" y="2310181"/>
            <a:ext cx="8448040" cy="2948884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Analyse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current business situation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Identify requirements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Evaluate possible solutions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 decision-making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Ensure solutions deliver value</a:t>
            </a:r>
          </a:p>
        </p:txBody>
      </p:sp>
    </p:spTree>
    <p:extLst>
      <p:ext uri="{BB962C8B-B14F-4D97-AF65-F5344CB8AC3E}">
        <p14:creationId xmlns:p14="http://schemas.microsoft.com/office/powerpoint/2010/main" val="2415654134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042F96-7A7C-5C5D-6355-EE8A5C4D2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7E21E27-C9D2-7DAE-7591-9FD4FC64A1C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C79231E7-50DE-21B2-A206-8333A489A253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7E829E00-D76C-68EA-A7E2-F48E0107407E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E7F42A85-C004-C93A-5A50-C96FD9436CC4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35C059EE-AEEA-B1F9-5E7C-51CE9DF0DED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Quick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F4A5ED9D-62F3-B604-922C-1A6128DC74B1}"/>
              </a:ext>
            </a:extLst>
          </p:cNvPr>
          <p:cNvSpPr txBox="1"/>
          <p:nvPr/>
        </p:nvSpPr>
        <p:spPr>
          <a:xfrm>
            <a:off x="3095752" y="2310181"/>
            <a:ext cx="8448040" cy="2948884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3600" dirty="0"/>
              <a:t>Wrong requirement = wrong solution = wasted money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3600" dirty="0"/>
              <a:t>Business Analysis = Understand → </a:t>
            </a:r>
            <a:r>
              <a:rPr lang="en-US" sz="3600" dirty="0" err="1"/>
              <a:t>Analyse</a:t>
            </a:r>
            <a:r>
              <a:rPr lang="en-US" sz="3600" dirty="0"/>
              <a:t> → Recommend → Create Value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0800226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7FE58-B0B4-14E9-3396-42DBBCB84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7AB9665-F9D2-F34B-34B1-7B97467CAF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7723" y="533399"/>
            <a:ext cx="9016477" cy="5976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392108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329C31-D768-C9A1-77F3-C18243CC0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93395-5A14-9D59-74EB-9E904BF0C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8802" y="2807585"/>
            <a:ext cx="7472998" cy="1231106"/>
          </a:xfrm>
        </p:spPr>
        <p:txBody>
          <a:bodyPr/>
          <a:lstStyle/>
          <a:p>
            <a:pPr algn="ctr"/>
            <a:r>
              <a:rPr lang="en-IN" dirty="0"/>
              <a:t>2.3 Capacity and Performance Management</a:t>
            </a:r>
          </a:p>
        </p:txBody>
      </p:sp>
    </p:spTree>
    <p:extLst>
      <p:ext uri="{BB962C8B-B14F-4D97-AF65-F5344CB8AC3E}">
        <p14:creationId xmlns:p14="http://schemas.microsoft.com/office/powerpoint/2010/main" val="3876210723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7E5451-5DE0-3BA6-7657-4D6C813BC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0449BA8-1B56-C130-0314-207724B0F31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48BD9AE2-2362-1EFA-A322-A1E25619871B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6FDDA94D-A8F4-5C3F-0856-AE820A5AF813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DF037A6C-C333-D438-FB53-B292940B0698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9C824B13-D4E5-04F2-E52B-B11B71E6FC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Capacity and Performance Management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472B0B40-6B90-9D78-156B-C732682B295B}"/>
              </a:ext>
            </a:extLst>
          </p:cNvPr>
          <p:cNvSpPr txBox="1"/>
          <p:nvPr/>
        </p:nvSpPr>
        <p:spPr>
          <a:xfrm>
            <a:off x="3095752" y="2310181"/>
            <a:ext cx="8448040" cy="2394886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3600" dirty="0"/>
              <a:t>To ensure that services achieve agreed and expected performance, satisfying current and future demand in a cost-effective way.</a:t>
            </a:r>
          </a:p>
        </p:txBody>
      </p:sp>
    </p:spTree>
    <p:extLst>
      <p:ext uri="{BB962C8B-B14F-4D97-AF65-F5344CB8AC3E}">
        <p14:creationId xmlns:p14="http://schemas.microsoft.com/office/powerpoint/2010/main" val="801177471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38FEEB-E7F0-1EE5-EBDB-8123C553B3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2012E43-0322-526B-04F5-57F83F874A1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2E4E7DD9-D48E-CEFF-7CA6-178025A21E52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F9AB6BE5-7417-5E89-524E-3A3AFC32C9B2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5A389A82-86C6-C663-83F2-BA0B2FF1D835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CA2E0C3D-11A8-84FA-09E8-D0DCF005F6A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</a:t>
            </a:r>
            <a:r>
              <a:rPr lang="en-US" sz="4400" dirty="0"/>
              <a:t>What is Capacity vs Performance?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48177557-6667-EDAE-3047-170EF138BE8C}"/>
              </a:ext>
            </a:extLst>
          </p:cNvPr>
          <p:cNvSpPr txBox="1"/>
          <p:nvPr/>
        </p:nvSpPr>
        <p:spPr>
          <a:xfrm>
            <a:off x="3095752" y="2310181"/>
            <a:ext cx="8448040" cy="2394886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Capacity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</a:t>
            </a:r>
            <a:r>
              <a:rPr kumimoji="0" lang="en-US" altLang="en-US" sz="3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How much workload a service can handle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Performance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</a:t>
            </a:r>
            <a:r>
              <a:rPr kumimoji="0" lang="en-US" altLang="en-US" sz="3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How fast the service responds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6437107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82254-B965-90C6-A5B4-6AA8275FE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5FCDD8A-9E2E-6C16-A6F3-1750C7A70AE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C5796E50-00C1-6B03-2557-5E7DF73C7D84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47F37ADC-E16B-4775-6C68-5437A8BA925E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FE09C50-470B-FB5D-B2C7-E74DDEA42363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F2EFE75C-6E81-10DA-A589-582B5DEA389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Key Activities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35B2FA79-B6E2-D43A-C318-68280848DACB}"/>
              </a:ext>
            </a:extLst>
          </p:cNvPr>
          <p:cNvSpPr txBox="1"/>
          <p:nvPr/>
        </p:nvSpPr>
        <p:spPr>
          <a:xfrm>
            <a:off x="3095752" y="2310181"/>
            <a:ext cx="8448040" cy="2948884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Monitor system performance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 err="1"/>
              <a:t>Analyse</a:t>
            </a:r>
            <a:r>
              <a:rPr lang="en-US" sz="3600" dirty="0"/>
              <a:t> current and future demand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Plan capacity upgrades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Ensure optimal use of resources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Prevent performance degradation</a:t>
            </a:r>
          </a:p>
        </p:txBody>
      </p:sp>
    </p:spTree>
    <p:extLst>
      <p:ext uri="{BB962C8B-B14F-4D97-AF65-F5344CB8AC3E}">
        <p14:creationId xmlns:p14="http://schemas.microsoft.com/office/powerpoint/2010/main" val="2600932346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D7D95B-5BE6-BFD4-C9E3-4CBDE4F91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FCF78FC-6457-BB57-0560-5BCE4FD4E97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EE8BDB84-A2CC-DF31-A091-84D11497FE57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8EFCE64E-AA22-54DE-D155-85033DF96E6F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907A4BE9-AB3B-4E20-88A3-673C525C657F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951A4D40-B264-0D8E-0E86-4C558E3DA08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Why it is Important?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E5B076D0-D718-14CF-4E73-2E93BF7B0915}"/>
              </a:ext>
            </a:extLst>
          </p:cNvPr>
          <p:cNvSpPr txBox="1"/>
          <p:nvPr/>
        </p:nvSpPr>
        <p:spPr>
          <a:xfrm>
            <a:off x="3095752" y="2310181"/>
            <a:ext cx="8448040" cy="2394886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Avoids slow systems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Prevents service outages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Supports business growth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Reduces unnecessary costs</a:t>
            </a:r>
          </a:p>
        </p:txBody>
      </p:sp>
    </p:spTree>
    <p:extLst>
      <p:ext uri="{BB962C8B-B14F-4D97-AF65-F5344CB8AC3E}">
        <p14:creationId xmlns:p14="http://schemas.microsoft.com/office/powerpoint/2010/main" val="3069347149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8000F6-3D7D-5FEF-C4EF-292421C08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FEED5ED-6491-2042-8B30-608557860C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0" y="406495"/>
            <a:ext cx="8381999" cy="6045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1552892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093C2-3E9F-CFC4-54DC-6BEF437BA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DE6E1-747D-2F9B-3835-24E8038A7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8802" y="2807585"/>
            <a:ext cx="7472998" cy="615553"/>
          </a:xfrm>
        </p:spPr>
        <p:txBody>
          <a:bodyPr/>
          <a:lstStyle/>
          <a:p>
            <a:pPr algn="ctr"/>
            <a:r>
              <a:rPr lang="en-IN" dirty="0"/>
              <a:t>2.4 Change Control</a:t>
            </a:r>
          </a:p>
        </p:txBody>
      </p:sp>
    </p:spTree>
    <p:extLst>
      <p:ext uri="{BB962C8B-B14F-4D97-AF65-F5344CB8AC3E}">
        <p14:creationId xmlns:p14="http://schemas.microsoft.com/office/powerpoint/2010/main" val="4057143592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0B621-0E41-3F0A-B49D-D18FCD771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D51C23D-D523-44F1-CA9A-62A1155D048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37090925-F895-A402-4F08-B1BAB16355BE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99725BC4-0F71-762F-2B5C-9435AC7594B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0EDD27F0-CE32-7C0F-FA44-942F87B7DB16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ADFF9203-9367-4DE5-6EAA-5DB1A17C3F0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Change Control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7DB03569-57D1-654D-88E7-A57D6B856FF3}"/>
              </a:ext>
            </a:extLst>
          </p:cNvPr>
          <p:cNvSpPr txBox="1"/>
          <p:nvPr/>
        </p:nvSpPr>
        <p:spPr>
          <a:xfrm>
            <a:off x="3095752" y="2310181"/>
            <a:ext cx="8448040" cy="1840889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3600" dirty="0"/>
              <a:t>To ensure that changes to services are carried out in a controlled way to minimize risk and disruption.</a:t>
            </a:r>
          </a:p>
        </p:txBody>
      </p:sp>
    </p:spTree>
    <p:extLst>
      <p:ext uri="{BB962C8B-B14F-4D97-AF65-F5344CB8AC3E}">
        <p14:creationId xmlns:p14="http://schemas.microsoft.com/office/powerpoint/2010/main" val="2096850563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981EA-7198-F99A-1389-7460938B2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CCD5255-0643-5A7A-B052-7D551642C59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51EB4D06-446A-28B7-EEEC-ABCB088F582A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EAB6330D-D7BB-AFFD-7F6A-9662E531A089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71BAF5F4-D89D-C318-6688-D3750E448E2B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4B507638-33F5-528A-48CE-D97E777C3A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What is a Change?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38484746-7BEB-3A64-0CD6-F6F5E4772F69}"/>
              </a:ext>
            </a:extLst>
          </p:cNvPr>
          <p:cNvSpPr txBox="1"/>
          <p:nvPr/>
        </p:nvSpPr>
        <p:spPr>
          <a:xfrm>
            <a:off x="3095752" y="2310181"/>
            <a:ext cx="8448040" cy="1286891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3600" dirty="0"/>
              <a:t>Addition, modification, or removal of anything that could affect a service.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9825372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099841-7D8E-96F0-A2E0-B8A9ED099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EF412C9-D364-3D4C-3C97-2E08B9A8B72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AE37B48E-EAC8-8F15-9186-39CCD71F5A56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AE6C9D04-B002-9401-33E7-434BA834CECD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B1097F0C-BDB5-C31F-4015-CBCF018F27C5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F2F5CE2D-3D87-FD2C-0174-217218DF5CA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Types of Changes 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B47E0A12-9D26-36C4-C2D6-66F48357A8D4}"/>
              </a:ext>
            </a:extLst>
          </p:cNvPr>
          <p:cNvSpPr txBox="1"/>
          <p:nvPr/>
        </p:nvSpPr>
        <p:spPr>
          <a:xfrm>
            <a:off x="3095752" y="2310181"/>
            <a:ext cx="8448040" cy="3502882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Standard change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Low risk, pre-approved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Normal change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Needs assessment &amp; approval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Emergency change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Urgent, high impact</a:t>
            </a:r>
          </a:p>
        </p:txBody>
      </p:sp>
    </p:spTree>
    <p:extLst>
      <p:ext uri="{BB962C8B-B14F-4D97-AF65-F5344CB8AC3E}">
        <p14:creationId xmlns:p14="http://schemas.microsoft.com/office/powerpoint/2010/main" val="73903171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85EBEF-77E3-D7BC-0FFB-7E9CED157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769CA5F-6BBD-F67F-443A-8EA7A2FB8BD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ACD295E4-78A0-4790-9036-0D158B25AB16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AE52D78E-9F6B-BE61-5822-0A6EE6AC6DCD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FCB3290F-C900-AA18-C353-60E1002BD49A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0701595A-D07D-0382-8A63-B9CA5C02C34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Key Activities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BA5FA433-2605-C071-A0AF-BC98DFD3A786}"/>
              </a:ext>
            </a:extLst>
          </p:cNvPr>
          <p:cNvSpPr txBox="1"/>
          <p:nvPr/>
        </p:nvSpPr>
        <p:spPr>
          <a:xfrm>
            <a:off x="3095752" y="2310181"/>
            <a:ext cx="8448040" cy="2948884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 and assess change requests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Evaluate risks and impact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Authorize changes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Schedule and implement changes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Review changes after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3572544895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9D844-230C-D518-208E-88CBAC9D5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058A9A0-773C-7F7C-3938-0A9398CFF2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7626" y="304800"/>
            <a:ext cx="9126574" cy="6366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6769969"/>
      </p:ext>
    </p:extLst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FD2A82-D80D-BCB8-0BE7-E552457CD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0D593-EB63-EC97-A74C-7FA82E8F6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8802" y="2807585"/>
            <a:ext cx="7472998" cy="615553"/>
          </a:xfrm>
        </p:spPr>
        <p:txBody>
          <a:bodyPr/>
          <a:lstStyle/>
          <a:p>
            <a:pPr algn="ctr"/>
            <a:r>
              <a:rPr lang="en-IN" dirty="0"/>
              <a:t>2.5 Incident Management</a:t>
            </a:r>
          </a:p>
        </p:txBody>
      </p:sp>
    </p:spTree>
    <p:extLst>
      <p:ext uri="{BB962C8B-B14F-4D97-AF65-F5344CB8AC3E}">
        <p14:creationId xmlns:p14="http://schemas.microsoft.com/office/powerpoint/2010/main" val="3497544743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E1EF75-23E5-50AC-0400-83A8E65A2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BC466FC-C301-8B08-4A51-1B393AAFC61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D4DB5669-16B2-81B5-C87F-6067F2D61F54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228C25C0-F65E-B853-D0DE-185F216E40A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37983BAF-14EB-5143-EEA8-1350C34E03C1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630DF865-1687-8526-01C9-6A1B3A3E8C2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Incident Management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F023B937-E8B5-1F06-8C4E-04063597444F}"/>
              </a:ext>
            </a:extLst>
          </p:cNvPr>
          <p:cNvSpPr txBox="1"/>
          <p:nvPr/>
        </p:nvSpPr>
        <p:spPr>
          <a:xfrm>
            <a:off x="3095752" y="2310181"/>
            <a:ext cx="8448040" cy="1840889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3600" dirty="0"/>
              <a:t>To minimize the negative impact of incidents by restoring normal service operation as quickly as possible.</a:t>
            </a:r>
          </a:p>
        </p:txBody>
      </p:sp>
    </p:spTree>
    <p:extLst>
      <p:ext uri="{BB962C8B-B14F-4D97-AF65-F5344CB8AC3E}">
        <p14:creationId xmlns:p14="http://schemas.microsoft.com/office/powerpoint/2010/main" val="3026353931"/>
      </p:ext>
    </p:extLst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877422-2C11-6A70-83A0-52B0B22C7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B8F0F4B-2605-8C9F-1427-C012038AC25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EEB5D175-14D6-CDBA-1DF8-902ADD2B7C84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C702D1AC-3DC3-DAC4-589D-6A7B4AA19178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C26DF5EF-02AB-79E3-0686-BA9B8B568D57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6B277E31-4C4D-085F-9438-3DB772B446C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What is an Incident?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64740346-9B29-101F-A136-950D893C611B}"/>
              </a:ext>
            </a:extLst>
          </p:cNvPr>
          <p:cNvSpPr txBox="1"/>
          <p:nvPr/>
        </p:nvSpPr>
        <p:spPr>
          <a:xfrm>
            <a:off x="3095752" y="2310181"/>
            <a:ext cx="8448040" cy="1286891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3600" dirty="0"/>
              <a:t>An unplanned interruption to a service or reduction in service quality.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469068"/>
      </p:ext>
    </p:extLst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4D7404-3756-F7D4-04FE-5B8D9EA3C0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C9353A3-9885-F784-0C9E-E36C3D53FBA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CB46BAA8-B18D-8DD4-7D53-7FED7217093F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91D2FC63-CE73-520A-EBD7-EE0B8B79DE6C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603B0E93-91EC-240F-1097-3DFCEA53167C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F13A77D2-EC28-0396-1C6F-20EB22D3D9B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Incident vs Problem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E1EBA15D-0F7F-60C6-F1A3-8A651F2FC99B}"/>
              </a:ext>
            </a:extLst>
          </p:cNvPr>
          <p:cNvSpPr txBox="1"/>
          <p:nvPr/>
        </p:nvSpPr>
        <p:spPr>
          <a:xfrm>
            <a:off x="3095752" y="2310181"/>
            <a:ext cx="8448040" cy="1286891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Incident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Restore service quickly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Problem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Find root cause</a:t>
            </a:r>
          </a:p>
        </p:txBody>
      </p:sp>
    </p:spTree>
    <p:extLst>
      <p:ext uri="{BB962C8B-B14F-4D97-AF65-F5344CB8AC3E}">
        <p14:creationId xmlns:p14="http://schemas.microsoft.com/office/powerpoint/2010/main" val="3578259161"/>
      </p:ext>
    </p:extLst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6AD010-484F-E861-2745-7683BE124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8FFB898-224B-5E20-6BB9-2E0861DF7C1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069A5488-ADA8-49B1-544E-304377514659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F4F43C75-5BA3-3194-DA8E-38E424DD177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063606B7-C1EC-3E71-7556-561BC1A5D915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86299272-BF13-0164-A12E-E495D6505D5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Key Activities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3568853E-B868-8549-1B1D-62FEBD1F1717}"/>
              </a:ext>
            </a:extLst>
          </p:cNvPr>
          <p:cNvSpPr txBox="1"/>
          <p:nvPr/>
        </p:nvSpPr>
        <p:spPr>
          <a:xfrm>
            <a:off x="3095752" y="2310181"/>
            <a:ext cx="8448040" cy="2948884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Detect and log incidents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Categorize and prioritize incidents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Diagnose and resolve incidents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Escalate if required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Close incidents</a:t>
            </a:r>
          </a:p>
        </p:txBody>
      </p:sp>
    </p:spTree>
    <p:extLst>
      <p:ext uri="{BB962C8B-B14F-4D97-AF65-F5344CB8AC3E}">
        <p14:creationId xmlns:p14="http://schemas.microsoft.com/office/powerpoint/2010/main" val="722159971"/>
      </p:ext>
    </p:extLst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CE9F9D-C512-776A-D6AB-20C75C0BD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DEB8C1A-E3BF-E2CE-929A-D2B11C9677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0" y="330322"/>
            <a:ext cx="8991600" cy="6414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12448"/>
      </p:ext>
    </p:extLst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197074-8237-FD9A-E957-38A0F1CCB5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429C5-FD56-EF00-7BDE-E8F026CFA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8802" y="2807585"/>
            <a:ext cx="7472998" cy="615553"/>
          </a:xfrm>
        </p:spPr>
        <p:txBody>
          <a:bodyPr/>
          <a:lstStyle/>
          <a:p>
            <a:pPr algn="ctr"/>
            <a:r>
              <a:rPr lang="en-IN" dirty="0"/>
              <a:t>2.6 IT Asset Management</a:t>
            </a:r>
          </a:p>
        </p:txBody>
      </p:sp>
    </p:spTree>
    <p:extLst>
      <p:ext uri="{BB962C8B-B14F-4D97-AF65-F5344CB8AC3E}">
        <p14:creationId xmlns:p14="http://schemas.microsoft.com/office/powerpoint/2010/main" val="3491625241"/>
      </p:ext>
    </p:extLst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E68AAB-52DE-C236-3A11-A14BD8217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FA5340F-92A0-221C-1151-E23820B8C93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78FA96DF-2F81-CF76-83FD-B90BFC13A21C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09DFA694-D404-3438-DE07-2BBE6385C72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70CD9DED-17FE-EBB7-27D1-70B81AF3D22E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606D6374-966E-65B3-8E37-1E30BD9603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IT Asset Management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D755BA7F-209C-2092-69E5-E5AF7FDD2F6D}"/>
              </a:ext>
            </a:extLst>
          </p:cNvPr>
          <p:cNvSpPr txBox="1"/>
          <p:nvPr/>
        </p:nvSpPr>
        <p:spPr>
          <a:xfrm>
            <a:off x="3095752" y="2310181"/>
            <a:ext cx="8448040" cy="2394886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3600" dirty="0"/>
              <a:t>To plan and manage the full lifecycle of IT assets to help the organization maximize value, control costs, and manage risks.</a:t>
            </a:r>
          </a:p>
        </p:txBody>
      </p:sp>
    </p:spTree>
    <p:extLst>
      <p:ext uri="{BB962C8B-B14F-4D97-AF65-F5344CB8AC3E}">
        <p14:creationId xmlns:p14="http://schemas.microsoft.com/office/powerpoint/2010/main" val="2900774235"/>
      </p:ext>
    </p:extLst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921404-58D0-5136-9155-00AC57F54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F4F8745-D474-0251-095D-8C93CFBD6C5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B873E551-5086-581F-DC8B-862083E71D25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4635C0A9-84C9-3585-E6F0-25D6E7D0E839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E1B4D93-CDE3-7F09-E1F5-CE1192F11FB2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6C72CDC0-679B-276F-228B-34A032067FE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</a:t>
            </a:r>
            <a:r>
              <a:rPr lang="en-US" sz="4400" dirty="0"/>
              <a:t>What is an IT Asset?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7FA92437-A666-98CF-0820-F0916784B5D7}"/>
              </a:ext>
            </a:extLst>
          </p:cNvPr>
          <p:cNvSpPr txBox="1"/>
          <p:nvPr/>
        </p:nvSpPr>
        <p:spPr>
          <a:xfrm>
            <a:off x="3095752" y="2310181"/>
            <a:ext cx="8448040" cy="1286891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3600" dirty="0"/>
              <a:t>Any financially valuable component that contributes to IT service delivery.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6936259"/>
      </p:ext>
    </p:extLst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C3A68F-4E30-F55C-C382-D5226EDF85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1ADB9FA-1E46-1244-593D-8AEB33462D7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D3A771FD-7BD1-37CE-E2F3-BFA23229E9BA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17B0DD95-D999-0C1A-AF38-5EFAFF261F8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F62662C5-7A9F-29F0-5D57-6A7E25408C14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E15DAE61-480F-F5E9-9D53-7C45E0F8B49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Asset Lifecycle Stages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52707FE3-560A-E9DE-AFA1-DA4E1C31776C}"/>
              </a:ext>
            </a:extLst>
          </p:cNvPr>
          <p:cNvSpPr txBox="1"/>
          <p:nvPr/>
        </p:nvSpPr>
        <p:spPr>
          <a:xfrm>
            <a:off x="3095752" y="2310181"/>
            <a:ext cx="8448040" cy="2948884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IN" sz="3600" dirty="0"/>
              <a:t>Plan</a:t>
            </a:r>
          </a:p>
          <a:p>
            <a:r>
              <a:rPr lang="en-IN" sz="3600" dirty="0"/>
              <a:t>Acquire</a:t>
            </a:r>
          </a:p>
          <a:p>
            <a:r>
              <a:rPr lang="en-IN" sz="3600" dirty="0"/>
              <a:t>Use</a:t>
            </a:r>
          </a:p>
          <a:p>
            <a:r>
              <a:rPr lang="en-IN" sz="3600" dirty="0"/>
              <a:t>Maintain</a:t>
            </a:r>
          </a:p>
          <a:p>
            <a:r>
              <a:rPr lang="en-IN" sz="3600" dirty="0"/>
              <a:t>Dispose</a:t>
            </a:r>
          </a:p>
        </p:txBody>
      </p:sp>
    </p:spTree>
    <p:extLst>
      <p:ext uri="{BB962C8B-B14F-4D97-AF65-F5344CB8AC3E}">
        <p14:creationId xmlns:p14="http://schemas.microsoft.com/office/powerpoint/2010/main" val="1074327022"/>
      </p:ext>
    </p:extLst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04E183-F854-8140-EE0D-BFBE68011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1F7AC31-8EF5-B7E2-6677-C6EDA628CE4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E0744A0D-9DC6-5857-E730-0464F3EF9B7B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74D33D8C-6ABD-D0E9-B5CA-21E81329B9D0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7D781333-78A3-72CF-A32D-61E5313C9485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DE30390E-38EF-0764-5902-277E75E77A5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Key Activities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7660DCA0-4BB0-2CFC-71AC-BD57D92FC50F}"/>
              </a:ext>
            </a:extLst>
          </p:cNvPr>
          <p:cNvSpPr txBox="1"/>
          <p:nvPr/>
        </p:nvSpPr>
        <p:spPr>
          <a:xfrm>
            <a:off x="3095752" y="2310181"/>
            <a:ext cx="8448040" cy="2948884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Maintain asset inventory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Track ownership and location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Manage licenses and compliance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Optimize asset utilization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Control asset costs</a:t>
            </a:r>
          </a:p>
        </p:txBody>
      </p:sp>
    </p:spTree>
    <p:extLst>
      <p:ext uri="{BB962C8B-B14F-4D97-AF65-F5344CB8AC3E}">
        <p14:creationId xmlns:p14="http://schemas.microsoft.com/office/powerpoint/2010/main" val="1653683396"/>
      </p:ext>
    </p:extLst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980373-C0BE-8169-7386-15511F459A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E1933DE-A37D-E76C-DE8A-E79936AE472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FAC02D08-41F7-A326-B94A-D107274CD1EF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5109A4B6-2501-D9E5-C790-8936B47DBE69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DD772029-DC44-F38F-3578-795082E1B72A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C0D026C3-DB16-AB68-3383-9D820BCCC07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</a:t>
            </a:r>
            <a:r>
              <a:rPr lang="en-US" sz="4400" dirty="0"/>
              <a:t>Why IT Asset Management is Important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677ACEB0-61E1-AB30-FA51-E83F9B5AC786}"/>
              </a:ext>
            </a:extLst>
          </p:cNvPr>
          <p:cNvSpPr txBox="1"/>
          <p:nvPr/>
        </p:nvSpPr>
        <p:spPr>
          <a:xfrm>
            <a:off x="3095752" y="2310181"/>
            <a:ext cx="8448040" cy="2394886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Reduces costs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Avoids license penalties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Improves decision-making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Supports risk management</a:t>
            </a:r>
          </a:p>
        </p:txBody>
      </p:sp>
    </p:spTree>
    <p:extLst>
      <p:ext uri="{BB962C8B-B14F-4D97-AF65-F5344CB8AC3E}">
        <p14:creationId xmlns:p14="http://schemas.microsoft.com/office/powerpoint/2010/main" val="2922799200"/>
      </p:ext>
    </p:extLst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AB0089-9A2A-1383-668B-FF2ADBF63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0621BE0-E3C6-71B3-E75A-01802DCD5E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4019" y="381000"/>
            <a:ext cx="8711581" cy="6186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39070"/>
      </p:ext>
    </p:extLst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70EF6A-B636-9E1D-2608-E803A6D89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DE000-93B7-BB46-AA9A-42CDAB9DA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8802" y="2807585"/>
            <a:ext cx="7472998" cy="1231106"/>
          </a:xfrm>
        </p:spPr>
        <p:txBody>
          <a:bodyPr/>
          <a:lstStyle/>
          <a:p>
            <a:pPr algn="ctr"/>
            <a:r>
              <a:rPr lang="en-IN" dirty="0"/>
              <a:t>2.7 Monitoring and Event Management</a:t>
            </a:r>
          </a:p>
        </p:txBody>
      </p:sp>
    </p:spTree>
    <p:extLst>
      <p:ext uri="{BB962C8B-B14F-4D97-AF65-F5344CB8AC3E}">
        <p14:creationId xmlns:p14="http://schemas.microsoft.com/office/powerpoint/2010/main" val="602936730"/>
      </p:ext>
    </p:extLst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D07523-4A89-F089-4029-83F45F0C4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7C5BF6D-6922-189F-052E-E79358D7A7B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1542CEA2-2677-54CF-0E3D-3E33634CFAF6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277B8BE4-CE26-F6AE-1ED6-279673C42CBD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AF89BE07-4A1C-7C24-5D0B-2891AAD389D3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798DC2B9-C194-E02D-9C66-41521584588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Monitoring and Event Management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9D6B3C9B-4B14-7638-C25F-DEC6F9DFE348}"/>
              </a:ext>
            </a:extLst>
          </p:cNvPr>
          <p:cNvSpPr txBox="1"/>
          <p:nvPr/>
        </p:nvSpPr>
        <p:spPr>
          <a:xfrm>
            <a:off x="3095752" y="2310181"/>
            <a:ext cx="8448040" cy="2394886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3600" dirty="0"/>
              <a:t>To systematically observe services and service components and record and report selected changes of state identified as events.</a:t>
            </a:r>
          </a:p>
        </p:txBody>
      </p:sp>
    </p:spTree>
    <p:extLst>
      <p:ext uri="{BB962C8B-B14F-4D97-AF65-F5344CB8AC3E}">
        <p14:creationId xmlns:p14="http://schemas.microsoft.com/office/powerpoint/2010/main" val="3332624658"/>
      </p:ext>
    </p:extLst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6AC5BF-8C47-88ED-C800-FE9CE1D23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49598D7-9DBF-1FEE-FDBA-6CD4C8090DB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9EECD3CE-9C6A-BDD2-723D-6370D057960D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B17BADC0-FFAA-B900-28F8-C37F6D7D9876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7EADAD24-0801-17C7-1673-08CEDF902BBA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02293EFA-3ADC-EC8B-20C8-EE9C54D5DB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What is Monitoring?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334A5552-BD60-A0BF-81F1-577E84ECE9A9}"/>
              </a:ext>
            </a:extLst>
          </p:cNvPr>
          <p:cNvSpPr txBox="1"/>
          <p:nvPr/>
        </p:nvSpPr>
        <p:spPr>
          <a:xfrm>
            <a:off x="3095752" y="2310181"/>
            <a:ext cx="8448040" cy="1286891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3600" dirty="0"/>
              <a:t>Repeated observation of a service or component to detect changes.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765614"/>
      </p:ext>
    </p:extLst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0D8CAC-6826-0421-8EF9-7ADEBD5B3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03D2EEB-E40F-7BA6-A26D-1AE039621CF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16DFEFBB-AD4A-F058-2F03-3DBFBBAFDBD3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8A6E5810-842B-FBE2-3265-CE5DF593B4CB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19821C19-66E9-F68F-7AF4-691CB9CD8B48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15FE03C0-3C89-B64F-A560-2E01CFC3DE2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What is an Event?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F7CD8B33-3E86-E85B-CA77-C9E8AA690318}"/>
              </a:ext>
            </a:extLst>
          </p:cNvPr>
          <p:cNvSpPr txBox="1"/>
          <p:nvPr/>
        </p:nvSpPr>
        <p:spPr>
          <a:xfrm>
            <a:off x="3095752" y="2310181"/>
            <a:ext cx="8448040" cy="3502882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3600" dirty="0"/>
              <a:t>Any change of state that has significance for the management of a service.</a:t>
            </a:r>
          </a:p>
          <a:p>
            <a:r>
              <a:rPr lang="en-US" sz="3600" b="1" dirty="0"/>
              <a:t>Types of Events:</a:t>
            </a:r>
            <a:endParaRPr lang="en-US" sz="3600" dirty="0"/>
          </a:p>
          <a:p>
            <a:r>
              <a:rPr lang="en-US" sz="3600" b="1" dirty="0"/>
              <a:t>Informational</a:t>
            </a:r>
            <a:r>
              <a:rPr lang="en-US" sz="3600" dirty="0"/>
              <a:t> – Normal operation</a:t>
            </a:r>
          </a:p>
          <a:p>
            <a:r>
              <a:rPr lang="en-US" sz="3600" b="1" dirty="0"/>
              <a:t>Warning</a:t>
            </a:r>
            <a:r>
              <a:rPr lang="en-US" sz="3600" dirty="0"/>
              <a:t> – Threshold approaching</a:t>
            </a:r>
          </a:p>
          <a:p>
            <a:r>
              <a:rPr lang="en-US" sz="3600" b="1" dirty="0"/>
              <a:t>Exception</a:t>
            </a:r>
            <a:r>
              <a:rPr lang="en-US" sz="3600" dirty="0"/>
              <a:t> – Service failure</a:t>
            </a:r>
          </a:p>
        </p:txBody>
      </p:sp>
    </p:spTree>
    <p:extLst>
      <p:ext uri="{BB962C8B-B14F-4D97-AF65-F5344CB8AC3E}">
        <p14:creationId xmlns:p14="http://schemas.microsoft.com/office/powerpoint/2010/main" val="2911956442"/>
      </p:ext>
    </p:extLst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269EF-3923-736D-01D4-1B21BC095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6F95D12-55E8-8B16-9516-298F96C0BB9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36FA5C91-72ED-49F8-9204-445476CF36F0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9704C91D-0D30-5C45-3C11-B3BE6BC8229B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50C86317-E1D3-F889-20D8-B43C179F0CF9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6D900368-F9AD-CDD2-3386-1030F6CD650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Relationship with Incident Management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DA01006A-16AE-8B39-CF53-2F166E71CF7D}"/>
              </a:ext>
            </a:extLst>
          </p:cNvPr>
          <p:cNvSpPr txBox="1"/>
          <p:nvPr/>
        </p:nvSpPr>
        <p:spPr>
          <a:xfrm>
            <a:off x="3095752" y="2310181"/>
            <a:ext cx="8448040" cy="1840889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Events can 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trigger incidents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 all events become incidents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Early detection reduces impact</a:t>
            </a:r>
          </a:p>
        </p:txBody>
      </p:sp>
    </p:spTree>
    <p:extLst>
      <p:ext uri="{BB962C8B-B14F-4D97-AF65-F5344CB8AC3E}">
        <p14:creationId xmlns:p14="http://schemas.microsoft.com/office/powerpoint/2010/main" val="644998237"/>
      </p:ext>
    </p:extLst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CCA76D-6052-3DC5-D8CC-579F510522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B0B50CF-1405-FBAA-C1BF-3EC161E43EA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C853B099-B50B-9593-9327-B0A5EBDEA4C1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1CB5714A-A062-FC33-82ED-561542CBE372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0B7779C3-63C7-198E-2A86-BF200CA933A1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0F871A15-97DB-7772-4B3E-9839A33CE12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Quick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A8CF5315-2401-1674-20BF-3FF67CD64F51}"/>
              </a:ext>
            </a:extLst>
          </p:cNvPr>
          <p:cNvSpPr txBox="1"/>
          <p:nvPr/>
        </p:nvSpPr>
        <p:spPr>
          <a:xfrm>
            <a:off x="3095752" y="2310181"/>
            <a:ext cx="8448040" cy="1286891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3600" dirty="0"/>
              <a:t>Event = Signal 🚨</a:t>
            </a:r>
            <a:br>
              <a:rPr lang="en-US" sz="3600" dirty="0"/>
            </a:br>
            <a:r>
              <a:rPr lang="en-US" sz="3600" dirty="0"/>
              <a:t>Incident = Actual problem 🔥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383924"/>
      </p:ext>
    </p:extLst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0AB36A-A38C-4CD8-A0D9-113B0DD6E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A241736-0C9E-53E9-C5EA-851E093111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0280" y="228601"/>
            <a:ext cx="9602520" cy="6503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743034"/>
      </p:ext>
    </p:extLst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AD955-79A0-4AD8-67BA-D0A411EBD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9EC25-17BC-4429-EA13-344E20EDB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8802" y="2807585"/>
            <a:ext cx="7472998" cy="615553"/>
          </a:xfrm>
        </p:spPr>
        <p:txBody>
          <a:bodyPr/>
          <a:lstStyle/>
          <a:p>
            <a:pPr algn="ctr"/>
            <a:r>
              <a:rPr lang="en-IN" dirty="0"/>
              <a:t>2.8 Problem Management</a:t>
            </a:r>
          </a:p>
        </p:txBody>
      </p:sp>
    </p:spTree>
    <p:extLst>
      <p:ext uri="{BB962C8B-B14F-4D97-AF65-F5344CB8AC3E}">
        <p14:creationId xmlns:p14="http://schemas.microsoft.com/office/powerpoint/2010/main" val="1505192720"/>
      </p:ext>
    </p:extLst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5ED64-31F4-4227-7CB5-0D0BE580A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B1FB29F-71CC-1029-C3EE-51E72D24894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9432E609-2815-B607-0D75-9E0EA96452E6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72BF974C-D1D6-C698-DCEA-9A55DAAD795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2BC495F4-2FCE-BD12-E438-7A180B8F2974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17EE9932-5B77-1A18-E446-5FD5F330100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Problem Management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498153DC-14EE-E4AD-A4D2-71F6A0DB5112}"/>
              </a:ext>
            </a:extLst>
          </p:cNvPr>
          <p:cNvSpPr txBox="1"/>
          <p:nvPr/>
        </p:nvSpPr>
        <p:spPr>
          <a:xfrm>
            <a:off x="3095752" y="2310181"/>
            <a:ext cx="8448040" cy="1840889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3600" dirty="0"/>
              <a:t>To reduce the likelihood and impact of incidents by identifying and managing the root causes of problems.</a:t>
            </a:r>
          </a:p>
        </p:txBody>
      </p:sp>
    </p:spTree>
    <p:extLst>
      <p:ext uri="{BB962C8B-B14F-4D97-AF65-F5344CB8AC3E}">
        <p14:creationId xmlns:p14="http://schemas.microsoft.com/office/powerpoint/2010/main" val="231234650"/>
      </p:ext>
    </p:extLst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EB4D6F-79D8-4DBB-85CD-5F01ED6DC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72F0C52-B1AD-5BD4-8C73-274A059CA4A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F9F92B19-9B20-C005-15CF-80946322FBBA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1316A148-87EB-6AF1-0DAF-A1B970C6F858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557FA64-7664-0252-62E1-C0FC63558BDA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87A15BC4-1978-9A2E-145E-D3CF5E17E14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What is a Problem?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AB0E6D40-6FA8-2929-F5E2-6386CA32328E}"/>
              </a:ext>
            </a:extLst>
          </p:cNvPr>
          <p:cNvSpPr txBox="1"/>
          <p:nvPr/>
        </p:nvSpPr>
        <p:spPr>
          <a:xfrm>
            <a:off x="3095752" y="2310181"/>
            <a:ext cx="8448040" cy="3502882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3600" dirty="0"/>
              <a:t>A cause, or potential cause, of one or more incidents.</a:t>
            </a:r>
          </a:p>
          <a:p>
            <a:r>
              <a:rPr lang="en-US" sz="3600" b="1" dirty="0"/>
              <a:t>Example:</a:t>
            </a:r>
            <a:endParaRPr lang="en-US" sz="3600" dirty="0"/>
          </a:p>
          <a:p>
            <a:r>
              <a:rPr lang="en-US" sz="3600" dirty="0"/>
              <a:t>Incident: ERP server crashes frequently</a:t>
            </a:r>
          </a:p>
          <a:p>
            <a:r>
              <a:rPr lang="en-US" sz="3600" dirty="0"/>
              <a:t>Problem: Faulty database configuration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6852602"/>
      </p:ext>
    </p:extLst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AE814D-532A-DF11-DCDB-C74973653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50EEAAD-79ED-F17A-4B9E-CF8C1A037AE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38F55C7F-15DD-CA67-54B0-B2B59047E533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FB8675DE-8C70-5303-7840-7AC2DCC693FA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359A6BD5-5426-964C-8EDC-0E797969B9F8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CC783C25-6121-709C-6CF9-841B8316192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Problem vs Incident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B8C70E3F-EADB-86BE-ADCC-39B25A7963F1}"/>
              </a:ext>
            </a:extLst>
          </p:cNvPr>
          <p:cNvSpPr txBox="1"/>
          <p:nvPr/>
        </p:nvSpPr>
        <p:spPr>
          <a:xfrm>
            <a:off x="3095752" y="2310181"/>
            <a:ext cx="8448040" cy="2948884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Incident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Restore service fast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Problem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Eliminate root cause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3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3600" dirty="0"/>
              <a:t>“Incidents are symptoms; problems are the disease.”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6825253"/>
      </p:ext>
    </p:extLst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5B841E-32A1-0467-3E46-2966ED541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38305E2-6024-C7AF-DCBB-E78D75B19FB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B7558914-F9B9-E1F8-61C8-7CD504B87602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0F33A5CF-6DF5-E9F4-AB49-E66B14A5E23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6DE4605-8699-94B0-1301-9CEE78851C19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998BBA46-7080-73DF-DE2A-419D99D2730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Key Activities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9334345E-0B4D-624C-6CE2-FEB66AC8CDB7}"/>
              </a:ext>
            </a:extLst>
          </p:cNvPr>
          <p:cNvSpPr txBox="1"/>
          <p:nvPr/>
        </p:nvSpPr>
        <p:spPr>
          <a:xfrm>
            <a:off x="3095752" y="2310181"/>
            <a:ext cx="8448040" cy="2948884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Identify problems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Analyse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root cause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Document known errors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 permanent solutions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Prevent recurrence</a:t>
            </a:r>
          </a:p>
        </p:txBody>
      </p:sp>
    </p:spTree>
    <p:extLst>
      <p:ext uri="{BB962C8B-B14F-4D97-AF65-F5344CB8AC3E}">
        <p14:creationId xmlns:p14="http://schemas.microsoft.com/office/powerpoint/2010/main" val="1999272639"/>
      </p:ext>
    </p:extLst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571548-64CA-9123-B632-44040C34B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67AD794-5BF4-5050-A182-261FAC6281D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0325AF4B-6E09-10C4-9775-1749B8CAB170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ED31EFD4-629B-1279-AB70-DC6E2FC664CB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89A1BF87-EF35-5DAE-BC61-F34A628FC66D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BC9F4F58-4C19-A790-1C6A-B81C2A7789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Phases of Problem Management</a:t>
            </a:r>
            <a:endParaRPr sz="4400" dirty="0">
              <a:latin typeface="Cambria"/>
              <a:cs typeface="Cambria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2552E44-89A0-5654-E26B-9267F44605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918" y="2188521"/>
            <a:ext cx="11218164" cy="2589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549050"/>
      </p:ext>
    </p:extLst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F53132-8635-9F95-0371-F48CC033A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439749C-1F9B-9940-2443-B56EE127557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910F970E-BB2E-78B4-4D3E-EEDF7B8DA060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03CE699B-B5D5-236C-F6CE-B0ED28DFAE4C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7E8E7AAF-8ED1-0013-497A-8BAC978F15ED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93D69FA1-DA22-2F9A-C7FA-F29D8C01D2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</a:t>
            </a:r>
            <a:r>
              <a:rPr lang="en-US" sz="4400" dirty="0"/>
              <a:t>Workaround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9C39F9F9-70C4-BAF7-42AB-6A4C45E6405A}"/>
              </a:ext>
            </a:extLst>
          </p:cNvPr>
          <p:cNvSpPr txBox="1"/>
          <p:nvPr/>
        </p:nvSpPr>
        <p:spPr>
          <a:xfrm>
            <a:off x="3095752" y="2310181"/>
            <a:ext cx="8448040" cy="1840889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3600" dirty="0"/>
              <a:t>A temporary solution used to reduce the impact of an incident or problem when the root cause is not yet fixed.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6235942"/>
      </p:ext>
    </p:extLst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CCCACB-5289-D1D2-71CB-B2CEA8EAF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C8D0B45-2994-B8A3-24D4-A4E77B9E793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0D09C420-9C42-82D7-D119-C47C64B09930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F9DBDE37-35A1-297E-EBE9-B40280E92F50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890C5A39-5763-7EE9-4EB6-17EE2652283A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01E0A911-7ECE-118A-BFB0-A34710B1F9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Known Error &amp; Error Control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D658A595-32FE-035E-805A-1DE7AB8286F4}"/>
              </a:ext>
            </a:extLst>
          </p:cNvPr>
          <p:cNvSpPr txBox="1"/>
          <p:nvPr/>
        </p:nvSpPr>
        <p:spPr>
          <a:xfrm>
            <a:off x="3095752" y="2310181"/>
            <a:ext cx="8448040" cy="2948884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3600" dirty="0"/>
              <a:t>A problem that has been </a:t>
            </a:r>
            <a:r>
              <a:rPr lang="en-US" sz="3600" dirty="0" err="1"/>
              <a:t>analysed</a:t>
            </a:r>
            <a:r>
              <a:rPr lang="en-US" sz="3600" dirty="0"/>
              <a:t> and has a documented root cause and workaround.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3600" dirty="0"/>
              <a:t>Error Control = Managing known errors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2353863"/>
      </p:ext>
    </p:extLst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7E9A22-AB15-8036-0A48-1F3B010C7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97FFEED-E39D-353E-415B-C14D982E05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1839274"/>
              </p:ext>
            </p:extLst>
          </p:nvPr>
        </p:nvGraphicFramePr>
        <p:xfrm>
          <a:off x="2057400" y="1371600"/>
          <a:ext cx="9318626" cy="3228975"/>
        </p:xfrm>
        <a:graphic>
          <a:graphicData uri="http://schemas.openxmlformats.org/drawingml/2006/table">
            <a:tbl>
              <a:tblPr/>
              <a:tblGrid>
                <a:gridCol w="4659313">
                  <a:extLst>
                    <a:ext uri="{9D8B030D-6E8A-4147-A177-3AD203B41FA5}">
                      <a16:colId xmlns:a16="http://schemas.microsoft.com/office/drawing/2014/main" val="781476480"/>
                    </a:ext>
                  </a:extLst>
                </a:gridCol>
                <a:gridCol w="4659313">
                  <a:extLst>
                    <a:ext uri="{9D8B030D-6E8A-4147-A177-3AD203B41FA5}">
                      <a16:colId xmlns:a16="http://schemas.microsoft.com/office/drawing/2014/main" val="633005991"/>
                    </a:ext>
                  </a:extLst>
                </a:gridCol>
              </a:tblGrid>
              <a:tr h="6457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Term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Meaning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0373902"/>
                  </a:ext>
                </a:extLst>
              </a:tr>
              <a:tr h="6457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Problem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Root cause unknown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8319783"/>
                  </a:ext>
                </a:extLst>
              </a:tr>
              <a:tr h="6457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Known Error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Root cause known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7874326"/>
                  </a:ext>
                </a:extLst>
              </a:tr>
              <a:tr h="6457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Workaround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Temporary solution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3484953"/>
                  </a:ext>
                </a:extLst>
              </a:tr>
              <a:tr h="6457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Error Control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Managing known errors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19766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0716542"/>
      </p:ext>
    </p:extLst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FCF73-0738-9A03-EA8A-52F1E5186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643F271-2C7C-DF9A-E865-B8DDA9DCB5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143894"/>
            <a:ext cx="9695410" cy="6333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744054"/>
      </p:ext>
    </p:extLst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002937-E5EB-FBE9-9B9B-0A2C0C76F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8C099-3CBD-7C84-C471-DFC62D04D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8802" y="2807585"/>
            <a:ext cx="7472998" cy="615553"/>
          </a:xfrm>
        </p:spPr>
        <p:txBody>
          <a:bodyPr/>
          <a:lstStyle/>
          <a:p>
            <a:pPr algn="ctr"/>
            <a:r>
              <a:rPr lang="en-IN" dirty="0"/>
              <a:t>2.9 Release Management</a:t>
            </a:r>
          </a:p>
        </p:txBody>
      </p:sp>
    </p:spTree>
    <p:extLst>
      <p:ext uri="{BB962C8B-B14F-4D97-AF65-F5344CB8AC3E}">
        <p14:creationId xmlns:p14="http://schemas.microsoft.com/office/powerpoint/2010/main" val="3615139099"/>
      </p:ext>
    </p:extLst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CB992-D439-20E5-F669-42139ACCC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0545769-AF32-716D-0CE9-675D0666C37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CCA16FA4-901D-18A2-7237-A02B2048D989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F495CDF8-5B18-6E55-6125-6964FF5F944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05867DE7-9747-B70A-03A1-48251DD8E29B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F9D166C4-785D-8248-D08D-9B5928F141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Release Management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CB11868C-0A08-2864-6EC5-5DE474D2DDA8}"/>
              </a:ext>
            </a:extLst>
          </p:cNvPr>
          <p:cNvSpPr txBox="1"/>
          <p:nvPr/>
        </p:nvSpPr>
        <p:spPr>
          <a:xfrm>
            <a:off x="3095752" y="2310181"/>
            <a:ext cx="8448040" cy="1840889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3600" dirty="0"/>
              <a:t>To make new and changed services and features available for use(</a:t>
            </a:r>
            <a:r>
              <a:rPr lang="en-IN" sz="3600" dirty="0"/>
              <a:t>deployed successfully)</a:t>
            </a:r>
            <a:r>
              <a:rPr lang="en-US" sz="3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35241310"/>
      </p:ext>
    </p:extLst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F5546-60DA-3763-1AFE-981238BAF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2D14538-8D3F-48DA-7F28-6B62C68321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CE6DAC21-14D4-7EC1-38F6-002A9C71E299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A1BD6E15-9C57-EF9D-A706-42A2CEC9CEDA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6CCB6E9F-C04E-AC76-1143-AF568FCD028A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A140F18E-7AC1-E199-605F-617EF9B0E50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What is a Release?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A340B23B-B44C-1DBE-E74D-C665018DECE5}"/>
              </a:ext>
            </a:extLst>
          </p:cNvPr>
          <p:cNvSpPr txBox="1"/>
          <p:nvPr/>
        </p:nvSpPr>
        <p:spPr>
          <a:xfrm>
            <a:off x="3095752" y="2310181"/>
            <a:ext cx="8448040" cy="1286891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3600" dirty="0"/>
              <a:t>A version of a service or product that is made available to users.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271881"/>
      </p:ext>
    </p:extLst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7E7EB-2B2A-76FA-C803-BE62992C5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0138B0E-1D0F-8851-7384-E5F081C31D4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B305D52A-A811-EC1E-8E2A-B4AB33CC8222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73AF1CC8-EA85-39CF-A44F-4D99528FF23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B72D1F4C-9C4B-6639-8FB5-B386128A8832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1127D9E5-D953-FD89-CF65-39B10F81C82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Types of Releases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7EAD304E-DAE8-0D67-C908-6078EF8BEAFA}"/>
              </a:ext>
            </a:extLst>
          </p:cNvPr>
          <p:cNvSpPr txBox="1"/>
          <p:nvPr/>
        </p:nvSpPr>
        <p:spPr>
          <a:xfrm>
            <a:off x="3095752" y="2310181"/>
            <a:ext cx="8448040" cy="2394886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Major release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Big changes (new version)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Minor release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Small improvements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Emergency release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Urgent fix</a:t>
            </a:r>
          </a:p>
        </p:txBody>
      </p:sp>
    </p:spTree>
    <p:extLst>
      <p:ext uri="{BB962C8B-B14F-4D97-AF65-F5344CB8AC3E}">
        <p14:creationId xmlns:p14="http://schemas.microsoft.com/office/powerpoint/2010/main" val="101732567"/>
      </p:ext>
    </p:extLst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4E66D6-32B4-5416-3DE1-3CCA782CE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5B39A02-2FE9-6CE6-019E-5A7CC96AE1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F414EFE4-665C-6511-7E8E-8C1D3B152DA7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BE994ED3-1565-B75D-9316-375F87F11DDD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80724204-B601-77DB-BA43-3397FAA0FDEF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FCFFB573-510C-4D94-A141-C134359336A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Key Activities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21DB6395-D1A2-9726-FB9E-42A2DD40D511}"/>
              </a:ext>
            </a:extLst>
          </p:cNvPr>
          <p:cNvSpPr txBox="1"/>
          <p:nvPr/>
        </p:nvSpPr>
        <p:spPr>
          <a:xfrm>
            <a:off x="3095752" y="2310181"/>
            <a:ext cx="8448040" cy="2948884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Plan releases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Build and test release packages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Deploy releases to production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Communicate release details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Review release success</a:t>
            </a:r>
          </a:p>
        </p:txBody>
      </p:sp>
    </p:spTree>
    <p:extLst>
      <p:ext uri="{BB962C8B-B14F-4D97-AF65-F5344CB8AC3E}">
        <p14:creationId xmlns:p14="http://schemas.microsoft.com/office/powerpoint/2010/main" val="2478761315"/>
      </p:ext>
    </p:extLst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39F8C-C09C-AB0E-55DB-7BA6202DB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CA2576D-ADA8-7E86-54AD-BB0B385EA0E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3C87AED6-1C84-0F65-69CC-22C05BCF76EC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06CBD338-9137-21A9-C449-340DE5244AE0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CA509E62-A47E-CEBA-F5EC-F7E2E8D0B700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82B8B2D1-34A0-A5E9-E6CD-DECBCBD5E1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Relationship with Other Practices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C57B1956-647B-950A-DFE9-FAF0A309F1DD}"/>
              </a:ext>
            </a:extLst>
          </p:cNvPr>
          <p:cNvSpPr txBox="1"/>
          <p:nvPr/>
        </p:nvSpPr>
        <p:spPr>
          <a:xfrm>
            <a:off x="3095752" y="2310181"/>
            <a:ext cx="8448040" cy="4056880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Change control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Authorizes changes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Service validation &amp; testing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Tests releases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Configuration management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Tracks components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Incident management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Handles release failures</a:t>
            </a:r>
          </a:p>
        </p:txBody>
      </p:sp>
    </p:spTree>
    <p:extLst>
      <p:ext uri="{BB962C8B-B14F-4D97-AF65-F5344CB8AC3E}">
        <p14:creationId xmlns:p14="http://schemas.microsoft.com/office/powerpoint/2010/main" val="247772694"/>
      </p:ext>
    </p:extLst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1EAB3-1317-FDA1-6B42-6C25747B3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5FC20B6-BCB4-E936-00AB-C531980675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2909" y="388356"/>
            <a:ext cx="6706181" cy="6081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588626"/>
      </p:ext>
    </p:extLst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67136-C13E-C8D7-FDEB-B226BF31C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DF428F2-5E10-596C-65F4-FABEDC7D0A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6409" y="304800"/>
            <a:ext cx="8849191" cy="6241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995420"/>
      </p:ext>
    </p:extLst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2103C2-2ED9-D523-D920-5520AF0DB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FC732-18BB-BE2A-6F29-671C243F2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8802" y="2807585"/>
            <a:ext cx="7472998" cy="1231106"/>
          </a:xfrm>
        </p:spPr>
        <p:txBody>
          <a:bodyPr/>
          <a:lstStyle/>
          <a:p>
            <a:pPr algn="ctr"/>
            <a:r>
              <a:rPr lang="en-IN" dirty="0"/>
              <a:t>2.10 Service Catalogue Management</a:t>
            </a:r>
          </a:p>
        </p:txBody>
      </p:sp>
    </p:spTree>
    <p:extLst>
      <p:ext uri="{BB962C8B-B14F-4D97-AF65-F5344CB8AC3E}">
        <p14:creationId xmlns:p14="http://schemas.microsoft.com/office/powerpoint/2010/main" val="4026545129"/>
      </p:ext>
    </p:extLst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31E7F0-48E8-F5FC-D2A3-723D3DC24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E1F537F-2379-7267-77B7-A70A7240B47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4C6BE56C-AECC-6F1F-3A38-7FD822FFD6E2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EC6A1E4C-A1EA-2654-81A3-5D26F09D4B6B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0717CDDE-6A69-1EAF-A0FC-948EE86707FA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F87E5AF3-B8DD-A406-AAB1-5D4D913D912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Service Catalogue Management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C83A970E-1CC9-EE37-E407-6F0929BAD6A7}"/>
              </a:ext>
            </a:extLst>
          </p:cNvPr>
          <p:cNvSpPr txBox="1"/>
          <p:nvPr/>
        </p:nvSpPr>
        <p:spPr>
          <a:xfrm>
            <a:off x="3095752" y="2310181"/>
            <a:ext cx="8448040" cy="2394886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3600" dirty="0"/>
              <a:t>To provide a single source of consistent information on all services and service offerings, ensuring it is available to relevant stakeholders.</a:t>
            </a:r>
          </a:p>
        </p:txBody>
      </p:sp>
    </p:spTree>
    <p:extLst>
      <p:ext uri="{BB962C8B-B14F-4D97-AF65-F5344CB8AC3E}">
        <p14:creationId xmlns:p14="http://schemas.microsoft.com/office/powerpoint/2010/main" val="1021051829"/>
      </p:ext>
    </p:extLst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6CD78-1371-4EC1-621C-49D9DD36D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A498B8C-5481-4DC2-873E-B4C2FD93D0C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168EF5A5-FA99-37B7-9A9C-DC192A8F3479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5C8999A1-9C89-2ED9-6DC2-3623538FC392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66F03E8A-9E13-915C-613A-62C8DA318FE9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A6D9C8DC-05C6-5344-FC81-E5BA734A051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What is a Service Catalogue?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C7996878-2982-7EFA-29C7-EFA751F578D0}"/>
              </a:ext>
            </a:extLst>
          </p:cNvPr>
          <p:cNvSpPr txBox="1"/>
          <p:nvPr/>
        </p:nvSpPr>
        <p:spPr>
          <a:xfrm>
            <a:off x="3095752" y="2310181"/>
            <a:ext cx="8448040" cy="2948884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3600" dirty="0"/>
              <a:t>A structured list of all live services offered by the service provider.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3600" dirty="0"/>
              <a:t>“If a service is not in the catalogue, it is not officially offered.”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954698"/>
      </p:ext>
    </p:extLst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039B9-231F-B6AD-8A4A-1AB137F3B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1F1F690-D79A-AED7-EEEF-3F8FFF811BE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BD340CD6-B320-1625-6185-8DF04195542F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49DC4402-30D8-350D-FA36-082474AE37D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B765B636-B8A4-5461-1C54-ADA264500B8A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F77C2B56-4245-7360-6013-8316134E2C8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What Information Does a Service Catalogue Contain?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0923C8C8-2C04-F52F-FA41-ECE556B416DA}"/>
              </a:ext>
            </a:extLst>
          </p:cNvPr>
          <p:cNvSpPr txBox="1"/>
          <p:nvPr/>
        </p:nvSpPr>
        <p:spPr>
          <a:xfrm>
            <a:off x="3095752" y="2310181"/>
            <a:ext cx="8448040" cy="2948884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Service name and description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Service owner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How to request the service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Service level details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Cost or charging (if applicable)</a:t>
            </a:r>
          </a:p>
        </p:txBody>
      </p:sp>
    </p:spTree>
    <p:extLst>
      <p:ext uri="{BB962C8B-B14F-4D97-AF65-F5344CB8AC3E}">
        <p14:creationId xmlns:p14="http://schemas.microsoft.com/office/powerpoint/2010/main" val="2726667379"/>
      </p:ext>
    </p:extLst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4FA521-76CA-BA04-57EB-8B51A627D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D701080-6F00-BBFB-6204-D9E82C4640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D0D8205E-6436-6CA2-D6F0-FDBCA1006BC5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96BF8E2F-D2C0-5D53-6574-C5B32EC2041A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D6301225-746E-46B0-4E7B-C5D4F2E136BF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DC4BE1E6-312B-2D6B-4EED-96BC4680D64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Why Service Catalogue Management is Important?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E1578FCF-774E-FCF6-1C49-B7FDD7EC6459}"/>
              </a:ext>
            </a:extLst>
          </p:cNvPr>
          <p:cNvSpPr txBox="1"/>
          <p:nvPr/>
        </p:nvSpPr>
        <p:spPr>
          <a:xfrm>
            <a:off x="3095752" y="2310181"/>
            <a:ext cx="8448040" cy="4056880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Improves transparency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Helps users know available services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Supports service request management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Reduces confusion and ad-hoc requests</a:t>
            </a:r>
          </a:p>
          <a:p>
            <a:br>
              <a:rPr lang="en-US" sz="3600" dirty="0"/>
            </a:br>
            <a:r>
              <a:rPr lang="en-US" sz="3600" dirty="0"/>
              <a:t>Catalogue = clarity.</a:t>
            </a:r>
          </a:p>
        </p:txBody>
      </p:sp>
    </p:spTree>
    <p:extLst>
      <p:ext uri="{BB962C8B-B14F-4D97-AF65-F5344CB8AC3E}">
        <p14:creationId xmlns:p14="http://schemas.microsoft.com/office/powerpoint/2010/main" val="2482671453"/>
      </p:ext>
    </p:extLst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6BE4EC-A65A-0FD5-6BF8-C646123BD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702FC6E-D5C9-BF7B-3A33-0B5B25F9F7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326691"/>
            <a:ext cx="8628608" cy="6204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9402341"/>
      </p:ext>
    </p:extLst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DB9C7-A57B-2CD2-662E-9BC1AC6C7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E12B5-B6E6-506C-0B51-3A5E9BFA4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8802" y="2807585"/>
            <a:ext cx="7472998" cy="1231106"/>
          </a:xfrm>
        </p:spPr>
        <p:txBody>
          <a:bodyPr/>
          <a:lstStyle/>
          <a:p>
            <a:pPr algn="ctr"/>
            <a:r>
              <a:rPr lang="en-IN" dirty="0"/>
              <a:t>2.11 Service Configuration Management</a:t>
            </a:r>
          </a:p>
        </p:txBody>
      </p:sp>
    </p:spTree>
    <p:extLst>
      <p:ext uri="{BB962C8B-B14F-4D97-AF65-F5344CB8AC3E}">
        <p14:creationId xmlns:p14="http://schemas.microsoft.com/office/powerpoint/2010/main" val="3446557850"/>
      </p:ext>
    </p:extLst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EBA8D-A35A-0F3F-0532-C5ED3AE30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04670EF-D14C-B13D-E5F0-4CCDFF2BC73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43CF6FDC-1D31-14E4-96BB-C7E965A766E5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17FC6248-1D35-6E29-7E4F-E2BFDC719B4A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EB35F237-6EE1-CFBD-AA5B-AE87F85C5292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E05FB0CE-B852-2534-E1C7-907F954CB07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Service Configuration Management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FD0AAF79-A88D-ED4D-5437-0F7339A93899}"/>
              </a:ext>
            </a:extLst>
          </p:cNvPr>
          <p:cNvSpPr txBox="1"/>
          <p:nvPr/>
        </p:nvSpPr>
        <p:spPr>
          <a:xfrm>
            <a:off x="3095752" y="2310181"/>
            <a:ext cx="8448040" cy="2394886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3600" dirty="0"/>
              <a:t>To provide a single source of consistent information on all services and service offerings, ensuring it is available to relevant stakeholders.</a:t>
            </a:r>
          </a:p>
        </p:txBody>
      </p:sp>
    </p:spTree>
    <p:extLst>
      <p:ext uri="{BB962C8B-B14F-4D97-AF65-F5344CB8AC3E}">
        <p14:creationId xmlns:p14="http://schemas.microsoft.com/office/powerpoint/2010/main" val="2197202298"/>
      </p:ext>
    </p:extLst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D1F807-8C75-9180-22D4-3808C89EF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E83BFAD-29AA-1104-C55B-7C5BFC1AFE4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65774C88-B56B-4074-5C9E-4FF0DCCDAEA6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6FF2A37E-BCD0-7437-2752-5E5B50F1FE40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CA721182-0577-9D73-3B63-368CEF54F239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20BD794F-0D41-ABAD-525D-00E57F91279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</a:t>
            </a:r>
            <a:r>
              <a:rPr lang="en-US" sz="4400" dirty="0"/>
              <a:t>What is a Configuration Item (CI)?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851FA65D-8ADC-86A1-89B3-3A6DBE5F27D9}"/>
              </a:ext>
            </a:extLst>
          </p:cNvPr>
          <p:cNvSpPr txBox="1"/>
          <p:nvPr/>
        </p:nvSpPr>
        <p:spPr>
          <a:xfrm>
            <a:off x="3095752" y="2310181"/>
            <a:ext cx="8448040" cy="3502882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3600" b="1" dirty="0"/>
              <a:t>Configuration Item (CI):</a:t>
            </a:r>
            <a:br>
              <a:rPr lang="en-US" sz="3600" dirty="0"/>
            </a:br>
            <a:r>
              <a:rPr lang="en-US" sz="3600" dirty="0"/>
              <a:t>Any component that needs to be managed to deliver a service.</a:t>
            </a:r>
          </a:p>
          <a:p>
            <a:r>
              <a:rPr lang="en-US" sz="3600" b="1" dirty="0"/>
              <a:t>Examples:</a:t>
            </a:r>
            <a:endParaRPr lang="en-US" sz="3600" dirty="0"/>
          </a:p>
          <a:p>
            <a:r>
              <a:rPr lang="en-US" sz="3600" dirty="0" err="1"/>
              <a:t>Servers,Applications,Databases,Network</a:t>
            </a:r>
            <a:r>
              <a:rPr lang="en-US" sz="3600" dirty="0"/>
              <a:t>, </a:t>
            </a:r>
            <a:r>
              <a:rPr lang="en-US" sz="3600" dirty="0" err="1"/>
              <a:t>devices,Documents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509690466"/>
      </p:ext>
    </p:extLst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06166-7F4E-CD11-BDB5-BF518E7EA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5CB67A4-7CB5-809B-DB76-E5DF56923EF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BBFF5C21-F8BD-CA0F-4076-F2A142818BAF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9F1C483E-0B97-54A4-C7DE-3BC7A2349DBF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9690D8F8-75B4-65FA-AD31-33F7E5BEE2AF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46BD0E39-D35E-56B4-15D6-F96873006AD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Configuration Management Database (CMDB)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C9396D0C-7F1C-3AD4-9DC0-EDD54BCC25B5}"/>
              </a:ext>
            </a:extLst>
          </p:cNvPr>
          <p:cNvSpPr txBox="1"/>
          <p:nvPr/>
        </p:nvSpPr>
        <p:spPr>
          <a:xfrm>
            <a:off x="3095752" y="2310181"/>
            <a:ext cx="8448040" cy="1286891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3600" dirty="0"/>
              <a:t>A database that stores information about CIs and their relationships.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3300823"/>
      </p:ext>
    </p:extLst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1C0379-E7E7-0F53-660F-62AA350E9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EC1E3BA-544F-E5BD-4248-0E2D373CB04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EF2168B2-0F04-7370-3F12-E093ABBF8D59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C59ACDC0-976C-D250-5391-B13793E254D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D0621B1F-0261-54CA-B753-FA77FDF9900C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D32F2054-7FD0-DFDA-27B9-E37E5BA6DF5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Key Activities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4BBF9F30-36D0-5ED6-7D37-7513B0137320}"/>
              </a:ext>
            </a:extLst>
          </p:cNvPr>
          <p:cNvSpPr txBox="1"/>
          <p:nvPr/>
        </p:nvSpPr>
        <p:spPr>
          <a:xfrm>
            <a:off x="3095752" y="2310181"/>
            <a:ext cx="8448040" cy="2948884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Identify and record CIs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Maintain CI information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Control changes to CIs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Verify and audit configurations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Manage relationships between CIs</a:t>
            </a:r>
          </a:p>
        </p:txBody>
      </p:sp>
    </p:spTree>
    <p:extLst>
      <p:ext uri="{BB962C8B-B14F-4D97-AF65-F5344CB8AC3E}">
        <p14:creationId xmlns:p14="http://schemas.microsoft.com/office/powerpoint/2010/main" val="2787175271"/>
      </p:ext>
    </p:extLst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A1229-E398-DD18-BF15-B930E7F8E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46775A7-0C66-AC32-5F46-2B1F38D75B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419146"/>
            <a:ext cx="8229600" cy="6019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448240"/>
      </p:ext>
    </p:extLst>
  </p:cSld>
  <p:clrMapOvr>
    <a:masterClrMapping/>
  </p:clrMapOvr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670553-4FF9-BD51-A96D-A667FFE27B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7F263-A2CE-929A-7DE7-F3DBEADC5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8802" y="2807585"/>
            <a:ext cx="7472998" cy="1231106"/>
          </a:xfrm>
        </p:spPr>
        <p:txBody>
          <a:bodyPr/>
          <a:lstStyle/>
          <a:p>
            <a:pPr algn="ctr"/>
            <a:r>
              <a:rPr lang="en-IN" dirty="0"/>
              <a:t>2.12 Service Continuity Management</a:t>
            </a:r>
          </a:p>
        </p:txBody>
      </p:sp>
    </p:spTree>
    <p:extLst>
      <p:ext uri="{BB962C8B-B14F-4D97-AF65-F5344CB8AC3E}">
        <p14:creationId xmlns:p14="http://schemas.microsoft.com/office/powerpoint/2010/main" val="894663132"/>
      </p:ext>
    </p:extLst>
  </p:cSld>
  <p:clrMapOvr>
    <a:masterClrMapping/>
  </p:clrMapOvr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E34042-0E7D-7F5D-1E29-097C2C8CB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B13922E-8E32-DCB6-5031-ED37CED8385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0720C5D7-8018-2C3A-F77A-E414DC405C54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29562CE0-4826-3C6B-F4B4-86D7A100EC5D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B49BD021-0F3E-F8EE-707D-03894508AE26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A3D7E238-92CA-EFB0-586B-D8AE06547D7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Service Continuity Management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41324236-C433-7E91-FDDF-C5A866918EBB}"/>
              </a:ext>
            </a:extLst>
          </p:cNvPr>
          <p:cNvSpPr txBox="1"/>
          <p:nvPr/>
        </p:nvSpPr>
        <p:spPr>
          <a:xfrm>
            <a:off x="3095752" y="2310181"/>
            <a:ext cx="8448040" cy="1840889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3600" dirty="0"/>
              <a:t>To ensure that services can continue or be recovered within agreed time frames after a disruptive event.</a:t>
            </a:r>
          </a:p>
        </p:txBody>
      </p:sp>
    </p:spTree>
    <p:extLst>
      <p:ext uri="{BB962C8B-B14F-4D97-AF65-F5344CB8AC3E}">
        <p14:creationId xmlns:p14="http://schemas.microsoft.com/office/powerpoint/2010/main" val="2963693662"/>
      </p:ext>
    </p:extLst>
  </p:cSld>
  <p:clrMapOvr>
    <a:masterClrMapping/>
  </p:clrMapOvr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5298C8-98F1-0427-9E9E-12C6C9A52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4CA1821-D06B-62C2-968C-0F2B26C2192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6E80A1D8-74AA-B2F4-B527-0B1F7CB0E17B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A247AA91-BC69-1B44-D880-CC41B7BEDC62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35570B7D-895B-16F9-C3C9-16EF8C68BC0A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2CB5D9F8-7085-9596-7EBA-C704C1FDBE1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What is Service Continuity?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AAAA65F5-602B-1F49-674D-DEA3E9D5E2C3}"/>
              </a:ext>
            </a:extLst>
          </p:cNvPr>
          <p:cNvSpPr txBox="1"/>
          <p:nvPr/>
        </p:nvSpPr>
        <p:spPr>
          <a:xfrm>
            <a:off x="3095752" y="2310181"/>
            <a:ext cx="8448040" cy="1840889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3600" dirty="0"/>
              <a:t>Ability of an organization to continue delivering services at acceptable levels after disruption.</a:t>
            </a:r>
          </a:p>
        </p:txBody>
      </p:sp>
    </p:spTree>
    <p:extLst>
      <p:ext uri="{BB962C8B-B14F-4D97-AF65-F5344CB8AC3E}">
        <p14:creationId xmlns:p14="http://schemas.microsoft.com/office/powerpoint/2010/main" val="137269430"/>
      </p:ext>
    </p:extLst>
  </p:cSld>
  <p:clrMapOvr>
    <a:masterClrMapping/>
  </p:clrMapOvr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013CA-F36B-A7D1-45B8-49AF9CEF2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601A929-FD24-E586-C687-9363E44E58B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9A7203CC-BED4-69F1-6954-B40B5AF997D4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5134BCE4-E5E7-530F-09DF-196D14C9BA63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5289E849-2A51-45C2-9068-C720D951FBF8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8EE68913-900E-A5EC-769D-AAF1AA45081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Key Activities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DBBC0BBF-CB79-D51D-4ADB-DB33458783FE}"/>
              </a:ext>
            </a:extLst>
          </p:cNvPr>
          <p:cNvSpPr txBox="1"/>
          <p:nvPr/>
        </p:nvSpPr>
        <p:spPr>
          <a:xfrm>
            <a:off x="3095752" y="2310181"/>
            <a:ext cx="8448040" cy="2948884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Identify critical services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 risk assessment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 continuity plans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 recovery plans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Review and improve plans</a:t>
            </a:r>
          </a:p>
        </p:txBody>
      </p:sp>
    </p:spTree>
    <p:extLst>
      <p:ext uri="{BB962C8B-B14F-4D97-AF65-F5344CB8AC3E}">
        <p14:creationId xmlns:p14="http://schemas.microsoft.com/office/powerpoint/2010/main" val="3381482670"/>
      </p:ext>
    </p:extLst>
  </p:cSld>
  <p:clrMapOvr>
    <a:masterClrMapping/>
  </p:clrMapOvr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41F905-D571-9F34-48C3-06EBA1B04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666249B-15DD-2DFA-4287-0F67B5E14CB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C3E6B7EE-E835-2F4B-BC0C-E31824160C2C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746BAB21-4B79-FC46-BBDC-BB88A53D041F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ED46AD28-7A14-7AD3-4A75-CA84B62EED34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1CCB9899-F160-7551-F3B3-3FE487A7F7D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Relationship with Other Practices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962C4908-C2B6-AF6E-4995-41EE8BBE3751}"/>
              </a:ext>
            </a:extLst>
          </p:cNvPr>
          <p:cNvSpPr txBox="1"/>
          <p:nvPr/>
        </p:nvSpPr>
        <p:spPr>
          <a:xfrm>
            <a:off x="3095752" y="2310181"/>
            <a:ext cx="8448040" cy="2948884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Availability management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uptime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Incident management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short-term recovery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Problem management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root cause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Risk management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threats</a:t>
            </a:r>
          </a:p>
        </p:txBody>
      </p:sp>
    </p:spTree>
    <p:extLst>
      <p:ext uri="{BB962C8B-B14F-4D97-AF65-F5344CB8AC3E}">
        <p14:creationId xmlns:p14="http://schemas.microsoft.com/office/powerpoint/2010/main" val="2572088880"/>
      </p:ext>
    </p:extLst>
  </p:cSld>
  <p:clrMapOvr>
    <a:masterClrMapping/>
  </p:clrMapOvr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B3DDCA-771D-5C52-11B4-649693D62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2FE1431-D448-2D75-9B93-971036E17D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254121"/>
            <a:ext cx="8534400" cy="6349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758407"/>
      </p:ext>
    </p:extLst>
  </p:cSld>
  <p:clrMapOvr>
    <a:masterClrMapping/>
  </p:clrMapOvr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70FE29-DFCE-6090-13CD-04DA9B8CE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C7EF5-B6B8-44D7-2A92-404B476BF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8802" y="2807585"/>
            <a:ext cx="7472998" cy="615553"/>
          </a:xfrm>
        </p:spPr>
        <p:txBody>
          <a:bodyPr/>
          <a:lstStyle/>
          <a:p>
            <a:pPr algn="ctr"/>
            <a:r>
              <a:rPr lang="en-IN" dirty="0"/>
              <a:t>2.13 Service Design</a:t>
            </a:r>
          </a:p>
        </p:txBody>
      </p:sp>
    </p:spTree>
    <p:extLst>
      <p:ext uri="{BB962C8B-B14F-4D97-AF65-F5344CB8AC3E}">
        <p14:creationId xmlns:p14="http://schemas.microsoft.com/office/powerpoint/2010/main" val="3312466294"/>
      </p:ext>
    </p:extLst>
  </p:cSld>
  <p:clrMapOvr>
    <a:masterClrMapping/>
  </p:clrMapOvr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41F1BD-AD8E-F2D7-A9C8-97CC42765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E765963-CC73-30FE-093E-602F748A700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6A450C25-B491-55CE-3B7D-61A45469B892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8DA55A1C-FB28-ABE3-774D-5645638A268A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5B60BF8F-3C05-FC39-9B64-E07AF05A2E53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868B137F-083B-93C3-13D7-A701E3E6E1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Service Design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C19AE21E-BCC1-3D61-0198-6FA2D4F163F9}"/>
              </a:ext>
            </a:extLst>
          </p:cNvPr>
          <p:cNvSpPr txBox="1"/>
          <p:nvPr/>
        </p:nvSpPr>
        <p:spPr>
          <a:xfrm>
            <a:off x="3095752" y="2310181"/>
            <a:ext cx="8448040" cy="1840889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3600" dirty="0"/>
              <a:t>To design products and services that are fit for purpose, fit for use, and deliver value to customers.</a:t>
            </a:r>
          </a:p>
        </p:txBody>
      </p:sp>
    </p:spTree>
    <p:extLst>
      <p:ext uri="{BB962C8B-B14F-4D97-AF65-F5344CB8AC3E}">
        <p14:creationId xmlns:p14="http://schemas.microsoft.com/office/powerpoint/2010/main" val="3562206091"/>
      </p:ext>
    </p:extLst>
  </p:cSld>
  <p:clrMapOvr>
    <a:masterClrMapping/>
  </p:clrMapOvr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2B0EC-7FD0-6343-780A-418E63055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2CDA55F-F9D3-E897-757D-BF9D184872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E8D42DB0-F4DE-4155-6D00-75FAD77B3CC4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C5896A14-644C-FAC4-F195-2993F5ADACA8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2DCB4B8D-CABE-F680-CAD0-B8DA53A935E5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7CAE8D6A-6766-DE61-489E-ABF7E585F2A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What is Service Design?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B4CCA4AE-0AB7-E607-AC5E-E2AFF8E8C4A9}"/>
              </a:ext>
            </a:extLst>
          </p:cNvPr>
          <p:cNvSpPr txBox="1"/>
          <p:nvPr/>
        </p:nvSpPr>
        <p:spPr>
          <a:xfrm>
            <a:off x="3095752" y="2310181"/>
            <a:ext cx="8448040" cy="2948884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3600" b="1" dirty="0"/>
              <a:t>Service Design focuses on:</a:t>
            </a:r>
            <a:endParaRPr lang="en-US" sz="3600" dirty="0"/>
          </a:p>
          <a:p>
            <a:r>
              <a:rPr lang="en-US" sz="3600" dirty="0"/>
              <a:t>Customer needs</a:t>
            </a:r>
          </a:p>
          <a:p>
            <a:r>
              <a:rPr lang="en-US" sz="3600" dirty="0"/>
              <a:t>Business requirements</a:t>
            </a:r>
          </a:p>
          <a:p>
            <a:r>
              <a:rPr lang="en-US" sz="3600" dirty="0"/>
              <a:t>Service quality</a:t>
            </a:r>
          </a:p>
          <a:p>
            <a:r>
              <a:rPr lang="en-US" sz="3600" dirty="0"/>
              <a:t>Cost and risk</a:t>
            </a:r>
          </a:p>
        </p:txBody>
      </p:sp>
    </p:spTree>
    <p:extLst>
      <p:ext uri="{BB962C8B-B14F-4D97-AF65-F5344CB8AC3E}">
        <p14:creationId xmlns:p14="http://schemas.microsoft.com/office/powerpoint/2010/main" val="436566198"/>
      </p:ext>
    </p:extLst>
  </p:cSld>
  <p:clrMapOvr>
    <a:masterClrMapping/>
  </p:clrMapOvr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1D8CC1-5B64-0A55-AD47-9B20ED121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429947F-1829-ADE9-CA64-0B4A1E72D1B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5FE0181F-9B67-4840-85FE-3B4E9DE60B28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BFE9062B-5501-E5CF-5DB1-65338908CC43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AE7616D9-A36C-34EA-F035-09A030F807A1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89751E60-0DD8-6ACF-AD23-3B42F1B3BC3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Key Activities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8AC4003A-393B-E011-D426-A0B230621974}"/>
              </a:ext>
            </a:extLst>
          </p:cNvPr>
          <p:cNvSpPr txBox="1"/>
          <p:nvPr/>
        </p:nvSpPr>
        <p:spPr>
          <a:xfrm>
            <a:off x="3095752" y="2310181"/>
            <a:ext cx="8448040" cy="3502882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Design new services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Design changes to services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Design service architectures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Design service metrics and SLAs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Design for availability, capacity, continuity, security</a:t>
            </a:r>
          </a:p>
        </p:txBody>
      </p:sp>
    </p:spTree>
    <p:extLst>
      <p:ext uri="{BB962C8B-B14F-4D97-AF65-F5344CB8AC3E}">
        <p14:creationId xmlns:p14="http://schemas.microsoft.com/office/powerpoint/2010/main" val="3716904230"/>
      </p:ext>
    </p:extLst>
  </p:cSld>
  <p:clrMapOvr>
    <a:masterClrMapping/>
  </p:clrMapOvr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1B720B-3CD7-F46A-6BD6-08B5DF5B5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FCA997B-9749-8D70-ED5A-CA5AE64CAD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0" y="344709"/>
            <a:ext cx="8915400" cy="6330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896537"/>
      </p:ext>
    </p:extLst>
  </p:cSld>
  <p:clrMapOvr>
    <a:masterClrMapping/>
  </p:clrMapOvr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C2D080-4725-3B64-5570-3F60A7CAAD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ADD23-003B-7037-98FE-57025B0CC0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8802" y="2807585"/>
            <a:ext cx="7472998" cy="615553"/>
          </a:xfrm>
        </p:spPr>
        <p:txBody>
          <a:bodyPr/>
          <a:lstStyle/>
          <a:p>
            <a:pPr algn="ctr"/>
            <a:r>
              <a:rPr lang="en-IN" dirty="0"/>
              <a:t>2.14 Service Desk</a:t>
            </a:r>
          </a:p>
        </p:txBody>
      </p:sp>
    </p:spTree>
    <p:extLst>
      <p:ext uri="{BB962C8B-B14F-4D97-AF65-F5344CB8AC3E}">
        <p14:creationId xmlns:p14="http://schemas.microsoft.com/office/powerpoint/2010/main" val="4056713320"/>
      </p:ext>
    </p:extLst>
  </p:cSld>
  <p:clrMapOvr>
    <a:masterClrMapping/>
  </p:clrMapOvr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F1880B-B946-5C6B-3B80-D15141FFD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E9A4721-9414-8118-B498-D6359657261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52E62441-DA2E-4997-D44A-242A81DF1022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FC1B3E82-A5E1-1EEA-9C49-71848E5FA84A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E9CA9546-6BA3-1CD8-C3B9-2F87BF26A264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AE263C4F-594A-8A64-DC50-5C978AFEBE1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Service Desk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6B9C307A-F8A5-B91B-61FF-292FB3C6075C}"/>
              </a:ext>
            </a:extLst>
          </p:cNvPr>
          <p:cNvSpPr txBox="1"/>
          <p:nvPr/>
        </p:nvSpPr>
        <p:spPr>
          <a:xfrm>
            <a:off x="3095752" y="2310181"/>
            <a:ext cx="8448040" cy="2394886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3600" dirty="0"/>
              <a:t>To capture demand for incident resolution and service requests, and to be the single point of contact between users and the service provider.</a:t>
            </a:r>
          </a:p>
        </p:txBody>
      </p:sp>
    </p:spTree>
    <p:extLst>
      <p:ext uri="{BB962C8B-B14F-4D97-AF65-F5344CB8AC3E}">
        <p14:creationId xmlns:p14="http://schemas.microsoft.com/office/powerpoint/2010/main" val="1432129735"/>
      </p:ext>
    </p:extLst>
  </p:cSld>
  <p:clrMapOvr>
    <a:masterClrMapping/>
  </p:clrMapOvr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CF948-84C4-9A5F-B977-3209EFD91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004F49E-939E-754A-A130-309A5BDFC15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4B9DA843-F574-8115-D15A-ECBA40FD3D53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3BEB3A06-6384-452E-B134-64A289846036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A1B4D53E-75DB-92C7-E13C-5DDD3DD832AC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C5518A3F-8D9C-D7BD-A355-0FEF6EE874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What is Service Desk?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2ED7C1C9-8393-9CE9-683C-02EF8A4EF07D}"/>
              </a:ext>
            </a:extLst>
          </p:cNvPr>
          <p:cNvSpPr txBox="1"/>
          <p:nvPr/>
        </p:nvSpPr>
        <p:spPr>
          <a:xfrm>
            <a:off x="3095752" y="2310181"/>
            <a:ext cx="8448040" cy="4056880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3600" dirty="0"/>
              <a:t>A centralized function that handles:</a:t>
            </a:r>
          </a:p>
          <a:p>
            <a:r>
              <a:rPr lang="en-US" sz="3600" dirty="0"/>
              <a:t>Incidents</a:t>
            </a:r>
          </a:p>
          <a:p>
            <a:r>
              <a:rPr lang="en-US" sz="3600" dirty="0"/>
              <a:t>Service requests</a:t>
            </a:r>
          </a:p>
          <a:p>
            <a:r>
              <a:rPr lang="en-US" sz="3600" dirty="0"/>
              <a:t>User communication</a:t>
            </a:r>
          </a:p>
          <a:p>
            <a:r>
              <a:rPr lang="en-US" sz="3600" b="1" dirty="0"/>
              <a:t>Example:</a:t>
            </a:r>
            <a:br>
              <a:rPr lang="en-US" sz="3600" dirty="0"/>
            </a:br>
            <a:r>
              <a:rPr lang="en-US" sz="3600" dirty="0"/>
              <a:t>College IT helpdesk for ERP, email, Wi-Fi issues.</a:t>
            </a:r>
          </a:p>
        </p:txBody>
      </p:sp>
    </p:spTree>
    <p:extLst>
      <p:ext uri="{BB962C8B-B14F-4D97-AF65-F5344CB8AC3E}">
        <p14:creationId xmlns:p14="http://schemas.microsoft.com/office/powerpoint/2010/main" val="1609592653"/>
      </p:ext>
    </p:extLst>
  </p:cSld>
  <p:clrMapOvr>
    <a:masterClrMapping/>
  </p:clrMapOvr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5B3595-9B16-98D1-E26D-4386B59844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8538FAA-F920-1334-2E98-612DCACD106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597487E0-A99D-FE3D-61A8-3AEB49221E51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9A070CDA-BA49-AD1A-A77F-8B49BED0F3A9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CBAB57A0-7D97-AF89-4456-5A024EF580F4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8609E5F6-92B1-11CD-01D1-6CED3263B6C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Types of Service Desk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2D76FDB8-A936-3DA4-5A5A-FE70E078904D}"/>
              </a:ext>
            </a:extLst>
          </p:cNvPr>
          <p:cNvSpPr txBox="1"/>
          <p:nvPr/>
        </p:nvSpPr>
        <p:spPr>
          <a:xfrm>
            <a:off x="3095752" y="2310181"/>
            <a:ext cx="8448040" cy="2394886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Centralized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One location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Decentralized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Multiple locations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Virtual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Remote / online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Follow-the-sun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24×7 global support</a:t>
            </a:r>
          </a:p>
        </p:txBody>
      </p:sp>
    </p:spTree>
    <p:extLst>
      <p:ext uri="{BB962C8B-B14F-4D97-AF65-F5344CB8AC3E}">
        <p14:creationId xmlns:p14="http://schemas.microsoft.com/office/powerpoint/2010/main" val="730767984"/>
      </p:ext>
    </p:extLst>
  </p:cSld>
  <p:clrMapOvr>
    <a:masterClrMapping/>
  </p:clrMapOvr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F68DFE-0B2D-6048-73B5-EB72C0098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7EA3E14-BCF6-411E-DB4F-829692619FB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87490ACD-7EC7-4F32-EA65-DD39F34247BA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9E949CB6-5F53-7083-50C5-39A0A218A7D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64EE0FC4-2C38-ED4C-2324-39C76C5000DA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59924B53-2858-D690-4306-1A93CDAAB40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Key Activities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AB3ED32A-291D-8B4F-7228-931554234085}"/>
              </a:ext>
            </a:extLst>
          </p:cNvPr>
          <p:cNvSpPr txBox="1"/>
          <p:nvPr/>
        </p:nvSpPr>
        <p:spPr>
          <a:xfrm>
            <a:off x="3095752" y="2310181"/>
            <a:ext cx="8448040" cy="2948884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 incidents and requests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 first-level support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Communicate with users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Escalate issues when needed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Keep users informed</a:t>
            </a:r>
          </a:p>
        </p:txBody>
      </p:sp>
    </p:spTree>
    <p:extLst>
      <p:ext uri="{BB962C8B-B14F-4D97-AF65-F5344CB8AC3E}">
        <p14:creationId xmlns:p14="http://schemas.microsoft.com/office/powerpoint/2010/main" val="167107028"/>
      </p:ext>
    </p:extLst>
  </p:cSld>
  <p:clrMapOvr>
    <a:masterClrMapping/>
  </p:clrMapOvr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A5DE9-3C31-C7B1-6ED7-C982F650F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F99B13A-3114-9E7A-2D2F-872965514C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0" y="423483"/>
            <a:ext cx="8534400" cy="6120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357499"/>
      </p:ext>
    </p:extLst>
  </p:cSld>
  <p:clrMapOvr>
    <a:masterClrMapping/>
  </p:clrMapOvr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E8B1A-DBC7-190E-F3FB-9357E9709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D9930-B8CD-B1A7-FC12-6A62BC20E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8802" y="2807585"/>
            <a:ext cx="7472998" cy="1231106"/>
          </a:xfrm>
        </p:spPr>
        <p:txBody>
          <a:bodyPr/>
          <a:lstStyle/>
          <a:p>
            <a:pPr algn="ctr"/>
            <a:r>
              <a:rPr lang="en-IN" dirty="0"/>
              <a:t>2.15 Service Level Management</a:t>
            </a:r>
          </a:p>
        </p:txBody>
      </p:sp>
    </p:spTree>
    <p:extLst>
      <p:ext uri="{BB962C8B-B14F-4D97-AF65-F5344CB8AC3E}">
        <p14:creationId xmlns:p14="http://schemas.microsoft.com/office/powerpoint/2010/main" val="3036929253"/>
      </p:ext>
    </p:extLst>
  </p:cSld>
  <p:clrMapOvr>
    <a:masterClrMapping/>
  </p:clrMapOvr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5C5E15-B7E7-6F5A-AAAD-552434851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D1A22A1-0EAA-78CC-323E-4AAA806C9E00}"/>
              </a:ext>
            </a:extLst>
          </p:cNvPr>
          <p:cNvSpPr/>
          <p:nvPr/>
        </p:nvSpPr>
        <p:spPr>
          <a:xfrm>
            <a:off x="0" y="7620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69A1AC05-31F5-E805-863E-0345F4C31115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B0F1241E-8F31-FCF0-36BA-B2E7573E5898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6864346E-CED2-ACB7-8493-A0CA040E42BB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7967FF6F-49AB-4674-789C-A2487BB6472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Service Level Management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E356146F-453C-313A-DF4C-D0D8097B5B6B}"/>
              </a:ext>
            </a:extLst>
          </p:cNvPr>
          <p:cNvSpPr txBox="1"/>
          <p:nvPr/>
        </p:nvSpPr>
        <p:spPr>
          <a:xfrm>
            <a:off x="3095752" y="2310181"/>
            <a:ext cx="8448040" cy="2394886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3600" dirty="0"/>
              <a:t>To set clear business-based targets for service performance so that delivery of a service can be properly assessed, monitored, and managed.</a:t>
            </a:r>
          </a:p>
        </p:txBody>
      </p:sp>
    </p:spTree>
    <p:extLst>
      <p:ext uri="{BB962C8B-B14F-4D97-AF65-F5344CB8AC3E}">
        <p14:creationId xmlns:p14="http://schemas.microsoft.com/office/powerpoint/2010/main" val="1463719282"/>
      </p:ext>
    </p:extLst>
  </p:cSld>
  <p:clrMapOvr>
    <a:masterClrMapping/>
  </p:clrMapOvr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B10990-22A9-2200-5A62-646F4A067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C502FE4-DF8E-CC7E-11A5-2F1FC508674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4F85B488-93F4-0D52-2958-F52E4B29825D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2F8D4764-EEC3-497C-4DB9-2235F1B2FA53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1A9CDB8E-FEC9-6CAD-B69D-F8218C3A0630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09290B23-DCBC-B524-4275-629EB06E2FA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</a:t>
            </a:r>
            <a:r>
              <a:rPr lang="en-US" sz="4400" dirty="0"/>
              <a:t>What is a Service Level?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1977ED3C-E5F0-9A97-C9BC-4E5B4D7B0C49}"/>
              </a:ext>
            </a:extLst>
          </p:cNvPr>
          <p:cNvSpPr txBox="1"/>
          <p:nvPr/>
        </p:nvSpPr>
        <p:spPr>
          <a:xfrm>
            <a:off x="3095752" y="2057400"/>
            <a:ext cx="8448040" cy="5164875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3600" dirty="0"/>
              <a:t>A defined level of service quality agreed between the service provider and the customer.</a:t>
            </a:r>
          </a:p>
          <a:p>
            <a:endParaRPr lang="en-US" sz="3600" dirty="0"/>
          </a:p>
          <a:p>
            <a:r>
              <a:rPr lang="en-US" sz="3600" b="1" dirty="0"/>
              <a:t>Examples:</a:t>
            </a:r>
            <a:endParaRPr lang="en-US" sz="3600" dirty="0"/>
          </a:p>
          <a:p>
            <a:r>
              <a:rPr lang="en-US" sz="3600" dirty="0"/>
              <a:t>99.9% availability</a:t>
            </a:r>
          </a:p>
          <a:p>
            <a:r>
              <a:rPr lang="en-US" sz="3600" dirty="0"/>
              <a:t>Incident resolution within 4 hours</a:t>
            </a:r>
          </a:p>
          <a:p>
            <a:r>
              <a:rPr lang="en-US" sz="3600" dirty="0"/>
              <a:t>Helpdesk response in 15 minutes</a:t>
            </a:r>
          </a:p>
          <a:p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173342957"/>
      </p:ext>
    </p:extLst>
  </p:cSld>
  <p:clrMapOvr>
    <a:masterClrMapping/>
  </p:clrMapOvr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AD0BB-F510-07D9-1526-3D6F8EA1E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3DCC747-4C42-044D-DD16-9BAAA1FEEA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95F6644A-C0BB-F755-6AC8-358EB8CD25C3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945226A5-2257-F24C-4A38-22316EE097C6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5F23726A-15C8-E2F6-4773-5D66728DCFF5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94C33AAF-0CEE-41B6-FD4B-D8392C17838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SLA, OLA, Underpinning Contract 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51909878-9295-CAD4-1050-4669763492F8}"/>
              </a:ext>
            </a:extLst>
          </p:cNvPr>
          <p:cNvSpPr txBox="1"/>
          <p:nvPr/>
        </p:nvSpPr>
        <p:spPr>
          <a:xfrm>
            <a:off x="3095752" y="2310181"/>
            <a:ext cx="8448040" cy="3502882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SLA (Service Level Agreement)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Provider ↔ Customer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OLA (Operational Level Agreement)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Internal teams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Underpinning Contract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External suppliers</a:t>
            </a:r>
          </a:p>
        </p:txBody>
      </p:sp>
    </p:spTree>
    <p:extLst>
      <p:ext uri="{BB962C8B-B14F-4D97-AF65-F5344CB8AC3E}">
        <p14:creationId xmlns:p14="http://schemas.microsoft.com/office/powerpoint/2010/main" val="543986423"/>
      </p:ext>
    </p:extLst>
  </p:cSld>
  <p:clrMapOvr>
    <a:masterClrMapping/>
  </p:clrMapOvr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D25546-BDEE-C51A-BAEC-E1A06609E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D445A5C-C3B5-5EAA-F415-32809D08B24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C838A48B-A3BF-F3E0-2501-6A7E34EA022A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A154BFC8-C592-C3E8-2A4E-FFBF51AC18A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74BF9620-B7ED-A426-35CB-2DAC10AA216D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109B312D-49CD-EA87-C7CB-D2C18BFFCA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Key Activities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0B2F4820-163F-9867-FA94-00A96D2768A8}"/>
              </a:ext>
            </a:extLst>
          </p:cNvPr>
          <p:cNvSpPr txBox="1"/>
          <p:nvPr/>
        </p:nvSpPr>
        <p:spPr>
          <a:xfrm>
            <a:off x="3095752" y="2310181"/>
            <a:ext cx="8448040" cy="2948884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Define service level targets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Agree and document SLAs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Monitor and report performance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Review and improve service levels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Manage customer expectations</a:t>
            </a:r>
          </a:p>
        </p:txBody>
      </p:sp>
    </p:spTree>
    <p:extLst>
      <p:ext uri="{BB962C8B-B14F-4D97-AF65-F5344CB8AC3E}">
        <p14:creationId xmlns:p14="http://schemas.microsoft.com/office/powerpoint/2010/main" val="2639400238"/>
      </p:ext>
    </p:extLst>
  </p:cSld>
  <p:clrMapOvr>
    <a:masterClrMapping/>
  </p:clrMapOvr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1F9DB-ADED-FA0B-65C1-1434375D4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A527656-BD4F-5849-02DF-0CBD5EEC41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3113" y="457199"/>
            <a:ext cx="8764887" cy="6212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4296366"/>
      </p:ext>
    </p:extLst>
  </p:cSld>
  <p:clrMapOvr>
    <a:masterClrMapping/>
  </p:clrMapOvr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F99D1-9904-FAD2-9656-935EFEF76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FD445-AC3B-CE56-579C-43CC53A2A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8802" y="2807585"/>
            <a:ext cx="7472998" cy="1231106"/>
          </a:xfrm>
        </p:spPr>
        <p:txBody>
          <a:bodyPr/>
          <a:lstStyle/>
          <a:p>
            <a:pPr algn="ctr"/>
            <a:r>
              <a:rPr lang="en-IN" dirty="0"/>
              <a:t>2.16 Service Request Management</a:t>
            </a:r>
          </a:p>
        </p:txBody>
      </p:sp>
    </p:spTree>
    <p:extLst>
      <p:ext uri="{BB962C8B-B14F-4D97-AF65-F5344CB8AC3E}">
        <p14:creationId xmlns:p14="http://schemas.microsoft.com/office/powerpoint/2010/main" val="3926448854"/>
      </p:ext>
    </p:extLst>
  </p:cSld>
  <p:clrMapOvr>
    <a:masterClrMapping/>
  </p:clrMapOvr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345C3D-8723-2DB2-0F76-11F526F37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CCE4C8B-686B-B495-685C-0683A76C1FE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71027B0A-3B7C-0EF7-E59A-D70113D03526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4175413C-A8F4-C6CA-9481-D8FC0C920CCB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83749829-FE66-D2C7-FF0D-BC2F33D1C5FD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61CA9130-B8AE-9D93-A856-B2337A80C9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Service Request Management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3D3EDA5A-3664-9AE3-8118-EB09293768D9}"/>
              </a:ext>
            </a:extLst>
          </p:cNvPr>
          <p:cNvSpPr txBox="1"/>
          <p:nvPr/>
        </p:nvSpPr>
        <p:spPr>
          <a:xfrm>
            <a:off x="3095752" y="2310181"/>
            <a:ext cx="8448040" cy="2394886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3600" dirty="0"/>
              <a:t>To support the agreed quality of a service by handling all pre-defined, user-initiated service requests in an effective and user-friendly manner.</a:t>
            </a:r>
          </a:p>
        </p:txBody>
      </p:sp>
    </p:spTree>
    <p:extLst>
      <p:ext uri="{BB962C8B-B14F-4D97-AF65-F5344CB8AC3E}">
        <p14:creationId xmlns:p14="http://schemas.microsoft.com/office/powerpoint/2010/main" val="224761427"/>
      </p:ext>
    </p:extLst>
  </p:cSld>
  <p:clrMapOvr>
    <a:masterClrMapping/>
  </p:clrMapOvr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FAD007-ECB0-3485-234E-AB6981ECE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7D43AB3-A597-C536-CBD5-15B1597C520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BBBEC272-58A5-27D2-5145-4850733DDA7C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64DA4D66-F7C5-E550-DC60-BB688D260ADB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5A0A0469-887F-E69F-6FC8-9E3F5DEABE83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338B5E26-8FDA-C940-FA25-FBBA92C1351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</a:t>
            </a:r>
            <a:r>
              <a:rPr lang="en-US" sz="4400" dirty="0"/>
              <a:t>What is a Service Request?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B3F61994-75BA-6EDB-4636-B5A57B05B0A5}"/>
              </a:ext>
            </a:extLst>
          </p:cNvPr>
          <p:cNvSpPr txBox="1"/>
          <p:nvPr/>
        </p:nvSpPr>
        <p:spPr>
          <a:xfrm>
            <a:off x="3095752" y="2057400"/>
            <a:ext cx="8448040" cy="4056880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3600" dirty="0"/>
              <a:t>A formal request from a user for something standard and pre-approved.</a:t>
            </a:r>
          </a:p>
          <a:p>
            <a:r>
              <a:rPr lang="en-US" sz="3600" b="1" dirty="0"/>
              <a:t>Examples:</a:t>
            </a:r>
            <a:endParaRPr lang="en-US" sz="3600" dirty="0"/>
          </a:p>
          <a:p>
            <a:r>
              <a:rPr lang="en-US" sz="3600" dirty="0"/>
              <a:t>Password reset</a:t>
            </a:r>
          </a:p>
          <a:p>
            <a:r>
              <a:rPr lang="en-US" sz="3600" dirty="0"/>
              <a:t>New software installation</a:t>
            </a:r>
          </a:p>
          <a:p>
            <a:r>
              <a:rPr lang="en-US" sz="3600" dirty="0"/>
              <a:t>Access request</a:t>
            </a:r>
          </a:p>
          <a:p>
            <a:r>
              <a:rPr lang="en-US" sz="3600" dirty="0"/>
              <a:t>New email ID</a:t>
            </a:r>
          </a:p>
        </p:txBody>
      </p:sp>
    </p:spTree>
    <p:extLst>
      <p:ext uri="{BB962C8B-B14F-4D97-AF65-F5344CB8AC3E}">
        <p14:creationId xmlns:p14="http://schemas.microsoft.com/office/powerpoint/2010/main" val="488788340"/>
      </p:ext>
    </p:extLst>
  </p:cSld>
  <p:clrMapOvr>
    <a:masterClrMapping/>
  </p:clrMapOvr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8B0CB7-6152-196E-3966-FAC6C199F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68BEF21-2768-2EBD-0354-83D901D5487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023BF5B1-1CCD-F62E-CCA8-CB710380BDCC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F11CDC89-60B6-7F86-A704-CDAECDE620D0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3EE10EA8-86C4-1AEB-43B4-79786C81F071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8F0D8666-96AD-5796-3756-295EFE9B4F4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Service Request vs Incident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5854B106-12D2-8538-9D77-48F7CA323501}"/>
              </a:ext>
            </a:extLst>
          </p:cNvPr>
          <p:cNvSpPr txBox="1"/>
          <p:nvPr/>
        </p:nvSpPr>
        <p:spPr>
          <a:xfrm>
            <a:off x="3095752" y="2310181"/>
            <a:ext cx="8448040" cy="2948884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Service Request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Something the user wants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Incident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Something is broken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3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IN" sz="3600" dirty="0"/>
              <a:t>Request = planned, Incident = unplanned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5550729"/>
      </p:ext>
    </p:extLst>
  </p:cSld>
  <p:clrMapOvr>
    <a:masterClrMapping/>
  </p:clrMapOvr>
</p:sld>
</file>

<file path=ppt/slides/slide2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C03FD5-4136-1860-A7EE-DBE98717B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98E67F9-CA62-129C-2A53-5EE0835A380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18196D7F-ABEC-FBE9-D10C-1A9235706D08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D574EA78-D3CA-5029-31E7-9F4CF5AABC26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821930BC-467E-3762-BF07-327D5835B538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C350E19E-7469-CBB5-A954-A6A6037803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Key Activities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3559803E-1416-73F9-F754-2C6E4E252352}"/>
              </a:ext>
            </a:extLst>
          </p:cNvPr>
          <p:cNvSpPr txBox="1"/>
          <p:nvPr/>
        </p:nvSpPr>
        <p:spPr>
          <a:xfrm>
            <a:off x="3095752" y="2310181"/>
            <a:ext cx="8448040" cy="2948884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Receive and log requests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Approve requests (if needed)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Fulfil requests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Communicate status to users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Close requests</a:t>
            </a:r>
          </a:p>
        </p:txBody>
      </p:sp>
    </p:spTree>
    <p:extLst>
      <p:ext uri="{BB962C8B-B14F-4D97-AF65-F5344CB8AC3E}">
        <p14:creationId xmlns:p14="http://schemas.microsoft.com/office/powerpoint/2010/main" val="685127962"/>
      </p:ext>
    </p:extLst>
  </p:cSld>
  <p:clrMapOvr>
    <a:masterClrMapping/>
  </p:clrMapOvr>
</p:sld>
</file>

<file path=ppt/slides/slide2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89EA2-1D26-DD0E-F555-EC5B9A988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7956A37-FBAD-6EBF-D9C2-89D48328C7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0270" y="228600"/>
            <a:ext cx="9167730" cy="6384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767262"/>
      </p:ext>
    </p:extLst>
  </p:cSld>
  <p:clrMapOvr>
    <a:masterClrMapping/>
  </p:clrMapOvr>
</p:sld>
</file>

<file path=ppt/slides/slide2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CFECD9-459D-5142-7095-C2041CD1F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7CD27-ABA3-7A1B-E810-23D74811D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8802" y="2807585"/>
            <a:ext cx="7472998" cy="1231106"/>
          </a:xfrm>
        </p:spPr>
        <p:txBody>
          <a:bodyPr/>
          <a:lstStyle/>
          <a:p>
            <a:pPr algn="ctr"/>
            <a:r>
              <a:rPr lang="en-IN" dirty="0"/>
              <a:t>2.17 Service Validation and Testing</a:t>
            </a:r>
          </a:p>
        </p:txBody>
      </p:sp>
    </p:spTree>
    <p:extLst>
      <p:ext uri="{BB962C8B-B14F-4D97-AF65-F5344CB8AC3E}">
        <p14:creationId xmlns:p14="http://schemas.microsoft.com/office/powerpoint/2010/main" val="399267044"/>
      </p:ext>
    </p:extLst>
  </p:cSld>
  <p:clrMapOvr>
    <a:masterClrMapping/>
  </p:clrMapOvr>
</p:sld>
</file>

<file path=ppt/slides/slide2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35D6B5-BE91-9902-7460-00D382644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C8A23F1-790C-5E78-A72A-20363C98113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D77C1F58-2AD5-93C7-C6EB-A4EECF3C36A8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820DEB44-B300-F22E-04FF-A4171F2CF3DC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F974B928-66F8-423A-6838-B1B63F843C3D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D76E6757-DDCC-57CF-1156-46512D6D5B7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Service Validation and Testing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B6DB45C4-86C3-A524-3AB2-40222C1CB4B9}"/>
              </a:ext>
            </a:extLst>
          </p:cNvPr>
          <p:cNvSpPr txBox="1"/>
          <p:nvPr/>
        </p:nvSpPr>
        <p:spPr>
          <a:xfrm>
            <a:off x="3095752" y="2310181"/>
            <a:ext cx="8448040" cy="2394886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3600" dirty="0"/>
              <a:t>To ensure that new or changed services meet the defined requirements and deliver expected value before they are released.</a:t>
            </a:r>
          </a:p>
        </p:txBody>
      </p:sp>
    </p:spTree>
    <p:extLst>
      <p:ext uri="{BB962C8B-B14F-4D97-AF65-F5344CB8AC3E}">
        <p14:creationId xmlns:p14="http://schemas.microsoft.com/office/powerpoint/2010/main" val="3540995123"/>
      </p:ext>
    </p:extLst>
  </p:cSld>
  <p:clrMapOvr>
    <a:masterClrMapping/>
  </p:clrMapOvr>
</p:sld>
</file>

<file path=ppt/slides/slide2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6F5B1-1776-45E8-0038-1FE2B77A5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C616146-CD46-D8D3-A1BE-340EB50BF34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E9F1E07A-647D-7A2B-7EE7-5C2B069DD59A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D861F255-8B5D-D2CA-A9E0-D85E3CA44256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5370B3E0-29BB-05B0-3B1A-DE3B19B5809C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69CA82F4-05A5-AD3D-662D-C52F184CEF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What is Validated?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4C9E8D1F-B79C-E2B5-DE72-BF370E712161}"/>
              </a:ext>
            </a:extLst>
          </p:cNvPr>
          <p:cNvSpPr txBox="1"/>
          <p:nvPr/>
        </p:nvSpPr>
        <p:spPr>
          <a:xfrm>
            <a:off x="3095752" y="2057400"/>
            <a:ext cx="8448040" cy="2394886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Functional requirements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Usability</a:t>
            </a:r>
          </a:p>
        </p:txBody>
      </p:sp>
    </p:spTree>
    <p:extLst>
      <p:ext uri="{BB962C8B-B14F-4D97-AF65-F5344CB8AC3E}">
        <p14:creationId xmlns:p14="http://schemas.microsoft.com/office/powerpoint/2010/main" val="3576007747"/>
      </p:ext>
    </p:extLst>
  </p:cSld>
  <p:clrMapOvr>
    <a:masterClrMapping/>
  </p:clrMapOvr>
</p:sld>
</file>

<file path=ppt/slides/slide2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CC4EE-765E-1A8B-5691-7F332C646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74D5DA6-31B0-B75A-02F8-1D8D9551783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C3EB9DC4-4E90-0F11-8B68-A880C379DB4C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AB968A37-566F-914F-14C4-19EBBD9FF9F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C3D6C357-B135-13DD-16DB-E486842099A0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90B5CFB1-4ED3-3E47-4A9F-0A159AB6227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Validation vs Testing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294BC09D-79D6-7DAC-C07B-8D22CAC1EC22}"/>
              </a:ext>
            </a:extLst>
          </p:cNvPr>
          <p:cNvSpPr txBox="1"/>
          <p:nvPr/>
        </p:nvSpPr>
        <p:spPr>
          <a:xfrm>
            <a:off x="3095752" y="2310181"/>
            <a:ext cx="8448040" cy="4056880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Testing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Checking technical correctness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Validation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Checking user/business requirements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3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3600" dirty="0"/>
              <a:t>Testing = works correctly</a:t>
            </a:r>
            <a:br>
              <a:rPr lang="en-US" sz="3600" dirty="0"/>
            </a:br>
            <a:r>
              <a:rPr lang="en-US" sz="3600" dirty="0"/>
              <a:t>Validation = works as expected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658381"/>
      </p:ext>
    </p:extLst>
  </p:cSld>
  <p:clrMapOvr>
    <a:masterClrMapping/>
  </p:clrMapOvr>
</p:sld>
</file>

<file path=ppt/slides/slide2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C48A4-5A89-7CB9-5C2E-FFF05D004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1B1D3B7-8C51-B409-C1A1-AB86C6200B7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r>
              <a:rPr lang="en-IN"/>
              <a:t>Before release</a:t>
            </a:r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CF413294-27AB-79D2-C089-15C223510F74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63172792-5296-C93D-19F5-267A3A38A80F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63FDC7CF-21E0-3CDE-B75F-11407C6899A4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B43CA970-A1CA-29DA-5ED8-8F15D3F428A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When is it Performed?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D6D0CF5B-589B-E0BD-B3D6-6BFA201988D2}"/>
              </a:ext>
            </a:extLst>
          </p:cNvPr>
          <p:cNvSpPr txBox="1"/>
          <p:nvPr/>
        </p:nvSpPr>
        <p:spPr>
          <a:xfrm>
            <a:off x="3095752" y="2310181"/>
            <a:ext cx="8448040" cy="1840889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During development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Before deployment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After major changes</a:t>
            </a:r>
          </a:p>
        </p:txBody>
      </p:sp>
    </p:spTree>
    <p:extLst>
      <p:ext uri="{BB962C8B-B14F-4D97-AF65-F5344CB8AC3E}">
        <p14:creationId xmlns:p14="http://schemas.microsoft.com/office/powerpoint/2010/main" val="3903895626"/>
      </p:ext>
    </p:extLst>
  </p:cSld>
  <p:clrMapOvr>
    <a:masterClrMapping/>
  </p:clrMapOvr>
</p:sld>
</file>

<file path=ppt/slides/slide2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9ECD2A-FF13-60B8-B19D-C2CB120053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E4DA5B1-457C-030A-8CC3-FC3DFFBE983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10FD9AAC-D540-37EB-AB3F-DEB42756F115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1B8534D3-E775-0C02-FE88-96088C910708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B459D469-6A70-70C4-0C46-FB2FFC43CFB1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0D12D0B8-748E-8EC3-2D78-A78845DAEAA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Typical test types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AFD4A15D-D9B1-53EB-7855-2C8674EBFF78}"/>
              </a:ext>
            </a:extLst>
          </p:cNvPr>
          <p:cNvSpPr txBox="1"/>
          <p:nvPr/>
        </p:nvSpPr>
        <p:spPr>
          <a:xfrm>
            <a:off x="3095752" y="2310181"/>
            <a:ext cx="8448040" cy="2394886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3600" dirty="0"/>
              <a:t>Unit test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3600" dirty="0"/>
              <a:t>System test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3600" dirty="0"/>
              <a:t>Integration test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3600" dirty="0"/>
              <a:t>Regression test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6618847"/>
      </p:ext>
    </p:extLst>
  </p:cSld>
  <p:clrMapOvr>
    <a:masterClrMapping/>
  </p:clrMapOvr>
</p:sld>
</file>

<file path=ppt/slides/slide2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8EAFB1-4695-9542-916B-F9990E2D0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A6E2BC8-8803-117D-C506-23EE328DEE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0" y="327308"/>
            <a:ext cx="8762999" cy="6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41564"/>
      </p:ext>
    </p:extLst>
  </p:cSld>
  <p:clrMapOvr>
    <a:masterClrMapping/>
  </p:clrMapOvr>
</p:sld>
</file>

<file path=ppt/slides/slide2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4CE010-57C6-9DAB-E234-F8655DF76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897F2-C430-54F7-35CE-F91034607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8802" y="2807585"/>
            <a:ext cx="6863398" cy="615553"/>
          </a:xfrm>
        </p:spPr>
        <p:txBody>
          <a:bodyPr/>
          <a:lstStyle/>
          <a:p>
            <a:r>
              <a:rPr lang="en-IN" dirty="0"/>
              <a:t>   Technical</a:t>
            </a:r>
            <a:r>
              <a:rPr lang="en-IN" sz="4000" dirty="0"/>
              <a:t> </a:t>
            </a:r>
            <a:r>
              <a:rPr lang="en-IN" dirty="0"/>
              <a:t>M</a:t>
            </a:r>
            <a:r>
              <a:rPr lang="en-IN" sz="4000" dirty="0"/>
              <a:t>anagement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21169511"/>
      </p:ext>
    </p:extLst>
  </p:cSld>
  <p:clrMapOvr>
    <a:masterClrMapping/>
  </p:clrMapOvr>
</p:sld>
</file>

<file path=ppt/slides/slide2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3FCF26-C19A-C814-4BD5-D691D1BB0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737F5-2EE8-7AC5-A6F2-8F2220316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1752600"/>
            <a:ext cx="9906000" cy="3077766"/>
          </a:xfr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dirty="0">
                <a:solidFill>
                  <a:schemeClr val="accent5">
                    <a:lumMod val="75000"/>
                  </a:schemeClr>
                </a:solidFill>
                <a:highlight>
                  <a:srgbClr val="FFFF00"/>
                </a:highlight>
                <a:latin typeface="Arial" panose="020B0604020202020204" pitchFamily="34" charset="0"/>
              </a:rPr>
              <a:t>1. Deployment management</a:t>
            </a:r>
            <a:br>
              <a:rPr lang="en-US" altLang="en-US" dirty="0">
                <a:solidFill>
                  <a:schemeClr val="accent5">
                    <a:lumMod val="75000"/>
                  </a:schemeClr>
                </a:solidFill>
                <a:highlight>
                  <a:srgbClr val="FFFF00"/>
                </a:highlight>
                <a:latin typeface="Arial" panose="020B0604020202020204" pitchFamily="34" charset="0"/>
              </a:rPr>
            </a:br>
            <a:br>
              <a:rPr lang="en-US" altLang="en-US" dirty="0">
                <a:solidFill>
                  <a:schemeClr val="accent5">
                    <a:lumMod val="75000"/>
                  </a:schemeClr>
                </a:solidFill>
                <a:highlight>
                  <a:srgbClr val="FFFF00"/>
                </a:highlight>
                <a:latin typeface="Arial" panose="020B0604020202020204" pitchFamily="34" charset="0"/>
              </a:rPr>
            </a:br>
            <a:r>
              <a:rPr lang="en-US" altLang="en-US" dirty="0">
                <a:solidFill>
                  <a:schemeClr val="accent5">
                    <a:lumMod val="75000"/>
                  </a:schemeClr>
                </a:solidFill>
                <a:highlight>
                  <a:srgbClr val="FFFF00"/>
                </a:highlight>
                <a:latin typeface="Arial" panose="020B0604020202020204" pitchFamily="34" charset="0"/>
              </a:rPr>
              <a:t>2. Infrastructure &amp; platform management</a:t>
            </a:r>
            <a:br>
              <a:rPr lang="en-US" altLang="en-US" dirty="0">
                <a:solidFill>
                  <a:schemeClr val="accent5">
                    <a:lumMod val="75000"/>
                  </a:schemeClr>
                </a:solidFill>
                <a:highlight>
                  <a:srgbClr val="FFFF00"/>
                </a:highlight>
                <a:latin typeface="Arial" panose="020B0604020202020204" pitchFamily="34" charset="0"/>
              </a:rPr>
            </a:br>
            <a:br>
              <a:rPr lang="en-US" altLang="en-US" dirty="0">
                <a:solidFill>
                  <a:schemeClr val="accent5">
                    <a:lumMod val="75000"/>
                  </a:schemeClr>
                </a:solidFill>
                <a:highlight>
                  <a:srgbClr val="FFFF00"/>
                </a:highlight>
                <a:latin typeface="Arial" panose="020B0604020202020204" pitchFamily="34" charset="0"/>
              </a:rPr>
            </a:br>
            <a:r>
              <a:rPr lang="en-US" altLang="en-US" dirty="0">
                <a:solidFill>
                  <a:schemeClr val="accent5">
                    <a:lumMod val="75000"/>
                  </a:schemeClr>
                </a:solidFill>
                <a:highlight>
                  <a:srgbClr val="FFFF00"/>
                </a:highlight>
                <a:latin typeface="Arial" panose="020B0604020202020204" pitchFamily="34" charset="0"/>
              </a:rPr>
              <a:t>3. Software development &amp; management</a:t>
            </a:r>
          </a:p>
        </p:txBody>
      </p:sp>
    </p:spTree>
    <p:extLst>
      <p:ext uri="{BB962C8B-B14F-4D97-AF65-F5344CB8AC3E}">
        <p14:creationId xmlns:p14="http://schemas.microsoft.com/office/powerpoint/2010/main" val="3798481249"/>
      </p:ext>
    </p:extLst>
  </p:cSld>
  <p:clrMapOvr>
    <a:masterClrMapping/>
  </p:clrMapOvr>
</p:sld>
</file>

<file path=ppt/slides/slide2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8ED63-C1D9-E3E1-E293-709FBECC4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2B39C-C6E9-967F-1952-A1B8BBF06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8802" y="2807585"/>
            <a:ext cx="7472998" cy="1231106"/>
          </a:xfrm>
        </p:spPr>
        <p:txBody>
          <a:bodyPr/>
          <a:lstStyle/>
          <a:p>
            <a:r>
              <a:rPr lang="en-IN" dirty="0"/>
              <a:t>3.1 Deployment Management</a:t>
            </a:r>
          </a:p>
        </p:txBody>
      </p:sp>
    </p:spTree>
    <p:extLst>
      <p:ext uri="{BB962C8B-B14F-4D97-AF65-F5344CB8AC3E}">
        <p14:creationId xmlns:p14="http://schemas.microsoft.com/office/powerpoint/2010/main" val="3620642005"/>
      </p:ext>
    </p:extLst>
  </p:cSld>
  <p:clrMapOvr>
    <a:masterClrMapping/>
  </p:clrMapOvr>
</p:sld>
</file>

<file path=ppt/slides/slide2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6FED60-06ED-BAE7-B6A4-8ADC0D464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81A008A-0492-356D-43B7-94D190E7A01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F41D5BB7-65FA-68A7-DFE0-AF40390C78B0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DCE6CE08-ED97-B960-ED91-2534CF1ED98C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35B9825F-45C5-580F-C247-5D6424CCB301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CD68F5AC-A1B6-56FF-9BC3-9E8829159E7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Deployment Management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6C42448F-8E57-FA4A-5E3E-5869F6913979}"/>
              </a:ext>
            </a:extLst>
          </p:cNvPr>
          <p:cNvSpPr txBox="1"/>
          <p:nvPr/>
        </p:nvSpPr>
        <p:spPr>
          <a:xfrm>
            <a:off x="3095752" y="2310181"/>
            <a:ext cx="8448040" cy="4056880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3600" b="1" dirty="0"/>
              <a:t>To move new or changed components to live environments.</a:t>
            </a:r>
            <a:endParaRPr lang="en-US" sz="3600" dirty="0"/>
          </a:p>
          <a:p>
            <a:r>
              <a:rPr lang="en-US" sz="3600" dirty="0"/>
              <a:t>Components can be:</a:t>
            </a:r>
          </a:p>
          <a:p>
            <a:r>
              <a:rPr lang="en-US" sz="3600" dirty="0"/>
              <a:t>hardware</a:t>
            </a:r>
          </a:p>
          <a:p>
            <a:r>
              <a:rPr lang="en-US" sz="3600" dirty="0"/>
              <a:t>software</a:t>
            </a:r>
          </a:p>
          <a:p>
            <a:r>
              <a:rPr lang="en-US" sz="3600" dirty="0"/>
              <a:t>documentation</a:t>
            </a:r>
          </a:p>
          <a:p>
            <a:r>
              <a:rPr lang="en-US" sz="3600" dirty="0"/>
              <a:t>processes</a:t>
            </a:r>
          </a:p>
        </p:txBody>
      </p:sp>
    </p:spTree>
    <p:extLst>
      <p:ext uri="{BB962C8B-B14F-4D97-AF65-F5344CB8AC3E}">
        <p14:creationId xmlns:p14="http://schemas.microsoft.com/office/powerpoint/2010/main" val="2345342196"/>
      </p:ext>
    </p:extLst>
  </p:cSld>
  <p:clrMapOvr>
    <a:masterClrMapping/>
  </p:clrMapOvr>
</p:sld>
</file>

<file path=ppt/slides/slide2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04C1AF-DF28-D180-9CF7-A61F9534E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DBEE163-35AB-6059-2B5B-8854B4A1628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2016CE12-0AD4-B1DD-48CB-F298BBC251B9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440DF0E4-FCB3-FFBE-C3B4-BD25FD19F25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2C73EB87-CD63-E233-0204-2304936298FD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842E6221-B7D6-E44D-B859-0F74C12B282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Key points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54C38841-9458-3175-8D05-C82474C71D73}"/>
              </a:ext>
            </a:extLst>
          </p:cNvPr>
          <p:cNvSpPr txBox="1"/>
          <p:nvPr/>
        </p:nvSpPr>
        <p:spPr>
          <a:xfrm>
            <a:off x="3095752" y="2310181"/>
            <a:ext cx="8448040" cy="2948884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Works with 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release management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&amp; 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change control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Ensures 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controlled deployment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for 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live, test, staging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environments</a:t>
            </a:r>
          </a:p>
        </p:txBody>
      </p:sp>
    </p:spTree>
    <p:extLst>
      <p:ext uri="{BB962C8B-B14F-4D97-AF65-F5344CB8AC3E}">
        <p14:creationId xmlns:p14="http://schemas.microsoft.com/office/powerpoint/2010/main" val="1725441017"/>
      </p:ext>
    </p:extLst>
  </p:cSld>
  <p:clrMapOvr>
    <a:masterClrMapping/>
  </p:clrMapOvr>
</p:sld>
</file>

<file path=ppt/slides/slide2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C78F57-CDAB-6E3D-5F84-8175810D7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16AE094-B139-DFE0-0094-F4AFD82FC08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2C7F47A1-4E7F-6FB0-2F90-C882135304C9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D2126845-8CA0-C895-40F3-A3F7451D82FF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190A0351-EDB4-85FA-05DA-3CCD04F296C0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7CE6E99E-96DB-E42B-E371-71C9B91AC6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Deployment approaches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EC4E4D0A-C9E9-8280-B41A-27D0959F4413}"/>
              </a:ext>
            </a:extLst>
          </p:cNvPr>
          <p:cNvSpPr txBox="1"/>
          <p:nvPr/>
        </p:nvSpPr>
        <p:spPr>
          <a:xfrm>
            <a:off x="3095752" y="2310181"/>
            <a:ext cx="8448040" cy="2394886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Phased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gradual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Continuous delivery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frequent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Big bang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all at once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Pull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user chooses</a:t>
            </a:r>
          </a:p>
        </p:txBody>
      </p:sp>
    </p:spTree>
    <p:extLst>
      <p:ext uri="{BB962C8B-B14F-4D97-AF65-F5344CB8AC3E}">
        <p14:creationId xmlns:p14="http://schemas.microsoft.com/office/powerpoint/2010/main" val="498939740"/>
      </p:ext>
    </p:extLst>
  </p:cSld>
  <p:clrMapOvr>
    <a:masterClrMapping/>
  </p:clrMapOvr>
</p:sld>
</file>

<file path=ppt/slides/slide2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AF6C9F-B5DC-5380-2553-E95CDE635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4C8D5BF-DEE0-AA74-D754-4492557E43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6516" y="319770"/>
            <a:ext cx="8618967" cy="6218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3549695"/>
      </p:ext>
    </p:extLst>
  </p:cSld>
  <p:clrMapOvr>
    <a:masterClrMapping/>
  </p:clrMapOvr>
</p:sld>
</file>

<file path=ppt/slides/slide2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84806C-412B-14D7-F4E3-8E6790358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DDAAD-7ACA-3930-887B-7AFC10C5A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8802" y="2807585"/>
            <a:ext cx="7472998" cy="1231106"/>
          </a:xfrm>
        </p:spPr>
        <p:txBody>
          <a:bodyPr/>
          <a:lstStyle/>
          <a:p>
            <a:pPr algn="ctr"/>
            <a:r>
              <a:rPr lang="en-IN" dirty="0"/>
              <a:t>3.2 Infrastructure &amp; Platform Management</a:t>
            </a:r>
          </a:p>
        </p:txBody>
      </p:sp>
    </p:spTree>
    <p:extLst>
      <p:ext uri="{BB962C8B-B14F-4D97-AF65-F5344CB8AC3E}">
        <p14:creationId xmlns:p14="http://schemas.microsoft.com/office/powerpoint/2010/main" val="3063534428"/>
      </p:ext>
    </p:extLst>
  </p:cSld>
  <p:clrMapOvr>
    <a:masterClrMapping/>
  </p:clrMapOvr>
</p:sld>
</file>

<file path=ppt/slides/slide2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7C14C3-B8E8-8DF5-95C6-7461EB255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E8389B0-796C-DF45-BC25-030088D03A6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946976B0-C06B-E2DB-D6D4-09A729FB25E1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BD201423-350B-3EA0-ECDD-EFFD548D814B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B457A355-D0A3-8ED1-E5F2-5CC8346FDC15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FE3090CC-F25C-6AF6-D792-196ED455B82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Infrastructure &amp; Platform Management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2C10F360-1C71-6F27-89BB-C8845AA7D33B}"/>
              </a:ext>
            </a:extLst>
          </p:cNvPr>
          <p:cNvSpPr txBox="1"/>
          <p:nvPr/>
        </p:nvSpPr>
        <p:spPr>
          <a:xfrm>
            <a:off x="3095752" y="2310181"/>
            <a:ext cx="8448040" cy="4056880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3600" dirty="0"/>
              <a:t>To oversee and manage infrastructure and platforms used to deliver IT services.</a:t>
            </a:r>
          </a:p>
          <a:p>
            <a:endParaRPr lang="en-US" sz="36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Servers, storage, networks, OS, middleware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 be 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on-prem, cloud, or supplier-managed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2183789"/>
      </p:ext>
    </p:extLst>
  </p:cSld>
  <p:clrMapOvr>
    <a:masterClrMapping/>
  </p:clrMapOvr>
</p:sld>
</file>

<file path=ppt/slides/slide2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407AB2-9A9B-C3B1-8878-61D3BEECE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DDDB881-7CBD-3A84-F917-2B191B56978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852686E8-63C9-79A8-89E5-A94C870A4F5E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057961BC-E24D-8624-4923-2DCAD0A8A46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6F00A97E-6199-F7F9-0028-3B196DFFFAA8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85928F8F-E292-D2A0-63FE-B1A75C28335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Key points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005A051E-FBD9-7DC4-AB7F-76D174A6094B}"/>
              </a:ext>
            </a:extLst>
          </p:cNvPr>
          <p:cNvSpPr txBox="1"/>
          <p:nvPr/>
        </p:nvSpPr>
        <p:spPr>
          <a:xfrm>
            <a:off x="3095752" y="2310181"/>
            <a:ext cx="8448040" cy="2394886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Technology opportunities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Technology constraints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Readiness for 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new technologies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(AI, cloud, automation)</a:t>
            </a:r>
          </a:p>
        </p:txBody>
      </p:sp>
    </p:spTree>
    <p:extLst>
      <p:ext uri="{BB962C8B-B14F-4D97-AF65-F5344CB8AC3E}">
        <p14:creationId xmlns:p14="http://schemas.microsoft.com/office/powerpoint/2010/main" val="2971756287"/>
      </p:ext>
    </p:extLst>
  </p:cSld>
  <p:clrMapOvr>
    <a:masterClrMapping/>
  </p:clrMapOvr>
</p:sld>
</file>

<file path=ppt/slides/slide2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D0D1B4-EE37-7730-2581-23FD9E53C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F3F2935-A3EC-01A9-8DCA-147EDF28688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E2C0FB52-71F1-0A9F-01B1-9DAB323FCC7A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CDBB9A25-E4AF-F8BD-2B06-26D4D1A744A2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E7A2DEC7-96A0-4993-39FD-A8DDFE69CC38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D5C0E3E3-E7D3-337F-379F-35F7402D80C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Cloud Service Models 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EB1BFE42-B79B-861A-9749-BAAE790E839A}"/>
              </a:ext>
            </a:extLst>
          </p:cNvPr>
          <p:cNvSpPr txBox="1"/>
          <p:nvPr/>
        </p:nvSpPr>
        <p:spPr>
          <a:xfrm>
            <a:off x="3095752" y="2310181"/>
            <a:ext cx="8448040" cy="4056880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SaaS (Software as a Service)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User uses application; provider manages everything else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PaaS (Platform as a Service)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User deploys applications; provider manages infrastructure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IaaS (Infrastructure as a Service)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User gets servers, storage, network; provider manages physical infra</a:t>
            </a:r>
          </a:p>
        </p:txBody>
      </p:sp>
    </p:spTree>
    <p:extLst>
      <p:ext uri="{BB962C8B-B14F-4D97-AF65-F5344CB8AC3E}">
        <p14:creationId xmlns:p14="http://schemas.microsoft.com/office/powerpoint/2010/main" val="2564705686"/>
      </p:ext>
    </p:extLst>
  </p:cSld>
  <p:clrMapOvr>
    <a:masterClrMapping/>
  </p:clrMapOvr>
</p:sld>
</file>

<file path=ppt/slides/slide2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60FB79-7D17-8885-FAA4-7BBD325B4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3E66F63-E3E3-5C40-F2C7-264233A62F5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B3902564-2029-369D-48EC-DFE977C3613C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93214B12-2A83-76C7-4EEC-3FACB5936EB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70536A78-F1DC-E519-E8FE-E2243D76F67F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33D76C5C-6262-CB37-F22E-7B848E7BCE9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Cloud Deployment Models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A85C2B63-8BC3-4CC8-3855-DC9A6AB51A65}"/>
              </a:ext>
            </a:extLst>
          </p:cNvPr>
          <p:cNvSpPr txBox="1"/>
          <p:nvPr/>
        </p:nvSpPr>
        <p:spPr>
          <a:xfrm>
            <a:off x="3095752" y="2310181"/>
            <a:ext cx="8448040" cy="3625993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Private cloud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Used by one organization only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Public cloud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Used by many organizations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Community cloud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Shared by organizations with common needs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Hybrid cloud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Combination of two or more clouds</a:t>
            </a:r>
          </a:p>
        </p:txBody>
      </p:sp>
    </p:spTree>
    <p:extLst>
      <p:ext uri="{BB962C8B-B14F-4D97-AF65-F5344CB8AC3E}">
        <p14:creationId xmlns:p14="http://schemas.microsoft.com/office/powerpoint/2010/main" val="2457523924"/>
      </p:ext>
    </p:extLst>
  </p:cSld>
  <p:clrMapOvr>
    <a:masterClrMapping/>
  </p:clrMapOvr>
</p:sld>
</file>

<file path=ppt/slides/slide2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36DCF4-E097-72D0-DCC6-E992A4074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2FE0A88-96DA-EDFC-3326-030623CC03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640" y="45427"/>
            <a:ext cx="10150720" cy="6767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3633552"/>
      </p:ext>
    </p:extLst>
  </p:cSld>
  <p:clrMapOvr>
    <a:masterClrMapping/>
  </p:clrMapOvr>
</p:sld>
</file>

<file path=ppt/slides/slide2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16501-2C54-5D36-1C34-C495111C5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6F5C1-6959-D2D0-D88E-65B65AACF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8802" y="2807585"/>
            <a:ext cx="7472998" cy="1231106"/>
          </a:xfrm>
        </p:spPr>
        <p:txBody>
          <a:bodyPr/>
          <a:lstStyle/>
          <a:p>
            <a:pPr algn="ctr"/>
            <a:r>
              <a:rPr lang="en-IN" dirty="0"/>
              <a:t>3.3 Software Development &amp; Management</a:t>
            </a:r>
          </a:p>
        </p:txBody>
      </p:sp>
    </p:spTree>
    <p:extLst>
      <p:ext uri="{BB962C8B-B14F-4D97-AF65-F5344CB8AC3E}">
        <p14:creationId xmlns:p14="http://schemas.microsoft.com/office/powerpoint/2010/main" val="2764047391"/>
      </p:ext>
    </p:extLst>
  </p:cSld>
  <p:clrMapOvr>
    <a:masterClrMapping/>
  </p:clrMapOvr>
</p:sld>
</file>

<file path=ppt/slides/slide2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0DE8F9-521F-147E-A5C1-FC6CD925E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C15008C-19CF-55EA-81CA-6D7D0923BF4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166C0962-3CF8-8B3D-49B0-0A1635F14384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5B5DB3CD-7A04-EB1C-199B-6F028870331E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236454BE-52F7-08B6-CDDC-6E12C84DAA3D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2450A0D6-663F-4C31-0D90-71F03347CA5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Software Development &amp; Management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B483CCEC-75CD-D723-51C9-FC4ED4A94AAA}"/>
              </a:ext>
            </a:extLst>
          </p:cNvPr>
          <p:cNvSpPr txBox="1"/>
          <p:nvPr/>
        </p:nvSpPr>
        <p:spPr>
          <a:xfrm>
            <a:off x="3095752" y="2310181"/>
            <a:ext cx="8448040" cy="1840889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3600" dirty="0"/>
              <a:t>To ensure software meets stakeholder needs in functionality, reliability, and maintainability.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8555288"/>
      </p:ext>
    </p:extLst>
  </p:cSld>
  <p:clrMapOvr>
    <a:masterClrMapping/>
  </p:clrMapOvr>
</p:sld>
</file>

<file path=ppt/slides/slide2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EE3F29-F666-3F27-201D-228C3381B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19D4461-112B-D2FE-C50D-84400A8AFD2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F8C89074-FA46-706E-209A-7616AA8C8133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1A76CAAA-C02F-3FA3-CDEB-2FB24BE9835E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91F28308-BFBA-DDFD-87D0-3474E7723E1C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1DD64273-0A10-4F4E-E90B-15C5ABAD965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What does software include?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38DE8D08-F59E-AE82-7949-115FD3B5303E}"/>
              </a:ext>
            </a:extLst>
          </p:cNvPr>
          <p:cNvSpPr txBox="1"/>
          <p:nvPr/>
        </p:nvSpPr>
        <p:spPr>
          <a:xfrm>
            <a:off x="3095752" y="2310181"/>
            <a:ext cx="8448040" cy="2394886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IN" sz="3600" dirty="0"/>
              <a:t>Apps</a:t>
            </a:r>
          </a:p>
          <a:p>
            <a:r>
              <a:rPr lang="en-IN" sz="3600" dirty="0"/>
              <a:t>Websites</a:t>
            </a:r>
          </a:p>
          <a:p>
            <a:r>
              <a:rPr lang="en-IN" sz="3600" dirty="0"/>
              <a:t>Mobile apps</a:t>
            </a:r>
          </a:p>
          <a:p>
            <a:r>
              <a:rPr lang="en-IN" sz="3600" dirty="0"/>
              <a:t>OS &amp; databases</a:t>
            </a:r>
          </a:p>
        </p:txBody>
      </p:sp>
    </p:spTree>
    <p:extLst>
      <p:ext uri="{BB962C8B-B14F-4D97-AF65-F5344CB8AC3E}">
        <p14:creationId xmlns:p14="http://schemas.microsoft.com/office/powerpoint/2010/main" val="2881933388"/>
      </p:ext>
    </p:extLst>
  </p:cSld>
  <p:clrMapOvr>
    <a:masterClrMapping/>
  </p:clrMapOvr>
</p:sld>
</file>

<file path=ppt/slides/slide2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6DFFED-EE86-AF5B-DA09-85D96889E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14D7580-0AD2-91F6-398C-941ECAE7562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0E895543-D5DA-C3D2-751B-194B18E159FA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99E19CC6-BA74-CBE5-39C6-B7446666544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BA28D5B0-0B45-D91F-2BAF-69BFC4FBF1EE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1A39FECF-6ADF-4D80-01A7-B8529E7AEB2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4005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Key activities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1177E10C-2C67-06D0-EF70-C3502854C31D}"/>
              </a:ext>
            </a:extLst>
          </p:cNvPr>
          <p:cNvSpPr txBox="1"/>
          <p:nvPr/>
        </p:nvSpPr>
        <p:spPr>
          <a:xfrm>
            <a:off x="3095752" y="2310181"/>
            <a:ext cx="8448040" cy="4056880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Solution design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Software development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Software testing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Version control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Code repositories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Waterfall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Agile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2706969"/>
      </p:ext>
    </p:extLst>
  </p:cSld>
  <p:clrMapOvr>
    <a:masterClrMapping/>
  </p:clrMapOvr>
</p:sld>
</file>

<file path=ppt/slides/slide2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E74169-C087-F2F9-5DE1-71B2FF4B1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77E6FA1-7501-8E3A-4A37-7897E61940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0213" y="381000"/>
            <a:ext cx="8630283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799319"/>
      </p:ext>
    </p:extLst>
  </p:cSld>
  <p:clrMapOvr>
    <a:masterClrMapping/>
  </p:clrMapOvr>
</p:sld>
</file>

<file path=ppt/slides/slide2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70EE89-533A-65F0-1371-764CE47CD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152F8B2-BEE0-7003-4663-0A14622408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152400"/>
            <a:ext cx="9131408" cy="6315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481535"/>
      </p:ext>
    </p:extLst>
  </p:cSld>
  <p:clrMapOvr>
    <a:masterClrMapping/>
  </p:clrMapOvr>
</p:sld>
</file>

<file path=ppt/slides/slide2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972" y="-2359"/>
            <a:ext cx="12182475" cy="6501765"/>
            <a:chOff x="9972" y="-2359"/>
            <a:chExt cx="12182475" cy="6501765"/>
          </a:xfrm>
        </p:grpSpPr>
        <p:sp>
          <p:nvSpPr>
            <p:cNvPr id="3" name="object 3"/>
            <p:cNvSpPr/>
            <p:nvPr/>
          </p:nvSpPr>
          <p:spPr>
            <a:xfrm>
              <a:off x="623876" y="-2359"/>
              <a:ext cx="4548505" cy="3168650"/>
            </a:xfrm>
            <a:custGeom>
              <a:avLst/>
              <a:gdLst/>
              <a:ahLst/>
              <a:cxnLst/>
              <a:rect l="l" t="t" r="r" b="b"/>
              <a:pathLst>
                <a:path w="4548505" h="3168650">
                  <a:moveTo>
                    <a:pt x="1256288" y="0"/>
                  </a:moveTo>
                  <a:lnTo>
                    <a:pt x="0" y="0"/>
                  </a:lnTo>
                  <a:lnTo>
                    <a:pt x="3293242" y="3168630"/>
                  </a:lnTo>
                  <a:lnTo>
                    <a:pt x="4548038" y="3168630"/>
                  </a:lnTo>
                  <a:lnTo>
                    <a:pt x="3674989" y="2327497"/>
                  </a:lnTo>
                  <a:lnTo>
                    <a:pt x="1256288" y="0"/>
                  </a:lnTo>
                  <a:close/>
                </a:path>
              </a:pathLst>
            </a:custGeom>
            <a:solidFill>
              <a:srgbClr val="7979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26691" y="0"/>
              <a:ext cx="10465308" cy="351129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788097" y="2242136"/>
              <a:ext cx="1691005" cy="1092200"/>
            </a:xfrm>
            <a:custGeom>
              <a:avLst/>
              <a:gdLst/>
              <a:ahLst/>
              <a:cxnLst/>
              <a:rect l="l" t="t" r="r" b="b"/>
              <a:pathLst>
                <a:path w="1691004" h="1092200">
                  <a:moveTo>
                    <a:pt x="554199" y="0"/>
                  </a:moveTo>
                  <a:lnTo>
                    <a:pt x="0" y="0"/>
                  </a:lnTo>
                  <a:lnTo>
                    <a:pt x="1136342" y="1091875"/>
                  </a:lnTo>
                  <a:lnTo>
                    <a:pt x="1690541" y="1091875"/>
                  </a:lnTo>
                  <a:lnTo>
                    <a:pt x="1471838" y="882606"/>
                  </a:lnTo>
                  <a:lnTo>
                    <a:pt x="554199" y="0"/>
                  </a:lnTo>
                  <a:close/>
                </a:path>
              </a:pathLst>
            </a:custGeom>
            <a:solidFill>
              <a:srgbClr val="99D9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972" y="2972399"/>
              <a:ext cx="3660775" cy="3526790"/>
            </a:xfrm>
            <a:custGeom>
              <a:avLst/>
              <a:gdLst/>
              <a:ahLst/>
              <a:cxnLst/>
              <a:rect l="l" t="t" r="r" b="b"/>
              <a:pathLst>
                <a:path w="3660775" h="3526790">
                  <a:moveTo>
                    <a:pt x="0" y="0"/>
                  </a:moveTo>
                  <a:lnTo>
                    <a:pt x="0" y="477832"/>
                  </a:lnTo>
                  <a:lnTo>
                    <a:pt x="3163571" y="3526622"/>
                  </a:lnTo>
                  <a:lnTo>
                    <a:pt x="3660562" y="35266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A85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841" y="2320818"/>
              <a:ext cx="2994025" cy="2885440"/>
            </a:xfrm>
            <a:custGeom>
              <a:avLst/>
              <a:gdLst/>
              <a:ahLst/>
              <a:cxnLst/>
              <a:rect l="l" t="t" r="r" b="b"/>
              <a:pathLst>
                <a:path w="2994025" h="2885440">
                  <a:moveTo>
                    <a:pt x="0" y="0"/>
                  </a:moveTo>
                  <a:lnTo>
                    <a:pt x="0" y="458147"/>
                  </a:lnTo>
                  <a:lnTo>
                    <a:pt x="2519204" y="2885259"/>
                  </a:lnTo>
                  <a:lnTo>
                    <a:pt x="2993958" y="28852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9B0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8130667" y="1879549"/>
            <a:ext cx="3354704" cy="711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0" dirty="0">
                <a:solidFill>
                  <a:srgbClr val="252525"/>
                </a:solidFill>
              </a:rPr>
              <a:t>Thank</a:t>
            </a:r>
            <a:r>
              <a:rPr sz="4500" spc="-20" dirty="0">
                <a:solidFill>
                  <a:srgbClr val="252525"/>
                </a:solidFill>
              </a:rPr>
              <a:t> you…</a:t>
            </a:r>
            <a:endParaRPr sz="4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85C4D2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2435</TotalTime>
  <Words>4217</Words>
  <Application>Microsoft Office PowerPoint</Application>
  <PresentationFormat>Widescreen</PresentationFormat>
  <Paragraphs>1161</Paragraphs>
  <Slides>278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278</vt:i4>
      </vt:variant>
    </vt:vector>
  </HeadingPairs>
  <TitlesOfParts>
    <vt:vector size="287" baseType="lpstr">
      <vt:lpstr>Aptos</vt:lpstr>
      <vt:lpstr>Arial</vt:lpstr>
      <vt:lpstr>Calibri</vt:lpstr>
      <vt:lpstr>Cambria</vt:lpstr>
      <vt:lpstr>Centaur</vt:lpstr>
      <vt:lpstr>Google Sans</vt:lpstr>
      <vt:lpstr>Segoe UI</vt:lpstr>
      <vt:lpstr>Wingdings</vt:lpstr>
      <vt:lpstr>Office Theme</vt:lpstr>
      <vt:lpstr>IT Infrastructure                       Management            Chapter 5:  ITIL MANAGEMENT PRACTICES                        TY B.Sc. (IT)</vt:lpstr>
      <vt:lpstr>1 Topics:</vt:lpstr>
      <vt:lpstr>2  General management  </vt:lpstr>
      <vt:lpstr>2  Service management  </vt:lpstr>
      <vt:lpstr>2  Technical management  </vt:lpstr>
      <vt:lpstr>1. Architecture management</vt:lpstr>
      <vt:lpstr>2 1. Architecture management: </vt:lpstr>
      <vt:lpstr>2  1. Purpose: </vt:lpstr>
      <vt:lpstr>2  1. Why do we need it? </vt:lpstr>
      <vt:lpstr>2  1. Five Architecture Domains</vt:lpstr>
      <vt:lpstr>PowerPoint Presentation</vt:lpstr>
      <vt:lpstr>2  1. Real College Example</vt:lpstr>
      <vt:lpstr>2  1. ⏳ Activity: “Build Your Ideal College”</vt:lpstr>
      <vt:lpstr>2. Continual Improvement</vt:lpstr>
      <vt:lpstr>3 2. Continual Improvement</vt:lpstr>
      <vt:lpstr>3 2. Why is it Important?</vt:lpstr>
      <vt:lpstr>3 2. Real-Life Example</vt:lpstr>
      <vt:lpstr>PowerPoint Presentation</vt:lpstr>
      <vt:lpstr>3 2. Where Improvement Ideas Come From</vt:lpstr>
      <vt:lpstr>3 2. Who is Responsible?</vt:lpstr>
      <vt:lpstr>3 2. Continual Improvement Register (CIR)</vt:lpstr>
      <vt:lpstr>3 2. Activity Name: “Fix Your Classroom 🚧”</vt:lpstr>
      <vt:lpstr>4 3: Information Security Management (ISM) </vt:lpstr>
      <vt:lpstr>4 3: Why is it Needed?</vt:lpstr>
      <vt:lpstr>4 3: The CIA Triad</vt:lpstr>
      <vt:lpstr>4 3: Extra Security Concepts</vt:lpstr>
      <vt:lpstr>4 3: Balance Needed</vt:lpstr>
      <vt:lpstr>4 3: Methods Used</vt:lpstr>
      <vt:lpstr>PowerPoint Presentation</vt:lpstr>
      <vt:lpstr>4 3: Who Is Responsible?</vt:lpstr>
      <vt:lpstr>4 3: Activity: “Spot the Risk” Game</vt:lpstr>
      <vt:lpstr>4. Knowledge Management</vt:lpstr>
      <vt:lpstr>4 4. What Is Knowledge Management?</vt:lpstr>
      <vt:lpstr>4 4. Information vs Knowledge</vt:lpstr>
      <vt:lpstr>4 4. Types of Knowledge</vt:lpstr>
      <vt:lpstr>4 4. What KM Ensures</vt:lpstr>
      <vt:lpstr>4 4. 🎭 Class Activity: “Ask the Expert” Game</vt:lpstr>
      <vt:lpstr>PowerPoint Presentation</vt:lpstr>
      <vt:lpstr>5. Measurement and reporting</vt:lpstr>
      <vt:lpstr>4 5. What is Measurement &amp; Reporting</vt:lpstr>
      <vt:lpstr>4 5. What Do We Measure?</vt:lpstr>
      <vt:lpstr>4 5. Why Measurement Matters?</vt:lpstr>
      <vt:lpstr>4 5. CSF vs KPI</vt:lpstr>
      <vt:lpstr>4 5. Why Measurement Matters?</vt:lpstr>
      <vt:lpstr>4 5. Good Measurement = Good Reporting</vt:lpstr>
      <vt:lpstr>4 5. What a Good Report Looks Like</vt:lpstr>
      <vt:lpstr>PowerPoint Presentation</vt:lpstr>
      <vt:lpstr>4 5. 🎮 Class Activity “Dashboard Detective”</vt:lpstr>
      <vt:lpstr>PowerPoint Presentation</vt:lpstr>
      <vt:lpstr>6. Organizational Change Management</vt:lpstr>
      <vt:lpstr>4 6. Organizational Change Management</vt:lpstr>
      <vt:lpstr>4 6. Why Change Management?</vt:lpstr>
      <vt:lpstr>4 6. What OCM Achieves</vt:lpstr>
      <vt:lpstr>4 6. Essential Elements of Successful Change</vt:lpstr>
      <vt:lpstr>4 6. A. Clear &amp; Relevant Objectives</vt:lpstr>
      <vt:lpstr>4 6. B. Strong &amp; Committed Leadership</vt:lpstr>
      <vt:lpstr>4 6. C. Willing &amp; Prepared Participants</vt:lpstr>
      <vt:lpstr>4 6. D. Sustained Improvement</vt:lpstr>
      <vt:lpstr>4 6. Key OCM Activities</vt:lpstr>
      <vt:lpstr>PowerPoint Presentation</vt:lpstr>
      <vt:lpstr>4 6. 🎮 “Change Resistance Bingo”</vt:lpstr>
      <vt:lpstr>4 6. 🎮 “Change Resistance Bingo”</vt:lpstr>
      <vt:lpstr>4 6. Mini Case Study</vt:lpstr>
      <vt:lpstr>7. Portfolio Management</vt:lpstr>
      <vt:lpstr>4    7. Portfolio Management</vt:lpstr>
      <vt:lpstr>4 7. Portfolio vs Project </vt:lpstr>
      <vt:lpstr>4 7. Portfolio vs Project (Mini Game)</vt:lpstr>
      <vt:lpstr>4 7. Why Portfolio Management is Needed</vt:lpstr>
      <vt:lpstr>4 7. What Portfolio Management DOES </vt:lpstr>
      <vt:lpstr>4 7. Activity 1: Evaluation &amp; Prioritization</vt:lpstr>
      <vt:lpstr>4 7. Activity 2: Linking to Outcomes</vt:lpstr>
      <vt:lpstr>4 7. Activity 3: Portfolio Reviews</vt:lpstr>
      <vt:lpstr>4 7. Types of Portfolios (Overview)</vt:lpstr>
      <vt:lpstr>4 7. Product/Service Portfolio</vt:lpstr>
      <vt:lpstr>4 7. Project Portfolio</vt:lpstr>
      <vt:lpstr>4 7. Customer Portfolio</vt:lpstr>
      <vt:lpstr>PowerPoint Presentation</vt:lpstr>
      <vt:lpstr>4 7. Exit Activity</vt:lpstr>
      <vt:lpstr>8. Project Management Turning plans into results</vt:lpstr>
      <vt:lpstr>4    8. Project Management</vt:lpstr>
      <vt:lpstr>4  8. What is a Project?</vt:lpstr>
      <vt:lpstr>4  8. Why Project Management is Important</vt:lpstr>
      <vt:lpstr>4  8. Project vs Business as Usual (Game)</vt:lpstr>
      <vt:lpstr>4  8. Standalone Project or Programme</vt:lpstr>
      <vt:lpstr>4  8. Project &amp; Project Portfolio</vt:lpstr>
      <vt:lpstr>4  8. Risk of Poor Project Management</vt:lpstr>
      <vt:lpstr>4  8. Role of People in Projects</vt:lpstr>
      <vt:lpstr>4  8. Project Team Reality</vt:lpstr>
      <vt:lpstr>4  8. Project Delivery Approaches</vt:lpstr>
      <vt:lpstr>4  8. Value Chain: Design &amp; Transition AND Obtain / Build</vt:lpstr>
      <vt:lpstr>PowerPoint Presentation</vt:lpstr>
      <vt:lpstr>4  8. Summary Slide</vt:lpstr>
      <vt:lpstr>9. Relationship Management Because services are built on relationships</vt:lpstr>
      <vt:lpstr>4 9. Relationship Management</vt:lpstr>
      <vt:lpstr>4  9. Who Are Stakeholders?</vt:lpstr>
      <vt:lpstr>4  9. What Relationship Management Does</vt:lpstr>
      <vt:lpstr>4  9. Customer Priorities</vt:lpstr>
      <vt:lpstr>4  9. Handling Complaints &amp; Escalations</vt:lpstr>
      <vt:lpstr>4  9. Value Creation Through Relationships </vt:lpstr>
      <vt:lpstr>4  9. Managing Conflicting Needs</vt:lpstr>
      <vt:lpstr>4  9. Not Only Customers!</vt:lpstr>
      <vt:lpstr>PowerPoint Presentation</vt:lpstr>
      <vt:lpstr>4  9. Summary Slide</vt:lpstr>
      <vt:lpstr>10. Risk Management “Is taking no risk also a risk?”</vt:lpstr>
      <vt:lpstr>4 10. Risk Management</vt:lpstr>
      <vt:lpstr>4  10. Risk Is NOT Always Bad</vt:lpstr>
      <vt:lpstr>4  10. Portfolio &amp; Risk</vt:lpstr>
      <vt:lpstr>4  10. Three Core Risk Activities</vt:lpstr>
      <vt:lpstr>PowerPoint Presentation</vt:lpstr>
      <vt:lpstr>4  10. Risk Identification</vt:lpstr>
      <vt:lpstr>4  10. Risk Assessment </vt:lpstr>
      <vt:lpstr>4  10. Risk Treatment</vt:lpstr>
      <vt:lpstr>4  10. Principle: Risk Is Part of Business</vt:lpstr>
      <vt:lpstr>PowerPoint Presentation</vt:lpstr>
      <vt:lpstr>4  10. Good Risk Behaviour Includes</vt:lpstr>
      <vt:lpstr>4  10. ISO 31000 Connection</vt:lpstr>
      <vt:lpstr>4  10. Classroom Activity: “Risk Spotter” ⚠️</vt:lpstr>
      <vt:lpstr>4  10. Exam Memory Box</vt:lpstr>
      <vt:lpstr>PowerPoint Presentation</vt:lpstr>
      <vt:lpstr>4 11. Service financial management </vt:lpstr>
      <vt:lpstr>4  11. Finance = Common Language</vt:lpstr>
      <vt:lpstr>4  11. Budgeting &amp; Costing</vt:lpstr>
      <vt:lpstr>4  11. Service-Based Budgeting</vt:lpstr>
      <vt:lpstr>4  11. Accounting</vt:lpstr>
      <vt:lpstr>4  11. Charging</vt:lpstr>
      <vt:lpstr>4  11. Classroom Activity: “Who Pays?” 💸</vt:lpstr>
      <vt:lpstr>PowerPoint Presentation</vt:lpstr>
      <vt:lpstr>4  11. Value Chain: Plan</vt:lpstr>
      <vt:lpstr>4  11. IT Budgets: Old vs New</vt:lpstr>
      <vt:lpstr>4  11. CAPEX vs OPEX</vt:lpstr>
      <vt:lpstr>4  11. Procurement Challenges</vt:lpstr>
      <vt:lpstr>4  11. Exam Memory Box 🧠</vt:lpstr>
      <vt:lpstr>4  Strategy Management (What &amp; Why)</vt:lpstr>
      <vt:lpstr>4  What Strategy Management Does</vt:lpstr>
      <vt:lpstr>4  Modern Strategy</vt:lpstr>
      <vt:lpstr>PowerPoint Presentation</vt:lpstr>
      <vt:lpstr>4  SUPPLIER MANAGEMENT</vt:lpstr>
      <vt:lpstr>4  Core Activities</vt:lpstr>
      <vt:lpstr>4  Supplier Types</vt:lpstr>
      <vt:lpstr>4  Supplier Evaluation Criteria</vt:lpstr>
      <vt:lpstr>4  Service Integration</vt:lpstr>
      <vt:lpstr>PowerPoint Presentation</vt:lpstr>
      <vt:lpstr>4  Workforce and talent management</vt:lpstr>
      <vt:lpstr>4  Important Definitions</vt:lpstr>
      <vt:lpstr>4  Activities</vt:lpstr>
      <vt:lpstr>PowerPoint Presentation</vt:lpstr>
      <vt:lpstr>PowerPoint Presentation</vt:lpstr>
      <vt:lpstr>   Services Management Practices</vt:lpstr>
      <vt:lpstr>2.1 Availability Management</vt:lpstr>
      <vt:lpstr>4  Availability Management</vt:lpstr>
      <vt:lpstr>4  What is Availability?</vt:lpstr>
      <vt:lpstr>4  Key Activities</vt:lpstr>
      <vt:lpstr>4  MTBF &amp; MTRS</vt:lpstr>
      <vt:lpstr>PowerPoint Presentation</vt:lpstr>
      <vt:lpstr>2.2 Business Analysis</vt:lpstr>
      <vt:lpstr>4  Business Analysis</vt:lpstr>
      <vt:lpstr>4  What is Business Analysis?</vt:lpstr>
      <vt:lpstr>4  Key Activities</vt:lpstr>
      <vt:lpstr>4  Quick</vt:lpstr>
      <vt:lpstr>PowerPoint Presentation</vt:lpstr>
      <vt:lpstr>2.3 Capacity and Performance Management</vt:lpstr>
      <vt:lpstr>4  Capacity and Performance Management</vt:lpstr>
      <vt:lpstr>4  What is Capacity vs Performance?</vt:lpstr>
      <vt:lpstr>4  Key Activities</vt:lpstr>
      <vt:lpstr>4  Why it is Important?</vt:lpstr>
      <vt:lpstr>PowerPoint Presentation</vt:lpstr>
      <vt:lpstr>2.4 Change Control</vt:lpstr>
      <vt:lpstr>4  Change Control</vt:lpstr>
      <vt:lpstr>4  What is a Change?</vt:lpstr>
      <vt:lpstr>4  Types of Changes </vt:lpstr>
      <vt:lpstr>4  Key Activities</vt:lpstr>
      <vt:lpstr>PowerPoint Presentation</vt:lpstr>
      <vt:lpstr>2.5 Incident Management</vt:lpstr>
      <vt:lpstr>4  Incident Management</vt:lpstr>
      <vt:lpstr>4  What is an Incident?</vt:lpstr>
      <vt:lpstr>4  Incident vs Problem</vt:lpstr>
      <vt:lpstr>4  Key Activities</vt:lpstr>
      <vt:lpstr>PowerPoint Presentation</vt:lpstr>
      <vt:lpstr>2.6 IT Asset Management</vt:lpstr>
      <vt:lpstr>4  IT Asset Management</vt:lpstr>
      <vt:lpstr>4  What is an IT Asset?</vt:lpstr>
      <vt:lpstr>4  Asset Lifecycle Stages</vt:lpstr>
      <vt:lpstr>4  Key Activities</vt:lpstr>
      <vt:lpstr>4  Why IT Asset Management is Important</vt:lpstr>
      <vt:lpstr>PowerPoint Presentation</vt:lpstr>
      <vt:lpstr>2.7 Monitoring and Event Management</vt:lpstr>
      <vt:lpstr>4  Monitoring and Event Management</vt:lpstr>
      <vt:lpstr>4  What is Monitoring?</vt:lpstr>
      <vt:lpstr>4  What is an Event?</vt:lpstr>
      <vt:lpstr>4  Relationship with Incident Management</vt:lpstr>
      <vt:lpstr>4  Quick</vt:lpstr>
      <vt:lpstr>PowerPoint Presentation</vt:lpstr>
      <vt:lpstr>2.8 Problem Management</vt:lpstr>
      <vt:lpstr>4  Problem Management</vt:lpstr>
      <vt:lpstr>4  What is a Problem?</vt:lpstr>
      <vt:lpstr>4  Problem vs Incident</vt:lpstr>
      <vt:lpstr>4  Key Activities</vt:lpstr>
      <vt:lpstr>4  Phases of Problem Management</vt:lpstr>
      <vt:lpstr>4  Workaround</vt:lpstr>
      <vt:lpstr>4  Known Error &amp; Error Control</vt:lpstr>
      <vt:lpstr>PowerPoint Presentation</vt:lpstr>
      <vt:lpstr>PowerPoint Presentation</vt:lpstr>
      <vt:lpstr>2.9 Release Management</vt:lpstr>
      <vt:lpstr>4  Release Management</vt:lpstr>
      <vt:lpstr>4  What is a Release?</vt:lpstr>
      <vt:lpstr>4  Types of Releases</vt:lpstr>
      <vt:lpstr>4  Key Activities</vt:lpstr>
      <vt:lpstr>4  Relationship with Other Practices</vt:lpstr>
      <vt:lpstr>PowerPoint Presentation</vt:lpstr>
      <vt:lpstr>PowerPoint Presentation</vt:lpstr>
      <vt:lpstr>2.10 Service Catalogue Management</vt:lpstr>
      <vt:lpstr>4  Service Catalogue Management</vt:lpstr>
      <vt:lpstr>4  What is a Service Catalogue?</vt:lpstr>
      <vt:lpstr>4  What Information Does a Service Catalogue Contain?</vt:lpstr>
      <vt:lpstr>4  Why Service Catalogue Management is Important?</vt:lpstr>
      <vt:lpstr>PowerPoint Presentation</vt:lpstr>
      <vt:lpstr>2.11 Service Configuration Management</vt:lpstr>
      <vt:lpstr>4  Service Configuration Management</vt:lpstr>
      <vt:lpstr>4  What is a Configuration Item (CI)?</vt:lpstr>
      <vt:lpstr>4  Configuration Management Database (CMDB)</vt:lpstr>
      <vt:lpstr>4  Key Activities</vt:lpstr>
      <vt:lpstr>PowerPoint Presentation</vt:lpstr>
      <vt:lpstr>2.12 Service Continuity Management</vt:lpstr>
      <vt:lpstr>4  Service Continuity Management</vt:lpstr>
      <vt:lpstr>4  What is Service Continuity?</vt:lpstr>
      <vt:lpstr>4  Key Activities</vt:lpstr>
      <vt:lpstr>4  Relationship with Other Practices</vt:lpstr>
      <vt:lpstr>PowerPoint Presentation</vt:lpstr>
      <vt:lpstr>2.13 Service Design</vt:lpstr>
      <vt:lpstr>4  Service Design</vt:lpstr>
      <vt:lpstr>4  What is Service Design?</vt:lpstr>
      <vt:lpstr>4  Key Activities</vt:lpstr>
      <vt:lpstr>PowerPoint Presentation</vt:lpstr>
      <vt:lpstr>2.14 Service Desk</vt:lpstr>
      <vt:lpstr>4  Service Desk</vt:lpstr>
      <vt:lpstr>4  What is Service Desk?</vt:lpstr>
      <vt:lpstr>4  Types of Service Desk</vt:lpstr>
      <vt:lpstr>4  Key Activities</vt:lpstr>
      <vt:lpstr>PowerPoint Presentation</vt:lpstr>
      <vt:lpstr>2.15 Service Level Management</vt:lpstr>
      <vt:lpstr>4  Service Level Management</vt:lpstr>
      <vt:lpstr>4  What is a Service Level?</vt:lpstr>
      <vt:lpstr>4  SLA, OLA, Underpinning Contract </vt:lpstr>
      <vt:lpstr>4  Key Activities</vt:lpstr>
      <vt:lpstr>PowerPoint Presentation</vt:lpstr>
      <vt:lpstr>2.16 Service Request Management</vt:lpstr>
      <vt:lpstr>4  Service Request Management</vt:lpstr>
      <vt:lpstr>4  What is a Service Request?</vt:lpstr>
      <vt:lpstr>4  Service Request vs Incident</vt:lpstr>
      <vt:lpstr>4  Key Activities</vt:lpstr>
      <vt:lpstr>PowerPoint Presentation</vt:lpstr>
      <vt:lpstr>2.17 Service Validation and Testing</vt:lpstr>
      <vt:lpstr>4  Service Validation and Testing</vt:lpstr>
      <vt:lpstr>4  What is Validated?</vt:lpstr>
      <vt:lpstr>4  Validation vs Testing</vt:lpstr>
      <vt:lpstr>4  When is it Performed?</vt:lpstr>
      <vt:lpstr>4 Typical test types</vt:lpstr>
      <vt:lpstr>PowerPoint Presentation</vt:lpstr>
      <vt:lpstr>   Technical Management</vt:lpstr>
      <vt:lpstr>1. Deployment management  2. Infrastructure &amp; platform management  3. Software development &amp; management</vt:lpstr>
      <vt:lpstr>3.1 Deployment Management</vt:lpstr>
      <vt:lpstr>4  Deployment Management</vt:lpstr>
      <vt:lpstr>4  Key points</vt:lpstr>
      <vt:lpstr>4  Deployment approaches</vt:lpstr>
      <vt:lpstr>PowerPoint Presentation</vt:lpstr>
      <vt:lpstr>3.2 Infrastructure &amp; Platform Management</vt:lpstr>
      <vt:lpstr>4  Infrastructure &amp; Platform Management</vt:lpstr>
      <vt:lpstr>4  Key points</vt:lpstr>
      <vt:lpstr>4  Cloud Service Models </vt:lpstr>
      <vt:lpstr>4  Cloud Deployment Models</vt:lpstr>
      <vt:lpstr>PowerPoint Presentation</vt:lpstr>
      <vt:lpstr>3.3 Software Development &amp; Management</vt:lpstr>
      <vt:lpstr>4  Software Development &amp; Management</vt:lpstr>
      <vt:lpstr>4  What does software include?</vt:lpstr>
      <vt:lpstr>4  Key activities</vt:lpstr>
      <vt:lpstr>PowerPoint Presentation</vt:lpstr>
      <vt:lpstr>PowerPoint Presentation</vt:lpstr>
      <vt:lpstr>Thank you…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Principles of  Geographic Information Systems</dc:title>
  <dc:creator>Pushpa Mahapatro</dc:creator>
  <cp:lastModifiedBy>pvgit</cp:lastModifiedBy>
  <cp:revision>76</cp:revision>
  <dcterms:created xsi:type="dcterms:W3CDTF">2025-11-04T17:06:10Z</dcterms:created>
  <dcterms:modified xsi:type="dcterms:W3CDTF">2026-02-14T03:05:35Z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2021-01-13T00:00:00Z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2025-11-04T00:00:00Z</vt:filetime>
  </property>
  <property fmtid="{D5CDD505-2E9C-101B-9397-08002B2CF9AE}" pid="5" name="Producer">
    <vt:lpwstr>Microsoft® PowerPoint® for Microsoft 365</vt:lpwstr>
  </property>
</Properties>
</file>