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77" r:id="rId5"/>
    <p:sldId id="275" r:id="rId6"/>
    <p:sldId id="294" r:id="rId7"/>
    <p:sldId id="280" r:id="rId8"/>
    <p:sldId id="295" r:id="rId9"/>
    <p:sldId id="293" r:id="rId10"/>
    <p:sldId id="270" r:id="rId11"/>
    <p:sldId id="298" r:id="rId12"/>
    <p:sldId id="299" r:id="rId13"/>
    <p:sldId id="300" r:id="rId14"/>
    <p:sldId id="301" r:id="rId15"/>
    <p:sldId id="289" r:id="rId16"/>
    <p:sldId id="297" r:id="rId17"/>
    <p:sldId id="296" r:id="rId18"/>
    <p:sldId id="290" r:id="rId19"/>
    <p:sldId id="281" r:id="rId20"/>
    <p:sldId id="291" r:id="rId21"/>
    <p:sldId id="282" r:id="rId22"/>
    <p:sldId id="287" r:id="rId23"/>
    <p:sldId id="284" r:id="rId24"/>
    <p:sldId id="310" r:id="rId25"/>
    <p:sldId id="288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285" r:id="rId34"/>
    <p:sldId id="309" r:id="rId35"/>
    <p:sldId id="312" r:id="rId36"/>
    <p:sldId id="311" r:id="rId37"/>
    <p:sldId id="313" r:id="rId38"/>
    <p:sldId id="315" r:id="rId39"/>
    <p:sldId id="316" r:id="rId40"/>
    <p:sldId id="317" r:id="rId41"/>
    <p:sldId id="318" r:id="rId42"/>
    <p:sldId id="314" r:id="rId43"/>
    <p:sldId id="321" r:id="rId44"/>
    <p:sldId id="322" r:id="rId45"/>
    <p:sldId id="323" r:id="rId46"/>
    <p:sldId id="324" r:id="rId47"/>
    <p:sldId id="332" r:id="rId48"/>
    <p:sldId id="331" r:id="rId49"/>
    <p:sldId id="330" r:id="rId50"/>
    <p:sldId id="329" r:id="rId51"/>
    <p:sldId id="327" r:id="rId52"/>
    <p:sldId id="326" r:id="rId53"/>
    <p:sldId id="328" r:id="rId54"/>
    <p:sldId id="333" r:id="rId55"/>
    <p:sldId id="334" r:id="rId56"/>
    <p:sldId id="335" r:id="rId57"/>
    <p:sldId id="336" r:id="rId58"/>
    <p:sldId id="337" r:id="rId59"/>
    <p:sldId id="269" r:id="rId6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>
      <p:cViewPr varScale="1">
        <p:scale>
          <a:sx n="90" d="100"/>
          <a:sy n="90" d="100"/>
        </p:scale>
        <p:origin x="149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089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730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gif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73187" y="945215"/>
            <a:ext cx="10363200" cy="2821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>
              <a:lnSpc>
                <a:spcPts val="5550"/>
              </a:lnSpc>
            </a:pP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IT Infrastructure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   Management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</a:t>
            </a:r>
            <a:r>
              <a:rPr lang="en-IN" sz="2400" b="0" spc="150">
                <a:solidFill>
                  <a:srgbClr val="FFFFFF"/>
                </a:solidFill>
                <a:latin typeface="Cambria"/>
                <a:cs typeface="Cambria"/>
              </a:rPr>
              <a:t>Chapter 4:</a:t>
            </a:r>
            <a:r>
              <a:rPr lang="en-US" sz="2400" b="0" spc="150" dirty="0">
                <a:solidFill>
                  <a:srgbClr val="FFFFFF"/>
                </a:solidFill>
                <a:latin typeface="Cambria"/>
                <a:cs typeface="Cambria"/>
              </a:rPr>
              <a:t>  THE ITIL SERVICE VALUE SYSTEM</a:t>
            </a:r>
            <a:b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  <a:t>                       </a:t>
            </a:r>
            <a:r>
              <a:rPr lang="en-IN" sz="3200" b="0" spc="210" dirty="0">
                <a:solidFill>
                  <a:srgbClr val="FFFFFF"/>
                </a:solidFill>
                <a:latin typeface="Cambria"/>
                <a:cs typeface="Cambria"/>
              </a:rPr>
              <a:t>TY B.Sc. (IT)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6FAB2A22-FBB1-FA70-ED68-3643E270AE45}"/>
              </a:ext>
            </a:extLst>
          </p:cNvPr>
          <p:cNvSpPr txBox="1">
            <a:spLocks/>
          </p:cNvSpPr>
          <p:nvPr/>
        </p:nvSpPr>
        <p:spPr>
          <a:xfrm>
            <a:off x="3189922" y="5105400"/>
            <a:ext cx="8546465" cy="132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                                       Poornima .N</a:t>
            </a:r>
          </a:p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Assistant Professor, Department of IT/CS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733800" y="1944846"/>
            <a:ext cx="9714738" cy="480997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469900" marR="3267075" indent="-457200">
              <a:lnSpc>
                <a:spcPts val="49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Service value system overview</a:t>
            </a:r>
          </a:p>
          <a:p>
            <a:pPr marL="469900" marR="3267075" indent="-457200">
              <a:lnSpc>
                <a:spcPts val="49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Opportunity, demand, and value</a:t>
            </a:r>
          </a:p>
          <a:p>
            <a:pPr marL="469900" marR="3267075" indent="-457200">
              <a:lnSpc>
                <a:spcPts val="49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The ITIL guiding principles </a:t>
            </a:r>
          </a:p>
          <a:p>
            <a:pPr marL="469900" marR="3267075" indent="-457200">
              <a:lnSpc>
                <a:spcPts val="49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Governance </a:t>
            </a:r>
          </a:p>
          <a:p>
            <a:pPr marL="469900" marR="3267075" indent="-457200">
              <a:lnSpc>
                <a:spcPts val="49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Service Value chain </a:t>
            </a:r>
          </a:p>
          <a:p>
            <a:pPr marL="469900" marR="3267075" indent="-457200">
              <a:lnSpc>
                <a:spcPts val="49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Practice</a:t>
            </a:r>
            <a:endParaRPr lang="en-US" sz="2800" b="1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469900" marR="3267075" indent="-457200">
              <a:lnSpc>
                <a:spcPts val="49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Continual Improvement  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943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b="0" spc="225" dirty="0">
                <a:solidFill>
                  <a:schemeClr val="tx1"/>
                </a:solidFill>
                <a:latin typeface="Cambria"/>
                <a:cs typeface="Cambria"/>
              </a:rPr>
              <a:t>Topics</a:t>
            </a:r>
            <a:r>
              <a:rPr sz="4400" b="0" spc="140" dirty="0">
                <a:solidFill>
                  <a:schemeClr val="tx1"/>
                </a:solidFill>
                <a:latin typeface="Cambria"/>
                <a:cs typeface="Cambria"/>
              </a:rPr>
              <a:t>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Introduction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B6F45A-3E48-C83F-505A-1069ACABA0A4}"/>
              </a:ext>
            </a:extLst>
          </p:cNvPr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SVS is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 showing how an organization works as a system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co-create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Inputs → Activities → Outputs =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components: Guiding principles, Governance, Service Value Chain, Practices, Continual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9415D-741E-8C7B-4B96-DAF09CA52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80BD93E-DA6D-6BCD-7110-E4477912E8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4252D83-0A34-188D-3BB5-E12CC1B76F8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7A48A78-824A-A1C7-3B41-F20D8A375CB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C2F791C-74B9-0BEF-9453-E9EB52D7FA3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D363A48-71C5-11FF-F1AC-2D4400C316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</a:rPr>
              <a:t>The Core Components of the ITIL</a:t>
            </a:r>
            <a:b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</a:rPr>
            </a:br>
            <a: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</a:rPr>
              <a:t>                                SVS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B7930B4-742F-C9CD-6E09-BD11B9A1BC8E}"/>
              </a:ext>
            </a:extLst>
          </p:cNvPr>
          <p:cNvSpPr txBox="1"/>
          <p:nvPr/>
        </p:nvSpPr>
        <p:spPr>
          <a:xfrm>
            <a:off x="2934462" y="2286000"/>
            <a:ext cx="8448040" cy="45589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/>
              <a:t>It ensures that </a:t>
            </a:r>
            <a:r>
              <a:rPr lang="en-US" b="1" dirty="0"/>
              <a:t>all activities in an organization work together</a:t>
            </a:r>
            <a:r>
              <a:rPr lang="en-US" dirty="0"/>
              <a:t> to deliver value to</a:t>
            </a:r>
            <a:endParaRPr lang="en-US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2AA1A2-9205-D1FC-AB4F-23CCE0449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461" y="1927770"/>
            <a:ext cx="8770620" cy="493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020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D414B9-B90A-F669-2C51-DCEAF934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79B427-02E0-3818-B528-27CC02853E6E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ABD643F-0508-8BE8-F4C7-E58271DCF8E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919399F-F845-83CA-BBC6-04A7381D99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B7C0A9C-8282-3253-4D01-740FAD392F3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CB3F5A9-BF5C-BC5E-2FB9-BF1459AC37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Service Value System (SVS)</a:t>
            </a:r>
            <a:br>
              <a:rPr lang="en-US" sz="4400" dirty="0"/>
            </a:br>
            <a:r>
              <a:rPr lang="en-US" sz="4400" dirty="0"/>
              <a:t>       Overview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9EFF2F3-CCD0-8934-605B-567D98C1158F}"/>
              </a:ext>
            </a:extLst>
          </p:cNvPr>
          <p:cNvSpPr txBox="1"/>
          <p:nvPr/>
        </p:nvSpPr>
        <p:spPr>
          <a:xfrm>
            <a:off x="2934462" y="2286000"/>
            <a:ext cx="8448040" cy="165622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The ITIL SVS describes how all components and activities of an organization work together as a system to create value.</a:t>
            </a:r>
          </a:p>
        </p:txBody>
      </p:sp>
    </p:spTree>
    <p:extLst>
      <p:ext uri="{BB962C8B-B14F-4D97-AF65-F5344CB8AC3E}">
        <p14:creationId xmlns:p14="http://schemas.microsoft.com/office/powerpoint/2010/main" val="216168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2+ Thousand Messy Desk Clean Desk Royalty-Free Images, Stock Photos &amp;  Pictures | Shutterstock">
            <a:extLst>
              <a:ext uri="{FF2B5EF4-FFF2-40B4-BE49-F238E27FC236}">
                <a16:creationId xmlns:a16="http://schemas.microsoft.com/office/drawing/2014/main" id="{6761ACEA-C169-7E20-E730-0E737A243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58694"/>
            <a:ext cx="10823121" cy="594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67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Inputs, Components, Outputs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Opportunity &amp; Demand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Governance, SV Chain, Practices, Guiding Principles, Continual Improvement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Value for organization, customers, stakeholders</a:t>
            </a:r>
          </a:p>
        </p:txBody>
      </p:sp>
    </p:spTree>
    <p:extLst>
      <p:ext uri="{BB962C8B-B14F-4D97-AF65-F5344CB8AC3E}">
        <p14:creationId xmlns:p14="http://schemas.microsoft.com/office/powerpoint/2010/main" val="3243532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DF944-BCE3-BAC7-D9FD-2478753F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C42961-31F0-2D58-2FEB-F302E4906D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0C76929-D03E-52E2-C07E-46DE089D347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6406477-7BDF-220F-61D0-E5254C985DB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8F10B2A-BC9B-BF43-4743-6B54C67305D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E10B510C-8035-99F2-27A1-1444F7C34D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</a:rPr>
              <a:t>The Core Components of the ITIL</a:t>
            </a:r>
            <a:b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</a:rPr>
            </a:br>
            <a: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</a:rPr>
              <a:t>                                SVS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E782744-5329-9A67-118E-1A80F6BC961F}"/>
              </a:ext>
            </a:extLst>
          </p:cNvPr>
          <p:cNvSpPr txBox="1"/>
          <p:nvPr/>
        </p:nvSpPr>
        <p:spPr>
          <a:xfrm>
            <a:off x="2934462" y="2286000"/>
            <a:ext cx="8448040" cy="45589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/>
              <a:t>It ensures that </a:t>
            </a:r>
            <a:r>
              <a:rPr lang="en-US" b="1" dirty="0"/>
              <a:t>all activities in an organization work together</a:t>
            </a:r>
            <a:r>
              <a:rPr lang="en-US" dirty="0"/>
              <a:t> to deliver value to</a:t>
            </a:r>
            <a:endParaRPr lang="en-US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CF75F1-77A9-620A-3096-9BC1A5E7C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927770"/>
            <a:ext cx="8991600" cy="493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91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A0F55A-4AF6-53D2-D977-2B9E0EF1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C93A4C8-421E-DD0A-91CD-CB875C2172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C579532-3090-838C-ED93-D93CEE1B488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911CEB7-690B-FEC1-3BF9-0D382432B1C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1C9E577-8900-220D-58DC-AE55F9F64AF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8F0211F-41B8-189E-881E-44A60F86A0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5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Activity 1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CE04291-B24A-8415-C191-0457F8288B1A}"/>
              </a:ext>
            </a:extLst>
          </p:cNvPr>
          <p:cNvSpPr txBox="1"/>
          <p:nvPr/>
        </p:nvSpPr>
        <p:spPr>
          <a:xfrm>
            <a:off x="2934462" y="2286000"/>
            <a:ext cx="8448040" cy="104067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 of a service you use every day—what makes it valuable?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684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CBB987-9B11-023D-D33C-8CBAF9B1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EF9DFEF-2D54-8B63-A410-80F619289F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DC9E1E0-028B-960F-284B-6D068DB55D6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AF316CF-C62B-D60B-DB2B-3BC8287BA5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460D41-CAE6-6660-E033-D97CF68F494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AB92D4A-F154-EA20-4B39-BCB8090D4E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8505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Organizational Agility &amp;</a:t>
            </a:r>
            <a:br>
              <a:rPr lang="en-IN" sz="4400" dirty="0"/>
            </a:br>
            <a:r>
              <a:rPr lang="en-IN" sz="4400" dirty="0"/>
              <a:t>       Resilience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8A3DE4E-E2D7-7B9F-0998-091805673814}"/>
              </a:ext>
            </a:extLst>
          </p:cNvPr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Agility: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Ability to adapt quickly internally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Resilience: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Ability to handle external changes/disruptions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SVS supports both and enables continuous improvement</a:t>
            </a:r>
          </a:p>
        </p:txBody>
      </p:sp>
    </p:spTree>
    <p:extLst>
      <p:ext uri="{BB962C8B-B14F-4D97-AF65-F5344CB8AC3E}">
        <p14:creationId xmlns:p14="http://schemas.microsoft.com/office/powerpoint/2010/main" val="2117502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CF9DB2-EF3E-7379-12CC-DF665F251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BA0B42E-84D2-5476-AF3B-703C02CB2E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C684457-5047-F678-B138-C9801598462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D6B6E40-3367-5BFA-7B00-6A7A4A92C56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2E16608-3C68-C2F4-F9F1-5D854B31649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554966D-DF33-1D40-87EB-698F203A4A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Opportunity, Demand, and Value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896AD2B-3ADC-8D0C-F127-9725C7D59694}"/>
              </a:ext>
            </a:extLst>
          </p:cNvPr>
          <p:cNvSpPr txBox="1"/>
          <p:nvPr/>
        </p:nvSpPr>
        <p:spPr>
          <a:xfrm>
            <a:off x="2951395" y="2057400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Opportunity and demand trigger activities in the ITIL SVS.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activities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value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Organizations do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automatically accept all opportunities or satisfy all demand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073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B7A78A0-A749-B12A-BA55-026FF1D7B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8185EC-94AF-81B8-7867-5CB0AD99DB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96674BF-D369-3308-D0D5-D7E9CACF444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6654E89-32EA-8865-9F54-4FB0412611E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B26F70F-ACF3-AB88-73AE-E52CF22ED7D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E0212D8-B915-E9EA-19C5-9B7ADDDD82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8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What is Opportunity?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E6FE781-C545-7F2D-CA02-116B3C00F9E1}"/>
              </a:ext>
            </a:extLst>
          </p:cNvPr>
          <p:cNvSpPr txBox="1"/>
          <p:nvPr/>
        </p:nvSpPr>
        <p:spPr>
          <a:xfrm>
            <a:off x="2951395" y="2057400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800" dirty="0"/>
              <a:t>Options or possibilities to add value or improve the organization.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800" b="1" dirty="0"/>
              <a:t>Example:</a:t>
            </a:r>
            <a:r>
              <a:rPr lang="en-US" sz="2800" dirty="0"/>
              <a:t> Implementing AI analytics before any department requests it.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954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D1B29F2-D96C-423F-3CBD-BB5EB990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4C6722-E65A-5F5E-3ABC-B5E28EC82C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7B9D7FB-E050-4ACD-1922-5DE0133FD36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2133FDA-AB7C-2999-0227-7187DD6E02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48BF633-0777-5508-59A5-A15EE55EFE2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C8FE29E-8097-4758-7E3B-98336A8FE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9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What is Demand?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4889614-0EF3-226A-B271-94DAFC614F51}"/>
              </a:ext>
            </a:extLst>
          </p:cNvPr>
          <p:cNvSpPr txBox="1"/>
          <p:nvPr/>
        </p:nvSpPr>
        <p:spPr>
          <a:xfrm>
            <a:off x="2951395" y="2057400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800" dirty="0"/>
              <a:t>Need or desire for products and services from internal/external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800" b="1" dirty="0"/>
              <a:t>Example:</a:t>
            </a:r>
            <a:r>
              <a:rPr lang="en-US" sz="2800" dirty="0"/>
              <a:t> Customers requesting a faster app update.</a:t>
            </a:r>
          </a:p>
        </p:txBody>
      </p:sp>
    </p:spTree>
    <p:extLst>
      <p:ext uri="{BB962C8B-B14F-4D97-AF65-F5344CB8AC3E}">
        <p14:creationId xmlns:p14="http://schemas.microsoft.com/office/powerpoint/2010/main" val="2273430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E7A57D-D156-8B5E-C322-C3299F2E7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75A6C44-0C7F-C075-B01B-A0079949B3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400F512-B223-044B-ABA5-EDCF9716BD3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1903C8F-339F-47AE-18DC-A9DFF0DAF47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767C61A-9C5E-BC11-0531-9DA7785C38E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1C16F30-A8E4-A729-01A7-145F851B2D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85055" cy="20447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10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Relationship to Value</a:t>
            </a:r>
            <a:br>
              <a:rPr lang="en-IN" sz="4400" dirty="0"/>
            </a:br>
            <a:r>
              <a:rPr lang="en-IN" sz="4400" dirty="0"/>
              <a:t>          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How Opportunity and Demand Create Value?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084E6BC-4A0A-59A0-EE80-4EAD75D978FA}"/>
              </a:ext>
            </a:extLst>
          </p:cNvPr>
          <p:cNvSpPr txBox="1"/>
          <p:nvPr/>
        </p:nvSpPr>
        <p:spPr>
          <a:xfrm>
            <a:off x="2951395" y="2057400"/>
            <a:ext cx="8448040" cy="147155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the SVS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trigger activities.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Activities are designed 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maximize stakeholder value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8606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C6C7D9-09EF-89EA-8932-BD73EA0DB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3CE5D3-AD6D-A894-044C-B497D17965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B4D5CB6-A9DA-D14E-641B-75CE37E8158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A757F5E-D0B6-83A0-B72D-588E5EE75C1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56690DD-775C-F2DD-2334-BF9A230B18F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05D9F5B-B07B-14B6-6B70-51A097F84E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11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Questions…. For understanding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B278640-8260-893F-E121-FC08C78A04FA}"/>
              </a:ext>
            </a:extLst>
          </p:cNvPr>
          <p:cNvSpPr txBox="1"/>
          <p:nvPr/>
        </p:nvSpPr>
        <p:spPr>
          <a:xfrm>
            <a:off x="3095752" y="2152030"/>
            <a:ext cx="8448040" cy="47955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00"/>
                </a:highlight>
              </a:rPr>
              <a:t>List the key inputs and the key output of the ITIL Service Value System (SVS).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purpose of the SVS?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00"/>
                </a:highlight>
              </a:rPr>
              <a:t>Identify the five main components of the ITIL SVS.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difference between </a:t>
            </a:r>
            <a:r>
              <a:rPr lang="en-US" sz="2000" i="1" dirty="0"/>
              <a:t>opportunity</a:t>
            </a:r>
            <a:r>
              <a:rPr lang="en-US" sz="2000" dirty="0"/>
              <a:t> and </a:t>
            </a:r>
            <a:r>
              <a:rPr lang="en-US" sz="2000" i="1" dirty="0"/>
              <a:t>demand</a:t>
            </a:r>
            <a:r>
              <a:rPr lang="en-US" sz="2000" dirty="0"/>
              <a:t> as inputs to the SVS?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00"/>
                </a:highlight>
              </a:rPr>
              <a:t>"The text states that practices should not be silos. Give an example of how the 'Incident Management' practice might need to interact with the 'Organizational Change Management' practice.“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"A competitor releases a disruptive product, requiring your organization to completely redefine its service offerings quickly. Is this a test of organizational agility or organizational resilience, and why?“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Draw the diagram of SVS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5953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C782BC-AA05-FC6C-1B8F-0620F84CB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9FEE781-61AA-458A-8D41-E20AAC5D21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C446B73-F543-7768-1198-098C2B578BC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3B40B86-A8EE-D5D8-0614-B6C15D3F6AA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ADC8238-5A0F-8A8E-9F2D-8B1A70F5546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B94AD29-A28C-999A-66F6-35B7C17050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The ITIL Guiding Principles: </a:t>
            </a:r>
            <a:br>
              <a:rPr lang="en-US" sz="4400" dirty="0"/>
            </a:br>
            <a:r>
              <a:rPr lang="en-US" sz="4400" dirty="0"/>
              <a:t>          </a:t>
            </a:r>
            <a:r>
              <a:rPr lang="en-US" sz="2800" dirty="0">
                <a:solidFill>
                  <a:schemeClr val="tx1"/>
                </a:solidFill>
                <a:latin typeface="Perpetua" panose="02020502060401020303" pitchFamily="18" charset="0"/>
              </a:rPr>
              <a:t>A Universal Foundation for Service Management</a:t>
            </a:r>
            <a:endParaRPr sz="4400" dirty="0">
              <a:solidFill>
                <a:schemeClr val="tx1"/>
              </a:solidFill>
              <a:latin typeface="Perpetua" panose="02020502060401020303" pitchFamily="18" charset="0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A0E3D1C-3BDB-E292-AA49-A33613CE1C97}"/>
              </a:ext>
            </a:extLst>
          </p:cNvPr>
          <p:cNvSpPr txBox="1"/>
          <p:nvPr/>
        </p:nvSpPr>
        <p:spPr>
          <a:xfrm>
            <a:off x="3095752" y="2152030"/>
            <a:ext cx="8448040" cy="79444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"Universal and enduring recommendations that guide an organization in </a:t>
            </a:r>
            <a:r>
              <a:rPr lang="en-US" sz="2000" i="1" dirty="0"/>
              <a:t>all circumstances</a:t>
            </a:r>
            <a:r>
              <a:rPr lang="en-US" sz="2000" dirty="0"/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1610895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66F265D-141B-B50B-E499-4DC62B24BC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" t="13115" r="2086" b="1087"/>
          <a:stretch>
            <a:fillRect/>
          </a:stretch>
        </p:blipFill>
        <p:spPr bwMode="auto">
          <a:xfrm>
            <a:off x="2743200" y="76199"/>
            <a:ext cx="7162800" cy="66571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236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747D6E-EBFC-B3CD-2051-93A282413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1E7BE05-CE3D-6688-AC2A-80545D7D87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C48CB43-1DCF-9D75-2AAF-6BF4DF6BADE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A40DFFB-26E4-12D2-6B35-4C97DFAEE4F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7C341A7-18AD-650D-25C9-7568780A065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522CA93-B835-F1C2-D16F-5A7F9AA31D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Focus on Value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0880AAA-B9D6-210C-D1C4-F46AAF466D7A}"/>
              </a:ext>
            </a:extLst>
          </p:cNvPr>
          <p:cNvSpPr txBox="1"/>
          <p:nvPr/>
        </p:nvSpPr>
        <p:spPr>
          <a:xfrm>
            <a:off x="2934462" y="2049867"/>
            <a:ext cx="8448040" cy="21486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Everything maps to value for stakeholders.</a:t>
            </a:r>
          </a:p>
          <a:p>
            <a:endParaRPr lang="en-US" sz="3200" dirty="0"/>
          </a:p>
          <a:p>
            <a:r>
              <a:rPr lang="en-US" sz="3200" dirty="0"/>
              <a:t>Know your consumer (Customer/User) and their definition of value (CX/UX).</a:t>
            </a:r>
          </a:p>
        </p:txBody>
      </p:sp>
      <p:pic>
        <p:nvPicPr>
          <p:cNvPr id="4098" name="Picture 2" descr="98,900+ Arrow Target Stock Photos, Pictures &amp; Royalty-Free Images - iStock  | Archery target, Arrow, Bullseye">
            <a:extLst>
              <a:ext uri="{FF2B5EF4-FFF2-40B4-BE49-F238E27FC236}">
                <a16:creationId xmlns:a16="http://schemas.microsoft.com/office/drawing/2014/main" id="{A41A049D-D1D5-4568-6FFB-E18785276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8684" y="3733800"/>
            <a:ext cx="2983316" cy="2983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D1D6E8-DDC7-D82D-5479-7788FAE9E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4514" y="2852166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187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304CCF-0E86-1A4F-6366-6B04A8B87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7B1891-8659-4ABB-4D34-4E63D37F11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8361829-4804-022A-0537-EFDF10EC989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BE62608-826E-0336-3886-B8A09B2F8AA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807196-54FB-CF97-36B7-51C217887DA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CB50881-1F3C-51E3-3BEA-A65ED0B8B6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Start Where You Are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EB26F5F-3D5F-0F48-2071-19A33554AF85}"/>
              </a:ext>
            </a:extLst>
          </p:cNvPr>
          <p:cNvSpPr txBox="1"/>
          <p:nvPr/>
        </p:nvSpPr>
        <p:spPr>
          <a:xfrm>
            <a:off x="5334000" y="2274508"/>
            <a:ext cx="594360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Do not start from scratch. 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Assess the current state objectively. </a:t>
            </a:r>
          </a:p>
          <a:p>
            <a:r>
              <a:rPr lang="en-US" sz="2400" dirty="0"/>
              <a:t>Re-use, alter, or build upon what exists.</a:t>
            </a:r>
          </a:p>
          <a:p>
            <a:endParaRPr lang="en-US" sz="2400" dirty="0"/>
          </a:p>
          <a:p>
            <a:r>
              <a:rPr lang="en-IN" sz="2400" dirty="0"/>
              <a:t>Goodhart's Law:</a:t>
            </a:r>
            <a:r>
              <a:rPr lang="en-US" sz="2400" dirty="0"/>
              <a:t>"When a measure becomes a target, it ceases to be a good measure."</a:t>
            </a:r>
          </a:p>
        </p:txBody>
      </p:sp>
      <p:pic>
        <p:nvPicPr>
          <p:cNvPr id="5124" name="Picture 4" descr="Free Magnifying Glass Vector Art - Download 1,195+ Magnifying Glass Icons &amp;  Graphics - Pixabay">
            <a:extLst>
              <a:ext uri="{FF2B5EF4-FFF2-40B4-BE49-F238E27FC236}">
                <a16:creationId xmlns:a16="http://schemas.microsoft.com/office/drawing/2014/main" id="{AE53C1F4-0918-87A0-54DD-67EEFAD00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85050"/>
            <a:ext cx="5181600" cy="523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496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D9FAAD-151F-D0F8-B1AC-0F3C3771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4A49C9-6293-1044-0445-28061614D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7BBC64E-64F4-3D4B-476B-3B7EF46B089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1B06B26-6141-8EF8-BF06-66961FB40D2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83A7246-D72A-C3B6-5D0C-0EF821D6EC6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929D0EA-3D6B-421E-C555-C570B94056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Progress Iteratively with Feedback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5E352E6-58A7-C349-72E3-0833C5DBD0CB}"/>
              </a:ext>
            </a:extLst>
          </p:cNvPr>
          <p:cNvSpPr txBox="1"/>
          <p:nvPr/>
        </p:nvSpPr>
        <p:spPr>
          <a:xfrm>
            <a:off x="3896360" y="2205795"/>
            <a:ext cx="8448040" cy="21486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Work in small, manageable sections.</a:t>
            </a:r>
          </a:p>
          <a:p>
            <a:endParaRPr lang="en-US" sz="3200" dirty="0"/>
          </a:p>
          <a:p>
            <a:r>
              <a:rPr lang="en-US" sz="3200" dirty="0"/>
              <a:t>Embed feedback loops (MVP concept). </a:t>
            </a:r>
          </a:p>
          <a:p>
            <a:r>
              <a:rPr lang="en-US" sz="3200" dirty="0"/>
              <a:t>     Fast does not mean incomplete.</a:t>
            </a:r>
          </a:p>
        </p:txBody>
      </p:sp>
      <p:pic>
        <p:nvPicPr>
          <p:cNvPr id="6146" name="Picture 2" descr="Loop arrow - Free arrows icons">
            <a:extLst>
              <a:ext uri="{FF2B5EF4-FFF2-40B4-BE49-F238E27FC236}">
                <a16:creationId xmlns:a16="http://schemas.microsoft.com/office/drawing/2014/main" id="{89B0601F-041A-C476-400E-3DB320A16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3825" y="2205795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693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7A1890-3D1F-A065-3273-A299305D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241C81-5C36-7ACC-0600-53075DBEBB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0E24E25-67ED-5462-DA00-4767B59490D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C42B881-B964-3CCF-DB40-0DCE6521C8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EC8608A-F19A-6F76-74A4-F7E12CB35B4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B2C12B5-C551-9D4D-8259-330DC37069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Collaborate &amp; Promote Visibility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EF04921-5C2E-3765-60A4-0BCCFDCFD787}"/>
              </a:ext>
            </a:extLst>
          </p:cNvPr>
          <p:cNvSpPr txBox="1"/>
          <p:nvPr/>
        </p:nvSpPr>
        <p:spPr>
          <a:xfrm>
            <a:off x="6036129" y="2829814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2400" dirty="0"/>
              <a:t>No service stands alone.</a:t>
            </a:r>
          </a:p>
          <a:p>
            <a:endParaRPr lang="en-IN" sz="2400" dirty="0"/>
          </a:p>
          <a:p>
            <a:endParaRPr lang="en-IN" sz="2400" dirty="0"/>
          </a:p>
          <a:p>
            <a:r>
              <a:rPr lang="en-US" sz="2400" dirty="0"/>
              <a:t>Integrate </a:t>
            </a:r>
            <a:r>
              <a:rPr lang="en-US" sz="2400" b="1" dirty="0"/>
              <a:t>People, Partners, Practices, </a:t>
            </a:r>
          </a:p>
          <a:p>
            <a:r>
              <a:rPr lang="en-US" sz="2400" b="1" dirty="0"/>
              <a:t>Information, Technology, Organization, </a:t>
            </a:r>
          </a:p>
          <a:p>
            <a:r>
              <a:rPr lang="en-US" sz="2400" b="1" dirty="0"/>
              <a:t>and Agreements</a:t>
            </a:r>
            <a:r>
              <a:rPr lang="en-US" sz="2400" dirty="0"/>
              <a:t> to deliver value.</a:t>
            </a:r>
          </a:p>
        </p:txBody>
      </p:sp>
      <p:pic>
        <p:nvPicPr>
          <p:cNvPr id="7170" name="Picture 2" descr="Workplace connection: What you need to know">
            <a:extLst>
              <a:ext uri="{FF2B5EF4-FFF2-40B4-BE49-F238E27FC236}">
                <a16:creationId xmlns:a16="http://schemas.microsoft.com/office/drawing/2014/main" id="{D4DAA372-8678-5272-139F-9C6FBF4E0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829814"/>
            <a:ext cx="5753100" cy="383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562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629CAF-6986-7D02-E07E-1195FCE1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F55673B-70AC-F2D1-ACD7-94FC923DBE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7EDC4B0-D09E-B6D7-52F3-76B86BBC558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4346C56-97C6-C5D0-929C-987FB467607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8BB7982-C59D-6AF3-91BE-C90183C68B0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7AC9F87-A694-6444-3530-F6C3D4EDF8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Keep it Simple &amp; Practical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3BF825E-9392-58B6-872F-CF51B0DBD0F3}"/>
              </a:ext>
            </a:extLst>
          </p:cNvPr>
          <p:cNvSpPr txBox="1"/>
          <p:nvPr/>
        </p:nvSpPr>
        <p:spPr>
          <a:xfrm>
            <a:off x="4648200" y="2160100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Eliminate anything that doesn't provide </a:t>
            </a:r>
          </a:p>
          <a:p>
            <a:r>
              <a:rPr lang="en-US" sz="3200" dirty="0"/>
              <a:t>value.</a:t>
            </a:r>
          </a:p>
          <a:p>
            <a:endParaRPr lang="en-US" sz="3200" dirty="0"/>
          </a:p>
          <a:p>
            <a:r>
              <a:rPr lang="en-US" sz="3200" dirty="0"/>
              <a:t>Use outcome-based thinking. </a:t>
            </a:r>
          </a:p>
          <a:p>
            <a:r>
              <a:rPr lang="en-US" sz="3200" dirty="0"/>
              <a:t>Minimum steps required.</a:t>
            </a:r>
          </a:p>
        </p:txBody>
      </p:sp>
      <p:pic>
        <p:nvPicPr>
          <p:cNvPr id="8196" name="Picture 4" descr="610+ Hands Cutting Paper With Scissors Stock Illustrations, Royalty-Free  Vector Graphics &amp; Clip Art - iStock">
            <a:extLst>
              <a:ext uri="{FF2B5EF4-FFF2-40B4-BE49-F238E27FC236}">
                <a16:creationId xmlns:a16="http://schemas.microsoft.com/office/drawing/2014/main" id="{2F812B34-DC35-044F-79D7-500FD98FC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869032"/>
            <a:ext cx="4343400" cy="394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0974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956A08-A44A-1C1B-A131-CB0FB645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BBE539B-056B-F871-CCFA-0F3623FED4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CB0F000-E42D-F4B5-C91C-00209DEC623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66FB6D6-88B7-B92C-FF14-8B7ACC3844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64A4EF2-B392-6F4A-9880-0FD92C09F59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1585DDA-8DB0-F52E-D8E5-9FAF3E49F2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18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Optimize &amp; Automate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93E063A-A6CE-65DE-028B-2EB28AB14127}"/>
              </a:ext>
            </a:extLst>
          </p:cNvPr>
          <p:cNvSpPr txBox="1"/>
          <p:nvPr/>
        </p:nvSpPr>
        <p:spPr>
          <a:xfrm>
            <a:off x="5334000" y="2341463"/>
            <a:ext cx="609600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Use resources to their best effect.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Automate where possible. </a:t>
            </a:r>
          </a:p>
          <a:p>
            <a:r>
              <a:rPr lang="en-US" sz="2800" dirty="0"/>
              <a:t>Reserve human intervention for </a:t>
            </a:r>
          </a:p>
          <a:p>
            <a:r>
              <a:rPr lang="en-US" sz="2800" dirty="0"/>
              <a:t>value-adding activity.</a:t>
            </a:r>
          </a:p>
        </p:txBody>
      </p:sp>
      <p:pic>
        <p:nvPicPr>
          <p:cNvPr id="9218" name="Picture 2" descr="Robot and Gear Icon. Flat Style. Isolated on White Background Stock Vector  - Illustration of design, cogwheel: 185713108">
            <a:extLst>
              <a:ext uri="{FF2B5EF4-FFF2-40B4-BE49-F238E27FC236}">
                <a16:creationId xmlns:a16="http://schemas.microsoft.com/office/drawing/2014/main" id="{6679B091-B716-A4D1-79E7-67E3355D0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84" y="2341463"/>
            <a:ext cx="43434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082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BE49AE-98F4-A262-8829-7617E1870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C9CAE57-F0F7-821E-EF34-A68345A0DF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A8D9AA9-7D76-E341-6A58-A99E3E319A0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1CD1215-2733-36E1-C178-48ED9A52316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AFB4611-720E-A41A-FDAE-1A05EEA61A0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1199EC4-BF0B-F3A5-2484-A5680EF066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19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FISH COP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9B6393-3CB7-68B3-2E29-49D7A90D7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592954"/>
              </p:ext>
            </p:extLst>
          </p:nvPr>
        </p:nvGraphicFramePr>
        <p:xfrm>
          <a:off x="6070600" y="2209800"/>
          <a:ext cx="5634482" cy="4571998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119904">
                  <a:extLst>
                    <a:ext uri="{9D8B030D-6E8A-4147-A177-3AD203B41FA5}">
                      <a16:colId xmlns:a16="http://schemas.microsoft.com/office/drawing/2014/main" val="3401776744"/>
                    </a:ext>
                  </a:extLst>
                </a:gridCol>
                <a:gridCol w="3514578">
                  <a:extLst>
                    <a:ext uri="{9D8B030D-6E8A-4147-A177-3AD203B41FA5}">
                      <a16:colId xmlns:a16="http://schemas.microsoft.com/office/drawing/2014/main" val="280592585"/>
                    </a:ext>
                  </a:extLst>
                </a:gridCol>
              </a:tblGrid>
              <a:tr h="369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Principle</a:t>
                      </a:r>
                    </a:p>
                  </a:txBody>
                  <a:tcPr marL="50546" marR="50546" marT="25273" marB="252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Easy Hook / Meaning</a:t>
                      </a:r>
                    </a:p>
                  </a:txBody>
                  <a:tcPr marL="50546" marR="50546" marT="25273" marB="25273" anchor="ctr"/>
                </a:tc>
                <a:extLst>
                  <a:ext uri="{0D108BD9-81ED-4DB2-BD59-A6C34878D82A}">
                    <a16:rowId xmlns:a16="http://schemas.microsoft.com/office/drawing/2014/main" val="1159016212"/>
                  </a:ext>
                </a:extLst>
              </a:tr>
              <a:tr h="64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Focus</a:t>
                      </a:r>
                      <a:r>
                        <a:rPr lang="en-IN" sz="1600" dirty="0"/>
                        <a:t> on Value</a:t>
                      </a:r>
                    </a:p>
                  </a:txBody>
                  <a:tcPr marL="50546" marR="50546" marT="25273" marB="252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F</a:t>
                      </a:r>
                      <a:r>
                        <a:rPr lang="en-US" sz="1600" dirty="0"/>
                        <a:t>ocus (Why are we doing this?)</a:t>
                      </a:r>
                    </a:p>
                  </a:txBody>
                  <a:tcPr marL="50546" marR="50546" marT="25273" marB="25273" anchor="ctr"/>
                </a:tc>
                <a:extLst>
                  <a:ext uri="{0D108BD9-81ED-4DB2-BD59-A6C34878D82A}">
                    <a16:rowId xmlns:a16="http://schemas.microsoft.com/office/drawing/2014/main" val="2908257162"/>
                  </a:ext>
                </a:extLst>
              </a:tr>
              <a:tr h="64352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/>
                        <a:t>Iterative</a:t>
                      </a:r>
                      <a:r>
                        <a:rPr lang="en-IN" sz="1600" dirty="0"/>
                        <a:t> Progress</a:t>
                      </a:r>
                    </a:p>
                  </a:txBody>
                  <a:tcPr marL="50546" marR="50546" marT="25273" marB="2527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I</a:t>
                      </a:r>
                      <a:r>
                        <a:rPr lang="en-US" sz="1600" dirty="0"/>
                        <a:t>terate (Test and adjust constantly.)</a:t>
                      </a:r>
                    </a:p>
                  </a:txBody>
                  <a:tcPr marL="50546" marR="50546" marT="25273" marB="25273" anchor="ctr"/>
                </a:tc>
                <a:extLst>
                  <a:ext uri="{0D108BD9-81ED-4DB2-BD59-A6C34878D82A}">
                    <a16:rowId xmlns:a16="http://schemas.microsoft.com/office/drawing/2014/main" val="797715750"/>
                  </a:ext>
                </a:extLst>
              </a:tr>
              <a:tr h="64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Start</a:t>
                      </a:r>
                      <a:r>
                        <a:rPr lang="en-IN" sz="1600" dirty="0"/>
                        <a:t> Where You Are</a:t>
                      </a:r>
                    </a:p>
                  </a:txBody>
                  <a:tcPr marL="50546" marR="50546" marT="25273" marB="252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S</a:t>
                      </a:r>
                      <a:r>
                        <a:rPr lang="en-US" sz="1600" dirty="0"/>
                        <a:t>tart (What's our current status?)</a:t>
                      </a:r>
                    </a:p>
                  </a:txBody>
                  <a:tcPr marL="50546" marR="50546" marT="25273" marB="25273" anchor="ctr"/>
                </a:tc>
                <a:extLst>
                  <a:ext uri="{0D108BD9-81ED-4DB2-BD59-A6C34878D82A}">
                    <a16:rowId xmlns:a16="http://schemas.microsoft.com/office/drawing/2014/main" val="936773840"/>
                  </a:ext>
                </a:extLst>
              </a:tr>
              <a:tr h="64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Holistic</a:t>
                      </a:r>
                      <a:r>
                        <a:rPr lang="en-IN" sz="1600" dirty="0"/>
                        <a:t> Thinking</a:t>
                      </a:r>
                    </a:p>
                  </a:txBody>
                  <a:tcPr marL="50546" marR="50546" marT="25273" marB="252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H</a:t>
                      </a:r>
                      <a:r>
                        <a:rPr lang="en-US" sz="1600" dirty="0"/>
                        <a:t>olistic (See the whole system.)</a:t>
                      </a:r>
                    </a:p>
                  </a:txBody>
                  <a:tcPr marL="50546" marR="50546" marT="25273" marB="25273" anchor="ctr"/>
                </a:tc>
                <a:extLst>
                  <a:ext uri="{0D108BD9-81ED-4DB2-BD59-A6C34878D82A}">
                    <a16:rowId xmlns:a16="http://schemas.microsoft.com/office/drawing/2014/main" val="1692521919"/>
                  </a:ext>
                </a:extLst>
              </a:tr>
              <a:tr h="64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Collaborate</a:t>
                      </a:r>
                      <a:endParaRPr lang="en-IN" sz="1600" dirty="0"/>
                    </a:p>
                  </a:txBody>
                  <a:tcPr marL="50546" marR="50546" marT="25273" marB="252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C</a:t>
                      </a:r>
                      <a:r>
                        <a:rPr lang="en-US" sz="1600" dirty="0"/>
                        <a:t>ollaborate (Who needs to be involved?)</a:t>
                      </a:r>
                    </a:p>
                  </a:txBody>
                  <a:tcPr marL="50546" marR="50546" marT="25273" marB="25273" anchor="ctr"/>
                </a:tc>
                <a:extLst>
                  <a:ext uri="{0D108BD9-81ED-4DB2-BD59-A6C34878D82A}">
                    <a16:rowId xmlns:a16="http://schemas.microsoft.com/office/drawing/2014/main" val="3346731107"/>
                  </a:ext>
                </a:extLst>
              </a:tr>
              <a:tr h="616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Optimize</a:t>
                      </a:r>
                      <a:r>
                        <a:rPr lang="en-IN" sz="1600"/>
                        <a:t> and Automate</a:t>
                      </a:r>
                    </a:p>
                  </a:txBody>
                  <a:tcPr marL="50546" marR="50546" marT="25273" marB="252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O</a:t>
                      </a:r>
                      <a:r>
                        <a:rPr lang="en-US" sz="1600" dirty="0"/>
                        <a:t>ptimize (Make it better and faster.)</a:t>
                      </a:r>
                    </a:p>
                  </a:txBody>
                  <a:tcPr marL="50546" marR="50546" marT="25273" marB="25273" anchor="ctr"/>
                </a:tc>
                <a:extLst>
                  <a:ext uri="{0D108BD9-81ED-4DB2-BD59-A6C34878D82A}">
                    <a16:rowId xmlns:a16="http://schemas.microsoft.com/office/drawing/2014/main" val="4258801220"/>
                  </a:ext>
                </a:extLst>
              </a:tr>
              <a:tr h="369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Practical</a:t>
                      </a:r>
                      <a:r>
                        <a:rPr lang="en-IN" sz="1600" dirty="0"/>
                        <a:t> and Simple</a:t>
                      </a:r>
                    </a:p>
                  </a:txBody>
                  <a:tcPr marL="50546" marR="50546" marT="25273" marB="252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</a:t>
                      </a:r>
                      <a:r>
                        <a:rPr lang="en-IN" sz="1600" dirty="0"/>
                        <a:t>ractical (Keep it simple.)</a:t>
                      </a:r>
                    </a:p>
                  </a:txBody>
                  <a:tcPr marL="50546" marR="50546" marT="25273" marB="25273" anchor="ctr"/>
                </a:tc>
                <a:extLst>
                  <a:ext uri="{0D108BD9-81ED-4DB2-BD59-A6C34878D82A}">
                    <a16:rowId xmlns:a16="http://schemas.microsoft.com/office/drawing/2014/main" val="2814088321"/>
                  </a:ext>
                </a:extLst>
              </a:tr>
            </a:tbl>
          </a:graphicData>
        </a:graphic>
      </p:graphicFrame>
      <p:pic>
        <p:nvPicPr>
          <p:cNvPr id="2050" name="Picture 2" descr="Smiling cartoon fish character wearing ...">
            <a:extLst>
              <a:ext uri="{FF2B5EF4-FFF2-40B4-BE49-F238E27FC236}">
                <a16:creationId xmlns:a16="http://schemas.microsoft.com/office/drawing/2014/main" id="{578D6FC1-CEFB-9E4A-F3A6-2C4B71CDE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9" y="3421380"/>
            <a:ext cx="31242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ish Police &quot; Sticker for Sale by VinylPatch | Redbubble">
            <a:extLst>
              <a:ext uri="{FF2B5EF4-FFF2-40B4-BE49-F238E27FC236}">
                <a16:creationId xmlns:a16="http://schemas.microsoft.com/office/drawing/2014/main" id="{6EC3190F-8548-DFD7-1AE6-A759893BE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977" y="1535232"/>
            <a:ext cx="2800348" cy="3733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119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1F3908-49E1-3CF5-D5F3-7436B942A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930A48-8CA9-BC9B-98E9-AA88A4AD9E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9FF9602-E11E-BEAD-4072-13375927EA1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AD27D1E-AFF2-4ED4-F052-4A39E707D80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29668E5-F7B1-5F40-CCC4-13DC1DB3DFF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7C98E25-5E26-F29B-DA2C-88507F8411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20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Governance in the ITIL SVS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6A1B003-E3E1-00B2-6914-BAE3E6C4844B}"/>
              </a:ext>
            </a:extLst>
          </p:cNvPr>
          <p:cNvSpPr txBox="1"/>
          <p:nvPr/>
        </p:nvSpPr>
        <p:spPr>
          <a:xfrm>
            <a:off x="2934462" y="2286000"/>
            <a:ext cx="8448040" cy="31335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4800" dirty="0"/>
              <a:t>Governing bodies and governance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4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4800" dirty="0"/>
              <a:t>Governance in the SVS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309319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64C0C2-CB68-3F21-B066-A46D855CC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B39BD06-B132-BD41-DA1A-541FA51968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19DD745-39C4-7610-1F30-4B7F89165DA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A93E3C4-ABC1-F8A7-F5B1-F7516CB6827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2A4348B-1770-E576-0641-BB6757AD5E6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F9A3582-7A6A-4C29-70F6-28FF140D99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21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What is IT Governance? (VS. IT Management)</a:t>
            </a:r>
            <a:r>
              <a:rPr lang="en-IN" sz="4400" dirty="0"/>
              <a:t>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053F63F-1A97-52CD-E312-7248732E9233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Governance:</a:t>
            </a:r>
            <a:r>
              <a:rPr lang="en-US" sz="2800" dirty="0"/>
              <a:t> The system by which the use of IT is directed and controlled (Board/Executive responsibility). * Focuses on Value, Risk, and Alignment.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* </a:t>
            </a:r>
            <a:r>
              <a:rPr lang="en-US" sz="2800" b="1" dirty="0"/>
              <a:t>IT Management:</a:t>
            </a:r>
            <a:r>
              <a:rPr lang="en-US" sz="2800" dirty="0"/>
              <a:t> Plans, builds, runs, and monitors IT activities (operational responsibility).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* </a:t>
            </a:r>
            <a:r>
              <a:rPr lang="en-US" sz="2800" b="1" dirty="0"/>
              <a:t>The relationship:</a:t>
            </a:r>
            <a:r>
              <a:rPr lang="en-US" sz="2800" dirty="0"/>
              <a:t> Governance asks </a:t>
            </a:r>
            <a:r>
              <a:rPr lang="en-US" sz="2800" i="1" dirty="0"/>
              <a:t>what</a:t>
            </a:r>
            <a:r>
              <a:rPr lang="en-US" sz="2800" dirty="0"/>
              <a:t> and </a:t>
            </a:r>
            <a:r>
              <a:rPr lang="en-US" sz="2800" i="1" dirty="0"/>
              <a:t>why</a:t>
            </a:r>
            <a:r>
              <a:rPr lang="en-US" sz="2800" dirty="0"/>
              <a:t>; Management asks </a:t>
            </a:r>
            <a:r>
              <a:rPr lang="en-US" sz="2800" i="1" dirty="0"/>
              <a:t>how</a:t>
            </a:r>
            <a:r>
              <a:rPr lang="en-US" sz="2800" dirty="0"/>
              <a:t> and </a:t>
            </a:r>
            <a:r>
              <a:rPr lang="en-US" sz="2800" i="1" dirty="0"/>
              <a:t>when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7422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078ADD7-05F7-1FAF-DEA5-A1CB3533C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CE45CD-B083-9D4E-4953-6C7F55311B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FB51826-69FA-94A6-3A06-2FFA87CE9CF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EEDBA4A-9ADF-F3F2-62BA-70468FABB00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E0025F7-72BF-71DA-A15F-018B043509C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568AF38-BE2E-75E3-062C-744D858FD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The Three Core Governance Activities</a:t>
            </a:r>
            <a:r>
              <a:rPr lang="en-IN" sz="4400" dirty="0"/>
              <a:t>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E132D7-CB26-7D02-8154-7E804D050073}"/>
              </a:ext>
            </a:extLst>
          </p:cNvPr>
          <p:cNvSpPr txBox="1"/>
          <p:nvPr/>
        </p:nvSpPr>
        <p:spPr>
          <a:xfrm>
            <a:off x="3345645" y="2371756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Three Activities:</a:t>
            </a:r>
            <a:endParaRPr lang="en-US" sz="3200" dirty="0"/>
          </a:p>
          <a:p>
            <a:pPr>
              <a:buFont typeface="+mj-lt"/>
              <a:buAutoNum type="arabicPeriod"/>
            </a:pPr>
            <a:r>
              <a:rPr lang="en-US" sz="3200" b="1" dirty="0"/>
              <a:t>Evaluate</a:t>
            </a:r>
            <a:endParaRPr lang="en-US" sz="3200" dirty="0"/>
          </a:p>
          <a:p>
            <a:pPr>
              <a:buFont typeface="+mj-lt"/>
              <a:buAutoNum type="arabicPeriod"/>
            </a:pPr>
            <a:r>
              <a:rPr lang="en-US" sz="3200" b="1" dirty="0"/>
              <a:t>Direct</a:t>
            </a:r>
            <a:endParaRPr lang="en-US" sz="3200" dirty="0"/>
          </a:p>
          <a:p>
            <a:pPr>
              <a:buFont typeface="+mj-lt"/>
              <a:buAutoNum type="arabicPeriod"/>
            </a:pPr>
            <a:r>
              <a:rPr lang="en-US" sz="3200" b="1" dirty="0"/>
              <a:t>Monitor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027385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valuate-direct-monitor cycle model of IT Governance. (ISO/IEC 38500) |  Download Scientific Diagram">
            <a:extLst>
              <a:ext uri="{FF2B5EF4-FFF2-40B4-BE49-F238E27FC236}">
                <a16:creationId xmlns:a16="http://schemas.microsoft.com/office/drawing/2014/main" id="{BA1AF4DD-4F2A-BD47-E491-88ABE5271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462" y="164931"/>
            <a:ext cx="7199049" cy="6400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181169-86DA-CEAA-A5B0-D1BB6213A8DF}"/>
              </a:ext>
            </a:extLst>
          </p:cNvPr>
          <p:cNvSpPr txBox="1"/>
          <p:nvPr/>
        </p:nvSpPr>
        <p:spPr>
          <a:xfrm>
            <a:off x="304800" y="3261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Evaluate-Direct-Monitor (EDM) Cycle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80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474221-1FD1-FB3F-EA2F-5819B88A8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097C6D-476E-6B9C-B512-CADC13E83E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B429B4A-14EC-3C6C-E57B-14BFDB56407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2C4A4EC-44CF-BB71-D59C-E72C0498DCF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E9F10C9-717A-5E0A-4C9D-1BB89E224EE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34D0096-BA9F-52AE-28A6-9F6E2646CC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1. Evaluate (E) 🧐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D5FD696-A5A2-479F-CD79-7E77AFA2F3BC}"/>
              </a:ext>
            </a:extLst>
          </p:cNvPr>
          <p:cNvSpPr txBox="1"/>
          <p:nvPr/>
        </p:nvSpPr>
        <p:spPr>
          <a:xfrm>
            <a:off x="2934462" y="2286000"/>
            <a:ext cx="8448040" cy="104067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Understand the environment and stakeholder needs. </a:t>
            </a:r>
          </a:p>
        </p:txBody>
      </p:sp>
    </p:spTree>
    <p:extLst>
      <p:ext uri="{BB962C8B-B14F-4D97-AF65-F5344CB8AC3E}">
        <p14:creationId xmlns:p14="http://schemas.microsoft.com/office/powerpoint/2010/main" val="4159034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36BB4D9-B44B-AD4B-954C-CB37952AD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4D1957-871A-0DC2-FC7F-2AAE104997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986A842-0522-E4EB-2E8A-3935184B6AB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67E1B57-FACA-4D71-DA2C-63D5D346FCD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F6F663C-7444-A444-CDB6-FBC3A3A9893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5353851-B13A-9F6B-5D90-EE3DEC7263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2. Direct (D) 🧭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161DA8A-5F52-38AA-4700-9F07FD7ED887}"/>
              </a:ext>
            </a:extLst>
          </p:cNvPr>
          <p:cNvSpPr txBox="1"/>
          <p:nvPr/>
        </p:nvSpPr>
        <p:spPr>
          <a:xfrm>
            <a:off x="2934462" y="2286000"/>
            <a:ext cx="8448040" cy="6097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Guide management to achieve the objectives.</a:t>
            </a:r>
          </a:p>
        </p:txBody>
      </p:sp>
    </p:spTree>
    <p:extLst>
      <p:ext uri="{BB962C8B-B14F-4D97-AF65-F5344CB8AC3E}">
        <p14:creationId xmlns:p14="http://schemas.microsoft.com/office/powerpoint/2010/main" val="2452909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964A02-62DB-2EC9-3972-F47AF8334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D988D84-6A21-6D34-7C84-878C509852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29513C2-B563-3363-36F3-339F3194646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CBD83BC-5622-2BB8-1190-ED522B5C594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429F5F0-395A-95F8-6CBB-BFDE6D69E1E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576D55D-EE0F-327D-DCF3-395C31EB8D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25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3. Monitor (M) 📊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84DF9F9-C821-973C-3966-98328FE379FE}"/>
              </a:ext>
            </a:extLst>
          </p:cNvPr>
          <p:cNvSpPr txBox="1"/>
          <p:nvPr/>
        </p:nvSpPr>
        <p:spPr>
          <a:xfrm>
            <a:off x="2934462" y="2286000"/>
            <a:ext cx="8448040" cy="104067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Check adherence and performance against direction</a:t>
            </a:r>
          </a:p>
        </p:txBody>
      </p:sp>
    </p:spTree>
    <p:extLst>
      <p:ext uri="{BB962C8B-B14F-4D97-AF65-F5344CB8AC3E}">
        <p14:creationId xmlns:p14="http://schemas.microsoft.com/office/powerpoint/2010/main" val="26900849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EF1DB1-9B92-F1DE-F72B-641196070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ACA0CA8-3951-CB07-FA1B-ED2B47D6E0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F1873BB-A53D-D183-7017-B586BE849FF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C2779CC-4893-B21E-7AA2-63E6B89174B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5594511-28DF-3EF7-CFE4-04C67F7A377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747C1C8-BDAB-5C6F-5474-3D424D9C12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ISO/IEC 38500 Principles: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EF7AA2B-3488-6855-B619-D9C707EC5FB2}"/>
              </a:ext>
            </a:extLst>
          </p:cNvPr>
          <p:cNvSpPr txBox="1"/>
          <p:nvPr/>
        </p:nvSpPr>
        <p:spPr>
          <a:xfrm>
            <a:off x="2514600" y="2237291"/>
            <a:ext cx="9858502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Responsibility:</a:t>
            </a:r>
            <a:r>
              <a:rPr lang="en-US" sz="2800" dirty="0"/>
              <a:t> Who is accountable for E, D, and M?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Strategy:</a:t>
            </a:r>
            <a:r>
              <a:rPr lang="en-US" sz="2800" dirty="0"/>
              <a:t> Ensuring the </a:t>
            </a:r>
            <a:r>
              <a:rPr lang="en-US" sz="2800" b="1" dirty="0"/>
              <a:t>Direct</a:t>
            </a:r>
            <a:r>
              <a:rPr lang="en-US" sz="2800" dirty="0"/>
              <a:t> phase aligns IT and business.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Acquisition:</a:t>
            </a:r>
            <a:r>
              <a:rPr lang="en-US" sz="2800" dirty="0"/>
              <a:t> Guiding the value in IT investments (part of </a:t>
            </a:r>
            <a:r>
              <a:rPr lang="en-US" sz="2800" b="1" dirty="0"/>
              <a:t>Direct</a:t>
            </a:r>
            <a:r>
              <a:rPr lang="en-US" sz="2800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Performance:</a:t>
            </a:r>
            <a:r>
              <a:rPr lang="en-US" sz="2800" dirty="0"/>
              <a:t> Measuring IT value (part of </a:t>
            </a:r>
            <a:r>
              <a:rPr lang="en-US" sz="2800" b="1" dirty="0"/>
              <a:t>Monitor</a:t>
            </a:r>
            <a:r>
              <a:rPr lang="en-US" sz="2800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Conformance:</a:t>
            </a:r>
            <a:r>
              <a:rPr lang="en-US" sz="2800" dirty="0"/>
              <a:t> Legal/Regulatory compliance (part of </a:t>
            </a:r>
            <a:r>
              <a:rPr lang="en-US" sz="2800" b="1" dirty="0"/>
              <a:t>Monitor</a:t>
            </a:r>
            <a:r>
              <a:rPr lang="en-US" sz="2800" dirty="0"/>
              <a:t>). * </a:t>
            </a:r>
            <a:r>
              <a:rPr lang="en-US" sz="2800" b="1" dirty="0"/>
              <a:t>Human Behavior:</a:t>
            </a:r>
            <a:r>
              <a:rPr lang="en-US" sz="2800" dirty="0"/>
              <a:t> Considering the people impact (relevant to all three).</a:t>
            </a:r>
          </a:p>
        </p:txBody>
      </p:sp>
    </p:spTree>
    <p:extLst>
      <p:ext uri="{BB962C8B-B14F-4D97-AF65-F5344CB8AC3E}">
        <p14:creationId xmlns:p14="http://schemas.microsoft.com/office/powerpoint/2010/main" val="25272241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F93AFC-256A-D2FC-0D25-5A55BD8CB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F1DCD8-81F2-8ACC-AE82-AE64E6391D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3E654BD-D40B-8409-209C-8412BE0F7CD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16FA16A-EA06-22C8-19DA-6C12EB4DF2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3F7A2D4-9C54-1788-4F02-9528C1B1C41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5B768C2-9F54-A286-8FC4-4D0E80D31D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20447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fr-FR" sz="4400" dirty="0">
                <a:latin typeface="Google Sans Text"/>
              </a:rPr>
              <a:t>ISO/IEC 38500 (6 Principles)</a:t>
            </a:r>
            <a:br>
              <a:rPr lang="en-US" sz="4400" dirty="0">
                <a:latin typeface="Google Sans Text"/>
              </a:rPr>
            </a:br>
            <a:br>
              <a:rPr lang="fr-FR" sz="4400" dirty="0">
                <a:latin typeface="Google Sans Text"/>
              </a:rPr>
            </a:b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80A8FC8-038B-F7A0-E085-2D0516EE2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204573"/>
              </p:ext>
            </p:extLst>
          </p:nvPr>
        </p:nvGraphicFramePr>
        <p:xfrm>
          <a:off x="4953496" y="2438399"/>
          <a:ext cx="7009904" cy="3657598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761504">
                  <a:extLst>
                    <a:ext uri="{9D8B030D-6E8A-4147-A177-3AD203B41FA5}">
                      <a16:colId xmlns:a16="http://schemas.microsoft.com/office/drawing/2014/main" val="2174260484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898107623"/>
                    </a:ext>
                  </a:extLst>
                </a:gridCol>
                <a:gridCol w="3809999">
                  <a:extLst>
                    <a:ext uri="{9D8B030D-6E8A-4147-A177-3AD203B41FA5}">
                      <a16:colId xmlns:a16="http://schemas.microsoft.com/office/drawing/2014/main" val="2984426945"/>
                    </a:ext>
                  </a:extLst>
                </a:gridCol>
              </a:tblGrid>
              <a:tr h="4412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Letter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Principle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Easy Hook / Focus Word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extLst>
                  <a:ext uri="{0D108BD9-81ED-4DB2-BD59-A6C34878D82A}">
                    <a16:rowId xmlns:a16="http://schemas.microsoft.com/office/drawing/2014/main" val="3964326097"/>
                  </a:ext>
                </a:extLst>
              </a:tr>
              <a:tr h="6309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S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Strategy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</a:rPr>
                        <a:t>Strategy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 (Where are we going?)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extLst>
                  <a:ext uri="{0D108BD9-81ED-4DB2-BD59-A6C34878D82A}">
                    <a16:rowId xmlns:a16="http://schemas.microsoft.com/office/drawing/2014/main" val="2188683212"/>
                  </a:ext>
                </a:extLst>
              </a:tr>
              <a:tr h="4412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C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</a:rPr>
                        <a:t>Conformance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Compliance</a:t>
                      </a: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 (Is it legal?)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extLst>
                  <a:ext uri="{0D108BD9-81ED-4DB2-BD59-A6C34878D82A}">
                    <a16:rowId xmlns:a16="http://schemas.microsoft.com/office/drawing/2014/main" val="3499363882"/>
                  </a:ext>
                </a:extLst>
              </a:tr>
              <a:tr h="6309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</a:rPr>
                        <a:t>R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Responsibility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</a:rPr>
                        <a:t>Accountability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 (Who is in charge?)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extLst>
                  <a:ext uri="{0D108BD9-81ED-4DB2-BD59-A6C34878D82A}">
                    <a16:rowId xmlns:a16="http://schemas.microsoft.com/office/drawing/2014/main" val="3470162455"/>
                  </a:ext>
                </a:extLst>
              </a:tr>
              <a:tr h="6309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A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Acquisition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</a:rPr>
                        <a:t>Investment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 (Is the cost worth it?)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extLst>
                  <a:ext uri="{0D108BD9-81ED-4DB2-BD59-A6C34878D82A}">
                    <a16:rowId xmlns:a16="http://schemas.microsoft.com/office/drawing/2014/main" val="266985569"/>
                  </a:ext>
                </a:extLst>
              </a:tr>
              <a:tr h="4412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P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Performance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</a:rPr>
                        <a:t>Value</a:t>
                      </a:r>
                      <a:r>
                        <a:rPr lang="en-IN" sz="1600" dirty="0">
                          <a:solidFill>
                            <a:srgbClr val="1F1F1F"/>
                          </a:solidFill>
                          <a:effectLst/>
                        </a:rPr>
                        <a:t> (Is it working?)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extLst>
                  <a:ext uri="{0D108BD9-81ED-4DB2-BD59-A6C34878D82A}">
                    <a16:rowId xmlns:a16="http://schemas.microsoft.com/office/drawing/2014/main" val="4068020627"/>
                  </a:ext>
                </a:extLst>
              </a:tr>
              <a:tr h="4412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H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Human Behavior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</a:rPr>
                        <a:t>Ethics</a:t>
                      </a:r>
                      <a:r>
                        <a:rPr lang="en-IN" sz="1600" dirty="0">
                          <a:solidFill>
                            <a:srgbClr val="1F1F1F"/>
                          </a:solidFill>
                          <a:effectLst/>
                        </a:rPr>
                        <a:t> (Is it right?)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253" marR="64253" marT="42836" marB="42836" anchor="ctr"/>
                </a:tc>
                <a:extLst>
                  <a:ext uri="{0D108BD9-81ED-4DB2-BD59-A6C34878D82A}">
                    <a16:rowId xmlns:a16="http://schemas.microsoft.com/office/drawing/2014/main" val="124009052"/>
                  </a:ext>
                </a:extLst>
              </a:tr>
            </a:tbl>
          </a:graphicData>
        </a:graphic>
      </p:graphicFrame>
      <p:pic>
        <p:nvPicPr>
          <p:cNvPr id="12" name="Picture 11" descr="A magnifying glass over a green trash can">
            <a:extLst>
              <a:ext uri="{FF2B5EF4-FFF2-40B4-BE49-F238E27FC236}">
                <a16:creationId xmlns:a16="http://schemas.microsoft.com/office/drawing/2014/main" id="{218BC20E-2B56-9EE4-94CD-5D23CB9D23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2" y="2592917"/>
            <a:ext cx="4457684" cy="297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190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39558A-A6F6-414C-7939-7B3D5CB11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3E41E18-5AAD-74D0-D78C-F47A36A501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879B276-C7AD-E859-AE68-9F89B2443A0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6A0A221-F131-7966-2AE6-FDE798CC997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FF8D1B6-92CF-1373-E64C-6FD1A402720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D930573-08A8-3A41-5C72-E69E077667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272189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28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fr-FR" sz="4400" dirty="0">
                <a:latin typeface="Google Sans Text"/>
              </a:rPr>
              <a:t>ISO/IEC 38500 (6 Principles) and </a:t>
            </a:r>
            <a:r>
              <a:rPr lang="en-US" sz="4400" dirty="0">
                <a:latin typeface="Google Sans Text"/>
              </a:rPr>
              <a:t>ITIL Guiding Principles (7 Principles)</a:t>
            </a:r>
            <a:br>
              <a:rPr lang="en-US" sz="4400" dirty="0">
                <a:latin typeface="Google Sans Text"/>
              </a:rPr>
            </a:br>
            <a:br>
              <a:rPr lang="fr-FR" sz="4400" dirty="0">
                <a:latin typeface="Google Sans Text"/>
              </a:rPr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3CBB2C1-3D00-934F-DEB2-4CEBE98E0D36}"/>
              </a:ext>
            </a:extLst>
          </p:cNvPr>
          <p:cNvSpPr txBox="1"/>
          <p:nvPr/>
        </p:nvSpPr>
        <p:spPr>
          <a:xfrm>
            <a:off x="2934462" y="2286000"/>
            <a:ext cx="8448040" cy="202555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ISO/IEC 38500 Principles (Governance):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principles for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Governing Body (Board/Executives)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ITIL Guiding Principles (Management):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principles for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Management Team (Managers/Staff)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66161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5B6D8F-F3D0-0D30-B81F-9C2DD8B0F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797069-5D95-88CF-9DF7-56CB32EFD4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A55F69F-F992-8F7D-501C-90EAB039A46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2750C55-6E75-F518-641D-8D2A0DF56B7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CF6AA10-85D6-11B4-4EBC-9A15EC34CC3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FE4008C-28DD-FBC3-2CCA-9BDF172AA4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29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The ITIL Service Value Chain (SVC)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240F9D6-2E2A-79FA-03F1-B864DC85FD50}"/>
              </a:ext>
            </a:extLst>
          </p:cNvPr>
          <p:cNvSpPr txBox="1"/>
          <p:nvPr/>
        </p:nvSpPr>
        <p:spPr>
          <a:xfrm>
            <a:off x="2934462" y="2286000"/>
            <a:ext cx="8448040" cy="202555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The </a:t>
            </a:r>
            <a:r>
              <a:rPr lang="en-US" sz="2400" b="1" dirty="0"/>
              <a:t>Service Value Chain (SVC)</a:t>
            </a:r>
            <a:r>
              <a:rPr lang="en-US" sz="2400" dirty="0"/>
              <a:t> is the central operating model in the ITIL SVS. It is a set of six interlinked activities that an organization performs to respond to demand and create value for the consumer through the delivery of products and services.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5821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16643D5-665F-1BDE-85BE-1EB916BCF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41FA06-C27E-916C-8736-D8C60626DF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D959698-F994-3833-2C20-9036F917389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CE99A99-40B9-D4F7-7B97-F82A6AE0667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02F5BFE-29AC-0743-95F6-62733F6ED4C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074" name="Picture 2" descr="The six value chain activities identified in ITIL 4. | Download Scientific  Diagram">
            <a:extLst>
              <a:ext uri="{FF2B5EF4-FFF2-40B4-BE49-F238E27FC236}">
                <a16:creationId xmlns:a16="http://schemas.microsoft.com/office/drawing/2014/main" id="{6F87FEF5-4A00-E828-D204-A08F99AE4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416" y="118199"/>
            <a:ext cx="9982200" cy="675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6949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DD9FD5-AE28-344F-83F0-3588639CB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CF74C3-ACB5-2B14-6F94-C7C6BF7C6D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AAC8169-13EB-65A6-67E1-1D1FA1BBAA8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F1D76A8-DCCF-C1C3-88F9-44269D36D00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D4823F1-EF25-872A-0A4A-C2125E46037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78C1F3E-16FA-02BA-2DC4-530E87127B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30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Plan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96A5BD6-AD6F-325E-39DA-C5524D1784E0}"/>
              </a:ext>
            </a:extLst>
          </p:cNvPr>
          <p:cNvSpPr txBox="1"/>
          <p:nvPr/>
        </p:nvSpPr>
        <p:spPr>
          <a:xfrm>
            <a:off x="2934462" y="2286000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To ensure a </a:t>
            </a:r>
            <a:r>
              <a:rPr lang="en-US" sz="2400" b="1" dirty="0"/>
              <a:t>shared understanding of the vision, current status, and improvement direction</a:t>
            </a:r>
            <a:r>
              <a:rPr lang="en-US" sz="2400" dirty="0"/>
              <a:t> for all four dimensions and all products/services.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3d Rendering Compass Plan Icon Stock Illustration 351399467 | Shutterstock">
            <a:extLst>
              <a:ext uri="{FF2B5EF4-FFF2-40B4-BE49-F238E27FC236}">
                <a16:creationId xmlns:a16="http://schemas.microsoft.com/office/drawing/2014/main" id="{87B9BE52-4054-59B0-36C5-EC42762AB1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43"/>
          <a:stretch>
            <a:fillRect/>
          </a:stretch>
        </p:blipFill>
        <p:spPr bwMode="auto">
          <a:xfrm>
            <a:off x="6393645" y="3271504"/>
            <a:ext cx="5715000" cy="3408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1559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FF42-B0AC-7244-F9FC-A3B89508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D19B0D-06AB-4CD0-4609-991DFCFAE4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69EB495-E3AA-9D78-ED92-D31277D3C29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15EEE8A-6DB2-2BA1-D84F-BCACED7B755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2347B88-1723-9884-1389-B785597FD61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DACF58A-8D0E-38F1-5811-59ACB5C401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31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Engage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32710BF-3511-6BDE-DAB4-3F8B3ECE0BFE}"/>
              </a:ext>
            </a:extLst>
          </p:cNvPr>
          <p:cNvSpPr txBox="1"/>
          <p:nvPr/>
        </p:nvSpPr>
        <p:spPr>
          <a:xfrm>
            <a:off x="2934462" y="2286000"/>
            <a:ext cx="8448040" cy="91755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To provide a good understanding of </a:t>
            </a:r>
            <a:r>
              <a:rPr lang="en-US" sz="2400" b="1" dirty="0"/>
              <a:t>stakeholder needs</a:t>
            </a:r>
            <a:r>
              <a:rPr lang="en-US" sz="2400" dirty="0"/>
              <a:t>, transparency, continual engagement, and good relationships.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10 Effective Ways to Connect With Your Customers">
            <a:extLst>
              <a:ext uri="{FF2B5EF4-FFF2-40B4-BE49-F238E27FC236}">
                <a16:creationId xmlns:a16="http://schemas.microsoft.com/office/drawing/2014/main" id="{C924B82B-F270-0F00-B00C-93F43FFA7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3" y="2977218"/>
            <a:ext cx="4997422" cy="3935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03705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8DD3A-9C20-A5D7-E495-3986E191E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45E4B8B-E4D3-0C99-684F-B6085DFB35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E73431B-C0BB-31C4-5C84-038355153A6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EE80177-A7A2-FCBF-E512-5B51783A836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35854B6-0D15-09B0-2A92-F37672D30A9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4C7B0C3-18EF-1F5A-0CCC-C1F1C39734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Design and Transition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2DFE1A9-BDCE-D6AD-BAE4-57D1A1832456}"/>
              </a:ext>
            </a:extLst>
          </p:cNvPr>
          <p:cNvSpPr txBox="1"/>
          <p:nvPr/>
        </p:nvSpPr>
        <p:spPr>
          <a:xfrm>
            <a:off x="2934462" y="2286000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To ensure that products and services continually meet stakeholder expectations for </a:t>
            </a:r>
            <a:r>
              <a:rPr lang="en-US" sz="2400" b="1" dirty="0"/>
              <a:t>quality, costs, and time to market</a:t>
            </a:r>
            <a:r>
              <a:rPr lang="en-US" sz="2400" dirty="0"/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Wireframe Kits for iOS, Android, Web free resources for Sketch, Figma,  Adobe XD - Sketch App Sources - Page 13">
            <a:extLst>
              <a:ext uri="{FF2B5EF4-FFF2-40B4-BE49-F238E27FC236}">
                <a16:creationId xmlns:a16="http://schemas.microsoft.com/office/drawing/2014/main" id="{56518B3A-7BC2-DF96-ABCC-1D79893CE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276600"/>
            <a:ext cx="69342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8747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C96D-F745-CAB2-ABEE-A1F991F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2246AA7-183B-0AE8-C681-B98F15B859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FBC317F-8FCC-974C-1D4F-221CB806E6F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6D9AB87-D840-502A-3969-8A23E22AEA9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B621DA6-3949-23B1-035B-AFE69B9E6E8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06BA55E-1167-B630-E0B3-AC00DC936D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Obtain/Build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D650AB5-A7B0-0DF6-6DBD-94CB09614F3C}"/>
              </a:ext>
            </a:extLst>
          </p:cNvPr>
          <p:cNvSpPr txBox="1"/>
          <p:nvPr/>
        </p:nvSpPr>
        <p:spPr>
          <a:xfrm>
            <a:off x="2934462" y="2286000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To ensure that </a:t>
            </a:r>
            <a:r>
              <a:rPr lang="en-US" sz="2400" b="1" dirty="0"/>
              <a:t>service components</a:t>
            </a:r>
            <a:r>
              <a:rPr lang="en-US" sz="2400" dirty="0"/>
              <a:t> (infrastructure, applications, etc.) are available when and where they are needed, and meet agreed specifications.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Make Ready Services | Lula">
            <a:extLst>
              <a:ext uri="{FF2B5EF4-FFF2-40B4-BE49-F238E27FC236}">
                <a16:creationId xmlns:a16="http://schemas.microsoft.com/office/drawing/2014/main" id="{DCEFF149-37E9-D284-3766-763514D11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979398"/>
            <a:ext cx="5422985" cy="403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7743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8F0EB-5437-FB00-DE30-7A6E04CE5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BD18CF7-FCE0-B388-4E29-052CE47624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0043485-3C73-F2C4-2D92-DB1E7F0E356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AC4947F-2695-C927-880E-63CB48B41B5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D0670B4-1829-9B1C-D0FE-A2F6D6DF6EB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23A6643-2181-AEC1-4962-B5A0F463F0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Deliver and Support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1AFF0C9-03DC-81A7-4596-03C67FCD42C3}"/>
              </a:ext>
            </a:extLst>
          </p:cNvPr>
          <p:cNvSpPr txBox="1"/>
          <p:nvPr/>
        </p:nvSpPr>
        <p:spPr>
          <a:xfrm>
            <a:off x="2934462" y="2286000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To ensure that services are </a:t>
            </a:r>
            <a:r>
              <a:rPr lang="en-US" sz="2400" b="1" dirty="0"/>
              <a:t>delivered and supported</a:t>
            </a:r>
            <a:r>
              <a:rPr lang="en-US" sz="2400" dirty="0"/>
              <a:t> according to agreed specifications and stakeholders' expectations.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2" name="Picture 4" descr="Mini Guide: Launch Your Mobile App Successfully">
            <a:extLst>
              <a:ext uri="{FF2B5EF4-FFF2-40B4-BE49-F238E27FC236}">
                <a16:creationId xmlns:a16="http://schemas.microsoft.com/office/drawing/2014/main" id="{2F3A04D4-C588-DEE8-4976-77758C86A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160904"/>
            <a:ext cx="38862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57044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B606AA7-1A4F-3533-A5BD-167E841F4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B22CF68-E3E4-F5D4-6257-8DB9924841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68C5D53-EBC5-F264-A28D-68B2BED1632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12313F0-50FB-EAB8-3DF4-C91247BCDDC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B4B053B-A631-2BAB-563F-C44C8B211F1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B4B4736-6109-6F37-FE7E-AEA85AC36D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35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Improve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BF12D01-97AD-03B5-9FBC-24EF0ACBE211}"/>
              </a:ext>
            </a:extLst>
          </p:cNvPr>
          <p:cNvSpPr txBox="1"/>
          <p:nvPr/>
        </p:nvSpPr>
        <p:spPr>
          <a:xfrm>
            <a:off x="2934462" y="2286000"/>
            <a:ext cx="8448040" cy="91755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To ensure the </a:t>
            </a:r>
            <a:r>
              <a:rPr lang="en-US" sz="2400" b="1" dirty="0"/>
              <a:t>continual improvement</a:t>
            </a:r>
            <a:r>
              <a:rPr lang="en-US" sz="2400" dirty="0"/>
              <a:t> of products, services, and practices across all value chain activities.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Arrow Improvement Stock Illustrations – 52,038 Arrow Improvement Stock  Illustrations, Vectors &amp; Clipart - Dreamstime">
            <a:extLst>
              <a:ext uri="{FF2B5EF4-FFF2-40B4-BE49-F238E27FC236}">
                <a16:creationId xmlns:a16="http://schemas.microsoft.com/office/drawing/2014/main" id="{E683BC97-6CEF-2D48-A321-DAAAB58E6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03559"/>
            <a:ext cx="4495800" cy="359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51107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F75E7-04EF-CB74-163E-1AB8CEC5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7767D3D-252B-DB8E-74E5-C79F98479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F286FBE-3C4E-36DE-2AF1-55358BBAE87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5F46507-B4AC-879E-4FD0-81A6C23EEC3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F341B40-2EBF-04E9-46AE-3696838752C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FE7FA42-B6FB-4B81-D6C1-539FD1A97B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PEDODI</a:t>
            </a:r>
            <a:endParaRPr sz="4400" dirty="0">
              <a:latin typeface="Cambria"/>
              <a:cs typeface="Cambria"/>
            </a:endParaRPr>
          </a:p>
        </p:txBody>
      </p:sp>
      <p:pic>
        <p:nvPicPr>
          <p:cNvPr id="1026" name="Picture 2" descr="Petrol pumps Vector Images &amp; Graphics for Commercial Use | VectorStock">
            <a:extLst>
              <a:ext uri="{FF2B5EF4-FFF2-40B4-BE49-F238E27FC236}">
                <a16:creationId xmlns:a16="http://schemas.microsoft.com/office/drawing/2014/main" id="{7BABB3C7-C5B2-8694-7163-227874676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462" y="1869032"/>
            <a:ext cx="8876538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A8454A-A2E4-D09A-CDA9-CEFACAF58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2434" y="1524000"/>
            <a:ext cx="3245465" cy="3245465"/>
          </a:xfrm>
          <a:prstGeom prst="rect">
            <a:avLst/>
          </a:prstGeom>
        </p:spPr>
      </p:pic>
      <p:pic>
        <p:nvPicPr>
          <p:cNvPr id="1030" name="Picture 6" descr="Fuel - Flat - Wired - Lordicon">
            <a:extLst>
              <a:ext uri="{FF2B5EF4-FFF2-40B4-BE49-F238E27FC236}">
                <a16:creationId xmlns:a16="http://schemas.microsoft.com/office/drawing/2014/main" id="{7ABFFCB5-E8F3-28B7-DA26-54CE535BC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3240" y="90772"/>
            <a:ext cx="1868260" cy="1868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7340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D393EC-C0C0-23B8-B98A-2AE5C0ADC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BAC69C5-62B7-1B88-5824-E852870B00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31A80F1-4723-757E-EB4A-2AA3BD834B0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41FA6E9-F035-EE31-B9A8-4932D97AD27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CB3895E-7442-D4B3-08CD-96A9C62F0E9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68F6116-29B9-FCA5-FC9E-65850BB2B8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🚀 Fast Example Flow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F523596-E78F-95B1-3F8E-4707E476A5EF}"/>
              </a:ext>
            </a:extLst>
          </p:cNvPr>
          <p:cNvSpPr txBox="1"/>
          <p:nvPr/>
        </p:nvSpPr>
        <p:spPr>
          <a:xfrm>
            <a:off x="2934462" y="2096246"/>
            <a:ext cx="8448040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Customer says: I want faster delivery. </a:t>
            </a:r>
            <a:r>
              <a:rPr lang="en-US" sz="3200" b="1" dirty="0"/>
              <a:t>(Engage)</a:t>
            </a:r>
            <a:br>
              <a:rPr lang="en-US" sz="3200" dirty="0"/>
            </a:br>
            <a:r>
              <a:rPr lang="en-US" sz="3200" dirty="0"/>
              <a:t>Plan makes a strategy. </a:t>
            </a:r>
            <a:r>
              <a:rPr lang="en-US" sz="3200" b="1" dirty="0"/>
              <a:t>(Plan)</a:t>
            </a:r>
            <a:br>
              <a:rPr lang="en-US" sz="3200" dirty="0"/>
            </a:br>
            <a:r>
              <a:rPr lang="en-US" sz="3200" dirty="0"/>
              <a:t>Service designed &amp; tested. </a:t>
            </a:r>
            <a:r>
              <a:rPr lang="en-US" sz="3200" b="1" dirty="0"/>
              <a:t>(Design &amp; Transition)</a:t>
            </a:r>
            <a:br>
              <a:rPr lang="en-US" sz="3200" dirty="0"/>
            </a:br>
            <a:r>
              <a:rPr lang="en-US" sz="3200" dirty="0"/>
              <a:t>Resources built / bought. </a:t>
            </a:r>
            <a:r>
              <a:rPr lang="en-US" sz="3200" b="1" dirty="0"/>
              <a:t>(Obtain/Build)</a:t>
            </a:r>
            <a:br>
              <a:rPr lang="en-US" sz="3200" b="1" dirty="0"/>
            </a:br>
            <a:r>
              <a:rPr lang="en-US" sz="3200" dirty="0"/>
              <a:t>Delivery team executes. </a:t>
            </a:r>
            <a:r>
              <a:rPr lang="en-US" sz="3200" b="1" dirty="0"/>
              <a:t>(Deliver &amp; Support)</a:t>
            </a:r>
            <a:br>
              <a:rPr lang="en-US" sz="3200" dirty="0"/>
            </a:br>
            <a:r>
              <a:rPr lang="en-US" sz="3200" dirty="0"/>
              <a:t>Feedback collected for future improvements. </a:t>
            </a:r>
            <a:r>
              <a:rPr lang="en-US" sz="3200" b="1" dirty="0"/>
              <a:t>(Improve)</a:t>
            </a:r>
          </a:p>
        </p:txBody>
      </p:sp>
    </p:spTree>
    <p:extLst>
      <p:ext uri="{BB962C8B-B14F-4D97-AF65-F5344CB8AC3E}">
        <p14:creationId xmlns:p14="http://schemas.microsoft.com/office/powerpoint/2010/main" val="38892403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CFEBB7A-F608-671C-B462-5987634DF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DFE182-870A-52F5-ECE9-80A02E390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AB2FFF7-7466-7BD9-B659-460BFE1C0D8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80DFBAE-5C59-D61E-BD24-67357A5729F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742EEA7-5629-EC5E-8A2C-393A4F9E418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26C511D-6855-762D-77B5-D8FC8E1C33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38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Continual improvement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EA66DCE-88E5-6621-7286-358247E400AD}"/>
              </a:ext>
            </a:extLst>
          </p:cNvPr>
          <p:cNvSpPr txBox="1"/>
          <p:nvPr/>
        </p:nvSpPr>
        <p:spPr>
          <a:xfrm>
            <a:off x="2934462" y="2286000"/>
            <a:ext cx="8448040" cy="31335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Happens at all levels – strategic to operational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Everyone must look for improvement opportunities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Applies across the Service Value System and all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Supported by: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	– Continual improvement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	– Improve value chain activity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	– Continual improvement practice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Flexible – not always linear, steps may repeat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2042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D8E38B-58EF-3F52-066D-2C3A39BBD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101" y="552200"/>
            <a:ext cx="7597798" cy="57535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1742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775D2-86D6-2257-C588-495883F78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CB285F-8536-C5C4-08B8-F209E1E2B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556B79E-7B07-2D4B-0F5B-46E091A0319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19C91D9-3A17-DFD6-F5AA-935B8BF1924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A607590-663D-0F02-62EC-DE62C3C8BF1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8A63A96-BB89-F927-AE88-0304226F56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39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What is the Vision?🔭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FF21D09-0C13-5BC1-9F8A-F4F2E008DAC6}"/>
              </a:ext>
            </a:extLst>
          </p:cNvPr>
          <p:cNvSpPr txBox="1"/>
          <p:nvPr/>
        </p:nvSpPr>
        <p:spPr>
          <a:xfrm>
            <a:off x="2934462" y="2286000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Define the overall goal of the improvement initiative.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Clarify why the improvement is needed.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b="1" dirty="0"/>
              <a:t>V</a:t>
            </a:r>
            <a:r>
              <a:rPr lang="en-IN" sz="2400" dirty="0"/>
              <a:t>ision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6108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76BBE-C9EE-D02E-CA1D-04EAEB9F8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3092A2-8E3F-909C-22EA-954F189F9A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42A4D06-DB9D-1507-0C98-649B04C7564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BECF5ED-AA69-D453-FDFA-CE40838330D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3C2EF65-46FA-5D6D-FEC3-C57A3DFE9BA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DE9A245-F705-1A32-902E-75EE239627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40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Where are we now? 📊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E05945C-6C1D-3050-BA3E-1665AC937CD8}"/>
              </a:ext>
            </a:extLst>
          </p:cNvPr>
          <p:cNvSpPr txBox="1"/>
          <p:nvPr/>
        </p:nvSpPr>
        <p:spPr>
          <a:xfrm>
            <a:off x="2934462" y="2286000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Assess the current state before improving.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Measure baseline performance and capabilities.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b="1" dirty="0"/>
              <a:t>I</a:t>
            </a:r>
            <a:r>
              <a:rPr lang="en-IN" sz="2400" dirty="0"/>
              <a:t>nvestigate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8859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887ED-526F-8D33-FAFC-E77F1FF08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CF7108B-01A8-F251-AF01-67E8BFCE1D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361660E-D13D-CCCC-CB3F-2B24ADD9755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3A23C8B-145A-91AE-FCEC-67CACABB43B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4AC4459-B4DF-44E7-305A-252D14F7224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6FEDE15-9A27-E2F9-49A3-28201C6768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41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Where do we want to be?</a:t>
            </a:r>
            <a:r>
              <a:rPr lang="en-IN" sz="4400" dirty="0"/>
              <a:t> 🎯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E60D53B-8259-3A51-3F91-A53312E3A3ED}"/>
              </a:ext>
            </a:extLst>
          </p:cNvPr>
          <p:cNvSpPr txBox="1"/>
          <p:nvPr/>
        </p:nvSpPr>
        <p:spPr>
          <a:xfrm>
            <a:off x="2934462" y="2286000"/>
            <a:ext cx="8448040" cy="165622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dirty="0"/>
              <a:t>Define the target state.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Define SMART goals: Specific, Measurable, Achievable, Relevant, Time-bound.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b="1" dirty="0"/>
              <a:t>P</a:t>
            </a:r>
            <a:r>
              <a:rPr lang="en-IN" sz="2400" dirty="0"/>
              <a:t>urpose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8805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B22A0-8130-E6EB-CB3E-BC9814E78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555B896-418D-154C-582A-141C801CF3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0385482-EB08-32E4-C09C-3B869AFDF5C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303FDE1-AD03-1581-FAB1-3EE8FD4AAC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43D3E42-0A53-71B2-DDA4-96C765328FF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EA77AC9F-82B9-0E6E-F8BF-1588C1D879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How do we get there? </a:t>
            </a:r>
            <a:r>
              <a:rPr lang="en-IN" sz="4400" dirty="0"/>
              <a:t>🗺️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B4AA9B8-9FF5-F512-F890-315D7CF9C3D2}"/>
              </a:ext>
            </a:extLst>
          </p:cNvPr>
          <p:cNvSpPr txBox="1"/>
          <p:nvPr/>
        </p:nvSpPr>
        <p:spPr>
          <a:xfrm>
            <a:off x="2934462" y="2286000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Plan the route from current state to target.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Identify steps and resources needed to reach goals.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b="1" dirty="0"/>
              <a:t>T</a:t>
            </a:r>
            <a:r>
              <a:rPr lang="en-IN" sz="2400" dirty="0"/>
              <a:t>actics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8433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17A60-530E-9BC9-82DD-C477FD887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8D78FA9-3A20-981F-7FDD-9159756DAF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3FEC7C4-31B1-48C4-815C-FB144AFE66A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2A0E64A-0E7F-5177-E818-D57117CB3FE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6BB53E7-60DC-4029-67B6-3EF33FCAB01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D9572E2-6ADB-6C36-A1D0-9F5D53078A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Take Action ⚡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E121E94-E3DF-4562-5CD7-F75F758CD4D3}"/>
              </a:ext>
            </a:extLst>
          </p:cNvPr>
          <p:cNvSpPr txBox="1"/>
          <p:nvPr/>
        </p:nvSpPr>
        <p:spPr>
          <a:xfrm>
            <a:off x="2934462" y="2286000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dirty="0"/>
              <a:t>Execute the improvement plan.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Implement changes according to plan.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b="1" dirty="0"/>
              <a:t>E</a:t>
            </a:r>
            <a:r>
              <a:rPr lang="en-IN" sz="2400" dirty="0"/>
              <a:t>xecute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3729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E9DFC1-D685-538F-4F74-B2CCF3C47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BC62704-9F30-6CED-5113-DD6ED76175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20D84BE-EC5C-D97F-0A86-895149DF870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094C9A6-AC3D-72FD-30F0-2C6399D4429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0759897-414B-8812-A6B0-8EC033B68DF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E29467A1-FBFD-59C8-EC00-2EFBCCC189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Did we get there? ✅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FB5132B-ED21-005C-9062-EA67D02E10F4}"/>
              </a:ext>
            </a:extLst>
          </p:cNvPr>
          <p:cNvSpPr txBox="1"/>
          <p:nvPr/>
        </p:nvSpPr>
        <p:spPr>
          <a:xfrm>
            <a:off x="2934462" y="2286000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Check if the improvement has achieved its goals.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Identify gaps or adjustments needed.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b="1" dirty="0" err="1"/>
              <a:t>A</a:t>
            </a:r>
            <a:r>
              <a:rPr lang="en-IN" sz="2400" dirty="0" err="1"/>
              <a:t>nalyze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3575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F93BA-0F57-4B31-9A36-194FF1FA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58F0067-AAB3-2F6E-96FE-1DF4F59360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53EE32D-BC3D-BEF4-1C2B-1F096A13F05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30D97C8-5593-A58F-436B-E991FFDEBAC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4F61BC5-CA6C-8CCA-429C-7BF3F328FAF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811B0E1-3794-1D74-E2DA-A012738FD6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45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How do we keep Momentum going? </a:t>
            </a:r>
            <a:r>
              <a:rPr lang="en-IN" sz="4400" dirty="0"/>
              <a:t>🔁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E012887-D4CB-6092-F1E6-F972D657AD05}"/>
              </a:ext>
            </a:extLst>
          </p:cNvPr>
          <p:cNvSpPr txBox="1"/>
          <p:nvPr/>
        </p:nvSpPr>
        <p:spPr>
          <a:xfrm>
            <a:off x="2934462" y="2286000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dirty="0"/>
              <a:t>Sustain and embed improvements.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Prepare for next iteration of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b="1" dirty="0"/>
              <a:t>M</a:t>
            </a:r>
            <a:r>
              <a:rPr lang="en-IN" sz="2400" dirty="0"/>
              <a:t>aintain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0538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TEAM VIP GLOBAL - YouTube">
            <a:extLst>
              <a:ext uri="{FF2B5EF4-FFF2-40B4-BE49-F238E27FC236}">
                <a16:creationId xmlns:a16="http://schemas.microsoft.com/office/drawing/2014/main" id="{3D591DA7-7A62-A831-3C5C-C16C354AB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4400"/>
            <a:ext cx="50292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45618A-4354-278A-DD86-DDFCC1AD0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058764"/>
              </p:ext>
            </p:extLst>
          </p:nvPr>
        </p:nvGraphicFramePr>
        <p:xfrm>
          <a:off x="5562600" y="457200"/>
          <a:ext cx="6172200" cy="5898282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70866041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28503078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325265608"/>
                    </a:ext>
                  </a:extLst>
                </a:gridCol>
              </a:tblGrid>
              <a:tr h="45637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Mnemonic Letter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Step Key Word Change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Original Step Concept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extLst>
                  <a:ext uri="{0D108BD9-81ED-4DB2-BD59-A6C34878D82A}">
                    <a16:rowId xmlns:a16="http://schemas.microsoft.com/office/drawing/2014/main" val="3077572279"/>
                  </a:ext>
                </a:extLst>
              </a:tr>
              <a:tr h="7730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V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V</a:t>
                      </a: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</a:rPr>
                        <a:t>ision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</a:rPr>
                        <a:t>Understand the high-level direction.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extLst>
                  <a:ext uri="{0D108BD9-81ED-4DB2-BD59-A6C34878D82A}">
                    <a16:rowId xmlns:a16="http://schemas.microsoft.com/office/drawing/2014/main" val="3013345273"/>
                  </a:ext>
                </a:extLst>
              </a:tr>
              <a:tr h="108963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I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I</a:t>
                      </a: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</a:rPr>
                        <a:t>nvestigate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Assess the current performance (Where are we now?).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extLst>
                  <a:ext uri="{0D108BD9-81ED-4DB2-BD59-A6C34878D82A}">
                    <a16:rowId xmlns:a16="http://schemas.microsoft.com/office/drawing/2014/main" val="1123608166"/>
                  </a:ext>
                </a:extLst>
              </a:tr>
              <a:tr h="7730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P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P</a:t>
                      </a: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</a:rPr>
                        <a:t>urpose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Define measurable targets (Where do we want to be?).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extLst>
                  <a:ext uri="{0D108BD9-81ED-4DB2-BD59-A6C34878D82A}">
                    <a16:rowId xmlns:a16="http://schemas.microsoft.com/office/drawing/2014/main" val="421779662"/>
                  </a:ext>
                </a:extLst>
              </a:tr>
              <a:tr h="7730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T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T</a:t>
                      </a: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</a:rPr>
                        <a:t>actics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Create a plan/strategy (How do we get there?).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extLst>
                  <a:ext uri="{0D108BD9-81ED-4DB2-BD59-A6C34878D82A}">
                    <a16:rowId xmlns:a16="http://schemas.microsoft.com/office/drawing/2014/main" val="1724539936"/>
                  </a:ext>
                </a:extLst>
              </a:tr>
              <a:tr h="7730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E</a:t>
                      </a: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</a:rPr>
                        <a:t>xecute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Take action/Implement the activities.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extLst>
                  <a:ext uri="{0D108BD9-81ED-4DB2-BD59-A6C34878D82A}">
                    <a16:rowId xmlns:a16="http://schemas.microsoft.com/office/drawing/2014/main" val="2398049564"/>
                  </a:ext>
                </a:extLst>
              </a:tr>
              <a:tr h="7730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A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A</a:t>
                      </a: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</a:rPr>
                        <a:t>nalyze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Evaluate the results (Did we get there?).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extLst>
                  <a:ext uri="{0D108BD9-81ED-4DB2-BD59-A6C34878D82A}">
                    <a16:rowId xmlns:a16="http://schemas.microsoft.com/office/drawing/2014/main" val="1288072886"/>
                  </a:ext>
                </a:extLst>
              </a:tr>
              <a:tr h="45637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M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M</a:t>
                      </a: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</a:rPr>
                        <a:t>aintain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</a:rPr>
                        <a:t>Keep the momentum going.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401" marR="45401" marT="30267" marB="30267" anchor="ctr"/>
                </a:tc>
                <a:extLst>
                  <a:ext uri="{0D108BD9-81ED-4DB2-BD59-A6C34878D82A}">
                    <a16:rowId xmlns:a16="http://schemas.microsoft.com/office/drawing/2014/main" val="2137733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0226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AE0E7-1913-D471-52D2-E485204F4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C70081-4256-C5EE-4E24-F2CC43233413}"/>
              </a:ext>
            </a:extLst>
          </p:cNvPr>
          <p:cNvSpPr/>
          <p:nvPr/>
        </p:nvSpPr>
        <p:spPr>
          <a:xfrm>
            <a:off x="0" y="-398949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E410E69-E6BD-E340-484D-F956269B0DC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EE544F1-DCD2-005B-B617-0804C148C6C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2E8437B-4BD3-DF36-A8E2-F10CE9230AD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EB4D393-8CEC-8EA2-3B11-53E758D5D8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VIPTEAM 😎👑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B8D923B-19AF-A2CB-362C-279FCAB499C8}"/>
              </a:ext>
            </a:extLst>
          </p:cNvPr>
          <p:cNvSpPr txBox="1"/>
          <p:nvPr/>
        </p:nvSpPr>
        <p:spPr>
          <a:xfrm>
            <a:off x="2514600" y="2097688"/>
            <a:ext cx="9601200" cy="387221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000" dirty="0"/>
              <a:t>The </a:t>
            </a:r>
            <a:r>
              <a:rPr lang="en-US" sz="2000" b="1" dirty="0"/>
              <a:t>VIP TEAM</a:t>
            </a:r>
            <a:r>
              <a:rPr lang="en-US" sz="2000" dirty="0"/>
              <a:t> steps, applied to launching a new product:</a:t>
            </a:r>
          </a:p>
          <a:p>
            <a:endParaRPr lang="en-US" sz="2000" dirty="0"/>
          </a:p>
          <a:p>
            <a:r>
              <a:rPr lang="en-US" sz="2000" b="1" dirty="0"/>
              <a:t>V</a:t>
            </a:r>
            <a:r>
              <a:rPr lang="en-US" sz="2000" dirty="0"/>
              <a:t>ision: We aim to be the top-rated product in the market.</a:t>
            </a:r>
          </a:p>
          <a:p>
            <a:r>
              <a:rPr lang="en-US" sz="2000" b="1" dirty="0"/>
              <a:t>I</a:t>
            </a:r>
            <a:r>
              <a:rPr lang="en-US" sz="2000" dirty="0"/>
              <a:t>nvestigate: Assess the current situation: we have 0% market share; competitors offer X, Y, Z features.</a:t>
            </a:r>
          </a:p>
          <a:p>
            <a:r>
              <a:rPr lang="en-US" sz="2000" b="1" dirty="0"/>
              <a:t>P</a:t>
            </a:r>
            <a:r>
              <a:rPr lang="en-US" sz="2000" dirty="0"/>
              <a:t>urpose: Our target is to achieve 10,000 users and a 4.5-star rating within six months.</a:t>
            </a:r>
          </a:p>
          <a:p>
            <a:r>
              <a:rPr lang="en-US" sz="2000" b="1" dirty="0"/>
              <a:t>T</a:t>
            </a:r>
            <a:r>
              <a:rPr lang="en-US" sz="2000" dirty="0"/>
              <a:t>actics: Our plan is aggressive social media marketing and a free trial period.</a:t>
            </a:r>
          </a:p>
          <a:p>
            <a:r>
              <a:rPr lang="en-US" sz="2000" b="1" dirty="0"/>
              <a:t>E</a:t>
            </a:r>
            <a:r>
              <a:rPr lang="en-US" sz="2000" dirty="0"/>
              <a:t>xecute: Launch the product, run all campaigns, and manage the free trial period.</a:t>
            </a:r>
          </a:p>
          <a:p>
            <a:r>
              <a:rPr lang="en-US" sz="2000" b="1" dirty="0"/>
              <a:t>A</a:t>
            </a:r>
            <a:r>
              <a:rPr lang="en-US" sz="2000" dirty="0"/>
              <a:t>nalyze: Check user count and rating weekly against the 6-month target.</a:t>
            </a:r>
          </a:p>
          <a:p>
            <a:r>
              <a:rPr lang="en-US" sz="2000" b="1" dirty="0"/>
              <a:t>M</a:t>
            </a:r>
            <a:r>
              <a:rPr lang="en-US" sz="2000" dirty="0"/>
              <a:t>aintain: If successful, invest in new features (version 2.0) to keep the growth momentum.</a:t>
            </a:r>
          </a:p>
        </p:txBody>
      </p:sp>
    </p:spTree>
    <p:extLst>
      <p:ext uri="{BB962C8B-B14F-4D97-AF65-F5344CB8AC3E}">
        <p14:creationId xmlns:p14="http://schemas.microsoft.com/office/powerpoint/2010/main" val="33086993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ADD57-8961-053A-40D1-1D67A23B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76A6DF1-D4C0-F692-6B7C-C23FD88FAE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DCA5099-9A7C-8FBA-86EF-033F782CD83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98F2367-C261-6678-0C34-5E374976E83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2C1F156-3D80-F480-DA3F-769D3CED245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4A7ED16-244C-6749-ABA7-F14E0DCB84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What is a Practice?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4B0F345-08F4-6931-C2DB-624D1EB78BD7}"/>
              </a:ext>
            </a:extLst>
          </p:cNvPr>
          <p:cNvSpPr txBox="1"/>
          <p:nvPr/>
        </p:nvSpPr>
        <p:spPr>
          <a:xfrm>
            <a:off x="2934462" y="2286000"/>
            <a:ext cx="8448040" cy="165622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basically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way of working in the organization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includes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the resources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(people, tools, processes, information) needed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work or achieve a goal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40237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DF312-7405-F076-99F0-F699DA8D3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593556C-4A7F-20C7-CF39-D6B88677D7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6F6A051-ED93-3D87-4A1E-B0B61ADFBA3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998A9EF-B8C2-BFA9-CF0F-2EE3E306A9B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7B0C9B6-1287-347E-79B0-1495145FD26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EA5AEEC-573B-4E24-6B49-73D8E2A8CB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ITIL SVS Practices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4B64974-D9B0-A175-76A9-A0835C426A7C}"/>
              </a:ext>
            </a:extLst>
          </p:cNvPr>
          <p:cNvSpPr txBox="1"/>
          <p:nvPr/>
        </p:nvSpPr>
        <p:spPr>
          <a:xfrm>
            <a:off x="2934462" y="2286000"/>
            <a:ext cx="8448040" cy="31335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The ITIL Service Value System (SVS) includes </a:t>
            </a:r>
            <a:r>
              <a:rPr lang="en-US" sz="2400" b="1" dirty="0"/>
              <a:t>three types of practices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r>
              <a:rPr lang="en-US" sz="2400" b="1" dirty="0"/>
              <a:t>General Management Practices:</a:t>
            </a:r>
            <a:endParaRPr lang="en-US" sz="2400" dirty="0"/>
          </a:p>
          <a:p>
            <a:pPr lvl="1"/>
            <a:endParaRPr lang="en-US" sz="2400" dirty="0"/>
          </a:p>
          <a:p>
            <a:r>
              <a:rPr lang="en-US" sz="2400" b="1" dirty="0"/>
              <a:t>Service Management Practices:</a:t>
            </a:r>
            <a:endParaRPr lang="en-US" sz="2400" dirty="0"/>
          </a:p>
          <a:p>
            <a:pPr lvl="1"/>
            <a:endParaRPr lang="en-US" sz="2400" dirty="0"/>
          </a:p>
          <a:p>
            <a:r>
              <a:rPr lang="en-US" sz="2400" b="1" dirty="0"/>
              <a:t>Technical Management Practices: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00509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B8930-CB35-F2E5-F485-78E1BFF53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2E6ED4-DF94-5189-F0A6-1FA4C07E2B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E00340C-3C28-25B8-D384-EE460CD7B44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9B014A0-726B-5BF6-F1C7-EE16B94416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585E68E-2416-CA8E-165A-B1E8F95CEC1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993D7D6-26DD-C631-E37C-A599C0BB3E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ITIL SVS Practices Examples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276ED4C-1233-B980-12EA-599387F67037}"/>
              </a:ext>
            </a:extLst>
          </p:cNvPr>
          <p:cNvSpPr txBox="1"/>
          <p:nvPr/>
        </p:nvSpPr>
        <p:spPr>
          <a:xfrm>
            <a:off x="2934462" y="2286000"/>
            <a:ext cx="8448040" cy="387221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000" dirty="0"/>
              <a:t>“If a service is a dish in a restaurant, a practice is the recipe + chef + utensils + ingredients that make that dish happen successfully.”</a:t>
            </a:r>
          </a:p>
          <a:p>
            <a:endParaRPr lang="en-US" sz="2000" dirty="0"/>
          </a:p>
          <a:p>
            <a:r>
              <a:rPr lang="en-US" sz="2000" b="1" dirty="0"/>
              <a:t>General management practices</a:t>
            </a:r>
            <a:r>
              <a:rPr lang="en-US" sz="2000" dirty="0"/>
              <a:t> → like the </a:t>
            </a:r>
            <a:r>
              <a:rPr lang="en-US" sz="2000" b="1" dirty="0"/>
              <a:t>restaurant manager</a:t>
            </a:r>
            <a:r>
              <a:rPr lang="en-US" sz="2000" dirty="0"/>
              <a:t> (oversees everything).</a:t>
            </a:r>
          </a:p>
          <a:p>
            <a:endParaRPr lang="en-US" sz="2000" dirty="0"/>
          </a:p>
          <a:p>
            <a:r>
              <a:rPr lang="en-US" sz="2000" b="1" dirty="0"/>
              <a:t>Service management practices</a:t>
            </a:r>
            <a:r>
              <a:rPr lang="en-US" sz="2000" dirty="0"/>
              <a:t> → like the </a:t>
            </a:r>
            <a:r>
              <a:rPr lang="en-US" sz="2000" b="1" dirty="0"/>
              <a:t>chefs and waiters</a:t>
            </a:r>
            <a:r>
              <a:rPr lang="en-US" sz="2000" dirty="0"/>
              <a:t> (deliver the dish to customers).</a:t>
            </a:r>
          </a:p>
          <a:p>
            <a:endParaRPr lang="en-US" sz="2000" dirty="0"/>
          </a:p>
          <a:p>
            <a:r>
              <a:rPr lang="en-US" sz="2000" b="1" dirty="0"/>
              <a:t>Technical management practices</a:t>
            </a:r>
            <a:r>
              <a:rPr lang="en-US" sz="2000" dirty="0"/>
              <a:t> → like the </a:t>
            </a:r>
            <a:r>
              <a:rPr lang="en-US" sz="2000" b="1" dirty="0"/>
              <a:t>kitchen tools and cooking techniques</a:t>
            </a:r>
            <a:r>
              <a:rPr lang="en-US" sz="2000" dirty="0"/>
              <a:t> (technical skills to make the dish).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58746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endParaRPr sz="4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1162</TotalTime>
  <Words>2079</Words>
  <Application>Microsoft Office PowerPoint</Application>
  <PresentationFormat>Widescreen</PresentationFormat>
  <Paragraphs>274</Paragraphs>
  <Slides>59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Google Sans Text</vt:lpstr>
      <vt:lpstr>Aptos</vt:lpstr>
      <vt:lpstr>Arial</vt:lpstr>
      <vt:lpstr>Calibri</vt:lpstr>
      <vt:lpstr>Cambria</vt:lpstr>
      <vt:lpstr>Perpetua</vt:lpstr>
      <vt:lpstr>Segoe UI</vt:lpstr>
      <vt:lpstr>Office Theme</vt:lpstr>
      <vt:lpstr>IT Infrastructure                       Management            Chapter 4:  THE ITIL SERVICE VALUE SYSTEM                        TY B.Sc. (IT)</vt:lpstr>
      <vt:lpstr>1 Topics:</vt:lpstr>
      <vt:lpstr>2 Introduction </vt:lpstr>
      <vt:lpstr> The Core Components of the ITIL                                 SVS</vt:lpstr>
      <vt:lpstr>3 Service Value System (SVS)        Overview</vt:lpstr>
      <vt:lpstr>PowerPoint Presentation</vt:lpstr>
      <vt:lpstr>4 Inputs, Components, Outputs </vt:lpstr>
      <vt:lpstr> The Core Components of the ITIL                                 SVS</vt:lpstr>
      <vt:lpstr>5 Activity 1 </vt:lpstr>
      <vt:lpstr>6 Organizational Agility &amp;        Resilience</vt:lpstr>
      <vt:lpstr>7 Opportunity, Demand, and Value</vt:lpstr>
      <vt:lpstr>8 What is Opportunity?</vt:lpstr>
      <vt:lpstr>9 What is Demand?</vt:lpstr>
      <vt:lpstr>10 Relationship to Value            How Opportunity and Demand Create Value? </vt:lpstr>
      <vt:lpstr>11 Questions…. For understanding</vt:lpstr>
      <vt:lpstr>12 The ITIL Guiding Principles:            A Universal Foundation for Service Management</vt:lpstr>
      <vt:lpstr>PowerPoint Presentation</vt:lpstr>
      <vt:lpstr>13 Focus on Value</vt:lpstr>
      <vt:lpstr>14 Start Where You Are</vt:lpstr>
      <vt:lpstr>15 Progress Iteratively with Feedback</vt:lpstr>
      <vt:lpstr>16 Collaborate &amp; Promote Visibility</vt:lpstr>
      <vt:lpstr>17 Keep it Simple &amp; Practical</vt:lpstr>
      <vt:lpstr>18  Optimize &amp; Automate</vt:lpstr>
      <vt:lpstr>19  FISH COP</vt:lpstr>
      <vt:lpstr>20 Governance in the ITIL SVS</vt:lpstr>
      <vt:lpstr>21 What is IT Governance? (VS. IT Management) </vt:lpstr>
      <vt:lpstr>22 The Three Core Governance Activities </vt:lpstr>
      <vt:lpstr>PowerPoint Presentation</vt:lpstr>
      <vt:lpstr>23 1. Evaluate (E) 🧐</vt:lpstr>
      <vt:lpstr>24 2. Direct (D) 🧭</vt:lpstr>
      <vt:lpstr>25 3. Monitor (M) 📊</vt:lpstr>
      <vt:lpstr>26  ISO/IEC 38500 Principles:</vt:lpstr>
      <vt:lpstr>27 ISO/IEC 38500 (6 Principles)  </vt:lpstr>
      <vt:lpstr>28 ISO/IEC 38500 (6 Principles) and ITIL Guiding Principles (7 Principles)  </vt:lpstr>
      <vt:lpstr>29  The ITIL Service Value Chain (SVC)</vt:lpstr>
      <vt:lpstr>PowerPoint Presentation</vt:lpstr>
      <vt:lpstr>30  Plan</vt:lpstr>
      <vt:lpstr>31  Engage</vt:lpstr>
      <vt:lpstr>32 Design and Transition</vt:lpstr>
      <vt:lpstr>33  Obtain/Build</vt:lpstr>
      <vt:lpstr>34  Deliver and Support</vt:lpstr>
      <vt:lpstr>35  Improve</vt:lpstr>
      <vt:lpstr>36  PEDODI</vt:lpstr>
      <vt:lpstr>37  🚀 Fast Example Flow</vt:lpstr>
      <vt:lpstr>38  Continual improvement</vt:lpstr>
      <vt:lpstr>PowerPoint Presentation</vt:lpstr>
      <vt:lpstr>39  What is the Vision?🔭</vt:lpstr>
      <vt:lpstr>40  Where are we now? 📊</vt:lpstr>
      <vt:lpstr>41  Where do we want to be? 🎯</vt:lpstr>
      <vt:lpstr>42  How do we get there? 🗺️</vt:lpstr>
      <vt:lpstr>43  Take Action ⚡</vt:lpstr>
      <vt:lpstr>44  Did we get there? ✅</vt:lpstr>
      <vt:lpstr>45  How do we keep Momentum going? 🔁</vt:lpstr>
      <vt:lpstr>PowerPoint Presentation</vt:lpstr>
      <vt:lpstr>46  VIPTEAM 😎👑</vt:lpstr>
      <vt:lpstr>47  What is a Practice?</vt:lpstr>
      <vt:lpstr>47  ITIL SVS Practices</vt:lpstr>
      <vt:lpstr>47  ITIL SVS Practices Examples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poornimanadar1234@gmail.com</cp:lastModifiedBy>
  <cp:revision>40</cp:revision>
  <dcterms:created xsi:type="dcterms:W3CDTF">2025-11-04T17:06:10Z</dcterms:created>
  <dcterms:modified xsi:type="dcterms:W3CDTF">2025-12-01T09:50:23Z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