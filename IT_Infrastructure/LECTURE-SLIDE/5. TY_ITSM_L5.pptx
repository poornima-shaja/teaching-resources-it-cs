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5"/>
  </p:notesMasterIdLst>
  <p:sldIdLst>
    <p:sldId id="256" r:id="rId2"/>
    <p:sldId id="257" r:id="rId3"/>
    <p:sldId id="345" r:id="rId4"/>
    <p:sldId id="258" r:id="rId5"/>
    <p:sldId id="346" r:id="rId6"/>
    <p:sldId id="353" r:id="rId7"/>
    <p:sldId id="341" r:id="rId8"/>
    <p:sldId id="342" r:id="rId9"/>
    <p:sldId id="347" r:id="rId10"/>
    <p:sldId id="348" r:id="rId11"/>
    <p:sldId id="338" r:id="rId12"/>
    <p:sldId id="350" r:id="rId13"/>
    <p:sldId id="351" r:id="rId14"/>
    <p:sldId id="352" r:id="rId15"/>
    <p:sldId id="275" r:id="rId16"/>
    <p:sldId id="343" r:id="rId17"/>
    <p:sldId id="354" r:id="rId18"/>
    <p:sldId id="339" r:id="rId19"/>
    <p:sldId id="344" r:id="rId20"/>
    <p:sldId id="355" r:id="rId21"/>
    <p:sldId id="356" r:id="rId22"/>
    <p:sldId id="357" r:id="rId23"/>
    <p:sldId id="358" r:id="rId24"/>
    <p:sldId id="280" r:id="rId25"/>
    <p:sldId id="359" r:id="rId26"/>
    <p:sldId id="360" r:id="rId27"/>
    <p:sldId id="361" r:id="rId28"/>
    <p:sldId id="362" r:id="rId29"/>
    <p:sldId id="366" r:id="rId30"/>
    <p:sldId id="363" r:id="rId31"/>
    <p:sldId id="364" r:id="rId32"/>
    <p:sldId id="367" r:id="rId33"/>
    <p:sldId id="368" r:id="rId34"/>
    <p:sldId id="369" r:id="rId35"/>
    <p:sldId id="370" r:id="rId36"/>
    <p:sldId id="371" r:id="rId37"/>
    <p:sldId id="372" r:id="rId38"/>
    <p:sldId id="373" r:id="rId39"/>
    <p:sldId id="374" r:id="rId40"/>
    <p:sldId id="375" r:id="rId41"/>
    <p:sldId id="376" r:id="rId42"/>
    <p:sldId id="377" r:id="rId43"/>
    <p:sldId id="378" r:id="rId44"/>
    <p:sldId id="379" r:id="rId45"/>
    <p:sldId id="380" r:id="rId46"/>
    <p:sldId id="381" r:id="rId47"/>
    <p:sldId id="382" r:id="rId48"/>
    <p:sldId id="383" r:id="rId49"/>
    <p:sldId id="384" r:id="rId50"/>
    <p:sldId id="385" r:id="rId51"/>
    <p:sldId id="386" r:id="rId52"/>
    <p:sldId id="387" r:id="rId53"/>
    <p:sldId id="388" r:id="rId54"/>
    <p:sldId id="389" r:id="rId55"/>
    <p:sldId id="390" r:id="rId56"/>
    <p:sldId id="391" r:id="rId57"/>
    <p:sldId id="392" r:id="rId58"/>
    <p:sldId id="393" r:id="rId59"/>
    <p:sldId id="394" r:id="rId60"/>
    <p:sldId id="397" r:id="rId61"/>
    <p:sldId id="395" r:id="rId62"/>
    <p:sldId id="398" r:id="rId63"/>
    <p:sldId id="396" r:id="rId64"/>
    <p:sldId id="399" r:id="rId65"/>
    <p:sldId id="400" r:id="rId66"/>
    <p:sldId id="402" r:id="rId67"/>
    <p:sldId id="401" r:id="rId68"/>
    <p:sldId id="403" r:id="rId69"/>
    <p:sldId id="404" r:id="rId70"/>
    <p:sldId id="405" r:id="rId71"/>
    <p:sldId id="413" r:id="rId72"/>
    <p:sldId id="406" r:id="rId73"/>
    <p:sldId id="407" r:id="rId74"/>
    <p:sldId id="414" r:id="rId75"/>
    <p:sldId id="415" r:id="rId76"/>
    <p:sldId id="416" r:id="rId77"/>
    <p:sldId id="409" r:id="rId78"/>
    <p:sldId id="412" r:id="rId79"/>
    <p:sldId id="417" r:id="rId80"/>
    <p:sldId id="418" r:id="rId81"/>
    <p:sldId id="419" r:id="rId82"/>
    <p:sldId id="421" r:id="rId83"/>
    <p:sldId id="420" r:id="rId84"/>
    <p:sldId id="432" r:id="rId85"/>
    <p:sldId id="422" r:id="rId86"/>
    <p:sldId id="425" r:id="rId87"/>
    <p:sldId id="426" r:id="rId88"/>
    <p:sldId id="427" r:id="rId89"/>
    <p:sldId id="428" r:id="rId90"/>
    <p:sldId id="429" r:id="rId91"/>
    <p:sldId id="430" r:id="rId92"/>
    <p:sldId id="431" r:id="rId93"/>
    <p:sldId id="433" r:id="rId94"/>
    <p:sldId id="434" r:id="rId95"/>
    <p:sldId id="435" r:id="rId96"/>
    <p:sldId id="436" r:id="rId97"/>
    <p:sldId id="438" r:id="rId98"/>
    <p:sldId id="439" r:id="rId99"/>
    <p:sldId id="441" r:id="rId100"/>
    <p:sldId id="442" r:id="rId101"/>
    <p:sldId id="443" r:id="rId102"/>
    <p:sldId id="445" r:id="rId103"/>
    <p:sldId id="446" r:id="rId104"/>
    <p:sldId id="447" r:id="rId105"/>
    <p:sldId id="448" r:id="rId106"/>
    <p:sldId id="449" r:id="rId107"/>
    <p:sldId id="450" r:id="rId108"/>
    <p:sldId id="451" r:id="rId109"/>
    <p:sldId id="458" r:id="rId110"/>
    <p:sldId id="452" r:id="rId111"/>
    <p:sldId id="453" r:id="rId112"/>
    <p:sldId id="454" r:id="rId113"/>
    <p:sldId id="455" r:id="rId114"/>
    <p:sldId id="456" r:id="rId115"/>
    <p:sldId id="457" r:id="rId116"/>
    <p:sldId id="459" r:id="rId117"/>
    <p:sldId id="460" r:id="rId118"/>
    <p:sldId id="461" r:id="rId119"/>
    <p:sldId id="462" r:id="rId120"/>
    <p:sldId id="463" r:id="rId121"/>
    <p:sldId id="464" r:id="rId122"/>
    <p:sldId id="465" r:id="rId123"/>
    <p:sldId id="466" r:id="rId124"/>
    <p:sldId id="468" r:id="rId125"/>
    <p:sldId id="469" r:id="rId126"/>
    <p:sldId id="470" r:id="rId127"/>
    <p:sldId id="472" r:id="rId128"/>
    <p:sldId id="471" r:id="rId129"/>
    <p:sldId id="477" r:id="rId130"/>
    <p:sldId id="473" r:id="rId131"/>
    <p:sldId id="478" r:id="rId132"/>
    <p:sldId id="474" r:id="rId133"/>
    <p:sldId id="269" r:id="rId13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70" autoAdjust="0"/>
    <p:restoredTop sz="94660"/>
  </p:normalViewPr>
  <p:slideViewPr>
    <p:cSldViewPr>
      <p:cViewPr>
        <p:scale>
          <a:sx n="75" d="100"/>
          <a:sy n="75" d="100"/>
        </p:scale>
        <p:origin x="787" y="39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notesMaster" Target="notesMasters/notesMaster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50E53-DE1B-407D-A709-579CCB904A60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143FC4-0F31-4797-9FA8-1F6AE7072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606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43FC4-0F31-4797-9FA8-1F6AE707272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30897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43FC4-0F31-4797-9FA8-1F6AE707272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730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4984" y="432816"/>
            <a:ext cx="3459183" cy="6123432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934462" y="2177033"/>
            <a:ext cx="8770620" cy="0"/>
          </a:xfrm>
          <a:custGeom>
            <a:avLst/>
            <a:gdLst/>
            <a:ahLst/>
            <a:cxnLst/>
            <a:rect l="l" t="t" r="r" b="b"/>
            <a:pathLst>
              <a:path w="8770620">
                <a:moveTo>
                  <a:pt x="0" y="0"/>
                </a:moveTo>
                <a:lnTo>
                  <a:pt x="8770619" y="0"/>
                </a:lnTo>
              </a:path>
            </a:pathLst>
          </a:custGeom>
          <a:ln w="38100">
            <a:solidFill>
              <a:srgbClr val="79A8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944368" y="2456687"/>
            <a:ext cx="3077845" cy="1516380"/>
          </a:xfrm>
          <a:custGeom>
            <a:avLst/>
            <a:gdLst/>
            <a:ahLst/>
            <a:cxnLst/>
            <a:rect l="l" t="t" r="r" b="b"/>
            <a:pathLst>
              <a:path w="3077845" h="1516379">
                <a:moveTo>
                  <a:pt x="3077845" y="757428"/>
                </a:moveTo>
                <a:lnTo>
                  <a:pt x="3066948" y="751078"/>
                </a:lnTo>
                <a:lnTo>
                  <a:pt x="2989199" y="705739"/>
                </a:lnTo>
                <a:lnTo>
                  <a:pt x="2985262" y="706755"/>
                </a:lnTo>
                <a:lnTo>
                  <a:pt x="2981706" y="712851"/>
                </a:lnTo>
                <a:lnTo>
                  <a:pt x="2982722" y="716661"/>
                </a:lnTo>
                <a:lnTo>
                  <a:pt x="3041700" y="751078"/>
                </a:lnTo>
                <a:lnTo>
                  <a:pt x="2528316" y="751078"/>
                </a:lnTo>
                <a:lnTo>
                  <a:pt x="2528316" y="0"/>
                </a:lnTo>
                <a:lnTo>
                  <a:pt x="0" y="0"/>
                </a:lnTo>
                <a:lnTo>
                  <a:pt x="0" y="1516380"/>
                </a:lnTo>
                <a:lnTo>
                  <a:pt x="2528316" y="1516380"/>
                </a:lnTo>
                <a:lnTo>
                  <a:pt x="2528316" y="763778"/>
                </a:lnTo>
                <a:lnTo>
                  <a:pt x="3041700" y="763778"/>
                </a:lnTo>
                <a:lnTo>
                  <a:pt x="2982722" y="798195"/>
                </a:lnTo>
                <a:lnTo>
                  <a:pt x="2981706" y="802005"/>
                </a:lnTo>
                <a:lnTo>
                  <a:pt x="2985262" y="808101"/>
                </a:lnTo>
                <a:lnTo>
                  <a:pt x="2989199" y="809117"/>
                </a:lnTo>
                <a:lnTo>
                  <a:pt x="3066948" y="763778"/>
                </a:lnTo>
                <a:lnTo>
                  <a:pt x="3077845" y="757428"/>
                </a:lnTo>
                <a:close/>
              </a:path>
            </a:pathLst>
          </a:custGeom>
          <a:solidFill>
            <a:srgbClr val="79A8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944368" y="2456688"/>
            <a:ext cx="2528570" cy="1516380"/>
          </a:xfrm>
          <a:custGeom>
            <a:avLst/>
            <a:gdLst/>
            <a:ahLst/>
            <a:cxnLst/>
            <a:rect l="l" t="t" r="r" b="b"/>
            <a:pathLst>
              <a:path w="2528570" h="1516379">
                <a:moveTo>
                  <a:pt x="0" y="1516380"/>
                </a:moveTo>
                <a:lnTo>
                  <a:pt x="2528316" y="1516380"/>
                </a:lnTo>
                <a:lnTo>
                  <a:pt x="2528316" y="0"/>
                </a:lnTo>
                <a:lnTo>
                  <a:pt x="0" y="0"/>
                </a:lnTo>
                <a:lnTo>
                  <a:pt x="0" y="151638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9780" y="130251"/>
            <a:ext cx="5954395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31010" y="2270505"/>
            <a:ext cx="8729980" cy="2527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373187" y="945215"/>
            <a:ext cx="10363200" cy="2821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650490">
              <a:lnSpc>
                <a:spcPts val="5550"/>
              </a:lnSpc>
            </a:pPr>
            <a:r>
              <a:rPr lang="en-US" sz="4400" b="0" spc="150" dirty="0">
                <a:solidFill>
                  <a:srgbClr val="FFFFFF"/>
                </a:solidFill>
                <a:latin typeface="Cambria"/>
                <a:cs typeface="Cambria"/>
              </a:rPr>
              <a:t>IT Infrastructure</a:t>
            </a:r>
            <a:br>
              <a:rPr lang="en-US" sz="4400" b="0" spc="15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US" sz="4400" b="0" spc="150" dirty="0">
                <a:solidFill>
                  <a:srgbClr val="FFFFFF"/>
                </a:solidFill>
                <a:latin typeface="Cambria"/>
                <a:cs typeface="Cambria"/>
              </a:rPr>
              <a:t>                      Management</a:t>
            </a:r>
            <a:br>
              <a:rPr lang="en-US" sz="4400" b="0" spc="15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US" sz="4400" b="0" spc="150" dirty="0">
                <a:solidFill>
                  <a:srgbClr val="FFFFFF"/>
                </a:solidFill>
                <a:latin typeface="Cambria"/>
                <a:cs typeface="Cambria"/>
              </a:rPr>
              <a:t>           </a:t>
            </a:r>
            <a:r>
              <a:rPr lang="en-US" sz="2400" b="0" spc="150" dirty="0">
                <a:solidFill>
                  <a:srgbClr val="FFFFFF"/>
                </a:solidFill>
                <a:latin typeface="Cambria"/>
                <a:cs typeface="Cambria"/>
              </a:rPr>
              <a:t>Chapter 5:  ITIL MANAGEMENT PRACTICES</a:t>
            </a:r>
            <a:br>
              <a:rPr lang="en-US" sz="4400" b="0" spc="21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US" sz="4400" b="0" spc="210" dirty="0">
                <a:solidFill>
                  <a:srgbClr val="FFFFFF"/>
                </a:solidFill>
                <a:latin typeface="Cambria"/>
                <a:cs typeface="Cambria"/>
              </a:rPr>
              <a:t>                       </a:t>
            </a:r>
            <a:r>
              <a:rPr lang="en-US" sz="3200" b="0" spc="210" dirty="0">
                <a:solidFill>
                  <a:srgbClr val="FFFFFF"/>
                </a:solidFill>
                <a:latin typeface="Cambria"/>
                <a:cs typeface="Cambria"/>
              </a:rPr>
              <a:t>TY B.Sc. (IT)</a:t>
            </a:r>
            <a:endParaRPr lang="en-US" sz="44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33290" y="3920997"/>
            <a:ext cx="2729865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Semester</a:t>
            </a:r>
            <a:r>
              <a:rPr sz="17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25" dirty="0">
                <a:solidFill>
                  <a:srgbClr val="FFFFFF"/>
                </a:solidFill>
                <a:latin typeface="Calibri"/>
                <a:cs typeface="Calibri"/>
              </a:rPr>
              <a:t>VI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10961" y="3766565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>
                <a:moveTo>
                  <a:pt x="0" y="0"/>
                </a:moveTo>
                <a:lnTo>
                  <a:pt x="1371599" y="0"/>
                </a:lnTo>
              </a:path>
            </a:pathLst>
          </a:custGeom>
          <a:ln w="38100">
            <a:solidFill>
              <a:srgbClr val="00A4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45388" y="6519164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DFCF8"/>
                </a:solidFill>
                <a:latin typeface="Cambria"/>
                <a:cs typeface="Cambria"/>
              </a:rPr>
              <a:t>1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7" name="object 3" descr="$PPTXTitle">
            <a:extLst>
              <a:ext uri="{FF2B5EF4-FFF2-40B4-BE49-F238E27FC236}">
                <a16:creationId xmlns:a16="http://schemas.microsoft.com/office/drawing/2014/main" id="{6FAB2A22-FBB1-FA70-ED68-3643E270AE45}"/>
              </a:ext>
            </a:extLst>
          </p:cNvPr>
          <p:cNvSpPr txBox="1">
            <a:spLocks/>
          </p:cNvSpPr>
          <p:nvPr/>
        </p:nvSpPr>
        <p:spPr>
          <a:xfrm>
            <a:off x="3189922" y="5105400"/>
            <a:ext cx="8546465" cy="132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ea typeface="+mj-ea"/>
                <a:cs typeface="Segoe UI"/>
              </a:defRPr>
            </a:lvl1pPr>
          </a:lstStyle>
          <a:p>
            <a:pPr marL="12700" marR="5080" indent="2650490" algn="r">
              <a:lnSpc>
                <a:spcPts val="555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                                        Poornima .N</a:t>
            </a:r>
          </a:p>
          <a:p>
            <a:pPr marL="12700" marR="5080" indent="2650490" algn="r">
              <a:lnSpc>
                <a:spcPts val="555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Assistant Professor, Department of IT/CS</a:t>
            </a:r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69437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4400" b="0" spc="225" dirty="0">
                <a:solidFill>
                  <a:schemeClr val="tx1"/>
                </a:solidFill>
                <a:latin typeface="Cambria"/>
                <a:cs typeface="Cambria"/>
              </a:rPr>
              <a:t>Topics</a:t>
            </a:r>
            <a:r>
              <a:rPr sz="4400" b="0" spc="140" dirty="0">
                <a:solidFill>
                  <a:schemeClr val="tx1"/>
                </a:solidFill>
                <a:latin typeface="Cambria"/>
                <a:cs typeface="Cambria"/>
              </a:rPr>
              <a:t>: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3EFCFC4-0D40-859A-7DDE-BBC33F376206}"/>
              </a:ext>
            </a:extLst>
          </p:cNvPr>
          <p:cNvSpPr txBox="1"/>
          <p:nvPr/>
        </p:nvSpPr>
        <p:spPr>
          <a:xfrm>
            <a:off x="2934462" y="2286000"/>
            <a:ext cx="8448040" cy="325666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4000" b="1" dirty="0">
                <a:latin typeface="Centaur" panose="02030504050205020304" pitchFamily="18" charset="0"/>
              </a:rPr>
              <a:t>General Management Practices:</a:t>
            </a:r>
            <a:endParaRPr lang="en-US" sz="4000" dirty="0">
              <a:latin typeface="Centaur" panose="02030504050205020304" pitchFamily="18" charset="0"/>
            </a:endParaRPr>
          </a:p>
          <a:p>
            <a:pPr lvl="1"/>
            <a:endParaRPr lang="en-US" sz="4000" dirty="0">
              <a:latin typeface="Centaur" panose="02030504050205020304" pitchFamily="18" charset="0"/>
            </a:endParaRPr>
          </a:p>
          <a:p>
            <a:r>
              <a:rPr lang="en-US" sz="4000" b="1" dirty="0">
                <a:latin typeface="Centaur" panose="02030504050205020304" pitchFamily="18" charset="0"/>
              </a:rPr>
              <a:t>Service Management Practices:</a:t>
            </a:r>
            <a:endParaRPr lang="en-US" sz="4000" dirty="0">
              <a:latin typeface="Centaur" panose="02030504050205020304" pitchFamily="18" charset="0"/>
            </a:endParaRPr>
          </a:p>
          <a:p>
            <a:pPr lvl="1"/>
            <a:endParaRPr lang="en-US" sz="4000" dirty="0">
              <a:latin typeface="Centaur" panose="02030504050205020304" pitchFamily="18" charset="0"/>
            </a:endParaRPr>
          </a:p>
          <a:p>
            <a:r>
              <a:rPr lang="en-US" sz="4000" b="1" dirty="0">
                <a:latin typeface="Centaur" panose="02030504050205020304" pitchFamily="18" charset="0"/>
              </a:rPr>
              <a:t>Technical Management Practices:</a:t>
            </a:r>
            <a:endParaRPr lang="en-US" sz="4000" dirty="0">
              <a:latin typeface="Centaur" panose="020305040502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2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>
                <a:latin typeface="Centaur" panose="02030504050205020304" pitchFamily="18" charset="0"/>
              </a:rPr>
              <a:t> General management </a:t>
            </a:r>
            <a:br>
              <a:rPr lang="en-US" sz="4400" dirty="0"/>
            </a:b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0B6F45A-3E48-C83F-505A-1069ACABA0A4}"/>
              </a:ext>
            </a:extLst>
          </p:cNvPr>
          <p:cNvSpPr txBox="1"/>
          <p:nvPr/>
        </p:nvSpPr>
        <p:spPr>
          <a:xfrm>
            <a:off x="2934462" y="2286000"/>
            <a:ext cx="8448040" cy="264110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4000" dirty="0">
                <a:latin typeface="Centaur" panose="02030504050205020304" pitchFamily="18" charset="0"/>
              </a:rPr>
              <a:t>General management practices have been adopted and adapted for service management from general</a:t>
            </a:r>
          </a:p>
          <a:p>
            <a:r>
              <a:rPr lang="en-US" sz="4000" dirty="0">
                <a:latin typeface="Centaur" panose="02030504050205020304" pitchFamily="18" charset="0"/>
              </a:rPr>
              <a:t>business management domains.</a:t>
            </a:r>
          </a:p>
        </p:txBody>
      </p:sp>
    </p:spTree>
    <p:extLst>
      <p:ext uri="{BB962C8B-B14F-4D97-AF65-F5344CB8AC3E}">
        <p14:creationId xmlns:p14="http://schemas.microsoft.com/office/powerpoint/2010/main" val="2998068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2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>
                <a:latin typeface="Centaur" panose="02030504050205020304" pitchFamily="18" charset="0"/>
              </a:rPr>
              <a:t> Service management </a:t>
            </a:r>
            <a:br>
              <a:rPr lang="en-US" sz="4400" dirty="0"/>
            </a:b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0B6F45A-3E48-C83F-505A-1069ACABA0A4}"/>
              </a:ext>
            </a:extLst>
          </p:cNvPr>
          <p:cNvSpPr txBox="1"/>
          <p:nvPr/>
        </p:nvSpPr>
        <p:spPr>
          <a:xfrm>
            <a:off x="2934462" y="2286000"/>
            <a:ext cx="8448040" cy="202555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4000" dirty="0">
                <a:latin typeface="Centaur" panose="02030504050205020304" pitchFamily="18" charset="0"/>
              </a:rPr>
              <a:t>Service management practices have been developed in service management and ITSM industries.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2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>
                <a:latin typeface="Centaur" panose="02030504050205020304" pitchFamily="18" charset="0"/>
              </a:rPr>
              <a:t> Technical management </a:t>
            </a:r>
            <a:br>
              <a:rPr lang="en-US" sz="4400" dirty="0"/>
            </a:b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0B6F45A-3E48-C83F-505A-1069ACABA0A4}"/>
              </a:ext>
            </a:extLst>
          </p:cNvPr>
          <p:cNvSpPr txBox="1"/>
          <p:nvPr/>
        </p:nvSpPr>
        <p:spPr>
          <a:xfrm>
            <a:off x="2934462" y="2286000"/>
            <a:ext cx="8448040" cy="387221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4000" dirty="0">
                <a:latin typeface="Centaur" panose="02030504050205020304" pitchFamily="18" charset="0"/>
              </a:rPr>
              <a:t>Technical management practices have been adapted from technology management domains for service</a:t>
            </a:r>
          </a:p>
          <a:p>
            <a:r>
              <a:rPr lang="en-US" sz="4000" dirty="0">
                <a:latin typeface="Centaur" panose="02030504050205020304" pitchFamily="18" charset="0"/>
              </a:rPr>
              <a:t>management purposes by expanding or shifting their focus from technology solutions to IT services.</a:t>
            </a:r>
          </a:p>
        </p:txBody>
      </p:sp>
    </p:spTree>
    <p:extLst>
      <p:ext uri="{BB962C8B-B14F-4D97-AF65-F5344CB8AC3E}">
        <p14:creationId xmlns:p14="http://schemas.microsoft.com/office/powerpoint/2010/main" val="601316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3B74F-C29E-A290-E8BB-BE046C6C9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8802" y="2807585"/>
            <a:ext cx="6863398" cy="1231106"/>
          </a:xfrm>
        </p:spPr>
        <p:txBody>
          <a:bodyPr/>
          <a:lstStyle/>
          <a:p>
            <a:r>
              <a:rPr lang="en-IN" sz="4000" dirty="0"/>
              <a:t>1. Architecture management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325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41258B-56D7-6882-F544-03C895CE6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7B68DE1-FC74-AE56-1BC3-B094E4F490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39CD34CD-423B-3332-CE59-8C230B81496D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F86A49D-358F-1096-4507-A69BF335686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51B71E6-F932-0E77-477E-9C7D9A566E01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C270EE6-4BE9-4843-E77C-11214482A0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2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1. Architecture management:</a:t>
            </a:r>
            <a:br>
              <a:rPr lang="en-US" sz="4400" dirty="0"/>
            </a:b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B49188EB-7EF9-89B0-F562-E27ECF30D3B7}"/>
              </a:ext>
            </a:extLst>
          </p:cNvPr>
          <p:cNvSpPr txBox="1"/>
          <p:nvPr/>
        </p:nvSpPr>
        <p:spPr>
          <a:xfrm>
            <a:off x="2934462" y="2286000"/>
            <a:ext cx="8448040" cy="3502882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i="1" dirty="0"/>
              <a:t>Architecture Management ensures all parts of the organization fit and work together properly (processes, people, technology).</a:t>
            </a:r>
            <a:br>
              <a:rPr lang="en-US" sz="3600" dirty="0"/>
            </a:br>
            <a:r>
              <a:rPr lang="en-US" sz="3600" dirty="0"/>
              <a:t>👉 Like a </a:t>
            </a:r>
            <a:r>
              <a:rPr lang="en-US" sz="3600" b="1" dirty="0"/>
              <a:t>blueprint</a:t>
            </a:r>
            <a:r>
              <a:rPr lang="en-US" sz="3600" dirty="0"/>
              <a:t> for services and systems.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53216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8912D3A-5518-7FCA-A94A-1E9C0B85B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09C4085-DDC8-9220-EC15-A1AB6BA8C2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E5F3CBF-E605-7658-228F-320A8D95C276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6B592BE-8BBF-4C0A-D894-579C8E07B3C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44E39A4-668F-71DE-1F7D-19007C76B9A5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0942337F-C447-ADD4-9940-EFBB7A1D5E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2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1. Purpose:</a:t>
            </a:r>
            <a:br>
              <a:rPr lang="en-US" sz="4400" dirty="0"/>
            </a:b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F6B3E78B-E7D4-59CA-0CC7-E82D0E438D09}"/>
              </a:ext>
            </a:extLst>
          </p:cNvPr>
          <p:cNvSpPr txBox="1"/>
          <p:nvPr/>
        </p:nvSpPr>
        <p:spPr>
          <a:xfrm>
            <a:off x="2934462" y="2286000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dirty="0"/>
              <a:t>🎯 </a:t>
            </a:r>
            <a:r>
              <a:rPr lang="en-US" sz="3200" i="1" dirty="0"/>
              <a:t>To help the organization achieve its goals now and in the future, in a structured and Agile way.</a:t>
            </a:r>
            <a:endParaRPr lang="en-US" sz="3200" dirty="0"/>
          </a:p>
          <a:p>
            <a:r>
              <a:rPr lang="en-US" sz="3200" dirty="0"/>
              <a:t>✔ Reduce complexity</a:t>
            </a:r>
            <a:br>
              <a:rPr lang="en-US" sz="3200" dirty="0"/>
            </a:br>
            <a:r>
              <a:rPr lang="en-US" sz="3200" dirty="0"/>
              <a:t>✔ Manage change easily</a:t>
            </a:r>
            <a:br>
              <a:rPr lang="en-US" sz="3200" dirty="0"/>
            </a:br>
            <a:r>
              <a:rPr lang="en-US" sz="3200" dirty="0"/>
              <a:t>✔ Avoid risk and confusion</a:t>
            </a:r>
            <a:br>
              <a:rPr lang="en-US" sz="3200" dirty="0"/>
            </a:br>
            <a:r>
              <a:rPr lang="en-US" sz="3200" dirty="0"/>
              <a:t>✔ Improve automation &amp; efficiency</a:t>
            </a:r>
          </a:p>
        </p:txBody>
      </p:sp>
    </p:spTree>
    <p:extLst>
      <p:ext uri="{BB962C8B-B14F-4D97-AF65-F5344CB8AC3E}">
        <p14:creationId xmlns:p14="http://schemas.microsoft.com/office/powerpoint/2010/main" val="367002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8912D3A-5518-7FCA-A94A-1E9C0B85B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09C4085-DDC8-9220-EC15-A1AB6BA8C2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E5F3CBF-E605-7658-228F-320A8D95C276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6B592BE-8BBF-4C0A-D894-579C8E07B3C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44E39A4-668F-71DE-1F7D-19007C76B9A5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0942337F-C447-ADD4-9940-EFBB7A1D5E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2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1. </a:t>
            </a:r>
            <a:r>
              <a:rPr lang="en-US" sz="4400" dirty="0"/>
              <a:t>Why do we need it?</a:t>
            </a:r>
            <a:br>
              <a:rPr lang="en-US" sz="4400" dirty="0"/>
            </a:b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F6B3E78B-E7D4-59CA-0CC7-E82D0E438D09}"/>
              </a:ext>
            </a:extLst>
          </p:cNvPr>
          <p:cNvSpPr txBox="1"/>
          <p:nvPr/>
        </p:nvSpPr>
        <p:spPr>
          <a:xfrm>
            <a:off x="2934462" y="2286000"/>
            <a:ext cx="8448040" cy="411843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dirty="0"/>
              <a:t>Without architecture management → organization becomes:</a:t>
            </a:r>
          </a:p>
          <a:p>
            <a:r>
              <a:rPr lang="en-US" sz="3200" dirty="0"/>
              <a:t>⚠️ Confusing systems</a:t>
            </a:r>
            <a:br>
              <a:rPr lang="en-US" sz="3200" dirty="0"/>
            </a:br>
            <a:r>
              <a:rPr lang="en-US" sz="3200" dirty="0"/>
              <a:t>⚠️ Different processes everywhere</a:t>
            </a:r>
            <a:br>
              <a:rPr lang="en-US" sz="3200" dirty="0"/>
            </a:br>
            <a:r>
              <a:rPr lang="en-US" sz="3200" dirty="0"/>
              <a:t>⚠️ Many outdated technologies</a:t>
            </a:r>
            <a:br>
              <a:rPr lang="en-US" sz="3200" dirty="0"/>
            </a:br>
            <a:r>
              <a:rPr lang="en-US" sz="3200" dirty="0"/>
              <a:t>⚠️ High risk when changes happen</a:t>
            </a:r>
          </a:p>
          <a:p>
            <a:r>
              <a:rPr lang="en-US" sz="3200" dirty="0"/>
              <a:t>So architecture gives </a:t>
            </a:r>
            <a:r>
              <a:rPr lang="en-US" sz="3200" b="1" dirty="0"/>
              <a:t>visibility + coordination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87349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8912D3A-5518-7FCA-A94A-1E9C0B85B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09C4085-DDC8-9220-EC15-A1AB6BA8C2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E5F3CBF-E605-7658-228F-320A8D95C276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6B592BE-8BBF-4C0A-D894-579C8E07B3C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44E39A4-668F-71DE-1F7D-19007C76B9A5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0942337F-C447-ADD4-9940-EFBB7A1D5E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2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1. </a:t>
            </a:r>
            <a:r>
              <a:rPr lang="en-US" sz="4400" dirty="0"/>
              <a:t>Five Architecture Domains</a:t>
            </a:r>
            <a:endParaRPr sz="4400" dirty="0">
              <a:latin typeface="Cambria"/>
              <a:cs typeface="Cambria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C690106-A2BB-C62F-CDD3-FEDFD4AA2F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317396"/>
              </p:ext>
            </p:extLst>
          </p:nvPr>
        </p:nvGraphicFramePr>
        <p:xfrm>
          <a:off x="2651251" y="2385846"/>
          <a:ext cx="8731250" cy="2743200"/>
        </p:xfrm>
        <a:graphic>
          <a:graphicData uri="http://schemas.openxmlformats.org/drawingml/2006/table">
            <a:tbl>
              <a:tblPr/>
              <a:tblGrid>
                <a:gridCol w="2225549">
                  <a:extLst>
                    <a:ext uri="{9D8B030D-6E8A-4147-A177-3AD203B41FA5}">
                      <a16:colId xmlns:a16="http://schemas.microsoft.com/office/drawing/2014/main" val="395422955"/>
                    </a:ext>
                  </a:extLst>
                </a:gridCol>
                <a:gridCol w="6505701">
                  <a:extLst>
                    <a:ext uri="{9D8B030D-6E8A-4147-A177-3AD203B41FA5}">
                      <a16:colId xmlns:a16="http://schemas.microsoft.com/office/drawing/2014/main" val="7460754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Simple Student 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653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b="1"/>
                        <a:t>Business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College goals, courses, departments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1200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b="1"/>
                        <a:t>Service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How admission portal, LMS, ERP connect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91597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b="1" dirty="0"/>
                        <a:t>Information</a:t>
                      </a:r>
                      <a:endParaRPr lang="en-IN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Student records, results, attendance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7520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b="1"/>
                        <a:t>Technology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Wi-Fi, servers, software, lab systems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3260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b="1"/>
                        <a:t>Environmental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Rules → NAAC, University norms, legal policies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5290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946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079B34-C210-21B5-EA76-713A6F482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931" y="239753"/>
            <a:ext cx="9198137" cy="637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1611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8912D3A-5518-7FCA-A94A-1E9C0B85B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09C4085-DDC8-9220-EC15-A1AB6BA8C2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E5F3CBF-E605-7658-228F-320A8D95C276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6B592BE-8BBF-4C0A-D894-579C8E07B3C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44E39A4-668F-71DE-1F7D-19007C76B9A5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0942337F-C447-ADD4-9940-EFBB7A1D5E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2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1. </a:t>
            </a:r>
            <a:r>
              <a:rPr lang="en-US" sz="4400" dirty="0"/>
              <a:t>Real College Example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F6B3E78B-E7D4-59CA-0CC7-E82D0E438D09}"/>
              </a:ext>
            </a:extLst>
          </p:cNvPr>
          <p:cNvSpPr txBox="1"/>
          <p:nvPr/>
        </p:nvSpPr>
        <p:spPr>
          <a:xfrm>
            <a:off x="2934462" y="2286000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IN" sz="2800" dirty="0"/>
              <a:t>When college introduces </a:t>
            </a:r>
            <a:r>
              <a:rPr lang="en-IN" sz="2800" b="1" dirty="0"/>
              <a:t>new online exam system</a:t>
            </a:r>
            <a:r>
              <a:rPr lang="en-IN" sz="2800" dirty="0"/>
              <a:t>:</a:t>
            </a:r>
          </a:p>
          <a:p>
            <a:endParaRPr lang="en-IN" sz="2800" dirty="0"/>
          </a:p>
          <a:p>
            <a:r>
              <a:rPr lang="en-IN" sz="2800" dirty="0"/>
              <a:t>✔ Business → Who needs what?</a:t>
            </a:r>
            <a:br>
              <a:rPr lang="en-IN" sz="2800" dirty="0"/>
            </a:br>
            <a:r>
              <a:rPr lang="en-IN" sz="2800" dirty="0"/>
              <a:t>✔ Service → How modules fit together?</a:t>
            </a:r>
            <a:br>
              <a:rPr lang="en-IN" sz="2800" dirty="0"/>
            </a:br>
            <a:r>
              <a:rPr lang="en-IN" sz="2800" dirty="0"/>
              <a:t>✔ Information → Secure student data?</a:t>
            </a:r>
            <a:br>
              <a:rPr lang="en-IN" sz="2800" dirty="0"/>
            </a:br>
            <a:r>
              <a:rPr lang="en-IN" sz="2800" dirty="0"/>
              <a:t>✔ Technology → Wi-Fi, servers ready?</a:t>
            </a:r>
            <a:br>
              <a:rPr lang="en-IN" sz="2800" dirty="0"/>
            </a:br>
            <a:r>
              <a:rPr lang="en-IN" sz="2800" dirty="0"/>
              <a:t>✔ Environmental → University rules followed?</a:t>
            </a:r>
          </a:p>
          <a:p>
            <a:r>
              <a:rPr lang="en-IN" sz="2800" b="1" dirty="0"/>
              <a:t>That is Architecture Management in action!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302799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8912D3A-5518-7FCA-A94A-1E9C0B85B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09C4085-DDC8-9220-EC15-A1AB6BA8C2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E5F3CBF-E605-7658-228F-320A8D95C276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6B592BE-8BBF-4C0A-D894-579C8E07B3C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44E39A4-668F-71DE-1F7D-19007C76B9A5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0942337F-C447-ADD4-9940-EFBB7A1D5E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2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1. </a:t>
            </a:r>
            <a:r>
              <a:rPr lang="en-US" sz="4400" dirty="0"/>
              <a:t>⏳ Activity: “Build Your Ideal College”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F6B3E78B-E7D4-59CA-0CC7-E82D0E438D09}"/>
              </a:ext>
            </a:extLst>
          </p:cNvPr>
          <p:cNvSpPr txBox="1"/>
          <p:nvPr/>
        </p:nvSpPr>
        <p:spPr>
          <a:xfrm>
            <a:off x="2934462" y="2286000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Design a PERFECT college (as architects).</a:t>
            </a:r>
            <a:br>
              <a:rPr lang="en-US" sz="2800" dirty="0"/>
            </a:br>
            <a:r>
              <a:rPr lang="en-US" sz="2800" dirty="0"/>
              <a:t>What will you plan in each BSITE domain?</a:t>
            </a:r>
          </a:p>
          <a:p>
            <a:endParaRPr lang="en-US" sz="2800" dirty="0"/>
          </a:p>
          <a:p>
            <a:r>
              <a:rPr lang="en-IN" sz="2800" dirty="0"/>
              <a:t>✔ Business → Who needs what?</a:t>
            </a:r>
            <a:br>
              <a:rPr lang="en-IN" sz="2800" dirty="0"/>
            </a:br>
            <a:r>
              <a:rPr lang="en-IN" sz="2800" dirty="0"/>
              <a:t>✔ Service → How modules fit together?</a:t>
            </a:r>
            <a:br>
              <a:rPr lang="en-IN" sz="2800" dirty="0"/>
            </a:br>
            <a:r>
              <a:rPr lang="en-IN" sz="2800" dirty="0"/>
              <a:t>✔ Information → Secure student data?</a:t>
            </a:r>
            <a:br>
              <a:rPr lang="en-IN" sz="2800" dirty="0"/>
            </a:br>
            <a:r>
              <a:rPr lang="en-IN" sz="2800" dirty="0"/>
              <a:t>✔ Technology → Wi-Fi, servers ready?</a:t>
            </a:r>
            <a:br>
              <a:rPr lang="en-IN" sz="2800" dirty="0"/>
            </a:br>
            <a:r>
              <a:rPr lang="en-IN" sz="2800" dirty="0"/>
              <a:t>✔ Environmental → University rules followed?</a:t>
            </a:r>
          </a:p>
        </p:txBody>
      </p:sp>
    </p:spTree>
    <p:extLst>
      <p:ext uri="{BB962C8B-B14F-4D97-AF65-F5344CB8AC3E}">
        <p14:creationId xmlns:p14="http://schemas.microsoft.com/office/powerpoint/2010/main" val="2600628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3B74F-C29E-A290-E8BB-BE046C6C9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8802" y="2807585"/>
            <a:ext cx="6710998" cy="1231106"/>
          </a:xfrm>
        </p:spPr>
        <p:txBody>
          <a:bodyPr/>
          <a:lstStyle/>
          <a:p>
            <a:r>
              <a:rPr lang="en-IN" sz="4000" dirty="0"/>
              <a:t>2. Continual Improvement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64515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DD414B9-B90A-F669-2C51-DCEAF934D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579B427-02E0-3818-B528-27CC02853E6E}"/>
              </a:ext>
            </a:extLst>
          </p:cNvPr>
          <p:cNvSpPr/>
          <p:nvPr/>
        </p:nvSpPr>
        <p:spPr>
          <a:xfrm>
            <a:off x="0" y="762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ABD643F-0508-8BE8-F4C7-E58271DCF8ED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919399F-F845-83CA-BBC6-04A7381D99F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B7C0A9C-8282-3253-4D01-740FAD392F3C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1CB3F5A9-BF5C-BC5E-2FB9-BF1459AC37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2. Continual Improvement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89EFF2F3-CCD0-8934-605B-567D98C1158F}"/>
              </a:ext>
            </a:extLst>
          </p:cNvPr>
          <p:cNvSpPr txBox="1"/>
          <p:nvPr/>
        </p:nvSpPr>
        <p:spPr>
          <a:xfrm>
            <a:off x="2934462" y="2286000"/>
            <a:ext cx="8448040" cy="214866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dirty="0"/>
              <a:t>Continual Improvement means regularly improving services, processes, and products so they remain aligned with changing business needs.</a:t>
            </a:r>
          </a:p>
        </p:txBody>
      </p:sp>
      <p:pic>
        <p:nvPicPr>
          <p:cNvPr id="2052" name="Picture 4" descr="Rocket Going Stock Illustrations – 574 Rocket Going Stock Illustrations,  Vectors &amp; Clipart - Dreamstime">
            <a:extLst>
              <a:ext uri="{FF2B5EF4-FFF2-40B4-BE49-F238E27FC236}">
                <a16:creationId xmlns:a16="http://schemas.microsoft.com/office/drawing/2014/main" id="{846DABEB-D138-C36E-E892-6B2D35E7BE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85" y="3740861"/>
            <a:ext cx="2654885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1688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DDB1C00-F1F2-7982-7DE2-B2F0D4691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5C6CEF7-8A35-647B-B53D-7C6144DC3B4A}"/>
              </a:ext>
            </a:extLst>
          </p:cNvPr>
          <p:cNvSpPr/>
          <p:nvPr/>
        </p:nvSpPr>
        <p:spPr>
          <a:xfrm>
            <a:off x="0" y="762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ADE9EFF3-0C01-DA1A-0712-070D511D9BEB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06C8EDAB-94A5-8526-52FF-AB228366F0D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0A58DD7-93E0-1FA3-94EB-F756EDF16ED0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96F7482F-EC97-5D14-C339-43F469C661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2. Why is it Important?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C43B38D4-2441-DD0B-0B87-AE94BAD4773A}"/>
              </a:ext>
            </a:extLst>
          </p:cNvPr>
          <p:cNvSpPr txBox="1"/>
          <p:nvPr/>
        </p:nvSpPr>
        <p:spPr>
          <a:xfrm>
            <a:off x="2934462" y="2286000"/>
            <a:ext cx="8448040" cy="313355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dirty="0"/>
              <a:t>💡 Because: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Customer expectations keep changing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Technology keeps changing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Competitors keep improving</a:t>
            </a:r>
          </a:p>
          <a:p>
            <a:r>
              <a:rPr lang="en-US" sz="3200" dirty="0"/>
              <a:t>➡️ So we must also </a:t>
            </a:r>
            <a:r>
              <a:rPr lang="en-US" sz="3200" i="1" dirty="0"/>
              <a:t>keep improving</a:t>
            </a:r>
            <a:r>
              <a:rPr lang="en-US" sz="3200" dirty="0"/>
              <a:t> — step by step.</a:t>
            </a:r>
          </a:p>
        </p:txBody>
      </p:sp>
    </p:spTree>
    <p:extLst>
      <p:ext uri="{BB962C8B-B14F-4D97-AF65-F5344CB8AC3E}">
        <p14:creationId xmlns:p14="http://schemas.microsoft.com/office/powerpoint/2010/main" val="33916058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DDB1C00-F1F2-7982-7DE2-B2F0D4691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5C6CEF7-8A35-647B-B53D-7C6144DC3B4A}"/>
              </a:ext>
            </a:extLst>
          </p:cNvPr>
          <p:cNvSpPr/>
          <p:nvPr/>
        </p:nvSpPr>
        <p:spPr>
          <a:xfrm>
            <a:off x="0" y="762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ADE9EFF3-0C01-DA1A-0712-070D511D9BEB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06C8EDAB-94A5-8526-52FF-AB228366F0D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0A58DD7-93E0-1FA3-94EB-F756EDF16ED0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96F7482F-EC97-5D14-C339-43F469C661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2. Real-Life Example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C43B38D4-2441-DD0B-0B87-AE94BAD4773A}"/>
              </a:ext>
            </a:extLst>
          </p:cNvPr>
          <p:cNvSpPr txBox="1"/>
          <p:nvPr/>
        </p:nvSpPr>
        <p:spPr>
          <a:xfrm>
            <a:off x="2873601" y="2115771"/>
            <a:ext cx="8448040" cy="67133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IN" sz="3200" dirty="0"/>
              <a:t>Example: Your College 🎓</a:t>
            </a:r>
            <a:endParaRPr lang="en-US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632F632-B453-B5B1-73CC-9EC65A9AA5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767477"/>
              </p:ext>
            </p:extLst>
          </p:nvPr>
        </p:nvGraphicFramePr>
        <p:xfrm>
          <a:off x="2831447" y="2787109"/>
          <a:ext cx="8731250" cy="3324428"/>
        </p:xfrm>
        <a:graphic>
          <a:graphicData uri="http://schemas.openxmlformats.org/drawingml/2006/table">
            <a:tbl>
              <a:tblPr/>
              <a:tblGrid>
                <a:gridCol w="3516404">
                  <a:extLst>
                    <a:ext uri="{9D8B030D-6E8A-4147-A177-3AD203B41FA5}">
                      <a16:colId xmlns:a16="http://schemas.microsoft.com/office/drawing/2014/main" val="1541285803"/>
                    </a:ext>
                  </a:extLst>
                </a:gridCol>
                <a:gridCol w="5214846">
                  <a:extLst>
                    <a:ext uri="{9D8B030D-6E8A-4147-A177-3AD203B41FA5}">
                      <a16:colId xmlns:a16="http://schemas.microsoft.com/office/drawing/2014/main" val="3525701007"/>
                    </a:ext>
                  </a:extLst>
                </a:gridCol>
              </a:tblGrid>
              <a:tr h="717334">
                <a:tc>
                  <a:txBody>
                    <a:bodyPr/>
                    <a:lstStyle/>
                    <a:p>
                      <a:r>
                        <a:rPr lang="en-IN" sz="2800" dirty="0"/>
                        <a:t>Before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After Improvement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9587729"/>
                  </a:ext>
                </a:extLst>
              </a:tr>
              <a:tr h="717334">
                <a:tc>
                  <a:txBody>
                    <a:bodyPr/>
                    <a:lstStyle/>
                    <a:p>
                      <a:r>
                        <a:rPr lang="en-IN" sz="2800" dirty="0"/>
                        <a:t>Slow admission 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Online form introduced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038375"/>
                  </a:ext>
                </a:extLst>
              </a:tr>
              <a:tr h="717334">
                <a:tc>
                  <a:txBody>
                    <a:bodyPr/>
                    <a:lstStyle/>
                    <a:p>
                      <a:r>
                        <a:rPr lang="en-IN" sz="2800"/>
                        <a:t>Students confused about timetable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Timetable on WhatsApp + notice board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365508"/>
                  </a:ext>
                </a:extLst>
              </a:tr>
              <a:tr h="717334">
                <a:tc>
                  <a:txBody>
                    <a:bodyPr/>
                    <a:lstStyle/>
                    <a:p>
                      <a:r>
                        <a:rPr lang="en-IN" sz="2800"/>
                        <a:t>Delayed assignments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Google Classroom reminders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249900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A66B2EF-2875-8558-FEAD-81B9787720E3}"/>
              </a:ext>
            </a:extLst>
          </p:cNvPr>
          <p:cNvSpPr txBox="1"/>
          <p:nvPr/>
        </p:nvSpPr>
        <p:spPr>
          <a:xfrm>
            <a:off x="7086980" y="640660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👉 This is </a:t>
            </a:r>
            <a:r>
              <a:rPr lang="en-US" b="1" dirty="0"/>
              <a:t>Continual Improvement</a:t>
            </a:r>
            <a:r>
              <a:rPr lang="en-US" dirty="0"/>
              <a:t> in action.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77711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A92871-C22B-BB6F-22F4-74ECF136F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707" y="254995"/>
            <a:ext cx="9068586" cy="634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7986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8FE0407-7C2C-5CFE-F315-D56DD7963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DE2CDE3-278A-F61B-8E46-BA6E9BA922F4}"/>
              </a:ext>
            </a:extLst>
          </p:cNvPr>
          <p:cNvSpPr/>
          <p:nvPr/>
        </p:nvSpPr>
        <p:spPr>
          <a:xfrm>
            <a:off x="0" y="762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C8ED3C7-1379-E878-A423-77D00430B290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59512CA-266F-1C54-CA0C-54B04764A66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FFF692D-1F9B-FC9E-1350-1630CA8786E7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6CE36B25-C79C-45E7-73D0-378DF0190F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lang="en-IN"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2. Where Improvement Ideas Come From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FB762C82-C6BC-2CC1-AEF3-36B158019075}"/>
              </a:ext>
            </a:extLst>
          </p:cNvPr>
          <p:cNvSpPr txBox="1"/>
          <p:nvPr/>
        </p:nvSpPr>
        <p:spPr>
          <a:xfrm>
            <a:off x="2934462" y="2286000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SWOT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Audits or reviews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feedback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 changes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 management / incident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Staff suggestions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IN" sz="3200" dirty="0"/>
              <a:t>DevOps / Agile feedback cycles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50031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8FE0407-7C2C-5CFE-F315-D56DD7963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DE2CDE3-278A-F61B-8E46-BA6E9BA922F4}"/>
              </a:ext>
            </a:extLst>
          </p:cNvPr>
          <p:cNvSpPr/>
          <p:nvPr/>
        </p:nvSpPr>
        <p:spPr>
          <a:xfrm>
            <a:off x="0" y="762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C8ED3C7-1379-E878-A423-77D00430B290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59512CA-266F-1C54-CA0C-54B04764A66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FFF692D-1F9B-FC9E-1350-1630CA8786E7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6CE36B25-C79C-45E7-73D0-378DF0190F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2. Who is Responsible?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FB762C82-C6BC-2CC1-AEF3-36B158019075}"/>
              </a:ext>
            </a:extLst>
          </p:cNvPr>
          <p:cNvSpPr txBox="1"/>
          <p:nvPr/>
        </p:nvSpPr>
        <p:spPr>
          <a:xfrm>
            <a:off x="2934462" y="2286000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dirty="0"/>
              <a:t>🔥 </a:t>
            </a:r>
            <a:r>
              <a:rPr lang="en-US" sz="3200" b="1" dirty="0"/>
              <a:t>EVERYONE.</a:t>
            </a:r>
            <a:r>
              <a:rPr lang="en-US" sz="3200" dirty="0"/>
              <a:t> Not only management.</a:t>
            </a:r>
          </a:p>
          <a:p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Students can suggest improvements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Teachers improve teaching style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Management improves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Vendors/suppliers must also improve service</a:t>
            </a:r>
          </a:p>
          <a:p>
            <a:r>
              <a:rPr lang="en-US" sz="3200" dirty="0"/>
              <a:t>Add line to make it memorable:</a:t>
            </a:r>
          </a:p>
        </p:txBody>
      </p:sp>
    </p:spTree>
    <p:extLst>
      <p:ext uri="{BB962C8B-B14F-4D97-AF65-F5344CB8AC3E}">
        <p14:creationId xmlns:p14="http://schemas.microsoft.com/office/powerpoint/2010/main" val="15257825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8FE0407-7C2C-5CFE-F315-D56DD7963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DE2CDE3-278A-F61B-8E46-BA6E9BA922F4}"/>
              </a:ext>
            </a:extLst>
          </p:cNvPr>
          <p:cNvSpPr/>
          <p:nvPr/>
        </p:nvSpPr>
        <p:spPr>
          <a:xfrm>
            <a:off x="0" y="762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C8ED3C7-1379-E878-A423-77D00430B290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59512CA-266F-1C54-CA0C-54B04764A66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FFF692D-1F9B-FC9E-1350-1630CA8786E7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6CE36B25-C79C-45E7-73D0-378DF0190F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2. Continual Improvement Register (CIR)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FB762C82-C6BC-2CC1-AEF3-36B158019075}"/>
              </a:ext>
            </a:extLst>
          </p:cNvPr>
          <p:cNvSpPr txBox="1"/>
          <p:nvPr/>
        </p:nvSpPr>
        <p:spPr>
          <a:xfrm>
            <a:off x="2934462" y="2286000"/>
            <a:ext cx="8448040" cy="11637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dirty="0"/>
              <a:t>A record where improvement ideas are stored, reviewed, and tracked until completed.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CB03C77-D915-E7F5-4A2D-B9A75EEE30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6619859"/>
              </p:ext>
            </p:extLst>
          </p:nvPr>
        </p:nvGraphicFramePr>
        <p:xfrm>
          <a:off x="2934462" y="3573824"/>
          <a:ext cx="8731251" cy="2982422"/>
        </p:xfrm>
        <a:graphic>
          <a:graphicData uri="http://schemas.openxmlformats.org/drawingml/2006/table">
            <a:tbl>
              <a:tblPr/>
              <a:tblGrid>
                <a:gridCol w="2910417">
                  <a:extLst>
                    <a:ext uri="{9D8B030D-6E8A-4147-A177-3AD203B41FA5}">
                      <a16:colId xmlns:a16="http://schemas.microsoft.com/office/drawing/2014/main" val="2227390330"/>
                    </a:ext>
                  </a:extLst>
                </a:gridCol>
                <a:gridCol w="2910417">
                  <a:extLst>
                    <a:ext uri="{9D8B030D-6E8A-4147-A177-3AD203B41FA5}">
                      <a16:colId xmlns:a16="http://schemas.microsoft.com/office/drawing/2014/main" val="3022317109"/>
                    </a:ext>
                  </a:extLst>
                </a:gridCol>
                <a:gridCol w="2910417">
                  <a:extLst>
                    <a:ext uri="{9D8B030D-6E8A-4147-A177-3AD203B41FA5}">
                      <a16:colId xmlns:a16="http://schemas.microsoft.com/office/drawing/2014/main" val="2771809962"/>
                    </a:ext>
                  </a:extLst>
                </a:gridCol>
              </a:tblGrid>
              <a:tr h="618307">
                <a:tc>
                  <a:txBody>
                    <a:bodyPr/>
                    <a:lstStyle/>
                    <a:p>
                      <a:r>
                        <a:rPr lang="en-IN" sz="2800"/>
                        <a:t>Idea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Priority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Status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6824760"/>
                  </a:ext>
                </a:extLst>
              </a:tr>
              <a:tr h="618307">
                <a:tc>
                  <a:txBody>
                    <a:bodyPr/>
                    <a:lstStyle/>
                    <a:p>
                      <a:r>
                        <a:rPr lang="en-IN" sz="2800"/>
                        <a:t>Online fees option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Completed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9545896"/>
                  </a:ext>
                </a:extLst>
              </a:tr>
              <a:tr h="1127501">
                <a:tc>
                  <a:txBody>
                    <a:bodyPr/>
                    <a:lstStyle/>
                    <a:p>
                      <a:r>
                        <a:rPr lang="en-IN" sz="2800" dirty="0"/>
                        <a:t>More fans in classrooms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In progress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3590456"/>
                  </a:ext>
                </a:extLst>
              </a:tr>
              <a:tr h="618307">
                <a:tc>
                  <a:txBody>
                    <a:bodyPr/>
                    <a:lstStyle/>
                    <a:p>
                      <a:r>
                        <a:rPr lang="en-IN" sz="2800"/>
                        <a:t>College app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Planned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43370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35868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8FE0407-7C2C-5CFE-F315-D56DD7963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DE2CDE3-278A-F61B-8E46-BA6E9BA922F4}"/>
              </a:ext>
            </a:extLst>
          </p:cNvPr>
          <p:cNvSpPr/>
          <p:nvPr/>
        </p:nvSpPr>
        <p:spPr>
          <a:xfrm>
            <a:off x="0" y="762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C8ED3C7-1379-E878-A423-77D00430B290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59512CA-266F-1C54-CA0C-54B04764A66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FFF692D-1F9B-FC9E-1350-1630CA8786E7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6CE36B25-C79C-45E7-73D0-378DF0190F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2. Activity Name: “Fix Your Classroom 🚧”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FB762C82-C6BC-2CC1-AEF3-36B158019075}"/>
              </a:ext>
            </a:extLst>
          </p:cNvPr>
          <p:cNvSpPr txBox="1"/>
          <p:nvPr/>
        </p:nvSpPr>
        <p:spPr>
          <a:xfrm>
            <a:off x="2934462" y="2286000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Look around the classroom or college and find 2 things that can be improved.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write them on paper or raise hand.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choose 5 best ideas and convert them into a CIR table on the board.</a:t>
            </a:r>
          </a:p>
        </p:txBody>
      </p:sp>
    </p:spTree>
    <p:extLst>
      <p:ext uri="{BB962C8B-B14F-4D97-AF65-F5344CB8AC3E}">
        <p14:creationId xmlns:p14="http://schemas.microsoft.com/office/powerpoint/2010/main" val="34359015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204479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3: Information Security Management (ISM)</a:t>
            </a:r>
            <a:br>
              <a:rPr lang="en-US" sz="4400" dirty="0"/>
            </a:b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2934462" y="2286000"/>
            <a:ext cx="8448040" cy="1840889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3600" dirty="0"/>
              <a:t>It protects the organization's information from unauthorized access, misuse, loss, or damage.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F5AFDC-D139-2E1E-6F3B-90AD832C7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94532"/>
            <a:ext cx="3429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8639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3: Why is it Needed?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2934462" y="2286000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🤔 If someone steals: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Your exam question papers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Your bank OTP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Your login password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Your Aadhaar number</a:t>
            </a:r>
          </a:p>
          <a:p>
            <a:r>
              <a:rPr lang="en-US" sz="2800" dirty="0"/>
              <a:t>➡️ BOOM 💥 you're in trouble.</a:t>
            </a:r>
          </a:p>
          <a:p>
            <a:r>
              <a:rPr lang="en-US" sz="2800" dirty="0"/>
              <a:t>So we protect information just like we protect our money or phones.</a:t>
            </a:r>
          </a:p>
        </p:txBody>
      </p:sp>
      <p:pic>
        <p:nvPicPr>
          <p:cNvPr id="6148" name="Picture 4" descr="Steal: Over 70,014 Royalty-Free Licensable Stock Illustrations &amp; Drawings |  Shutterstock">
            <a:extLst>
              <a:ext uri="{FF2B5EF4-FFF2-40B4-BE49-F238E27FC236}">
                <a16:creationId xmlns:a16="http://schemas.microsoft.com/office/drawing/2014/main" id="{2267EF6A-31DF-0FFD-9B65-993BF03C5E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0" y="2239483"/>
            <a:ext cx="24765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35328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lang="en-US"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3: The CIA Triad</a:t>
            </a:r>
            <a:endParaRPr lang="en-US" sz="4400" dirty="0">
              <a:latin typeface="Cambria"/>
              <a:cs typeface="Cambria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0BDD44C-1763-8558-B105-1C1DC43F47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170540"/>
              </p:ext>
            </p:extLst>
          </p:nvPr>
        </p:nvGraphicFramePr>
        <p:xfrm>
          <a:off x="1143001" y="2438406"/>
          <a:ext cx="10505127" cy="3986778"/>
        </p:xfrm>
        <a:graphic>
          <a:graphicData uri="http://schemas.openxmlformats.org/drawingml/2006/table">
            <a:tbl>
              <a:tblPr/>
              <a:tblGrid>
                <a:gridCol w="2593811">
                  <a:extLst>
                    <a:ext uri="{9D8B030D-6E8A-4147-A177-3AD203B41FA5}">
                      <a16:colId xmlns:a16="http://schemas.microsoft.com/office/drawing/2014/main" val="3260332369"/>
                    </a:ext>
                  </a:extLst>
                </a:gridCol>
                <a:gridCol w="4409607">
                  <a:extLst>
                    <a:ext uri="{9D8B030D-6E8A-4147-A177-3AD203B41FA5}">
                      <a16:colId xmlns:a16="http://schemas.microsoft.com/office/drawing/2014/main" val="2510578751"/>
                    </a:ext>
                  </a:extLst>
                </a:gridCol>
                <a:gridCol w="3501709">
                  <a:extLst>
                    <a:ext uri="{9D8B030D-6E8A-4147-A177-3AD203B41FA5}">
                      <a16:colId xmlns:a16="http://schemas.microsoft.com/office/drawing/2014/main" val="610357005"/>
                    </a:ext>
                  </a:extLst>
                </a:gridCol>
              </a:tblGrid>
              <a:tr h="637884">
                <a:tc>
                  <a:txBody>
                    <a:bodyPr/>
                    <a:lstStyle/>
                    <a:p>
                      <a:r>
                        <a:rPr lang="en-IN" sz="2400"/>
                        <a:t>🔑 Element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7506150"/>
                  </a:ext>
                </a:extLst>
              </a:tr>
              <a:tr h="1116298">
                <a:tc>
                  <a:txBody>
                    <a:bodyPr/>
                    <a:lstStyle/>
                    <a:p>
                      <a:r>
                        <a:rPr lang="en-IN" sz="2400" b="1"/>
                        <a:t>C – Confidentiality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Only authorized people can access info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Password on phone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5583833"/>
                  </a:ext>
                </a:extLst>
              </a:tr>
              <a:tr h="1116298">
                <a:tc>
                  <a:txBody>
                    <a:bodyPr/>
                    <a:lstStyle/>
                    <a:p>
                      <a:r>
                        <a:rPr lang="en-IN" sz="2400" b="1"/>
                        <a:t>I – Integrity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Information must remain accurate &amp; unchanged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Marksheet without tampering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0402532"/>
                  </a:ext>
                </a:extLst>
              </a:tr>
              <a:tr h="1116298">
                <a:tc>
                  <a:txBody>
                    <a:bodyPr/>
                    <a:lstStyle/>
                    <a:p>
                      <a:r>
                        <a:rPr lang="en-IN" sz="2400" b="1"/>
                        <a:t>A – Availability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Information should be available when needed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Online banking server running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110510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23EC0FB-3A6F-BF65-F45C-A99172D18ACC}"/>
              </a:ext>
            </a:extLst>
          </p:cNvPr>
          <p:cNvSpPr txBox="1"/>
          <p:nvPr/>
        </p:nvSpPr>
        <p:spPr>
          <a:xfrm>
            <a:off x="6324600" y="127980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⭐ This is the HEART ❤️ of Information Security.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12922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3: Extra Security Concepts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2934462" y="2286000"/>
            <a:ext cx="8448040" cy="276421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✔ </a:t>
            </a:r>
            <a:r>
              <a:rPr lang="en-US" sz="2800" b="1" dirty="0"/>
              <a:t>Authentication:</a:t>
            </a:r>
            <a:r>
              <a:rPr lang="en-US" sz="2800" dirty="0"/>
              <a:t> Proving you are who you claim to be</a:t>
            </a:r>
            <a:br>
              <a:rPr lang="en-US" sz="2800" dirty="0"/>
            </a:br>
            <a:r>
              <a:rPr lang="en-US" sz="2800" dirty="0"/>
              <a:t>👉 Example: OTP login</a:t>
            </a:r>
          </a:p>
          <a:p>
            <a:r>
              <a:rPr lang="en-US" sz="2800" dirty="0"/>
              <a:t>✔ </a:t>
            </a:r>
            <a:r>
              <a:rPr lang="en-US" sz="2800" b="1" dirty="0"/>
              <a:t>Non-repudiation:</a:t>
            </a:r>
            <a:r>
              <a:rPr lang="en-US" sz="2800" dirty="0"/>
              <a:t> You can’t deny your actions later</a:t>
            </a:r>
            <a:br>
              <a:rPr lang="en-US" sz="2800" dirty="0"/>
            </a:br>
            <a:r>
              <a:rPr lang="en-US" sz="2800" dirty="0"/>
              <a:t>👉 Example: Digital signature, email trail</a:t>
            </a:r>
          </a:p>
        </p:txBody>
      </p:sp>
    </p:spTree>
    <p:extLst>
      <p:ext uri="{BB962C8B-B14F-4D97-AF65-F5344CB8AC3E}">
        <p14:creationId xmlns:p14="http://schemas.microsoft.com/office/powerpoint/2010/main" val="22837528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3: Balance Needed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2934462" y="2286000"/>
            <a:ext cx="8448040" cy="276421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📌 Information security must balance: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Security (protect)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Innovation (work freely)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Quote for the slide: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“Too much security = no work.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security = disaster.”</a:t>
            </a:r>
          </a:p>
        </p:txBody>
      </p:sp>
    </p:spTree>
    <p:extLst>
      <p:ext uri="{BB962C8B-B14F-4D97-AF65-F5344CB8AC3E}">
        <p14:creationId xmlns:p14="http://schemas.microsoft.com/office/powerpoint/2010/main" val="14723031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3: Methods Used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2934462" y="2286000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IN" sz="2800" dirty="0"/>
              <a:t>Security is implemented using:</a:t>
            </a:r>
          </a:p>
          <a:p>
            <a:r>
              <a:rPr lang="en-IN" sz="2800" dirty="0"/>
              <a:t>🔹 Policies</a:t>
            </a:r>
            <a:br>
              <a:rPr lang="en-IN" sz="2800" dirty="0"/>
            </a:br>
            <a:r>
              <a:rPr lang="en-IN" sz="2800" dirty="0"/>
              <a:t>🔹 Processes</a:t>
            </a:r>
            <a:br>
              <a:rPr lang="en-IN" sz="2800" dirty="0"/>
            </a:br>
            <a:r>
              <a:rPr lang="en-IN" sz="2800" dirty="0"/>
              <a:t>🔹 Behaviours &amp; culture</a:t>
            </a:r>
            <a:br>
              <a:rPr lang="en-IN" sz="2800" dirty="0"/>
            </a:br>
            <a:r>
              <a:rPr lang="en-IN" sz="2800" dirty="0"/>
              <a:t>🔹 Controls (firewalls, passwords, audits)</a:t>
            </a:r>
            <a:br>
              <a:rPr lang="en-IN" sz="2800" dirty="0"/>
            </a:br>
            <a:r>
              <a:rPr lang="en-IN" sz="2800" dirty="0"/>
              <a:t>🔹 Risk management 🔍</a:t>
            </a:r>
          </a:p>
          <a:p>
            <a:r>
              <a:rPr lang="en-IN" sz="2800" dirty="0"/>
              <a:t>🧠 Security isn’t only technology — it's about </a:t>
            </a:r>
            <a:r>
              <a:rPr lang="en-IN" sz="2800" b="1" dirty="0"/>
              <a:t>PEOPLE + PROCESS + TECH.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1105414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9E6692-6028-2D94-BAEE-C3125BBB4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30125"/>
            <a:ext cx="9220200" cy="6652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8356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3: Who Is Responsible?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2969631" y="2080205"/>
            <a:ext cx="8448040" cy="4487767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👉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Everyone.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 usually managed by: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Chief Information Security Officer (CISO)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Information Security Team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⚠ Biggest weakness in security is NOT technology — it's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careless people.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 line: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Your password shouldn't be: Admin, pooja123,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ilovemyself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qwerty……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etc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22831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3: Activity: “Spot the Risk” Game</a:t>
            </a:r>
            <a:endParaRPr sz="4400" dirty="0">
              <a:latin typeface="Cambria"/>
              <a:cs typeface="Cambria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2C199E4-8E7E-0210-5D08-C053113E8D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421905"/>
              </p:ext>
            </p:extLst>
          </p:nvPr>
        </p:nvGraphicFramePr>
        <p:xfrm>
          <a:off x="2105659" y="2546139"/>
          <a:ext cx="9400541" cy="3879044"/>
        </p:xfrm>
        <a:graphic>
          <a:graphicData uri="http://schemas.openxmlformats.org/drawingml/2006/table">
            <a:tbl>
              <a:tblPr/>
              <a:tblGrid>
                <a:gridCol w="7199381">
                  <a:extLst>
                    <a:ext uri="{9D8B030D-6E8A-4147-A177-3AD203B41FA5}">
                      <a16:colId xmlns:a16="http://schemas.microsoft.com/office/drawing/2014/main" val="317736993"/>
                    </a:ext>
                  </a:extLst>
                </a:gridCol>
                <a:gridCol w="2201160">
                  <a:extLst>
                    <a:ext uri="{9D8B030D-6E8A-4147-A177-3AD203B41FA5}">
                      <a16:colId xmlns:a16="http://schemas.microsoft.com/office/drawing/2014/main" val="1852777837"/>
                    </a:ext>
                  </a:extLst>
                </a:gridCol>
              </a:tblGrid>
              <a:tr h="517206">
                <a:tc>
                  <a:txBody>
                    <a:bodyPr/>
                    <a:lstStyle/>
                    <a:p>
                      <a:r>
                        <a:rPr lang="en-IN" sz="2400"/>
                        <a:t>Scenario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Secure?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0861171"/>
                  </a:ext>
                </a:extLst>
              </a:tr>
              <a:tr h="905110">
                <a:tc>
                  <a:txBody>
                    <a:bodyPr/>
                    <a:lstStyle/>
                    <a:p>
                      <a:r>
                        <a:rPr lang="en-IN" sz="2400"/>
                        <a:t>Using same password everywhere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3412089"/>
                  </a:ext>
                </a:extLst>
              </a:tr>
              <a:tr h="517206">
                <a:tc>
                  <a:txBody>
                    <a:bodyPr/>
                    <a:lstStyle/>
                    <a:p>
                      <a:r>
                        <a:rPr lang="en-US" sz="2400"/>
                        <a:t>Locking laptop when leaving desk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1191017"/>
                  </a:ext>
                </a:extLst>
              </a:tr>
              <a:tr h="517206">
                <a:tc>
                  <a:txBody>
                    <a:bodyPr/>
                    <a:lstStyle/>
                    <a:p>
                      <a:r>
                        <a:rPr lang="en-IN" sz="2400" dirty="0"/>
                        <a:t>Sharing OTP with friend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2566562"/>
                  </a:ext>
                </a:extLst>
              </a:tr>
              <a:tr h="517206">
                <a:tc>
                  <a:txBody>
                    <a:bodyPr/>
                    <a:lstStyle/>
                    <a:p>
                      <a:r>
                        <a:rPr lang="en-IN" sz="2400"/>
                        <a:t>Enabling 2-factor authentication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1490502"/>
                  </a:ext>
                </a:extLst>
              </a:tr>
              <a:tr h="905110">
                <a:tc>
                  <a:txBody>
                    <a:bodyPr/>
                    <a:lstStyle/>
                    <a:p>
                      <a:r>
                        <a:rPr lang="en-US" sz="2400"/>
                        <a:t>Clicking unknown link saying "You won 5 crore"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6159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79772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3B74F-C29E-A290-E8BB-BE046C6C9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8802" y="2807585"/>
            <a:ext cx="6710998" cy="615553"/>
          </a:xfrm>
        </p:spPr>
        <p:txBody>
          <a:bodyPr/>
          <a:lstStyle/>
          <a:p>
            <a:r>
              <a:rPr lang="en-IN" sz="4000" dirty="0"/>
              <a:t>4. </a:t>
            </a:r>
            <a:r>
              <a:rPr lang="en-IN" dirty="0"/>
              <a:t>Knowledge Management</a:t>
            </a:r>
          </a:p>
        </p:txBody>
      </p:sp>
    </p:spTree>
    <p:extLst>
      <p:ext uri="{BB962C8B-B14F-4D97-AF65-F5344CB8AC3E}">
        <p14:creationId xmlns:p14="http://schemas.microsoft.com/office/powerpoint/2010/main" val="18312695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4. What Is Knowledge Management?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2969631" y="2080205"/>
            <a:ext cx="8448040" cy="264110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4000" dirty="0"/>
              <a:t>Knowledge Management makes sure the </a:t>
            </a:r>
            <a:r>
              <a:rPr lang="en-US" sz="4000" i="1" dirty="0"/>
              <a:t>right information reaches the right people at the right time</a:t>
            </a:r>
            <a:r>
              <a:rPr lang="en-US" sz="4000" dirty="0"/>
              <a:t> so they can work smarter and faster.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7859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4. Information vs Knowledge</a:t>
            </a:r>
            <a:endParaRPr sz="4400" dirty="0">
              <a:latin typeface="Cambria"/>
              <a:cs typeface="Cambria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15F0F3D-024B-9F56-A9D1-11F3DF3455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686207"/>
              </p:ext>
            </p:extLst>
          </p:nvPr>
        </p:nvGraphicFramePr>
        <p:xfrm>
          <a:off x="2316604" y="2609850"/>
          <a:ext cx="8884796" cy="3409950"/>
        </p:xfrm>
        <a:graphic>
          <a:graphicData uri="http://schemas.openxmlformats.org/drawingml/2006/table">
            <a:tbl>
              <a:tblPr/>
              <a:tblGrid>
                <a:gridCol w="4442398">
                  <a:extLst>
                    <a:ext uri="{9D8B030D-6E8A-4147-A177-3AD203B41FA5}">
                      <a16:colId xmlns:a16="http://schemas.microsoft.com/office/drawing/2014/main" val="3327426920"/>
                    </a:ext>
                  </a:extLst>
                </a:gridCol>
                <a:gridCol w="4442398">
                  <a:extLst>
                    <a:ext uri="{9D8B030D-6E8A-4147-A177-3AD203B41FA5}">
                      <a16:colId xmlns:a16="http://schemas.microsoft.com/office/drawing/2014/main" val="2783996031"/>
                    </a:ext>
                  </a:extLst>
                </a:gridCol>
              </a:tblGrid>
              <a:tr h="60892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Information 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Knowledge 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1379622"/>
                  </a:ext>
                </a:extLst>
              </a:tr>
              <a:tr h="1096055">
                <a:tc>
                  <a:txBody>
                    <a:bodyPr/>
                    <a:lstStyle/>
                    <a:p>
                      <a:r>
                        <a:rPr lang="en-IN" sz="2400"/>
                        <a:t>Raw facts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Information + experience + context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6373371"/>
                  </a:ext>
                </a:extLst>
              </a:tr>
              <a:tr h="1096055">
                <a:tc>
                  <a:txBody>
                    <a:bodyPr/>
                    <a:lstStyle/>
                    <a:p>
                      <a:r>
                        <a:rPr lang="en-IN" sz="2400"/>
                        <a:t>Example: 300-page manual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A simple solution guide for service desk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6509808"/>
                  </a:ext>
                </a:extLst>
              </a:tr>
              <a:tr h="608920">
                <a:tc>
                  <a:txBody>
                    <a:bodyPr/>
                    <a:lstStyle/>
                    <a:p>
                      <a:r>
                        <a:rPr lang="en-IN" sz="2400"/>
                        <a:t>Not always useful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Useful when needed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29099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41040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4. Types of Knowledge</a:t>
            </a:r>
            <a:endParaRPr sz="4400" dirty="0">
              <a:latin typeface="Cambria"/>
              <a:cs typeface="Cambria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9B396F2-F828-3200-3F99-265A1B346B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4689286"/>
              </p:ext>
            </p:extLst>
          </p:nvPr>
        </p:nvGraphicFramePr>
        <p:xfrm>
          <a:off x="2154575" y="2523005"/>
          <a:ext cx="8770620" cy="2353794"/>
        </p:xfrm>
        <a:graphic>
          <a:graphicData uri="http://schemas.openxmlformats.org/drawingml/2006/table">
            <a:tbl>
              <a:tblPr/>
              <a:tblGrid>
                <a:gridCol w="1739433">
                  <a:extLst>
                    <a:ext uri="{9D8B030D-6E8A-4147-A177-3AD203B41FA5}">
                      <a16:colId xmlns:a16="http://schemas.microsoft.com/office/drawing/2014/main" val="2584809335"/>
                    </a:ext>
                  </a:extLst>
                </a:gridCol>
                <a:gridCol w="3367918">
                  <a:extLst>
                    <a:ext uri="{9D8B030D-6E8A-4147-A177-3AD203B41FA5}">
                      <a16:colId xmlns:a16="http://schemas.microsoft.com/office/drawing/2014/main" val="1166684108"/>
                    </a:ext>
                  </a:extLst>
                </a:gridCol>
                <a:gridCol w="3663269">
                  <a:extLst>
                    <a:ext uri="{9D8B030D-6E8A-4147-A177-3AD203B41FA5}">
                      <a16:colId xmlns:a16="http://schemas.microsoft.com/office/drawing/2014/main" val="436082685"/>
                    </a:ext>
                  </a:extLst>
                </a:gridCol>
              </a:tblGrid>
              <a:tr h="784598">
                <a:tc>
                  <a:txBody>
                    <a:bodyPr/>
                    <a:lstStyle/>
                    <a:p>
                      <a:r>
                        <a:rPr lang="en-IN" sz="2400" dirty="0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6885605"/>
                  </a:ext>
                </a:extLst>
              </a:tr>
              <a:tr h="784598">
                <a:tc>
                  <a:txBody>
                    <a:bodyPr/>
                    <a:lstStyle/>
                    <a:p>
                      <a:r>
                        <a:rPr lang="en-IN" sz="2400" b="1"/>
                        <a:t>Explicit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Written, documented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Manuals, FAQs, SOPs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1960419"/>
                  </a:ext>
                </a:extLst>
              </a:tr>
              <a:tr h="784598">
                <a:tc>
                  <a:txBody>
                    <a:bodyPr/>
                    <a:lstStyle/>
                    <a:p>
                      <a:r>
                        <a:rPr lang="en-IN" sz="2400" b="1" dirty="0"/>
                        <a:t>Tacit</a:t>
                      </a:r>
                      <a:endParaRPr lang="en-IN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In people's minds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Experience, skills, shortcuts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88193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32424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4. What KM Ensures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2969631" y="2080205"/>
            <a:ext cx="8448040" cy="40568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Knowledge Management ensures:</a:t>
            </a:r>
          </a:p>
          <a:p>
            <a:r>
              <a:rPr lang="en-US" sz="2800" dirty="0"/>
              <a:t>✔ Right information</a:t>
            </a:r>
            <a:br>
              <a:rPr lang="en-US" sz="2800" dirty="0"/>
            </a:br>
            <a:r>
              <a:rPr lang="en-US" sz="2800" dirty="0"/>
              <a:t>✔ Correct format</a:t>
            </a:r>
            <a:br>
              <a:rPr lang="en-US" sz="2800" dirty="0"/>
            </a:br>
            <a:r>
              <a:rPr lang="en-US" sz="2800" dirty="0"/>
              <a:t>✔ Right time</a:t>
            </a:r>
            <a:br>
              <a:rPr lang="en-US" sz="2800" dirty="0"/>
            </a:br>
            <a:r>
              <a:rPr lang="en-US" sz="2800" dirty="0"/>
              <a:t>✔ To the right person</a:t>
            </a:r>
            <a:br>
              <a:rPr lang="en-US" sz="2800" dirty="0"/>
            </a:br>
            <a:r>
              <a:rPr lang="en-US" sz="2800" dirty="0"/>
              <a:t>✔ With proper access level</a:t>
            </a:r>
          </a:p>
          <a:p>
            <a:r>
              <a:rPr lang="en-US" sz="2800" dirty="0"/>
              <a:t>Example:</a:t>
            </a:r>
            <a:br>
              <a:rPr lang="en-US" sz="2800" dirty="0"/>
            </a:br>
            <a:r>
              <a:rPr lang="en-US" sz="2800" dirty="0"/>
              <a:t>Technician needs a solution fast — NOT a 20-page theory.</a:t>
            </a:r>
          </a:p>
        </p:txBody>
      </p:sp>
    </p:spTree>
    <p:extLst>
      <p:ext uri="{BB962C8B-B14F-4D97-AF65-F5344CB8AC3E}">
        <p14:creationId xmlns:p14="http://schemas.microsoft.com/office/powerpoint/2010/main" val="4983757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4. 🎭 Class Activity: “Ask the Expert” Game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2969631" y="2080205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Steps:</a:t>
            </a:r>
          </a:p>
          <a:p>
            <a:r>
              <a:rPr lang="en-US" sz="2800" dirty="0"/>
              <a:t>1️⃣ Pick 3 students.</a:t>
            </a:r>
            <a:br>
              <a:rPr lang="en-US" sz="2800" dirty="0"/>
            </a:br>
            <a:r>
              <a:rPr lang="en-US" sz="2800" dirty="0"/>
              <a:t>2️⃣ They act as “Knowledge Desk”.</a:t>
            </a:r>
            <a:br>
              <a:rPr lang="en-US" sz="2800" dirty="0"/>
            </a:br>
            <a:r>
              <a:rPr lang="en-US" sz="2800" dirty="0"/>
              <a:t>3️⃣ Others ask them a simple tech or college-related question.</a:t>
            </a:r>
            <a:br>
              <a:rPr lang="en-US" sz="2800" dirty="0"/>
            </a:br>
            <a:r>
              <a:rPr lang="en-US" sz="2800" dirty="0"/>
              <a:t>4️⃣ If the student knows → 👍</a:t>
            </a:r>
            <a:br>
              <a:rPr lang="en-US" sz="2800" dirty="0"/>
            </a:br>
            <a:r>
              <a:rPr lang="en-US" sz="2800" dirty="0"/>
              <a:t>5️⃣ If not → They must ask another student (KM = sharing knowledge).</a:t>
            </a:r>
          </a:p>
        </p:txBody>
      </p:sp>
    </p:spTree>
    <p:extLst>
      <p:ext uri="{BB962C8B-B14F-4D97-AF65-F5344CB8AC3E}">
        <p14:creationId xmlns:p14="http://schemas.microsoft.com/office/powerpoint/2010/main" val="8997916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C34AC6-B8EB-C408-D920-07C6DA16C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28149"/>
            <a:ext cx="9296400" cy="639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7216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3B74F-C29E-A290-E8BB-BE046C6C9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8802" y="2807585"/>
            <a:ext cx="7701598" cy="1231106"/>
          </a:xfrm>
        </p:spPr>
        <p:txBody>
          <a:bodyPr/>
          <a:lstStyle/>
          <a:p>
            <a:r>
              <a:rPr lang="en-IN" dirty="0"/>
              <a:t>5</a:t>
            </a:r>
            <a:r>
              <a:rPr lang="en-IN" sz="4000" dirty="0"/>
              <a:t>. </a:t>
            </a:r>
            <a:r>
              <a:rPr lang="en-IN" dirty="0"/>
              <a:t>Measurement and reporting</a:t>
            </a:r>
          </a:p>
        </p:txBody>
      </p:sp>
    </p:spTree>
    <p:extLst>
      <p:ext uri="{BB962C8B-B14F-4D97-AF65-F5344CB8AC3E}">
        <p14:creationId xmlns:p14="http://schemas.microsoft.com/office/powerpoint/2010/main" val="42735566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5. What is Measurement &amp; Reporting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3095752" y="2310181"/>
            <a:ext cx="8448040" cy="1471557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Measurement &amp; Reporting helps organizations </a:t>
            </a:r>
            <a:r>
              <a:rPr lang="en-US" sz="2800" b="1" dirty="0"/>
              <a:t>make better decisions</a:t>
            </a:r>
            <a:r>
              <a:rPr lang="en-US" sz="2800" dirty="0"/>
              <a:t> by </a:t>
            </a:r>
            <a:r>
              <a:rPr lang="en-US" sz="2800" b="1" dirty="0"/>
              <a:t>reducing uncertainty</a:t>
            </a:r>
            <a:r>
              <a:rPr lang="en-US" sz="2800" dirty="0"/>
              <a:t> through the correct collection and analysis of data.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7ADB91-B64B-AF44-6D69-2D48FF53F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3282" y="3781738"/>
            <a:ext cx="29718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7277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5. What Do We Measure?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3095752" y="2310181"/>
            <a:ext cx="8448040" cy="40568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b="1" dirty="0"/>
              <a:t>Managed objects</a:t>
            </a:r>
            <a:r>
              <a:rPr lang="en-US" sz="2800" dirty="0"/>
              <a:t>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Products &amp; services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Practices &amp; processes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Value chain activities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Teams &amp; individuals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Suppliers &amp; partners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Entire organization</a:t>
            </a:r>
          </a:p>
          <a:p>
            <a:r>
              <a:rPr lang="en-US" sz="2800" dirty="0"/>
              <a:t>➡ All these are </a:t>
            </a:r>
            <a:r>
              <a:rPr lang="en-US" sz="2800" i="1" dirty="0"/>
              <a:t>connected</a:t>
            </a:r>
            <a:r>
              <a:rPr lang="en-US" sz="2800" dirty="0"/>
              <a:t>, so their metrics are connected too.</a:t>
            </a:r>
          </a:p>
        </p:txBody>
      </p:sp>
    </p:spTree>
    <p:extLst>
      <p:ext uri="{BB962C8B-B14F-4D97-AF65-F5344CB8AC3E}">
        <p14:creationId xmlns:p14="http://schemas.microsoft.com/office/powerpoint/2010/main" val="16294872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5. Why Measurement Matters?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3095752" y="2310181"/>
            <a:ext cx="8448040" cy="319510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🎯 Organizational goals could be about: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Profit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Growth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Customer satisfaction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Public service</a:t>
            </a:r>
          </a:p>
          <a:p>
            <a:r>
              <a:rPr lang="en-US" sz="2800" dirty="0" err="1"/>
              <a:t>MeasuremCompetitive</a:t>
            </a:r>
            <a:r>
              <a:rPr lang="en-US" sz="2800" dirty="0"/>
              <a:t> advantage</a:t>
            </a:r>
          </a:p>
          <a:p>
            <a:r>
              <a:rPr lang="en-US" sz="2800" dirty="0" err="1"/>
              <a:t>ent</a:t>
            </a:r>
            <a:r>
              <a:rPr lang="en-US" sz="2800" dirty="0"/>
              <a:t> links </a:t>
            </a:r>
            <a:r>
              <a:rPr lang="en-US" sz="2800" b="1" dirty="0"/>
              <a:t>big goals → CSFs → KPIs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188806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5. CSF vs KPI</a:t>
            </a:r>
            <a:endParaRPr sz="4400" dirty="0">
              <a:latin typeface="Cambria"/>
              <a:cs typeface="Cambria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105C953-EEC6-65B3-8470-D9AEF23FFE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581281"/>
              </p:ext>
            </p:extLst>
          </p:nvPr>
        </p:nvGraphicFramePr>
        <p:xfrm>
          <a:off x="2938291" y="2425053"/>
          <a:ext cx="9090024" cy="3232785"/>
        </p:xfrm>
        <a:graphic>
          <a:graphicData uri="http://schemas.openxmlformats.org/drawingml/2006/table">
            <a:tbl>
              <a:tblPr/>
              <a:tblGrid>
                <a:gridCol w="3030008">
                  <a:extLst>
                    <a:ext uri="{9D8B030D-6E8A-4147-A177-3AD203B41FA5}">
                      <a16:colId xmlns:a16="http://schemas.microsoft.com/office/drawing/2014/main" val="3365341570"/>
                    </a:ext>
                  </a:extLst>
                </a:gridCol>
                <a:gridCol w="3030008">
                  <a:extLst>
                    <a:ext uri="{9D8B030D-6E8A-4147-A177-3AD203B41FA5}">
                      <a16:colId xmlns:a16="http://schemas.microsoft.com/office/drawing/2014/main" val="1886731466"/>
                    </a:ext>
                  </a:extLst>
                </a:gridCol>
                <a:gridCol w="3030008">
                  <a:extLst>
                    <a:ext uri="{9D8B030D-6E8A-4147-A177-3AD203B41FA5}">
                      <a16:colId xmlns:a16="http://schemas.microsoft.com/office/drawing/2014/main" val="2893362296"/>
                    </a:ext>
                  </a:extLst>
                </a:gridCol>
              </a:tblGrid>
              <a:tr h="718397">
                <a:tc>
                  <a:txBody>
                    <a:bodyPr/>
                    <a:lstStyle/>
                    <a:p>
                      <a:r>
                        <a:rPr lang="en-IN" sz="2000"/>
                        <a:t>Term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6776863"/>
                  </a:ext>
                </a:extLst>
              </a:tr>
              <a:tr h="1257194">
                <a:tc>
                  <a:txBody>
                    <a:bodyPr/>
                    <a:lstStyle/>
                    <a:p>
                      <a:r>
                        <a:rPr lang="en-IN" sz="2000" b="1" dirty="0"/>
                        <a:t>CSF (Critical Success Factor)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 must-have condition to succeed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“Resolve 80% incidents on first call”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915615"/>
                  </a:ext>
                </a:extLst>
              </a:tr>
              <a:tr h="1257194">
                <a:tc>
                  <a:txBody>
                    <a:bodyPr/>
                    <a:lstStyle/>
                    <a:p>
                      <a:r>
                        <a:rPr lang="en-IN" sz="2000" b="1"/>
                        <a:t>KPI (Key Performance Indicator)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A metric used to judge success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“First call resolution %”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8948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71132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5. Why Measurement Matters?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3095752" y="2310181"/>
            <a:ext cx="8448040" cy="387221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400" dirty="0"/>
              <a:t>KPIs can </a:t>
            </a:r>
            <a:r>
              <a:rPr lang="en-US" sz="2400" b="1" dirty="0"/>
              <a:t>motivate</a:t>
            </a:r>
            <a:r>
              <a:rPr lang="en-US" sz="2400" dirty="0"/>
              <a:t>, but they can also </a:t>
            </a:r>
            <a:r>
              <a:rPr lang="en-US" sz="2400" b="1" dirty="0"/>
              <a:t>spoil </a:t>
            </a:r>
            <a:r>
              <a:rPr lang="en-US" sz="2400" b="1" dirty="0" err="1"/>
              <a:t>behaviour</a:t>
            </a:r>
            <a:r>
              <a:rPr lang="en-US" sz="2400" dirty="0"/>
              <a:t> if used wrong.</a:t>
            </a:r>
          </a:p>
          <a:p>
            <a:r>
              <a:rPr lang="en-US" sz="2400" dirty="0"/>
              <a:t>📌 Example of Wrong KPI: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Service desk staff asked to </a:t>
            </a:r>
            <a:r>
              <a:rPr lang="en-US" sz="2400" b="1" dirty="0"/>
              <a:t>keep calls short</a:t>
            </a:r>
            <a:br>
              <a:rPr lang="en-US" sz="2400" dirty="0"/>
            </a:br>
            <a:r>
              <a:rPr lang="en-US" sz="2400" dirty="0"/>
              <a:t>→ They may rush calls → poor resolution → unhappy customers</a:t>
            </a:r>
          </a:p>
          <a:p>
            <a:r>
              <a:rPr lang="en-US" sz="2400" dirty="0"/>
              <a:t>✔ Better approach: </a:t>
            </a:r>
            <a:r>
              <a:rPr lang="en-US" sz="2400" b="1" dirty="0"/>
              <a:t>Team KPIs</a:t>
            </a:r>
            <a:r>
              <a:rPr lang="en-US" sz="2400" dirty="0"/>
              <a:t>, not individual-only KPIs</a:t>
            </a:r>
            <a:br>
              <a:rPr lang="en-US" sz="2400" dirty="0"/>
            </a:br>
            <a:r>
              <a:rPr lang="en-US" sz="2400" dirty="0"/>
              <a:t>😊 Encourages collaboration</a:t>
            </a:r>
            <a:br>
              <a:rPr lang="en-US" sz="2400" dirty="0"/>
            </a:br>
            <a:r>
              <a:rPr lang="en-US" sz="2400" dirty="0"/>
              <a:t>😊 Less pressure</a:t>
            </a:r>
            <a:br>
              <a:rPr lang="en-US" sz="2400" dirty="0"/>
            </a:br>
            <a:r>
              <a:rPr lang="en-US" sz="2400" dirty="0"/>
              <a:t>😊 Aligns with organizational value</a:t>
            </a:r>
          </a:p>
        </p:txBody>
      </p:sp>
    </p:spTree>
    <p:extLst>
      <p:ext uri="{BB962C8B-B14F-4D97-AF65-F5344CB8AC3E}">
        <p14:creationId xmlns:p14="http://schemas.microsoft.com/office/powerpoint/2010/main" val="14835717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5. Good Measurement = Good Reporting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3095752" y="2310181"/>
            <a:ext cx="8448040" cy="264110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dirty="0"/>
              <a:t>Metrics → Reports → Decisions</a:t>
            </a:r>
          </a:p>
          <a:p>
            <a:r>
              <a:rPr lang="en-US" sz="3200" dirty="0"/>
              <a:t>Reports should answer </a:t>
            </a:r>
            <a:r>
              <a:rPr lang="en-US" sz="3200" b="1" dirty="0"/>
              <a:t>two questions</a:t>
            </a:r>
            <a:r>
              <a:rPr lang="en-US" sz="3200" dirty="0"/>
              <a:t>:</a:t>
            </a:r>
          </a:p>
          <a:p>
            <a:r>
              <a:rPr lang="en-US" sz="3200" dirty="0"/>
              <a:t>1️⃣ </a:t>
            </a:r>
            <a:r>
              <a:rPr lang="en-US" sz="3200" i="1" dirty="0"/>
              <a:t>How far are we from the target?</a:t>
            </a:r>
            <a:br>
              <a:rPr lang="en-US" sz="3200" dirty="0"/>
            </a:br>
            <a:r>
              <a:rPr lang="en-US" sz="3200" dirty="0"/>
              <a:t>2️⃣ </a:t>
            </a:r>
            <a:r>
              <a:rPr lang="en-US" sz="3200" i="1" dirty="0"/>
              <a:t>What bottlenecks are stopping us?</a:t>
            </a:r>
            <a:endParaRPr lang="en-US" sz="3200" dirty="0"/>
          </a:p>
          <a:p>
            <a:r>
              <a:rPr lang="en-US" sz="3200" dirty="0"/>
              <a:t>🖼️ Idea: dashboard screenshot style</a:t>
            </a:r>
          </a:p>
        </p:txBody>
      </p:sp>
    </p:spTree>
    <p:extLst>
      <p:ext uri="{BB962C8B-B14F-4D97-AF65-F5344CB8AC3E}">
        <p14:creationId xmlns:p14="http://schemas.microsoft.com/office/powerpoint/2010/main" val="24860193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5. What a Good Report Looks Like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3095752" y="2310181"/>
            <a:ext cx="8448040" cy="4241546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400" dirty="0"/>
              <a:t>✔ Clear</a:t>
            </a:r>
            <a:br>
              <a:rPr lang="en-US" sz="2400" dirty="0"/>
            </a:br>
            <a:r>
              <a:rPr lang="en-US" sz="2400" dirty="0"/>
              <a:t>✔ Visual</a:t>
            </a:r>
            <a:br>
              <a:rPr lang="en-US" sz="2400" dirty="0"/>
            </a:br>
            <a:r>
              <a:rPr lang="en-US" sz="2400" dirty="0"/>
              <a:t>✔ Relevant</a:t>
            </a:r>
            <a:br>
              <a:rPr lang="en-US" sz="2400" dirty="0"/>
            </a:br>
            <a:r>
              <a:rPr lang="en-US" sz="2400" dirty="0"/>
              <a:t>✔ Action-oriented</a:t>
            </a:r>
            <a:br>
              <a:rPr lang="en-US" sz="2400" dirty="0"/>
            </a:br>
            <a:r>
              <a:rPr lang="en-US" sz="2400" dirty="0"/>
              <a:t>✔ Up-to-date</a:t>
            </a:r>
            <a:br>
              <a:rPr lang="en-US" sz="2400" dirty="0"/>
            </a:br>
            <a:r>
              <a:rPr lang="en-US" sz="2400" dirty="0"/>
              <a:t>✔ Easy to understand</a:t>
            </a:r>
          </a:p>
          <a:p>
            <a:r>
              <a:rPr lang="en-US" sz="2400" dirty="0"/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Traffic light signals (red–yellow–green)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Trend charts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Pie charts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Progress bars</a:t>
            </a:r>
          </a:p>
        </p:txBody>
      </p:sp>
    </p:spTree>
    <p:extLst>
      <p:ext uri="{BB962C8B-B14F-4D97-AF65-F5344CB8AC3E}">
        <p14:creationId xmlns:p14="http://schemas.microsoft.com/office/powerpoint/2010/main" val="24555907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902A32-A6C6-6CD9-FFA5-F0ADD4003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01214"/>
            <a:ext cx="9372599" cy="639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5472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5. 🎮 Class Activity “Dashboard Detective”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3095752" y="2310181"/>
            <a:ext cx="8448040" cy="104067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metric needs improvement?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performing well?</a:t>
            </a:r>
          </a:p>
        </p:txBody>
      </p:sp>
    </p:spTree>
    <p:extLst>
      <p:ext uri="{BB962C8B-B14F-4D97-AF65-F5344CB8AC3E}">
        <p14:creationId xmlns:p14="http://schemas.microsoft.com/office/powerpoint/2010/main" val="13874288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Instagram Dashboard | Klipfolio">
            <a:extLst>
              <a:ext uri="{FF2B5EF4-FFF2-40B4-BE49-F238E27FC236}">
                <a16:creationId xmlns:a16="http://schemas.microsoft.com/office/drawing/2014/main" id="{5F587B42-2BCA-D670-3A3D-5C095237E9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0"/>
            <a:ext cx="94043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30065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3B74F-C29E-A290-E8BB-BE046C6C9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2667000"/>
            <a:ext cx="9677400" cy="1231106"/>
          </a:xfrm>
        </p:spPr>
        <p:txBody>
          <a:bodyPr/>
          <a:lstStyle/>
          <a:p>
            <a:r>
              <a:rPr lang="en-IN" dirty="0"/>
              <a:t>6</a:t>
            </a:r>
            <a:r>
              <a:rPr lang="en-IN" sz="4000" dirty="0"/>
              <a:t>. </a:t>
            </a:r>
            <a:r>
              <a:rPr lang="en-IN" dirty="0"/>
              <a:t>Organizational Change Management</a:t>
            </a:r>
          </a:p>
        </p:txBody>
      </p:sp>
    </p:spTree>
    <p:extLst>
      <p:ext uri="{BB962C8B-B14F-4D97-AF65-F5344CB8AC3E}">
        <p14:creationId xmlns:p14="http://schemas.microsoft.com/office/powerpoint/2010/main" val="25466593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6. </a:t>
            </a:r>
            <a:r>
              <a:rPr lang="en-IN" sz="4400" dirty="0"/>
              <a:t>Organizational Change Management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3095752" y="2310181"/>
            <a:ext cx="8448040" cy="1471557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To ensure organizational changes are </a:t>
            </a:r>
            <a:r>
              <a:rPr lang="en-US" sz="2800" b="1" dirty="0"/>
              <a:t>smoothly implemented</a:t>
            </a:r>
            <a:r>
              <a:rPr lang="en-US" sz="2800" dirty="0"/>
              <a:t> and deliver </a:t>
            </a:r>
            <a:r>
              <a:rPr lang="en-US" sz="2800" b="1" dirty="0"/>
              <a:t>lasting benefits</a:t>
            </a:r>
            <a:r>
              <a:rPr lang="en-US" sz="2800" dirty="0"/>
              <a:t> by managing the </a:t>
            </a:r>
            <a:r>
              <a:rPr lang="en-US" sz="2800" b="1" dirty="0"/>
              <a:t>human aspects</a:t>
            </a:r>
            <a:r>
              <a:rPr lang="en-US" sz="2800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FFD47C-6480-BA06-E140-6D5F77A32C57}"/>
              </a:ext>
            </a:extLst>
          </p:cNvPr>
          <p:cNvSpPr txBox="1"/>
          <p:nvPr/>
        </p:nvSpPr>
        <p:spPr>
          <a:xfrm>
            <a:off x="3633498" y="5029200"/>
            <a:ext cx="60974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Activity:</a:t>
            </a:r>
            <a:br>
              <a:rPr lang="en-US" dirty="0"/>
            </a:br>
            <a:r>
              <a:rPr lang="en-US" dirty="0"/>
              <a:t>📌 </a:t>
            </a:r>
            <a:r>
              <a:rPr lang="en-US" i="1" dirty="0"/>
              <a:t>Quick poll:</a:t>
            </a:r>
            <a:r>
              <a:rPr lang="en-US" dirty="0"/>
              <a:t> “What makes people resist change the most? Fear? Workload? Confusion?”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938029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6. </a:t>
            </a:r>
            <a:r>
              <a:rPr lang="en-IN" sz="4400" dirty="0"/>
              <a:t>Why Change Management?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3095752" y="2310181"/>
            <a:ext cx="8448040" cy="1471557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Change affects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behaviour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 methods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People are 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biggest factor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success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Without people’s support → even good changes fail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081372-A42B-4ED9-A42F-1F109E5E638F}"/>
              </a:ext>
            </a:extLst>
          </p:cNvPr>
          <p:cNvSpPr txBox="1"/>
          <p:nvPr/>
        </p:nvSpPr>
        <p:spPr>
          <a:xfrm>
            <a:off x="4326736" y="4953000"/>
            <a:ext cx="60974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Mini-game:</a:t>
            </a:r>
            <a:br>
              <a:rPr lang="en-US" dirty="0"/>
            </a:br>
            <a:r>
              <a:rPr lang="en-US" dirty="0"/>
              <a:t>❓ </a:t>
            </a:r>
            <a:r>
              <a:rPr lang="en-US" i="1" dirty="0"/>
              <a:t>True/False:</a:t>
            </a:r>
            <a:r>
              <a:rPr lang="en-US" dirty="0"/>
              <a:t> “Technology changes fail mainly due to technical issues.”</a:t>
            </a:r>
          </a:p>
        </p:txBody>
      </p:sp>
    </p:spTree>
    <p:extLst>
      <p:ext uri="{BB962C8B-B14F-4D97-AF65-F5344CB8AC3E}">
        <p14:creationId xmlns:p14="http://schemas.microsoft.com/office/powerpoint/2010/main" val="28641745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6. </a:t>
            </a:r>
            <a:r>
              <a:rPr lang="en-IN" sz="4400" dirty="0"/>
              <a:t>What OCM Achieves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3095752" y="2310181"/>
            <a:ext cx="8448040" cy="233333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Organizational Change Management helps: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Reduce resistance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Address impacts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Provide training &amp; communication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Ensure successful adoption</a:t>
            </a:r>
          </a:p>
        </p:txBody>
      </p:sp>
    </p:spTree>
    <p:extLst>
      <p:ext uri="{BB962C8B-B14F-4D97-AF65-F5344CB8AC3E}">
        <p14:creationId xmlns:p14="http://schemas.microsoft.com/office/powerpoint/2010/main" val="41894459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6. Essential Elements of Successful Change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3095752" y="2310181"/>
            <a:ext cx="8448040" cy="190244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1️⃣ Clear &amp; relevant objectives</a:t>
            </a:r>
            <a:br>
              <a:rPr lang="en-US" sz="2800" dirty="0"/>
            </a:br>
            <a:r>
              <a:rPr lang="en-US" sz="2800" dirty="0"/>
              <a:t>2️⃣ Strong &amp; committed leadership</a:t>
            </a:r>
            <a:br>
              <a:rPr lang="en-US" sz="2800" dirty="0"/>
            </a:br>
            <a:r>
              <a:rPr lang="en-US" sz="2800" dirty="0"/>
              <a:t>3️⃣ Willing &amp; prepared participants</a:t>
            </a:r>
            <a:br>
              <a:rPr lang="en-US" sz="2800" dirty="0"/>
            </a:br>
            <a:r>
              <a:rPr lang="en-US" sz="2800" dirty="0"/>
              <a:t>4️⃣ Sustained improvement</a:t>
            </a:r>
          </a:p>
        </p:txBody>
      </p:sp>
    </p:spTree>
    <p:extLst>
      <p:ext uri="{BB962C8B-B14F-4D97-AF65-F5344CB8AC3E}">
        <p14:creationId xmlns:p14="http://schemas.microsoft.com/office/powerpoint/2010/main" val="278968128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6. A. Clear &amp; Relevant Objectives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3095752" y="2310181"/>
            <a:ext cx="8448040" cy="276421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People support change when goals make sense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Objectives must provide </a:t>
            </a:r>
            <a:r>
              <a:rPr lang="en-US" sz="2800" b="1" dirty="0"/>
              <a:t>real value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Must be communicated in context</a:t>
            </a:r>
          </a:p>
          <a:p>
            <a:r>
              <a:rPr lang="en-US" sz="2800" b="1" dirty="0"/>
              <a:t>Activity:</a:t>
            </a:r>
            <a:br>
              <a:rPr lang="en-US" sz="2800" dirty="0"/>
            </a:br>
            <a:r>
              <a:rPr lang="en-US" sz="2800" dirty="0"/>
              <a:t>✍️ </a:t>
            </a:r>
            <a:r>
              <a:rPr lang="en-US" sz="2800" i="1" dirty="0"/>
              <a:t>Micro-task:</a:t>
            </a:r>
            <a:r>
              <a:rPr lang="en-US" sz="2800" dirty="0"/>
              <a:t> Write 1 example of a “bad change objective”.</a:t>
            </a:r>
          </a:p>
        </p:txBody>
      </p:sp>
    </p:spTree>
    <p:extLst>
      <p:ext uri="{BB962C8B-B14F-4D97-AF65-F5344CB8AC3E}">
        <p14:creationId xmlns:p14="http://schemas.microsoft.com/office/powerpoint/2010/main" val="228770728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6. B</a:t>
            </a:r>
            <a:r>
              <a:rPr lang="en-US" sz="4400" b="1" dirty="0"/>
              <a:t>. Strong &amp; Committed Leadership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3095752" y="2310181"/>
            <a:ext cx="8448040" cy="233333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Sponsors advocate and authorize the change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Leaders must be </a:t>
            </a:r>
            <a:r>
              <a:rPr lang="en-US" sz="2800" b="1" dirty="0"/>
              <a:t>visible</a:t>
            </a:r>
            <a:r>
              <a:rPr lang="en-US" sz="2800" dirty="0"/>
              <a:t> and </a:t>
            </a:r>
            <a:r>
              <a:rPr lang="en-US" sz="2800" b="1" dirty="0"/>
              <a:t>consistent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Communication from leaders builds trust</a:t>
            </a:r>
          </a:p>
          <a:p>
            <a:r>
              <a:rPr lang="en-US" sz="2800" b="1" dirty="0"/>
              <a:t>Activity:</a:t>
            </a:r>
            <a:br>
              <a:rPr lang="en-US" sz="2800" dirty="0"/>
            </a:br>
            <a:r>
              <a:rPr lang="en-US" sz="2800" dirty="0"/>
              <a:t>🎯 Identify: “Who is a sponsor? Who is a leader?”</a:t>
            </a:r>
          </a:p>
        </p:txBody>
      </p:sp>
    </p:spTree>
    <p:extLst>
      <p:ext uri="{BB962C8B-B14F-4D97-AF65-F5344CB8AC3E}">
        <p14:creationId xmlns:p14="http://schemas.microsoft.com/office/powerpoint/2010/main" val="34002443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6. C</a:t>
            </a:r>
            <a:r>
              <a:rPr lang="en-US" sz="4400" b="1" dirty="0"/>
              <a:t>. Willing &amp; Prepared Participants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3095752" y="2310181"/>
            <a:ext cx="8448040" cy="276421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People must believe the change matters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Training + awareness improves readiness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Frequent communication = lower fear</a:t>
            </a:r>
          </a:p>
          <a:p>
            <a:r>
              <a:rPr lang="en-US" sz="2800" b="1" dirty="0"/>
              <a:t>Activity:</a:t>
            </a:r>
            <a:br>
              <a:rPr lang="en-US" sz="2800" dirty="0"/>
            </a:br>
            <a:r>
              <a:rPr lang="en-US" sz="2800" dirty="0"/>
              <a:t>🗣️ Role-play: “Trainer convincing a team about upcoming change.”</a:t>
            </a:r>
          </a:p>
        </p:txBody>
      </p:sp>
    </p:spTree>
    <p:extLst>
      <p:ext uri="{BB962C8B-B14F-4D97-AF65-F5344CB8AC3E}">
        <p14:creationId xmlns:p14="http://schemas.microsoft.com/office/powerpoint/2010/main" val="27720904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6. D</a:t>
            </a:r>
            <a:r>
              <a:rPr lang="en-US" sz="4400" b="1" dirty="0"/>
              <a:t>. Sustained Improvement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3095752" y="2310181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Avoid “reverting to old habits”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Reinforce with:</a:t>
            </a:r>
            <a:br>
              <a:rPr lang="en-US" sz="2800" dirty="0"/>
            </a:br>
            <a:r>
              <a:rPr lang="en-US" sz="2800" dirty="0"/>
              <a:t>✔ Communication</a:t>
            </a:r>
            <a:br>
              <a:rPr lang="en-US" sz="2800" dirty="0"/>
            </a:br>
            <a:r>
              <a:rPr lang="en-US" sz="2800" dirty="0"/>
              <a:t>✔ Metrics</a:t>
            </a:r>
            <a:br>
              <a:rPr lang="en-US" sz="2800" dirty="0"/>
            </a:br>
            <a:r>
              <a:rPr lang="en-US" sz="2800" dirty="0"/>
              <a:t>✔ Leader support</a:t>
            </a:r>
            <a:br>
              <a:rPr lang="en-US" sz="2800" dirty="0"/>
            </a:br>
            <a:r>
              <a:rPr lang="en-US" sz="2800" dirty="0"/>
              <a:t>✔ Addressing impacts</a:t>
            </a:r>
          </a:p>
          <a:p>
            <a:r>
              <a:rPr lang="en-US" sz="2800" b="1" dirty="0"/>
              <a:t>Quick Quiz:</a:t>
            </a:r>
            <a:br>
              <a:rPr lang="en-US" sz="2800" dirty="0"/>
            </a:br>
            <a:r>
              <a:rPr lang="en-US" sz="2800" dirty="0"/>
              <a:t>“What happens if reinforcement is missing?”</a:t>
            </a:r>
          </a:p>
        </p:txBody>
      </p:sp>
    </p:spTree>
    <p:extLst>
      <p:ext uri="{BB962C8B-B14F-4D97-AF65-F5344CB8AC3E}">
        <p14:creationId xmlns:p14="http://schemas.microsoft.com/office/powerpoint/2010/main" val="304109224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6. Key OCM Activities</a:t>
            </a:r>
            <a:endParaRPr sz="4400" dirty="0">
              <a:latin typeface="Cambria"/>
              <a:cs typeface="Cambria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D8AC385-807C-FADE-3D80-517F2EACEA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280957"/>
              </p:ext>
            </p:extLst>
          </p:nvPr>
        </p:nvGraphicFramePr>
        <p:xfrm>
          <a:off x="2325342" y="2242501"/>
          <a:ext cx="9257058" cy="4470152"/>
        </p:xfrm>
        <a:graphic>
          <a:graphicData uri="http://schemas.openxmlformats.org/drawingml/2006/table">
            <a:tbl>
              <a:tblPr/>
              <a:tblGrid>
                <a:gridCol w="4628529">
                  <a:extLst>
                    <a:ext uri="{9D8B030D-6E8A-4147-A177-3AD203B41FA5}">
                      <a16:colId xmlns:a16="http://schemas.microsoft.com/office/drawing/2014/main" val="3093032485"/>
                    </a:ext>
                  </a:extLst>
                </a:gridCol>
                <a:gridCol w="4628529">
                  <a:extLst>
                    <a:ext uri="{9D8B030D-6E8A-4147-A177-3AD203B41FA5}">
                      <a16:colId xmlns:a16="http://schemas.microsoft.com/office/drawing/2014/main" val="1187004221"/>
                    </a:ext>
                  </a:extLst>
                </a:gridCol>
              </a:tblGrid>
              <a:tr h="558769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Activity</a:t>
                      </a:r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Helps Deliver</a:t>
                      </a:r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5010043"/>
                  </a:ext>
                </a:extLst>
              </a:tr>
              <a:tr h="558769">
                <a:tc>
                  <a:txBody>
                    <a:bodyPr/>
                    <a:lstStyle/>
                    <a:p>
                      <a:r>
                        <a:rPr lang="en-IN" sz="2400"/>
                        <a:t>Sense of urgency</a:t>
                      </a:r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Clear objectives, willing participants</a:t>
                      </a:r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2218291"/>
                  </a:ext>
                </a:extLst>
              </a:tr>
              <a:tr h="558769">
                <a:tc>
                  <a:txBody>
                    <a:bodyPr/>
                    <a:lstStyle/>
                    <a:p>
                      <a:r>
                        <a:rPr lang="en-IN" sz="2400" dirty="0"/>
                        <a:t>Stakeholder management</a:t>
                      </a:r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Strong participants</a:t>
                      </a:r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6027858"/>
                  </a:ext>
                </a:extLst>
              </a:tr>
              <a:tr h="558769">
                <a:tc>
                  <a:txBody>
                    <a:bodyPr/>
                    <a:lstStyle/>
                    <a:p>
                      <a:r>
                        <a:rPr lang="en-IN" sz="2400"/>
                        <a:t>Sponsor management</a:t>
                      </a:r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Strong leadership</a:t>
                      </a:r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7353745"/>
                  </a:ext>
                </a:extLst>
              </a:tr>
              <a:tr h="558769">
                <a:tc>
                  <a:txBody>
                    <a:bodyPr/>
                    <a:lstStyle/>
                    <a:p>
                      <a:r>
                        <a:rPr lang="en-IN" sz="2400"/>
                        <a:t>Communication</a:t>
                      </a:r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Prepared participants</a:t>
                      </a:r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2779711"/>
                  </a:ext>
                </a:extLst>
              </a:tr>
              <a:tr h="558769">
                <a:tc>
                  <a:txBody>
                    <a:bodyPr/>
                    <a:lstStyle/>
                    <a:p>
                      <a:r>
                        <a:rPr lang="en-IN" sz="2400"/>
                        <a:t>Empowerment</a:t>
                      </a:r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Prepared participants</a:t>
                      </a:r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7418714"/>
                  </a:ext>
                </a:extLst>
              </a:tr>
              <a:tr h="558769">
                <a:tc>
                  <a:txBody>
                    <a:bodyPr/>
                    <a:lstStyle/>
                    <a:p>
                      <a:r>
                        <a:rPr lang="en-IN" sz="2400"/>
                        <a:t>Resistance management</a:t>
                      </a:r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Willing participants</a:t>
                      </a:r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5777663"/>
                  </a:ext>
                </a:extLst>
              </a:tr>
              <a:tr h="558769">
                <a:tc>
                  <a:txBody>
                    <a:bodyPr/>
                    <a:lstStyle/>
                    <a:p>
                      <a:r>
                        <a:rPr lang="en-IN" sz="2400"/>
                        <a:t>Reinforcement</a:t>
                      </a:r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Sustained improvement</a:t>
                      </a:r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8409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41631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65E91-6509-50D5-8B01-36E3373C5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D0935AC-24F2-3A2A-6606-486DC979B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303299"/>
            <a:ext cx="8991600" cy="6147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10862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6. 🎮 “Change Resistance Bingo”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D95975-F86D-1F03-FF34-215A0B07A24B}"/>
              </a:ext>
            </a:extLst>
          </p:cNvPr>
          <p:cNvSpPr txBox="1"/>
          <p:nvPr/>
        </p:nvSpPr>
        <p:spPr>
          <a:xfrm>
            <a:off x="2667000" y="2389727"/>
            <a:ext cx="845746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The school is switching to a new grading system.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We are introducing a new group project format.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The lunch menu is changing (e.g., healthier options only).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The dress code is being updated (e.g., stricter or more relaxed rules).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A new mandatory after-school program is being implemented.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The classroom seating arrangement will be flexible/chosen by students.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Students will be required to use a specific new software program for all assignments.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6415758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7F83A-ABD0-0A8C-8AF4-B70F1EC51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0099B96-1012-95B5-1ED6-C848A0BC67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4C7F3B2-3C67-169B-1854-0E377A951E16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F594D83-448C-7CA0-08B4-C5E8882E5C4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487B093-F2F2-244A-D354-9B08047AC4F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3254443F-7BD4-3AC4-F3B3-DF7E305DD0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6. 🎮 “Change Resistance Bingo”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33591515-96E7-052B-2EFC-B42FD5BA63BF}"/>
              </a:ext>
            </a:extLst>
          </p:cNvPr>
          <p:cNvSpPr txBox="1"/>
          <p:nvPr/>
        </p:nvSpPr>
        <p:spPr>
          <a:xfrm>
            <a:off x="3095752" y="1951141"/>
            <a:ext cx="8448040" cy="461087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400" dirty="0"/>
              <a:t>Learners mark boxes with common resistance lines like:</a:t>
            </a:r>
          </a:p>
          <a:p>
            <a:r>
              <a:rPr lang="en-US" sz="2400" dirty="0"/>
              <a:t>"This will never work."</a:t>
            </a:r>
          </a:p>
          <a:p>
            <a:r>
              <a:rPr lang="en-US" sz="2400" dirty="0"/>
              <a:t>"Why should we change?"</a:t>
            </a:r>
          </a:p>
          <a:p>
            <a:r>
              <a:rPr lang="en-US" sz="2400" dirty="0"/>
              <a:t>"We always did it this way."</a:t>
            </a:r>
          </a:p>
          <a:p>
            <a:r>
              <a:rPr lang="en-US" sz="2400" dirty="0"/>
              <a:t>"No one else is doing this."</a:t>
            </a:r>
          </a:p>
          <a:p>
            <a:r>
              <a:rPr lang="en-US" sz="2400" dirty="0"/>
              <a:t>"It's too complicated/hard."</a:t>
            </a:r>
          </a:p>
          <a:p>
            <a:r>
              <a:rPr lang="en-US" sz="2400" dirty="0"/>
              <a:t>"That's a stupid idea."</a:t>
            </a:r>
          </a:p>
          <a:p>
            <a:r>
              <a:rPr lang="en-US" sz="2400" dirty="0"/>
              <a:t>"It's going to be a lot more work."</a:t>
            </a:r>
          </a:p>
          <a:p>
            <a:r>
              <a:rPr lang="en-US" sz="2400" dirty="0"/>
              <a:t>"They didn't ask for our input."</a:t>
            </a:r>
          </a:p>
          <a:p>
            <a:r>
              <a:rPr lang="en-US" sz="2400" dirty="0"/>
              <a:t>"The old way was fine."</a:t>
            </a:r>
          </a:p>
          <a:p>
            <a:r>
              <a:rPr lang="en-US" sz="2400" dirty="0"/>
              <a:t>"I don't have enough time for this."</a:t>
            </a:r>
          </a:p>
          <a:p>
            <a:r>
              <a:rPr lang="en-US" sz="2400" dirty="0"/>
              <a:t>"This is just a fanny phase; it will pass</a:t>
            </a:r>
          </a:p>
        </p:txBody>
      </p:sp>
    </p:spTree>
    <p:extLst>
      <p:ext uri="{BB962C8B-B14F-4D97-AF65-F5344CB8AC3E}">
        <p14:creationId xmlns:p14="http://schemas.microsoft.com/office/powerpoint/2010/main" val="222561621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6. Mini Case Study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3095752" y="2310181"/>
            <a:ext cx="8448040" cy="276421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“College introduces a new attendance system → students, teachers, admin impacted.”</a:t>
            </a:r>
            <a:br>
              <a:rPr lang="en-US" sz="2800" dirty="0"/>
            </a:br>
            <a:r>
              <a:rPr lang="en-US" sz="2800" dirty="0"/>
              <a:t>Ask: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Who are stakeholders?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What training is needed?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How to reduce resistance?</a:t>
            </a:r>
          </a:p>
        </p:txBody>
      </p:sp>
    </p:spTree>
    <p:extLst>
      <p:ext uri="{BB962C8B-B14F-4D97-AF65-F5344CB8AC3E}">
        <p14:creationId xmlns:p14="http://schemas.microsoft.com/office/powerpoint/2010/main" val="126451780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48F6E-4722-099A-98BE-B91B12A73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07F3F-9CC2-AB2A-8902-6FA8714FA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667000"/>
            <a:ext cx="9677400" cy="615553"/>
          </a:xfrm>
        </p:spPr>
        <p:txBody>
          <a:bodyPr/>
          <a:lstStyle/>
          <a:p>
            <a:pPr algn="ctr"/>
            <a:r>
              <a:rPr lang="en-IN" sz="4000" dirty="0"/>
              <a:t>7. </a:t>
            </a:r>
            <a:r>
              <a:rPr lang="en-IN" dirty="0"/>
              <a:t>Portfolio Management</a:t>
            </a:r>
          </a:p>
        </p:txBody>
      </p:sp>
    </p:spTree>
    <p:extLst>
      <p:ext uri="{BB962C8B-B14F-4D97-AF65-F5344CB8AC3E}">
        <p14:creationId xmlns:p14="http://schemas.microsoft.com/office/powerpoint/2010/main" val="348983675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E5214-CD44-DCB8-CF84-ADAF0E605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7859574-C66E-F520-10BA-B4C164A01B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91781CB2-D720-0988-6994-305608AA21F9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C6369580-4603-AADC-76E4-8E7150CA1F1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81BCB05-3762-4755-125D-1DB7A68562A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1D5F6DA2-3E6A-B5FA-026A-D61C7C84E5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    </a:t>
            </a:r>
            <a:r>
              <a:rPr lang="en-IN" sz="4400" dirty="0"/>
              <a:t>7. Portfolio Management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436B76D4-9D6E-2D36-09CF-E1D2E1DBC2CF}"/>
              </a:ext>
            </a:extLst>
          </p:cNvPr>
          <p:cNvSpPr txBox="1"/>
          <p:nvPr/>
        </p:nvSpPr>
        <p:spPr>
          <a:xfrm>
            <a:off x="3095752" y="2058145"/>
            <a:ext cx="8448040" cy="498021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400" dirty="0"/>
              <a:t>Choosing the right work, at the right time, with the right resources.</a:t>
            </a:r>
          </a:p>
          <a:p>
            <a:r>
              <a:rPr lang="en-US" sz="2400" dirty="0"/>
              <a:t>Portfolio management =</a:t>
            </a:r>
            <a:br>
              <a:rPr lang="en-US" sz="2400" dirty="0"/>
            </a:br>
            <a:r>
              <a:rPr lang="en-US" sz="2400" dirty="0"/>
              <a:t>📂 </a:t>
            </a:r>
            <a:r>
              <a:rPr lang="en-US" sz="2400" i="1" dirty="0"/>
              <a:t>Deciding WHAT to do</a:t>
            </a:r>
            <a:br>
              <a:rPr lang="en-US" sz="2400" dirty="0"/>
            </a:br>
            <a:r>
              <a:rPr lang="en-US" sz="2400" dirty="0"/>
              <a:t>⏳ </a:t>
            </a:r>
            <a:r>
              <a:rPr lang="en-US" sz="2400" i="1" dirty="0"/>
              <a:t>WHEN to do it</a:t>
            </a:r>
            <a:br>
              <a:rPr lang="en-US" sz="2400" dirty="0"/>
            </a:br>
            <a:r>
              <a:rPr lang="en-US" sz="2400" dirty="0"/>
              <a:t>💰 </a:t>
            </a:r>
            <a:r>
              <a:rPr lang="en-US" sz="2400" i="1" dirty="0"/>
              <a:t>With HOW MUCH money &amp; people</a:t>
            </a:r>
            <a:endParaRPr lang="en-US" sz="2400" dirty="0"/>
          </a:p>
          <a:p>
            <a:r>
              <a:rPr lang="en-US" sz="2400" b="1" dirty="0"/>
              <a:t>Real-life example:</a:t>
            </a:r>
            <a:br>
              <a:rPr lang="en-US" sz="2400" dirty="0"/>
            </a:br>
            <a:r>
              <a:rPr lang="en-US" sz="2400" dirty="0"/>
              <a:t>College deciding:</a:t>
            </a:r>
          </a:p>
          <a:p>
            <a:r>
              <a:rPr lang="en-US" sz="2400" dirty="0"/>
              <a:t>New course ❓</a:t>
            </a:r>
          </a:p>
          <a:p>
            <a:r>
              <a:rPr lang="en-US" sz="2400" dirty="0"/>
              <a:t>New lab ❓</a:t>
            </a:r>
          </a:p>
          <a:p>
            <a:r>
              <a:rPr lang="en-US" sz="2400" dirty="0"/>
              <a:t>Website upgrade ❓</a:t>
            </a:r>
            <a:br>
              <a:rPr lang="en-US" sz="2400" dirty="0"/>
            </a:br>
            <a:r>
              <a:rPr lang="en-US" sz="2400" dirty="0"/>
              <a:t>(Not all at once!)</a:t>
            </a:r>
          </a:p>
          <a:p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A8C8F4-8D8C-600B-2CDB-8F481FC20804}"/>
              </a:ext>
            </a:extLst>
          </p:cNvPr>
          <p:cNvSpPr txBox="1"/>
          <p:nvPr/>
        </p:nvSpPr>
        <p:spPr>
          <a:xfrm>
            <a:off x="6119446" y="6096000"/>
            <a:ext cx="60974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Icebreaker:</a:t>
            </a:r>
            <a:br>
              <a:rPr lang="en-US" dirty="0"/>
            </a:br>
            <a:r>
              <a:rPr lang="en-US" dirty="0"/>
              <a:t>💬 Ask: </a:t>
            </a:r>
            <a:r>
              <a:rPr lang="en-US" i="1" dirty="0"/>
              <a:t>“Can an organization do EVERYTHING at once?”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542298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2F2B7-D754-8103-2BC2-F2999B9D6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923C833-7B8F-DEDB-2530-139F88BD73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AA9D9A2-199D-C9A6-1D54-69ED7F24460E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157CAB7D-D2C6-72F5-C129-26F9B48315C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54AB5CB-8169-799E-43B6-1535ECD218BF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47340C33-BAC6-3367-5A26-2D7EA2CF21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7. </a:t>
            </a:r>
            <a:r>
              <a:rPr lang="en-IN" sz="4400" dirty="0"/>
              <a:t>Portfolio vs Project </a:t>
            </a:r>
            <a:endParaRPr sz="4400" dirty="0">
              <a:latin typeface="Cambria"/>
              <a:cs typeface="Cambria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2BBF3ED-0BAF-24D3-1E07-42C093A5D3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3218346"/>
              </p:ext>
            </p:extLst>
          </p:nvPr>
        </p:nvGraphicFramePr>
        <p:xfrm>
          <a:off x="1730375" y="2802255"/>
          <a:ext cx="8731250" cy="2316480"/>
        </p:xfrm>
        <a:graphic>
          <a:graphicData uri="http://schemas.openxmlformats.org/drawingml/2006/table">
            <a:tbl>
              <a:tblPr/>
              <a:tblGrid>
                <a:gridCol w="4365625">
                  <a:extLst>
                    <a:ext uri="{9D8B030D-6E8A-4147-A177-3AD203B41FA5}">
                      <a16:colId xmlns:a16="http://schemas.microsoft.com/office/drawing/2014/main" val="2950848881"/>
                    </a:ext>
                  </a:extLst>
                </a:gridCol>
                <a:gridCol w="4365625">
                  <a:extLst>
                    <a:ext uri="{9D8B030D-6E8A-4147-A177-3AD203B41FA5}">
                      <a16:colId xmlns:a16="http://schemas.microsoft.com/office/drawing/2014/main" val="24612552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Portfolio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Project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6817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Big picture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One task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2411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Strategic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Operational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0621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Long-term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Short-term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8149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585344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60381-B247-D5C2-7488-0C9787771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0913093-74FD-ECEB-722C-8CF956F1BD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5D565CA-9830-C938-9210-63111EB53D1D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1CCE25E-B738-5ED5-4EBF-6151F7DB107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9B1FE24-870C-C5D8-8B35-9A604B595F5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2ADCE896-0C3F-896B-9158-383D4B8089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7. </a:t>
            </a:r>
            <a:r>
              <a:rPr lang="en-IN" sz="4400" dirty="0"/>
              <a:t>Portfolio vs Project (Mini Game)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48939462-F2C4-731A-1183-AEB4222E819D}"/>
              </a:ext>
            </a:extLst>
          </p:cNvPr>
          <p:cNvSpPr txBox="1"/>
          <p:nvPr/>
        </p:nvSpPr>
        <p:spPr>
          <a:xfrm>
            <a:off x="838200" y="2357159"/>
            <a:ext cx="11238992" cy="4241546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Building a single mobile app to track fitness goals. →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Managing all software products for a company like Google. →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Creating a website for a local bakery. →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Overseeing a company’s entire investment in various energy sources (solar, wind, oil). → </a:t>
            </a:r>
            <a:br>
              <a:rPr lang="en-IN" sz="2400" dirty="0"/>
            </a:br>
            <a:r>
              <a:rPr lang="en-IN" sz="2400" dirty="0"/>
              <a:t>Writing a single report on market trends for the next quarter. →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Managing a country's total </a:t>
            </a:r>
            <a:r>
              <a:rPr lang="en-IN" sz="2400" dirty="0" err="1"/>
              <a:t>defense</a:t>
            </a:r>
            <a:r>
              <a:rPr lang="en-IN" sz="2400" dirty="0"/>
              <a:t> initiatives. →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Organizing an annual school carnival. →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Developing a multi-year plan for a city's public transportation system. →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Painting a single room in a house. →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Managing a real estate firm’s entire list of properties and developments. → </a:t>
            </a:r>
          </a:p>
        </p:txBody>
      </p:sp>
    </p:spTree>
    <p:extLst>
      <p:ext uri="{BB962C8B-B14F-4D97-AF65-F5344CB8AC3E}">
        <p14:creationId xmlns:p14="http://schemas.microsoft.com/office/powerpoint/2010/main" val="322661590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E20C0-3004-0830-5198-9BD5804BA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A7C6847-9595-052C-60FF-37BFDD7ACFC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54CCE1D-C6B6-3116-63DE-DE60335C6637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F4681FC9-8BFE-7D13-799F-A5E4AFBB28C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507872F-956F-FE88-771D-176EC3184807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E09E373C-A7DE-C6D3-BE93-0F4D4E798D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7. Why Portfolio Management is Needed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4C44F634-7751-E46C-EA02-DA3E96391924}"/>
              </a:ext>
            </a:extLst>
          </p:cNvPr>
          <p:cNvSpPr txBox="1"/>
          <p:nvPr/>
        </p:nvSpPr>
        <p:spPr>
          <a:xfrm>
            <a:off x="3095752" y="2310181"/>
            <a:ext cx="8448040" cy="319510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Without portfolio management:</a:t>
            </a:r>
          </a:p>
          <a:p>
            <a:r>
              <a:rPr lang="en-US" sz="2800" dirty="0"/>
              <a:t>Too many changes</a:t>
            </a:r>
          </a:p>
          <a:p>
            <a:r>
              <a:rPr lang="en-US" sz="2800" dirty="0"/>
              <a:t>Resource conflicts</a:t>
            </a:r>
          </a:p>
          <a:p>
            <a:r>
              <a:rPr lang="en-US" sz="2800" dirty="0"/>
              <a:t>Low-value projects survive</a:t>
            </a:r>
          </a:p>
          <a:p>
            <a:r>
              <a:rPr lang="en-US" sz="2800" dirty="0"/>
              <a:t>Strategy fails</a:t>
            </a:r>
          </a:p>
          <a:p>
            <a:r>
              <a:rPr lang="en-US" sz="2800" b="1" dirty="0"/>
              <a:t>Quick Question:</a:t>
            </a:r>
            <a:br>
              <a:rPr lang="en-US" sz="2800" dirty="0"/>
            </a:br>
            <a:r>
              <a:rPr lang="en-US" sz="2800" dirty="0"/>
              <a:t>❓ </a:t>
            </a:r>
            <a:r>
              <a:rPr lang="en-US" sz="2800" i="1" dirty="0"/>
              <a:t>“Is doing more work always good?”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52941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E6734-284E-CC46-C4D9-C9AEA6AC9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55F4C9B-C6B6-716C-4E11-CE8887842C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06EF7DB-7C64-FAE0-B2A4-C81EBE313E71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19DBCF6F-58C5-A902-3686-3E1A41629D0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B1E9121-FB34-A248-70E3-385125204BAF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F8409F9A-F655-5624-EA3E-1645FAEBF4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7. </a:t>
            </a:r>
            <a:r>
              <a:rPr lang="en-IN" sz="4400" dirty="0"/>
              <a:t>What Portfolio Management DOES 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8452FB0-E9A1-A436-065B-35F9828DC969}"/>
              </a:ext>
            </a:extLst>
          </p:cNvPr>
          <p:cNvSpPr txBox="1"/>
          <p:nvPr/>
        </p:nvSpPr>
        <p:spPr>
          <a:xfrm>
            <a:off x="3095752" y="2310181"/>
            <a:ext cx="8448040" cy="319510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Portfolio management:</a:t>
            </a:r>
          </a:p>
          <a:p>
            <a:r>
              <a:rPr lang="en-US" sz="2800" dirty="0"/>
              <a:t>Balances </a:t>
            </a:r>
            <a:r>
              <a:rPr lang="en-US" sz="2800" b="1" dirty="0"/>
              <a:t>change vs business-as-usual</a:t>
            </a:r>
            <a:endParaRPr lang="en-US" sz="2800" dirty="0"/>
          </a:p>
          <a:p>
            <a:r>
              <a:rPr lang="en-US" sz="2800" dirty="0"/>
              <a:t>Aligns work with </a:t>
            </a:r>
            <a:r>
              <a:rPr lang="en-US" sz="2800" b="1" dirty="0"/>
              <a:t>strategy</a:t>
            </a:r>
            <a:endParaRPr lang="en-US" sz="2800" dirty="0"/>
          </a:p>
          <a:p>
            <a:r>
              <a:rPr lang="en-US" sz="2800" dirty="0"/>
              <a:t>Controls </a:t>
            </a:r>
            <a:r>
              <a:rPr lang="en-US" sz="2800" b="1" dirty="0"/>
              <a:t>investment &amp; risk</a:t>
            </a:r>
            <a:endParaRPr lang="en-US" sz="2800" dirty="0"/>
          </a:p>
          <a:p>
            <a:r>
              <a:rPr lang="en-US" sz="2800" b="1" dirty="0"/>
              <a:t>Activity:</a:t>
            </a:r>
            <a:br>
              <a:rPr lang="en-US" sz="2800" dirty="0"/>
            </a:br>
            <a:r>
              <a:rPr lang="en-US" sz="2800" dirty="0"/>
              <a:t>⚖️ Ask them to balance: </a:t>
            </a:r>
            <a:r>
              <a:rPr lang="en-US" sz="2800" i="1" dirty="0"/>
              <a:t>“New system vs maintaining old one”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0967251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A6821-4E1A-4FF8-7EC6-4A17B1A20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E360FC9-AA8C-A69C-053C-86DFD23078A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A9B31AE3-0E43-CA12-46A9-86DB2956D385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D2B1CC29-C38B-2FD1-56B9-85A2EAAAF40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1A62291-0425-7161-796B-DCD5A86748DF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419DF00D-EB6A-4F70-797F-6D6004171C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7. </a:t>
            </a:r>
            <a:r>
              <a:rPr lang="en-IN" sz="4400" dirty="0"/>
              <a:t>Activity 1: Evaluation &amp; Prioritization</a:t>
            </a:r>
            <a:endParaRPr sz="4400" dirty="0">
              <a:latin typeface="Cambria"/>
              <a:cs typeface="Cambria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679C6A4-D775-5936-C47F-78948E3524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221473"/>
              </p:ext>
            </p:extLst>
          </p:nvPr>
        </p:nvGraphicFramePr>
        <p:xfrm>
          <a:off x="2514600" y="3135368"/>
          <a:ext cx="8731248" cy="296063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82812">
                  <a:extLst>
                    <a:ext uri="{9D8B030D-6E8A-4147-A177-3AD203B41FA5}">
                      <a16:colId xmlns:a16="http://schemas.microsoft.com/office/drawing/2014/main" val="2705792709"/>
                    </a:ext>
                  </a:extLst>
                </a:gridCol>
                <a:gridCol w="2182812">
                  <a:extLst>
                    <a:ext uri="{9D8B030D-6E8A-4147-A177-3AD203B41FA5}">
                      <a16:colId xmlns:a16="http://schemas.microsoft.com/office/drawing/2014/main" val="2080463106"/>
                    </a:ext>
                  </a:extLst>
                </a:gridCol>
                <a:gridCol w="2182812">
                  <a:extLst>
                    <a:ext uri="{9D8B030D-6E8A-4147-A177-3AD203B41FA5}">
                      <a16:colId xmlns:a16="http://schemas.microsoft.com/office/drawing/2014/main" val="2406651531"/>
                    </a:ext>
                  </a:extLst>
                </a:gridCol>
                <a:gridCol w="2182812">
                  <a:extLst>
                    <a:ext uri="{9D8B030D-6E8A-4147-A177-3AD203B41FA5}">
                      <a16:colId xmlns:a16="http://schemas.microsoft.com/office/drawing/2014/main" val="2214653520"/>
                    </a:ext>
                  </a:extLst>
                </a:gridCol>
              </a:tblGrid>
              <a:tr h="7401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/>
                        <a:t>Project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/>
                        <a:t>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/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/>
                        <a:t>Strategic Fit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0252295"/>
                  </a:ext>
                </a:extLst>
              </a:tr>
              <a:tr h="7401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/>
                        <a:t>High</a:t>
                      </a:r>
                      <a:endParaRPr lang="en-IN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Strong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3645836"/>
                  </a:ext>
                </a:extLst>
              </a:tr>
              <a:tr h="7401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/>
                        <a:t>Weak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7778762"/>
                  </a:ext>
                </a:extLst>
              </a:tr>
              <a:tr h="7401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/>
                        <a:t>Very 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Strong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211434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5E7D5A4-A8B6-A4D2-9699-4C254C5AAA47}"/>
              </a:ext>
            </a:extLst>
          </p:cNvPr>
          <p:cNvSpPr txBox="1"/>
          <p:nvPr/>
        </p:nvSpPr>
        <p:spPr>
          <a:xfrm>
            <a:off x="2160437" y="2222974"/>
            <a:ext cx="60974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📋 Mini-Case</a:t>
            </a:r>
          </a:p>
          <a:p>
            <a:pPr>
              <a:buNone/>
            </a:pPr>
            <a:r>
              <a:rPr lang="en-US" b="1" dirty="0"/>
              <a:t>3 Projects, budget for only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00354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82EDE-F806-1BCB-F30C-C3023E73C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6FD30FF-BF79-3F5B-80DD-4C1C89D1F96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B1E902F-F158-A545-D24A-2D74B89383BA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B007BC5-0AE0-60F5-0061-4CA0D76E1D3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C6075FB-B641-35EA-2AEC-023F0893C863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A2DFF8AE-8B2B-B20C-822F-9AE611AA4F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7. Activity 2: Linking to Outcomes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880BB2-A014-C167-0C58-FC80E02D5FEF}"/>
              </a:ext>
            </a:extLst>
          </p:cNvPr>
          <p:cNvSpPr txBox="1"/>
          <p:nvPr/>
        </p:nvSpPr>
        <p:spPr>
          <a:xfrm>
            <a:off x="2160437" y="2222974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🎮 Game: Match the Following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0FBEB6F-61B4-1FA3-65C9-01E598003C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44109"/>
              </p:ext>
            </p:extLst>
          </p:nvPr>
        </p:nvGraphicFramePr>
        <p:xfrm>
          <a:off x="2438400" y="2709991"/>
          <a:ext cx="8731250" cy="3728571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2788795">
                  <a:extLst>
                    <a:ext uri="{9D8B030D-6E8A-4147-A177-3AD203B41FA5}">
                      <a16:colId xmlns:a16="http://schemas.microsoft.com/office/drawing/2014/main" val="2759347430"/>
                    </a:ext>
                  </a:extLst>
                </a:gridCol>
                <a:gridCol w="5942455">
                  <a:extLst>
                    <a:ext uri="{9D8B030D-6E8A-4147-A177-3AD203B41FA5}">
                      <a16:colId xmlns:a16="http://schemas.microsoft.com/office/drawing/2014/main" val="3301894056"/>
                    </a:ext>
                  </a:extLst>
                </a:gridCol>
              </a:tblGrid>
              <a:tr h="642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Correct Match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5885897"/>
                  </a:ext>
                </a:extLst>
              </a:tr>
              <a:tr h="642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Service</a:t>
                      </a:r>
                      <a:endParaRPr lang="en-I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Long-term strategic benefit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9902764"/>
                  </a:ext>
                </a:extLst>
              </a:tr>
              <a:tr h="642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Product</a:t>
                      </a:r>
                      <a:endParaRPr lang="en-I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Achieving a business goal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5366873"/>
                  </a:ext>
                </a:extLst>
              </a:tr>
              <a:tr h="642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Project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Revenue generation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4039329"/>
                  </a:ext>
                </a:extLst>
              </a:tr>
              <a:tr h="1157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Programme</a:t>
                      </a:r>
                      <a:endParaRPr lang="en-I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Customer satisfaction / Availability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9449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57490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36659-0C8B-8958-1D12-B71A0CEBC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6ED595A-E237-BD8E-40DA-27E53D4A4E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456400D-2EA8-F9AE-1A0C-C4BF295C6127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9D5B340-1903-FC10-1C73-7961226A376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041F8BE-B4EC-D9B2-12AF-4701EE2E47B1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2FD7C0B8-F02D-3133-80A5-B83EEBE3E3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7. </a:t>
            </a:r>
            <a:r>
              <a:rPr lang="en-IN" sz="4400" dirty="0"/>
              <a:t>Activity 3: Portfolio Reviews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29C43AA1-87CA-E45A-911F-98C25ED64217}"/>
              </a:ext>
            </a:extLst>
          </p:cNvPr>
          <p:cNvSpPr txBox="1"/>
          <p:nvPr/>
        </p:nvSpPr>
        <p:spPr>
          <a:xfrm>
            <a:off x="3095752" y="2167946"/>
            <a:ext cx="8448040" cy="491865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b="1" dirty="0"/>
              <a:t>❓ Question</a:t>
            </a:r>
          </a:p>
          <a:p>
            <a:r>
              <a:rPr lang="en-US" sz="2800" b="1" dirty="0"/>
              <a:t>“What should be reviewed FIRST?</a:t>
            </a:r>
          </a:p>
          <a:p>
            <a:endParaRPr lang="en-US" sz="2800" b="1" dirty="0"/>
          </a:p>
          <a:p>
            <a:r>
              <a:rPr lang="en-US" sz="2800" b="1" dirty="0"/>
              <a:t>Options:</a:t>
            </a:r>
          </a:p>
          <a:p>
            <a:r>
              <a:rPr lang="en-US" sz="2800" dirty="0"/>
              <a:t>Value</a:t>
            </a:r>
          </a:p>
          <a:p>
            <a:r>
              <a:rPr lang="en-US" sz="2800" dirty="0"/>
              <a:t>Strategic fit</a:t>
            </a:r>
          </a:p>
          <a:p>
            <a:r>
              <a:rPr lang="en-US" sz="2800" dirty="0"/>
              <a:t>Benefits</a:t>
            </a:r>
          </a:p>
          <a:p>
            <a:r>
              <a:rPr lang="en-US" sz="2800" dirty="0"/>
              <a:t>Risks</a:t>
            </a:r>
          </a:p>
          <a:p>
            <a:r>
              <a:rPr lang="en-US" sz="2800" dirty="0"/>
              <a:t>Costs</a:t>
            </a:r>
          </a:p>
          <a:p>
            <a:r>
              <a:rPr lang="en-US" sz="2800" dirty="0"/>
              <a:t>Progress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163486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0AFA2-5128-7075-9F4E-725D2D04D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BAFCF61-B7AB-6939-66AC-48EF603144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9C40E31C-9C8C-0000-066E-3C245B9806B8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088FF196-3C7D-6738-1FC6-0DFFE8EF73E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7663F7D-7DAF-7ECF-028B-7F8AA2F5810D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7FE5C5C2-90CB-E428-064B-144BDB3CEF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dirty="0"/>
              <a:t>7. Types of Portfolios (Overview)</a:t>
            </a:r>
            <a:endParaRPr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FC698AF9-C0C0-3801-309B-82307F1F56BE}"/>
              </a:ext>
            </a:extLst>
          </p:cNvPr>
          <p:cNvSpPr txBox="1"/>
          <p:nvPr/>
        </p:nvSpPr>
        <p:spPr>
          <a:xfrm>
            <a:off x="3095752" y="2310181"/>
            <a:ext cx="8448040" cy="2394886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Portfolio management includes:</a:t>
            </a:r>
          </a:p>
          <a:p>
            <a:r>
              <a:rPr lang="en-IN" sz="3600" dirty="0"/>
              <a:t>1️⃣ Product/Service Portfolio</a:t>
            </a:r>
            <a:br>
              <a:rPr lang="en-IN" sz="3600" dirty="0"/>
            </a:br>
            <a:r>
              <a:rPr lang="en-IN" sz="3600" dirty="0"/>
              <a:t>2️⃣ Project Portfolio</a:t>
            </a:r>
            <a:br>
              <a:rPr lang="en-IN" sz="3600" dirty="0"/>
            </a:br>
            <a:r>
              <a:rPr lang="en-IN" sz="3600" dirty="0"/>
              <a:t>3️⃣ Customer Portfolio</a:t>
            </a:r>
          </a:p>
        </p:txBody>
      </p:sp>
    </p:spTree>
    <p:extLst>
      <p:ext uri="{BB962C8B-B14F-4D97-AF65-F5344CB8AC3E}">
        <p14:creationId xmlns:p14="http://schemas.microsoft.com/office/powerpoint/2010/main" val="185546698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F2C1C-E05A-87BC-4EF5-E2F46F378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093689B-6E9B-E6C1-50A1-4187342BA37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3858272-57F5-6431-78B1-6C9C1D3020A5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9C41395-A07E-D75E-EAB6-5B16454B72A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108CC5B-069A-BE57-C52B-1D4E1E2B3E31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BD8EFEC1-62BF-999A-6D3A-04EBF8A8C4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dirty="0"/>
              <a:t>7. </a:t>
            </a:r>
            <a:r>
              <a:rPr lang="en-IN" dirty="0"/>
              <a:t>Product/Service Portfolio</a:t>
            </a:r>
            <a:endParaRPr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FD6A22C3-E3FD-D5E0-D4D8-0577E3C7331A}"/>
              </a:ext>
            </a:extLst>
          </p:cNvPr>
          <p:cNvSpPr txBox="1"/>
          <p:nvPr/>
        </p:nvSpPr>
        <p:spPr>
          <a:xfrm>
            <a:off x="3095752" y="2065433"/>
            <a:ext cx="8448040" cy="4487767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Includes:</a:t>
            </a:r>
          </a:p>
          <a:p>
            <a:r>
              <a:rPr lang="en-US" sz="2800" dirty="0"/>
              <a:t>All current services</a:t>
            </a:r>
          </a:p>
          <a:p>
            <a:r>
              <a:rPr lang="en-US" sz="2800" dirty="0"/>
              <a:t>New services</a:t>
            </a:r>
          </a:p>
          <a:p>
            <a:r>
              <a:rPr lang="en-US" sz="2800" dirty="0"/>
              <a:t>Improvements</a:t>
            </a:r>
          </a:p>
          <a:p>
            <a:r>
              <a:rPr lang="en-US" sz="2800" dirty="0"/>
              <a:t>Third-party services</a:t>
            </a:r>
          </a:p>
          <a:p>
            <a:r>
              <a:rPr lang="en-US" sz="2800" dirty="0"/>
              <a:t>Represents:</a:t>
            </a:r>
          </a:p>
          <a:p>
            <a:r>
              <a:rPr lang="en-US" sz="2800" dirty="0"/>
              <a:t>Commitments</a:t>
            </a:r>
          </a:p>
          <a:p>
            <a:r>
              <a:rPr lang="en-US" sz="2800" dirty="0"/>
              <a:t>Investments</a:t>
            </a:r>
          </a:p>
          <a:p>
            <a:r>
              <a:rPr lang="en-US" sz="2800" b="1" dirty="0"/>
              <a:t>Example:</a:t>
            </a:r>
            <a:br>
              <a:rPr lang="en-US" sz="2800" dirty="0"/>
            </a:br>
            <a:r>
              <a:rPr lang="en-US" sz="2800" dirty="0"/>
              <a:t>College offerings: Degree, Certificate, Online courses</a:t>
            </a:r>
          </a:p>
        </p:txBody>
      </p:sp>
    </p:spTree>
    <p:extLst>
      <p:ext uri="{BB962C8B-B14F-4D97-AF65-F5344CB8AC3E}">
        <p14:creationId xmlns:p14="http://schemas.microsoft.com/office/powerpoint/2010/main" val="416146868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9CB80-6DB9-5B6F-9476-932EB4785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4228707-8C99-8537-151B-F2A50D3515F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A1C356E0-1F1D-4AD6-6AC1-22592A7A8850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E0D8E171-2B58-476F-C1CA-BA1CCA1F8B5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E3794C0-B8FF-E97F-7734-48E618404E8C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B18F5037-81E9-7206-7466-D95A7C6967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dirty="0"/>
              <a:t>7. </a:t>
            </a:r>
            <a:r>
              <a:rPr lang="en-IN" dirty="0"/>
              <a:t>Project Portfolio</a:t>
            </a:r>
            <a:endParaRPr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5A931CEB-A8BC-AE29-F7D5-315A3A5955BB}"/>
              </a:ext>
            </a:extLst>
          </p:cNvPr>
          <p:cNvSpPr txBox="1"/>
          <p:nvPr/>
        </p:nvSpPr>
        <p:spPr>
          <a:xfrm>
            <a:off x="3095752" y="2057400"/>
            <a:ext cx="8448040" cy="461087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Used to:</a:t>
            </a:r>
          </a:p>
          <a:p>
            <a:r>
              <a:rPr lang="en-US" sz="3600" dirty="0"/>
              <a:t>Manage authorized projects</a:t>
            </a:r>
          </a:p>
          <a:p>
            <a:r>
              <a:rPr lang="en-US" sz="3600" dirty="0"/>
              <a:t>Avoid duplication</a:t>
            </a:r>
          </a:p>
          <a:p>
            <a:r>
              <a:rPr lang="en-US" sz="3600" dirty="0"/>
              <a:t>Control scope, cost, time</a:t>
            </a:r>
          </a:p>
          <a:p>
            <a:r>
              <a:rPr lang="en-US" sz="3600" dirty="0"/>
              <a:t>Manage programs (multiple projects)</a:t>
            </a:r>
          </a:p>
          <a:p>
            <a:r>
              <a:rPr lang="en-US" sz="3600" b="1" dirty="0"/>
              <a:t>Game:</a:t>
            </a:r>
            <a:br>
              <a:rPr lang="en-US" sz="3600" dirty="0"/>
            </a:br>
            <a:r>
              <a:rPr lang="en-US" sz="3600" dirty="0"/>
              <a:t>🧩 Identify: Single project or </a:t>
            </a:r>
            <a:r>
              <a:rPr lang="en-US" sz="3600" dirty="0" err="1"/>
              <a:t>programme</a:t>
            </a:r>
            <a:r>
              <a:rPr lang="en-US" sz="36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5010214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7550E-4169-0396-238A-F291D90EC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AD56E11-628F-8242-E7B4-B31CCAB267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493EFB6C-1761-7943-9DD5-4772DC49DEF6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FB105C9E-C895-E0C4-A1DC-9E082D1F06D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4C9D96E-A56B-523B-A93A-A32A4BE6E6A6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45A2956B-03EE-C418-4B0C-585565270B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dirty="0"/>
              <a:t>7. </a:t>
            </a:r>
            <a:r>
              <a:rPr lang="en-IN" dirty="0"/>
              <a:t>Customer Portfolio</a:t>
            </a:r>
            <a:endParaRPr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88F9D66A-CA23-DF05-383F-1BF6E1808444}"/>
              </a:ext>
            </a:extLst>
          </p:cNvPr>
          <p:cNvSpPr txBox="1"/>
          <p:nvPr/>
        </p:nvSpPr>
        <p:spPr>
          <a:xfrm>
            <a:off x="3095752" y="2057400"/>
            <a:ext cx="8448040" cy="4487767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Maintained by:</a:t>
            </a:r>
          </a:p>
          <a:p>
            <a:r>
              <a:rPr lang="en-US" sz="2800" dirty="0"/>
              <a:t>Relationship management</a:t>
            </a:r>
          </a:p>
          <a:p>
            <a:r>
              <a:rPr lang="en-US" sz="2800" dirty="0"/>
              <a:t>Records:</a:t>
            </a:r>
          </a:p>
          <a:p>
            <a:r>
              <a:rPr lang="en-US" sz="2800" dirty="0"/>
              <a:t>All customers</a:t>
            </a:r>
          </a:p>
          <a:p>
            <a:r>
              <a:rPr lang="en-US" sz="2800" dirty="0"/>
              <a:t>Internal &amp; external</a:t>
            </a:r>
          </a:p>
          <a:p>
            <a:r>
              <a:rPr lang="en-US" sz="2800" dirty="0"/>
              <a:t>Used to:</a:t>
            </a:r>
          </a:p>
          <a:p>
            <a:r>
              <a:rPr lang="en-US" sz="2800" dirty="0"/>
              <a:t>Understand customer outcomes</a:t>
            </a:r>
          </a:p>
          <a:p>
            <a:r>
              <a:rPr lang="en-US" sz="2800" dirty="0"/>
              <a:t>Validate value with customers</a:t>
            </a:r>
          </a:p>
          <a:p>
            <a:r>
              <a:rPr lang="en-US" sz="2800" b="1" dirty="0"/>
              <a:t>Activity:</a:t>
            </a:r>
            <a:br>
              <a:rPr lang="en-US" sz="2800" dirty="0"/>
            </a:br>
            <a:r>
              <a:rPr lang="en-US" sz="2800" dirty="0"/>
              <a:t>👥 List internal vs external customers of your college</a:t>
            </a:r>
          </a:p>
        </p:txBody>
      </p:sp>
    </p:spTree>
    <p:extLst>
      <p:ext uri="{BB962C8B-B14F-4D97-AF65-F5344CB8AC3E}">
        <p14:creationId xmlns:p14="http://schemas.microsoft.com/office/powerpoint/2010/main" val="254707212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49F6A-F0D1-86A6-E3B2-79B1858FC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D4D298-2F39-0F3C-1A0A-2B63335D1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52400"/>
            <a:ext cx="8991600" cy="673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89114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E852C-E4DA-931C-6DFF-699276DC6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950BC5C-6BFC-A391-2D69-28AB082710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4B242DE-38BC-65B4-968F-B73473469901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4B181ABE-38F2-3E80-79EA-D3E0F1057C2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F91A2F4-A8D9-E2AF-8E30-998997E30981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63B2697F-8ADF-96F1-4A7E-7038248599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7. </a:t>
            </a:r>
            <a:r>
              <a:rPr lang="en-IN" sz="4400" dirty="0"/>
              <a:t>Exit Activity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2BDF3CA1-9944-7C2F-F7D3-454C03460BC9}"/>
              </a:ext>
            </a:extLst>
          </p:cNvPr>
          <p:cNvSpPr txBox="1"/>
          <p:nvPr/>
        </p:nvSpPr>
        <p:spPr>
          <a:xfrm>
            <a:off x="2286000" y="2310181"/>
            <a:ext cx="9257792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b="1" dirty="0"/>
              <a:t>🏁 Exit Activity (With Options)</a:t>
            </a:r>
          </a:p>
          <a:p>
            <a:r>
              <a:rPr lang="en-US" sz="2800" b="1" dirty="0"/>
              <a:t>✍️ Complete the sentence by choosing ONE option:</a:t>
            </a:r>
          </a:p>
          <a:p>
            <a:r>
              <a:rPr lang="en-US" sz="2800" b="1" dirty="0"/>
              <a:t>“Portfolio management is important because…”</a:t>
            </a:r>
            <a:endParaRPr lang="en-US" sz="2800" dirty="0"/>
          </a:p>
          <a:p>
            <a:r>
              <a:rPr lang="en-US" sz="2800" dirty="0"/>
              <a:t>A️⃣ it aligns work with </a:t>
            </a:r>
            <a:r>
              <a:rPr lang="en-US" sz="2800" b="1" dirty="0"/>
              <a:t>business strategy</a:t>
            </a:r>
            <a:br>
              <a:rPr lang="en-US" sz="2800" dirty="0"/>
            </a:br>
            <a:r>
              <a:rPr lang="en-US" sz="2800" dirty="0"/>
              <a:t>B️⃣ it helps use </a:t>
            </a:r>
            <a:r>
              <a:rPr lang="en-US" sz="2800" b="1" dirty="0"/>
              <a:t>resources efficiently</a:t>
            </a:r>
            <a:br>
              <a:rPr lang="en-US" sz="2800" dirty="0"/>
            </a:br>
            <a:r>
              <a:rPr lang="en-US" sz="2800" dirty="0"/>
              <a:t>C️⃣ it ensures focus on </a:t>
            </a:r>
            <a:r>
              <a:rPr lang="en-US" sz="2800" b="1" dirty="0"/>
              <a:t>value delivery</a:t>
            </a:r>
            <a:br>
              <a:rPr lang="en-US" sz="2800" dirty="0"/>
            </a:br>
            <a:r>
              <a:rPr lang="en-US" sz="2800" dirty="0"/>
              <a:t>D️⃣ it avoids </a:t>
            </a:r>
            <a:r>
              <a:rPr lang="en-US" sz="2800" b="1" dirty="0"/>
              <a:t>random decision-making</a:t>
            </a:r>
            <a:br>
              <a:rPr lang="en-US" sz="2800" dirty="0"/>
            </a:br>
            <a:r>
              <a:rPr lang="en-US" sz="2800" dirty="0"/>
              <a:t>E️⃣ </a:t>
            </a:r>
            <a:r>
              <a:rPr lang="en-US" sz="2800" b="1" dirty="0"/>
              <a:t>All of the above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0828124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8DC75-DA54-3F6E-FB4D-230CB90FE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2583A-F199-1D85-F1EE-2AE54E69C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667000"/>
            <a:ext cx="9677400" cy="984885"/>
          </a:xfrm>
        </p:spPr>
        <p:txBody>
          <a:bodyPr/>
          <a:lstStyle/>
          <a:p>
            <a:pPr algn="ctr"/>
            <a:r>
              <a:rPr lang="en-IN" dirty="0"/>
              <a:t>8</a:t>
            </a:r>
            <a:r>
              <a:rPr lang="en-IN" sz="4000" dirty="0"/>
              <a:t>. </a:t>
            </a:r>
            <a:r>
              <a:rPr lang="en-IN" dirty="0"/>
              <a:t>Project Management</a:t>
            </a:r>
            <a:br>
              <a:rPr lang="en-IN" dirty="0"/>
            </a:br>
            <a:r>
              <a:rPr lang="en-IN" sz="2400" b="0" i="1" dirty="0"/>
              <a:t>Turning plans into results</a:t>
            </a:r>
            <a:endParaRPr lang="en-IN" b="0" i="1" dirty="0"/>
          </a:p>
        </p:txBody>
      </p:sp>
    </p:spTree>
    <p:extLst>
      <p:ext uri="{BB962C8B-B14F-4D97-AF65-F5344CB8AC3E}">
        <p14:creationId xmlns:p14="http://schemas.microsoft.com/office/powerpoint/2010/main" val="186204470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4778F-92CE-E3E2-F0BF-2AA977844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14B020C-8F39-F53C-F68A-200ADDC09B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8024F3C-FA7A-D27E-EA9A-4BAE9B500CAE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06DC31F8-2948-90C4-62A3-F3C10B5547E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D6DE122-50AA-77DD-D419-C592D85C3579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812867F4-B872-53FD-70C3-67FBFFBCF5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    </a:t>
            </a:r>
            <a:r>
              <a:rPr lang="en-IN" sz="4400" dirty="0"/>
              <a:t>8. Project Management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1E644E86-1CFE-7DFF-C34B-B2B618901AB9}"/>
              </a:ext>
            </a:extLst>
          </p:cNvPr>
          <p:cNvSpPr txBox="1"/>
          <p:nvPr/>
        </p:nvSpPr>
        <p:spPr>
          <a:xfrm>
            <a:off x="3095752" y="2058145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Project management means:</a:t>
            </a:r>
          </a:p>
          <a:p>
            <a:r>
              <a:rPr lang="en-US" sz="2800" dirty="0"/>
              <a:t>Planning the work</a:t>
            </a:r>
          </a:p>
          <a:p>
            <a:r>
              <a:rPr lang="en-US" sz="2800" dirty="0"/>
              <a:t>Assigning people</a:t>
            </a:r>
          </a:p>
          <a:p>
            <a:r>
              <a:rPr lang="en-US" sz="2800" dirty="0"/>
              <a:t>Tracking progress</a:t>
            </a:r>
          </a:p>
          <a:p>
            <a:r>
              <a:rPr lang="en-US" sz="2800" dirty="0"/>
              <a:t>Fixing problems</a:t>
            </a:r>
          </a:p>
          <a:p>
            <a:r>
              <a:rPr lang="en-US" sz="2800" dirty="0"/>
              <a:t>Keeping people motivated</a:t>
            </a:r>
          </a:p>
          <a:p>
            <a:r>
              <a:rPr lang="en-US" sz="2800" b="1" dirty="0"/>
              <a:t>Real-life example:</a:t>
            </a:r>
            <a:br>
              <a:rPr lang="en-US" sz="2800" dirty="0"/>
            </a:br>
            <a:r>
              <a:rPr lang="en-US" sz="2800" dirty="0"/>
              <a:t>🎉 College fest planning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466468-9FE1-3476-6A3F-6583772E3956}"/>
              </a:ext>
            </a:extLst>
          </p:cNvPr>
          <p:cNvSpPr txBox="1"/>
          <p:nvPr/>
        </p:nvSpPr>
        <p:spPr>
          <a:xfrm>
            <a:off x="6119446" y="6096000"/>
            <a:ext cx="60974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👉 </a:t>
            </a:r>
            <a:r>
              <a:rPr lang="en-US" i="1" dirty="0"/>
              <a:t>Project management = making sure the project ACTUALLY finishes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028317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07B26-AC05-471C-BE83-D21B07252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19CC0D0-69EA-0945-436A-38CBEFD091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63BCB79-4D70-0536-F5DF-C65A49EF9A8D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E0C60899-13AC-527B-4426-9DCF36743F2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BC92310-C108-D4F1-291F-E7E7602096F6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D2A57A78-8A7E-828A-6103-45417AAA5B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8. What is a Project?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66195B42-B68F-86F9-5D10-ED62CDE63A49}"/>
              </a:ext>
            </a:extLst>
          </p:cNvPr>
          <p:cNvSpPr txBox="1"/>
          <p:nvPr/>
        </p:nvSpPr>
        <p:spPr>
          <a:xfrm>
            <a:off x="3095752" y="2058145"/>
            <a:ext cx="8448040" cy="276421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400" dirty="0"/>
              <a:t>A project is:</a:t>
            </a:r>
          </a:p>
          <a:p>
            <a:r>
              <a:rPr lang="en-US" sz="2400" b="1" dirty="0"/>
              <a:t>Temporary</a:t>
            </a:r>
            <a:endParaRPr lang="en-US" sz="2400" dirty="0"/>
          </a:p>
          <a:p>
            <a:r>
              <a:rPr lang="en-US" sz="2400" dirty="0"/>
              <a:t>Has a </a:t>
            </a:r>
            <a:r>
              <a:rPr lang="en-US" sz="2400" b="1" dirty="0"/>
              <a:t>clear goal</a:t>
            </a:r>
            <a:endParaRPr lang="en-US" sz="2400" dirty="0"/>
          </a:p>
          <a:p>
            <a:r>
              <a:rPr lang="en-US" sz="2400" dirty="0"/>
              <a:t>Delivers </a:t>
            </a:r>
            <a:r>
              <a:rPr lang="en-US" sz="2400" b="1" dirty="0"/>
              <a:t>one or more outputs</a:t>
            </a:r>
            <a:endParaRPr lang="en-US" sz="2400" dirty="0"/>
          </a:p>
          <a:p>
            <a:r>
              <a:rPr lang="en-US" sz="2400" dirty="0"/>
              <a:t>Based on a </a:t>
            </a:r>
            <a:r>
              <a:rPr lang="en-US" sz="2400" b="1" dirty="0"/>
              <a:t>business case</a:t>
            </a:r>
            <a:endParaRPr lang="en-US" sz="2400" dirty="0"/>
          </a:p>
          <a:p>
            <a:r>
              <a:rPr lang="en-US" sz="2400" b="1" dirty="0"/>
              <a:t>Ask students:</a:t>
            </a:r>
            <a:br>
              <a:rPr lang="en-US" sz="2400" dirty="0"/>
            </a:br>
            <a:r>
              <a:rPr lang="en-US" sz="2400" dirty="0"/>
              <a:t>❓ “Is daily teaching a project?” (NO – business as usual)</a:t>
            </a:r>
          </a:p>
        </p:txBody>
      </p:sp>
    </p:spTree>
    <p:extLst>
      <p:ext uri="{BB962C8B-B14F-4D97-AF65-F5344CB8AC3E}">
        <p14:creationId xmlns:p14="http://schemas.microsoft.com/office/powerpoint/2010/main" val="185802510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8F5A9-DF2E-89AD-A909-524EC1BAD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E82B2CC-7F50-2A1C-1A2D-884F713ED9D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3B15E31B-29C1-A1F7-3314-8FB623025966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8B33129-5A13-0229-48BA-C8EB46CC9AF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8BE1CC8-07D1-467E-DDA9-2782DDF3A517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9C9DF5D1-5A6D-2B3C-53F0-9C2DC51624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8. </a:t>
            </a:r>
            <a:r>
              <a:rPr lang="en-US" sz="4400" dirty="0"/>
              <a:t>Why Project Management is Important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B6E54FAA-7CB3-EC44-E9AA-53D31AEA3D37}"/>
              </a:ext>
            </a:extLst>
          </p:cNvPr>
          <p:cNvSpPr txBox="1"/>
          <p:nvPr/>
        </p:nvSpPr>
        <p:spPr>
          <a:xfrm>
            <a:off x="3095752" y="2310181"/>
            <a:ext cx="8448040" cy="264110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4000" dirty="0"/>
              <a:t>Organizations must balance:</a:t>
            </a:r>
            <a:br>
              <a:rPr lang="en-US" sz="4000" dirty="0"/>
            </a:br>
            <a:r>
              <a:rPr lang="en-US" sz="4000" dirty="0"/>
              <a:t>1️⃣ Running current operations</a:t>
            </a:r>
            <a:br>
              <a:rPr lang="en-US" sz="4000" dirty="0"/>
            </a:br>
            <a:r>
              <a:rPr lang="en-US" sz="4000" dirty="0"/>
              <a:t>2️⃣ Transforming to survive</a:t>
            </a:r>
            <a:br>
              <a:rPr lang="en-US" sz="4000" dirty="0"/>
            </a:br>
            <a:r>
              <a:rPr lang="en-US" sz="4000" dirty="0"/>
              <a:t>3️⃣ Continually improving services</a:t>
            </a:r>
          </a:p>
        </p:txBody>
      </p:sp>
    </p:spTree>
    <p:extLst>
      <p:ext uri="{BB962C8B-B14F-4D97-AF65-F5344CB8AC3E}">
        <p14:creationId xmlns:p14="http://schemas.microsoft.com/office/powerpoint/2010/main" val="99336132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58826-A9C0-84FD-B06A-C68EF4842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4C3D4FC-8E7A-6921-7EBB-6516950158C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979762FD-4E5C-25B9-56F2-4692DBA0A19B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0525446-5431-DAD4-B95C-923693EA8D8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FF7CAA5B-0B5E-D7D4-88DB-89E79A871B73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BED73154-F7E9-3190-5049-D04C20910B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8. </a:t>
            </a:r>
            <a:r>
              <a:rPr lang="en-US" sz="4400" dirty="0"/>
              <a:t>Project vs Business as Usual (Game)</a:t>
            </a:r>
            <a:endParaRPr sz="4400" dirty="0">
              <a:latin typeface="Cambria"/>
              <a:cs typeface="Cambria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89F4F83-391F-ED94-F471-CDA62ABDBB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1465987"/>
              </p:ext>
            </p:extLst>
          </p:nvPr>
        </p:nvGraphicFramePr>
        <p:xfrm>
          <a:off x="1730375" y="2802254"/>
          <a:ext cx="8731250" cy="2988944"/>
        </p:xfrm>
        <a:graphic>
          <a:graphicData uri="http://schemas.openxmlformats.org/drawingml/2006/table">
            <a:tbl>
              <a:tblPr/>
              <a:tblGrid>
                <a:gridCol w="4365625">
                  <a:extLst>
                    <a:ext uri="{9D8B030D-6E8A-4147-A177-3AD203B41FA5}">
                      <a16:colId xmlns:a16="http://schemas.microsoft.com/office/drawing/2014/main" val="1024787064"/>
                    </a:ext>
                  </a:extLst>
                </a:gridCol>
                <a:gridCol w="4365625">
                  <a:extLst>
                    <a:ext uri="{9D8B030D-6E8A-4147-A177-3AD203B41FA5}">
                      <a16:colId xmlns:a16="http://schemas.microsoft.com/office/drawing/2014/main" val="2543829982"/>
                    </a:ext>
                  </a:extLst>
                </a:gridCol>
              </a:tblGrid>
              <a:tr h="747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Project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Business as Usual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3854373"/>
                  </a:ext>
                </a:extLst>
              </a:tr>
              <a:tr h="747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Temporary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Ongoing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858186"/>
                  </a:ext>
                </a:extLst>
              </a:tr>
              <a:tr h="747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Has end 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No end 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1161504"/>
                  </a:ext>
                </a:extLst>
              </a:tr>
              <a:tr h="747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Change-focused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Stability-focused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76281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552074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9EAEA-4958-CD16-3946-AEF932309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68E1898-290E-4D21-9E0D-A63D3394892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D96E3FC-C4AD-6F0C-E43B-438AFA3DD9FF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8D252AC-4B14-966C-45C2-77910188381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08B51BA-B0D6-B499-94F5-2F0F5C423271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C63BEF2A-6285-4DD1-2E1B-43189294E8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8. Standalone Project or Programme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3232A320-9253-5566-D24A-10E041F06A67}"/>
              </a:ext>
            </a:extLst>
          </p:cNvPr>
          <p:cNvSpPr txBox="1"/>
          <p:nvPr/>
        </p:nvSpPr>
        <p:spPr>
          <a:xfrm>
            <a:off x="3095752" y="2310181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Projects can be:</a:t>
            </a:r>
          </a:p>
          <a:p>
            <a:r>
              <a:rPr lang="en-US" sz="2800" dirty="0"/>
              <a:t>Standalone</a:t>
            </a:r>
          </a:p>
          <a:p>
            <a:r>
              <a:rPr lang="en-US" sz="2800" dirty="0"/>
              <a:t>Part of a </a:t>
            </a:r>
            <a:r>
              <a:rPr lang="en-US" sz="2800" b="1" dirty="0" err="1"/>
              <a:t>programme</a:t>
            </a:r>
            <a:r>
              <a:rPr lang="en-US" sz="2800" dirty="0"/>
              <a:t> (many related projects)</a:t>
            </a:r>
          </a:p>
          <a:p>
            <a:r>
              <a:rPr lang="en-US" sz="2800" b="1" dirty="0"/>
              <a:t>Example:</a:t>
            </a:r>
            <a:br>
              <a:rPr lang="en-US" sz="2800" dirty="0"/>
            </a:br>
            <a:r>
              <a:rPr lang="en-US" sz="2800" dirty="0"/>
              <a:t>📱 App development </a:t>
            </a:r>
            <a:r>
              <a:rPr lang="en-US" sz="2800" dirty="0" err="1"/>
              <a:t>programme</a:t>
            </a:r>
            <a:r>
              <a:rPr lang="en-US" sz="2800" dirty="0"/>
              <a:t>:</a:t>
            </a:r>
          </a:p>
          <a:p>
            <a:r>
              <a:rPr lang="en-US" sz="2800" dirty="0"/>
              <a:t>UI project</a:t>
            </a:r>
          </a:p>
          <a:p>
            <a:r>
              <a:rPr lang="en-US" sz="2800" dirty="0"/>
              <a:t>Backend project</a:t>
            </a:r>
          </a:p>
          <a:p>
            <a:r>
              <a:rPr lang="en-US" sz="2800" dirty="0"/>
              <a:t>Testing project</a:t>
            </a:r>
          </a:p>
        </p:txBody>
      </p:sp>
    </p:spTree>
    <p:extLst>
      <p:ext uri="{BB962C8B-B14F-4D97-AF65-F5344CB8AC3E}">
        <p14:creationId xmlns:p14="http://schemas.microsoft.com/office/powerpoint/2010/main" val="182421536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69877-4DA6-CAFF-EC85-5726E6FDB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A73A605-ED70-94F2-13D6-1AD4259182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B0E2EE0-68AC-AFD9-2F3D-9E87A0DE59D9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17ED223-D563-BA46-FF87-EDB51EED742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42C4F85-E8AB-F9C9-9A1E-8C531ED4A9DC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B32D9908-B3B8-C136-B6FD-1F7A962585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8. Project &amp; Project Portfolio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E33CC310-0BCE-14FA-6C39-15BED309C862}"/>
              </a:ext>
            </a:extLst>
          </p:cNvPr>
          <p:cNvSpPr txBox="1"/>
          <p:nvPr/>
        </p:nvSpPr>
        <p:spPr>
          <a:xfrm>
            <a:off x="3095752" y="2310181"/>
            <a:ext cx="8448040" cy="233333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Even single projects:</a:t>
            </a:r>
          </a:p>
          <a:p>
            <a:r>
              <a:rPr lang="en-US" sz="2800" dirty="0"/>
              <a:t>Must align with </a:t>
            </a:r>
            <a:r>
              <a:rPr lang="en-US" sz="2800" b="1" dirty="0"/>
              <a:t>project portfolio</a:t>
            </a:r>
            <a:endParaRPr lang="en-US" sz="2800" dirty="0"/>
          </a:p>
          <a:p>
            <a:r>
              <a:rPr lang="en-US" sz="2800" dirty="0"/>
              <a:t>Must match </a:t>
            </a:r>
            <a:r>
              <a:rPr lang="en-US" sz="2800" b="1" dirty="0"/>
              <a:t>organizational strategy</a:t>
            </a:r>
            <a:endParaRPr lang="en-US" sz="2800" dirty="0"/>
          </a:p>
          <a:p>
            <a:r>
              <a:rPr lang="en-US" sz="2800" b="1" dirty="0"/>
              <a:t>Question:</a:t>
            </a:r>
            <a:br>
              <a:rPr lang="en-US" sz="2800" dirty="0"/>
            </a:br>
            <a:r>
              <a:rPr lang="en-US" sz="2800" dirty="0"/>
              <a:t>❓ “Should useless projects be allowed?”</a:t>
            </a:r>
          </a:p>
        </p:txBody>
      </p:sp>
    </p:spTree>
    <p:extLst>
      <p:ext uri="{BB962C8B-B14F-4D97-AF65-F5344CB8AC3E}">
        <p14:creationId xmlns:p14="http://schemas.microsoft.com/office/powerpoint/2010/main" val="91981886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9910C-F1BD-474C-99B9-281D49BE9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65A0C07-2130-A569-DCD8-551C32C219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419B9C1F-6808-E443-3A4C-A777FCF11BF0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1900878B-DF0D-973E-C1B8-DBAD09EFB7E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9115E27-F5D6-6C6B-8EFE-F70B60F5895E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DF8CD204-A030-A95C-399E-C62087F61D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8. </a:t>
            </a:r>
            <a:r>
              <a:rPr lang="en-US" sz="4400" dirty="0"/>
              <a:t>Risk of Poor Project Management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836B377D-ECE3-D9BC-7127-60754EAE8BB7}"/>
              </a:ext>
            </a:extLst>
          </p:cNvPr>
          <p:cNvSpPr txBox="1"/>
          <p:nvPr/>
        </p:nvSpPr>
        <p:spPr>
          <a:xfrm>
            <a:off x="3095752" y="2167946"/>
            <a:ext cx="8448040" cy="233333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Without proper management:</a:t>
            </a:r>
          </a:p>
          <a:p>
            <a:r>
              <a:rPr lang="en-US" sz="2800" dirty="0"/>
              <a:t>Resource conflicts</a:t>
            </a:r>
          </a:p>
          <a:p>
            <a:r>
              <a:rPr lang="en-US" sz="2800" dirty="0"/>
              <a:t>Service disruption</a:t>
            </a:r>
          </a:p>
          <a:p>
            <a:r>
              <a:rPr lang="en-US" sz="2800" dirty="0"/>
              <a:t>Customer dissatisfaction</a:t>
            </a:r>
          </a:p>
          <a:p>
            <a:r>
              <a:rPr lang="en-US" sz="2800" dirty="0"/>
              <a:t>Employee burnout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DB452B-5358-7EC0-7BB7-2234E94DEB6D}"/>
              </a:ext>
            </a:extLst>
          </p:cNvPr>
          <p:cNvSpPr txBox="1"/>
          <p:nvPr/>
        </p:nvSpPr>
        <p:spPr>
          <a:xfrm>
            <a:off x="5669552" y="4756308"/>
            <a:ext cx="60974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Quick discussion:</a:t>
            </a:r>
            <a:br>
              <a:rPr lang="en-US" sz="1800" dirty="0"/>
            </a:br>
            <a:r>
              <a:rPr lang="en-US" sz="1800" dirty="0"/>
              <a:t>😵 “What happens if everyone works on projects AND daily work?”</a:t>
            </a:r>
          </a:p>
        </p:txBody>
      </p:sp>
    </p:spTree>
    <p:extLst>
      <p:ext uri="{BB962C8B-B14F-4D97-AF65-F5344CB8AC3E}">
        <p14:creationId xmlns:p14="http://schemas.microsoft.com/office/powerpoint/2010/main" val="318347195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5FA04-5B88-9D5D-05E7-C73FFFAFE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B7FD296-5936-65B3-C278-201D39CB72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24A69FF-F203-2252-9A41-AB190C74EF39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E14461FC-DFB0-9C5A-8636-BC2B74FF0A2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442C554-0151-447D-EC3D-B50F38921B5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FD7A17D4-76EC-1536-5F9F-9D4832B202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dirty="0"/>
              <a:t> 8. </a:t>
            </a:r>
            <a:r>
              <a:rPr lang="en-US" dirty="0"/>
              <a:t>Role of People in Projects</a:t>
            </a:r>
            <a:endParaRPr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4AB0588F-4233-6031-0B0E-AB94556A168E}"/>
              </a:ext>
            </a:extLst>
          </p:cNvPr>
          <p:cNvSpPr txBox="1"/>
          <p:nvPr/>
        </p:nvSpPr>
        <p:spPr>
          <a:xfrm>
            <a:off x="3095752" y="2310181"/>
            <a:ext cx="8448040" cy="40568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Projects depend on:</a:t>
            </a:r>
          </a:p>
          <a:p>
            <a:r>
              <a:rPr lang="en-US" sz="3600" dirty="0"/>
              <a:t>Right people</a:t>
            </a:r>
          </a:p>
          <a:p>
            <a:r>
              <a:rPr lang="en-US" sz="3600" dirty="0"/>
              <a:t>Right skills</a:t>
            </a:r>
          </a:p>
          <a:p>
            <a:r>
              <a:rPr lang="en-US" sz="3600" dirty="0"/>
              <a:t>Right time</a:t>
            </a:r>
          </a:p>
          <a:p>
            <a:r>
              <a:rPr lang="en-US" sz="3600" dirty="0"/>
              <a:t>Even best plan fails if:</a:t>
            </a:r>
            <a:br>
              <a:rPr lang="en-US" sz="3600" dirty="0"/>
            </a:br>
            <a:r>
              <a:rPr lang="en-US" sz="3600" dirty="0"/>
              <a:t>❌ People are missing</a:t>
            </a:r>
            <a:br>
              <a:rPr lang="en-US" sz="3600" dirty="0"/>
            </a:br>
            <a:r>
              <a:rPr lang="en-US" sz="3600" dirty="0"/>
              <a:t>❌ No cooperation</a:t>
            </a:r>
          </a:p>
        </p:txBody>
      </p:sp>
    </p:spTree>
    <p:extLst>
      <p:ext uri="{BB962C8B-B14F-4D97-AF65-F5344CB8AC3E}">
        <p14:creationId xmlns:p14="http://schemas.microsoft.com/office/powerpoint/2010/main" val="49442681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0ACC3-398D-9360-CBAD-F321F89F6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52F5F69-54D1-4CA0-2162-0F163447DA5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AA22AA32-9B92-8F0B-0E79-8164BAFC7D4B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9DF3C43-E9EC-47CE-F1D6-1FBDCC075A5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A7F33C6-9865-D665-AA1B-CB7985E4C67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83194E15-36F0-C581-141F-392632E76B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dirty="0"/>
              <a:t> 8. Project Team Reality</a:t>
            </a:r>
            <a:endParaRPr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421B5530-7372-3C28-976B-B7D1233BC229}"/>
              </a:ext>
            </a:extLst>
          </p:cNvPr>
          <p:cNvSpPr txBox="1"/>
          <p:nvPr/>
        </p:nvSpPr>
        <p:spPr>
          <a:xfrm>
            <a:off x="3095752" y="2065433"/>
            <a:ext cx="8448040" cy="3502882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Project team members:</a:t>
            </a:r>
          </a:p>
          <a:p>
            <a:r>
              <a:rPr lang="en-US" sz="3600" dirty="0"/>
              <a:t>Often come from daily operations</a:t>
            </a:r>
          </a:p>
          <a:p>
            <a:r>
              <a:rPr lang="en-US" sz="3600" dirty="0"/>
              <a:t>Work full-time or part-time</a:t>
            </a:r>
          </a:p>
          <a:p>
            <a:r>
              <a:rPr lang="en-US" sz="3600" dirty="0"/>
              <a:t>Must balance both roles</a:t>
            </a:r>
          </a:p>
          <a:p>
            <a:r>
              <a:rPr lang="en-US" sz="3600" b="1" dirty="0"/>
              <a:t>Relatable example:</a:t>
            </a:r>
            <a:br>
              <a:rPr lang="en-US" sz="3600" dirty="0"/>
            </a:br>
            <a:r>
              <a:rPr lang="en-US" sz="3600" dirty="0"/>
              <a:t>👩‍🏫 Teacher + committee work</a:t>
            </a:r>
          </a:p>
        </p:txBody>
      </p:sp>
    </p:spTree>
    <p:extLst>
      <p:ext uri="{BB962C8B-B14F-4D97-AF65-F5344CB8AC3E}">
        <p14:creationId xmlns:p14="http://schemas.microsoft.com/office/powerpoint/2010/main" val="333274259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A44EC-D95A-C52B-37C3-D7A67767C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629D529-AD36-DA8C-2C38-C43065629B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B951B8B-6930-86E9-EFF4-1CA98529076B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17455F2-2ED9-6E53-B420-766AA9D8A3D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2F7AC5B-88F2-A631-1BCC-02BC2836FE7D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17F86226-BB4A-5B66-30B0-93178D3698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dirty="0"/>
              <a:t> 8. Project Delivery Approaches</a:t>
            </a:r>
            <a:endParaRPr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D5C11020-8B2D-EAF3-8436-D0984D5F18F9}"/>
              </a:ext>
            </a:extLst>
          </p:cNvPr>
          <p:cNvSpPr txBox="1"/>
          <p:nvPr/>
        </p:nvSpPr>
        <p:spPr>
          <a:xfrm>
            <a:off x="3095752" y="2057400"/>
            <a:ext cx="8448040" cy="128689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400" dirty="0"/>
              <a:t>Two common methods:</a:t>
            </a:r>
            <a:br>
              <a:rPr lang="en-US" sz="2400" dirty="0"/>
            </a:br>
            <a:r>
              <a:rPr lang="en-US" sz="2400" dirty="0"/>
              <a:t>1️⃣ Waterfall</a:t>
            </a:r>
            <a:br>
              <a:rPr lang="en-US" sz="2400" dirty="0"/>
            </a:br>
            <a:r>
              <a:rPr lang="en-US" sz="2400" dirty="0"/>
              <a:t>2️⃣ Agile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8EA78C7-E0D7-28FF-6A96-EEE12E227B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4019717"/>
              </p:ext>
            </p:extLst>
          </p:nvPr>
        </p:nvGraphicFramePr>
        <p:xfrm>
          <a:off x="2812542" y="3657602"/>
          <a:ext cx="8731250" cy="2930116"/>
        </p:xfrm>
        <a:graphic>
          <a:graphicData uri="http://schemas.openxmlformats.org/drawingml/2006/table">
            <a:tbl>
              <a:tblPr/>
              <a:tblGrid>
                <a:gridCol w="4365625">
                  <a:extLst>
                    <a:ext uri="{9D8B030D-6E8A-4147-A177-3AD203B41FA5}">
                      <a16:colId xmlns:a16="http://schemas.microsoft.com/office/drawing/2014/main" val="113607259"/>
                    </a:ext>
                  </a:extLst>
                </a:gridCol>
                <a:gridCol w="4365625">
                  <a:extLst>
                    <a:ext uri="{9D8B030D-6E8A-4147-A177-3AD203B41FA5}">
                      <a16:colId xmlns:a16="http://schemas.microsoft.com/office/drawing/2014/main" val="2503811458"/>
                    </a:ext>
                  </a:extLst>
                </a:gridCol>
              </a:tblGrid>
              <a:tr h="732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 dirty="0"/>
                        <a:t>Waterfall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/>
                        <a:t>Agile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0621533"/>
                  </a:ext>
                </a:extLst>
              </a:tr>
              <a:tr h="732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 dirty="0"/>
                        <a:t>Fixed plan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/>
                        <a:t>Flexible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187477"/>
                  </a:ext>
                </a:extLst>
              </a:tr>
              <a:tr h="732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/>
                        <a:t>Slow changes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/>
                        <a:t>Fast changes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075875"/>
                  </a:ext>
                </a:extLst>
              </a:tr>
              <a:tr h="732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/>
                        <a:t>Heavy documentation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 dirty="0"/>
                        <a:t>Working 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86459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565398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44E44-CF49-C915-0677-3D42A91CE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C2CD40F-18FD-4BB8-D5CE-41A261D571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91FEEDB5-94D6-0F53-E51A-4D9B3E23B7DE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F2713CB7-09D9-4D6E-3DDB-8D0CF19DF45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B55C0BC-BA20-CDDC-19DC-71A52693D54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1EB3AA2C-2A4E-BDCD-7DA5-D02969E0F1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dirty="0"/>
              <a:t> 8. Value Chain: Design &amp; Transition AND Obtain / Build</a:t>
            </a:r>
            <a:endParaRPr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D10719-00FE-546E-86C7-7502C9880494}"/>
              </a:ext>
            </a:extLst>
          </p:cNvPr>
          <p:cNvSpPr txBox="1"/>
          <p:nvPr/>
        </p:nvSpPr>
        <p:spPr>
          <a:xfrm>
            <a:off x="3095752" y="2057400"/>
            <a:ext cx="8448040" cy="461087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400" dirty="0"/>
              <a:t>New service design = project</a:t>
            </a:r>
          </a:p>
          <a:p>
            <a:r>
              <a:rPr lang="en-US" sz="2400" dirty="0"/>
              <a:t>Major changes = project</a:t>
            </a:r>
          </a:p>
          <a:p>
            <a:r>
              <a:rPr lang="en-US" sz="2400" b="1" dirty="0"/>
              <a:t>Example:</a:t>
            </a:r>
            <a:br>
              <a:rPr lang="en-US" sz="2400" dirty="0"/>
            </a:br>
            <a:r>
              <a:rPr lang="en-US" sz="2400" dirty="0"/>
              <a:t>🖥️ New ERP system rollout</a:t>
            </a:r>
          </a:p>
          <a:p>
            <a:endParaRPr lang="en-US" sz="2400" dirty="0"/>
          </a:p>
          <a:p>
            <a:r>
              <a:rPr lang="en-US" sz="2400" dirty="0"/>
              <a:t>Resource acquisition</a:t>
            </a:r>
          </a:p>
          <a:p>
            <a:r>
              <a:rPr lang="en-US" sz="2400" dirty="0"/>
              <a:t>Development</a:t>
            </a:r>
          </a:p>
          <a:p>
            <a:r>
              <a:rPr lang="en-US" sz="2400" dirty="0"/>
              <a:t>Integration</a:t>
            </a:r>
          </a:p>
          <a:p>
            <a:r>
              <a:rPr lang="en-US" sz="2400" dirty="0"/>
              <a:t>All managed as projects</a:t>
            </a:r>
          </a:p>
          <a:p>
            <a:r>
              <a:rPr lang="en-US" sz="2400" b="1" dirty="0"/>
              <a:t>Ask:</a:t>
            </a:r>
            <a:br>
              <a:rPr lang="en-US" sz="2400" dirty="0"/>
            </a:br>
            <a:r>
              <a:rPr lang="en-US" sz="2400" dirty="0"/>
              <a:t>❓ “Can development happen without planning?”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144895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544FE-2FAE-6FFA-6E9D-8F95C72BE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12A3AA-1736-FC72-A033-60E10EF0D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95710"/>
            <a:ext cx="9296400" cy="646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35559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5FB12-C455-A5F3-165C-D1BE9F57B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4050B5B-269D-7FF5-8395-9CB13BCEBFB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91133254-BD58-F227-7465-7A362C9FEAEB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B561534B-A856-36A8-DB81-AD3FAD5F8DD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F37D5B3B-8245-B6FE-C491-708D967EBB1F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6C267505-7CD3-2137-E516-B1BC2BB6DC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8. Summary Slide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E5CADB94-60FB-46CB-ED66-248B6488A364}"/>
              </a:ext>
            </a:extLst>
          </p:cNvPr>
          <p:cNvSpPr txBox="1"/>
          <p:nvPr/>
        </p:nvSpPr>
        <p:spPr>
          <a:xfrm>
            <a:off x="3095752" y="2310181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✅ Ensures projects succeed</a:t>
            </a:r>
            <a:br>
              <a:rPr lang="en-US" sz="3600" dirty="0"/>
            </a:br>
            <a:r>
              <a:rPr lang="en-US" sz="3600" dirty="0"/>
              <a:t>✅ Manages change safely</a:t>
            </a:r>
            <a:br>
              <a:rPr lang="en-US" sz="3600" dirty="0"/>
            </a:br>
            <a:r>
              <a:rPr lang="en-US" sz="3600" dirty="0"/>
              <a:t>✅ Balances projects &amp; operations</a:t>
            </a:r>
            <a:br>
              <a:rPr lang="en-US" sz="3600" dirty="0"/>
            </a:br>
            <a:r>
              <a:rPr lang="en-US" sz="3600" dirty="0"/>
              <a:t>✅ Supports all value chain activities</a:t>
            </a:r>
            <a:br>
              <a:rPr lang="en-US" sz="3600" dirty="0"/>
            </a:br>
            <a:r>
              <a:rPr lang="en-US" sz="3600" dirty="0"/>
              <a:t>✅ People are the key factor</a:t>
            </a:r>
          </a:p>
        </p:txBody>
      </p:sp>
    </p:spTree>
    <p:extLst>
      <p:ext uri="{BB962C8B-B14F-4D97-AF65-F5344CB8AC3E}">
        <p14:creationId xmlns:p14="http://schemas.microsoft.com/office/powerpoint/2010/main" val="204374341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AE3E5-584C-446C-E0FC-298A7BCCF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EBE95-5CE4-799F-3DD6-2862B968C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667000"/>
            <a:ext cx="9677400" cy="923330"/>
          </a:xfrm>
        </p:spPr>
        <p:txBody>
          <a:bodyPr/>
          <a:lstStyle/>
          <a:p>
            <a:pPr algn="ctr"/>
            <a:r>
              <a:rPr lang="en-IN" dirty="0"/>
              <a:t>9. </a:t>
            </a:r>
            <a:r>
              <a:rPr lang="en-US" dirty="0"/>
              <a:t>Relationship</a:t>
            </a:r>
            <a:r>
              <a:rPr lang="en-IN" dirty="0"/>
              <a:t> Management</a:t>
            </a:r>
            <a:br>
              <a:rPr lang="en-IN" dirty="0"/>
            </a:br>
            <a:r>
              <a:rPr lang="en-US" sz="2000" b="0" i="1" dirty="0"/>
              <a:t>Because services are built on relationships</a:t>
            </a:r>
            <a:endParaRPr lang="en-IN" b="0" i="1" dirty="0"/>
          </a:p>
        </p:txBody>
      </p:sp>
    </p:spTree>
    <p:extLst>
      <p:ext uri="{BB962C8B-B14F-4D97-AF65-F5344CB8AC3E}">
        <p14:creationId xmlns:p14="http://schemas.microsoft.com/office/powerpoint/2010/main" val="195695595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D444D-4F66-A5EB-066D-F0E9C9AD1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BE8A370-EEE3-283C-AC48-39E82BCF8EB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981452F4-5462-D3D9-1454-D77C9E9AF8E9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C9E7167-B4B4-A79D-9E23-E7B0B9F8056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86B5DEF-5CD0-84F9-613D-C052B62C6C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AB3403B6-60A5-B971-7607-8AD69170DC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 </a:t>
            </a:r>
            <a:r>
              <a:rPr lang="en-IN" sz="4400" dirty="0"/>
              <a:t>9. </a:t>
            </a:r>
            <a:r>
              <a:rPr lang="en-US" sz="4400" dirty="0"/>
              <a:t>Relationship</a:t>
            </a:r>
            <a:r>
              <a:rPr lang="en-IN" sz="4400" dirty="0"/>
              <a:t> Management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DEF8663C-979D-9EE7-0028-3AEA54321ED5}"/>
              </a:ext>
            </a:extLst>
          </p:cNvPr>
          <p:cNvSpPr txBox="1"/>
          <p:nvPr/>
        </p:nvSpPr>
        <p:spPr>
          <a:xfrm>
            <a:off x="3095752" y="2058145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Relationship management means:</a:t>
            </a:r>
          </a:p>
          <a:p>
            <a:r>
              <a:rPr lang="en-US" sz="3600" dirty="0"/>
              <a:t>Understanding people’s needs</a:t>
            </a:r>
          </a:p>
          <a:p>
            <a:r>
              <a:rPr lang="en-US" sz="3600" dirty="0"/>
              <a:t>Talking to them regularly</a:t>
            </a:r>
          </a:p>
          <a:p>
            <a:r>
              <a:rPr lang="en-US" sz="3600" dirty="0"/>
              <a:t>Solving conflicts</a:t>
            </a:r>
          </a:p>
          <a:p>
            <a:r>
              <a:rPr lang="en-US" sz="3600" dirty="0"/>
              <a:t>Keeping everyone satisfied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53468D-E1F1-43D3-22BC-AEA18F27A66E}"/>
              </a:ext>
            </a:extLst>
          </p:cNvPr>
          <p:cNvSpPr txBox="1"/>
          <p:nvPr/>
        </p:nvSpPr>
        <p:spPr>
          <a:xfrm>
            <a:off x="6119446" y="6096000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👉 </a:t>
            </a:r>
            <a:r>
              <a:rPr lang="en-US" sz="1800" i="1" dirty="0"/>
              <a:t>Good services come from good relationships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159364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12D8E-0B20-4404-46CD-E28D268D1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E2B2ACA-A619-6C02-64F1-4B392EAE1A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AFA6B000-2DCC-0535-D129-85D7B5C5CBD9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D9E2EC25-60F4-5293-CFED-5C0A6C63EC6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87842EB-999F-D9C9-77DB-DB02A1B956C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7B2E54E3-CCE1-1DCA-258B-AC214ADC5B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9. Who Are Stakeholders?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3567B903-1EE9-C173-5B8F-E138429393AF}"/>
              </a:ext>
            </a:extLst>
          </p:cNvPr>
          <p:cNvSpPr txBox="1"/>
          <p:nvPr/>
        </p:nvSpPr>
        <p:spPr>
          <a:xfrm>
            <a:off x="3095752" y="2058145"/>
            <a:ext cx="8448040" cy="4487767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Stakeholders include:</a:t>
            </a:r>
          </a:p>
          <a:p>
            <a:r>
              <a:rPr lang="en-US" sz="2800" dirty="0"/>
              <a:t>Customers</a:t>
            </a:r>
          </a:p>
          <a:p>
            <a:r>
              <a:rPr lang="en-US" sz="2800" dirty="0"/>
              <a:t>Users</a:t>
            </a:r>
          </a:p>
          <a:p>
            <a:r>
              <a:rPr lang="en-US" sz="2800" dirty="0"/>
              <a:t>Sponsors</a:t>
            </a:r>
          </a:p>
          <a:p>
            <a:r>
              <a:rPr lang="en-US" sz="2800" dirty="0"/>
              <a:t>Employees</a:t>
            </a:r>
          </a:p>
          <a:p>
            <a:r>
              <a:rPr lang="en-US" sz="2800" dirty="0"/>
              <a:t>Suppliers</a:t>
            </a:r>
          </a:p>
          <a:p>
            <a:r>
              <a:rPr lang="en-US" sz="2800" dirty="0"/>
              <a:t>Partners</a:t>
            </a:r>
          </a:p>
          <a:p>
            <a:r>
              <a:rPr lang="en-US" sz="2800" dirty="0"/>
              <a:t>🎮 </a:t>
            </a:r>
            <a:r>
              <a:rPr lang="en-US" sz="2800" b="1" dirty="0"/>
              <a:t>Activity:</a:t>
            </a:r>
            <a:br>
              <a:rPr lang="en-US" sz="2800" dirty="0"/>
            </a:br>
            <a:r>
              <a:rPr lang="en-US" sz="2800" dirty="0"/>
              <a:t>Ask students:</a:t>
            </a:r>
            <a:br>
              <a:rPr lang="en-US" sz="2800" dirty="0"/>
            </a:br>
            <a:r>
              <a:rPr lang="en-US" sz="2800" dirty="0"/>
              <a:t>❓ “Who are the stakeholders in our college?”</a:t>
            </a:r>
          </a:p>
        </p:txBody>
      </p:sp>
    </p:spTree>
    <p:extLst>
      <p:ext uri="{BB962C8B-B14F-4D97-AF65-F5344CB8AC3E}">
        <p14:creationId xmlns:p14="http://schemas.microsoft.com/office/powerpoint/2010/main" val="42634260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ACE8E-3C49-1B9D-9405-9D0E91E47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0E915B5-6C5C-882A-7930-1B030CF0E0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D27E48F-7130-99E1-1403-DCC4BD464415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3C414D5-8350-1596-5A4C-3B0ECE72C9C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FC986C7D-E6A0-1F54-4516-D9FEB1164C9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B7740C17-6405-0866-142B-6637CAE0E4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9. What Relationship Management Does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F86D49E0-3D28-58F6-A07A-844729941280}"/>
              </a:ext>
            </a:extLst>
          </p:cNvPr>
          <p:cNvSpPr txBox="1"/>
          <p:nvPr/>
        </p:nvSpPr>
        <p:spPr>
          <a:xfrm>
            <a:off x="3095752" y="2310181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This practice ensures that:</a:t>
            </a:r>
          </a:p>
          <a:p>
            <a:r>
              <a:rPr lang="en-US" sz="3600" dirty="0"/>
              <a:t>✔ Stakeholder needs are understood</a:t>
            </a:r>
            <a:br>
              <a:rPr lang="en-US" sz="3600" dirty="0"/>
            </a:br>
            <a:r>
              <a:rPr lang="en-US" sz="3600" dirty="0"/>
              <a:t>✔ Right products/services are prioritized</a:t>
            </a:r>
            <a:br>
              <a:rPr lang="en-US" sz="3600" dirty="0"/>
            </a:br>
            <a:r>
              <a:rPr lang="en-US" sz="3600" dirty="0"/>
              <a:t>✔ Customer satisfaction stays high</a:t>
            </a:r>
            <a:br>
              <a:rPr lang="en-US" sz="3600" dirty="0"/>
            </a:br>
            <a:r>
              <a:rPr lang="en-US" sz="3600" dirty="0"/>
              <a:t>✔ Trust is built and maintained</a:t>
            </a:r>
          </a:p>
        </p:txBody>
      </p:sp>
    </p:spTree>
    <p:extLst>
      <p:ext uri="{BB962C8B-B14F-4D97-AF65-F5344CB8AC3E}">
        <p14:creationId xmlns:p14="http://schemas.microsoft.com/office/powerpoint/2010/main" val="197508319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05158-C2DF-DA25-908D-8AC51192E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9819F90-3948-F9CE-829F-BFDEFB9DB9E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A03AB2A9-ED9E-C1FF-3060-627BE2F8D500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B106D66-283A-B0CA-8AC0-494563B1231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1B62A88-2F8C-C07D-A0AA-C75F7A69008D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2665366F-0642-17D5-4BEA-08781B6C95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9. Customer Priorities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D7468E90-4FD5-453D-B33D-3BF1A721E0A2}"/>
              </a:ext>
            </a:extLst>
          </p:cNvPr>
          <p:cNvSpPr txBox="1"/>
          <p:nvPr/>
        </p:nvSpPr>
        <p:spPr>
          <a:xfrm>
            <a:off x="3095752" y="2310181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dirty="0"/>
              <a:t>Relationship management helps:</a:t>
            </a:r>
          </a:p>
          <a:p>
            <a:r>
              <a:rPr lang="en-US" sz="3200" dirty="0"/>
              <a:t>Identify customer priorities</a:t>
            </a:r>
          </a:p>
          <a:p>
            <a:r>
              <a:rPr lang="en-US" sz="3200" dirty="0"/>
              <a:t>Align them with </a:t>
            </a:r>
            <a:r>
              <a:rPr lang="en-US" sz="3200" b="1" dirty="0"/>
              <a:t>business outcomes</a:t>
            </a:r>
            <a:endParaRPr lang="en-US" sz="3200" dirty="0"/>
          </a:p>
          <a:p>
            <a:r>
              <a:rPr lang="en-US" sz="3200" dirty="0"/>
              <a:t>Clearly communicate requirements</a:t>
            </a:r>
          </a:p>
          <a:p>
            <a:r>
              <a:rPr lang="en-US" sz="3200" b="1" dirty="0"/>
              <a:t>Example:</a:t>
            </a:r>
            <a:br>
              <a:rPr lang="en-US" sz="3200" dirty="0"/>
            </a:br>
            <a:r>
              <a:rPr lang="en-US" sz="3200" dirty="0"/>
              <a:t>🎓 Students want faster exam results → IT system upgrade</a:t>
            </a:r>
          </a:p>
        </p:txBody>
      </p:sp>
    </p:spTree>
    <p:extLst>
      <p:ext uri="{BB962C8B-B14F-4D97-AF65-F5344CB8AC3E}">
        <p14:creationId xmlns:p14="http://schemas.microsoft.com/office/powerpoint/2010/main" val="288810521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44A03-1E20-3EFF-5E55-753027238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FA636B8-7E0A-4875-8B12-4D77B69877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3A3DAAA1-778B-1F8E-96EB-BD0D40046161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0DDA6C53-CBBE-CDC7-D719-B25B834E605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F40DD447-DD90-3D3C-D61D-C7ED7EE2BDA6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BE6276B9-4B98-C432-7768-B32D324CD0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9. Handling Complaints &amp; Escalations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A0580134-F6A8-93B8-E9A8-CD72D9AB8D3A}"/>
              </a:ext>
            </a:extLst>
          </p:cNvPr>
          <p:cNvSpPr txBox="1"/>
          <p:nvPr/>
        </p:nvSpPr>
        <p:spPr>
          <a:xfrm>
            <a:off x="3095752" y="2310181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Ensures complaints are:</a:t>
            </a:r>
          </a:p>
          <a:p>
            <a:r>
              <a:rPr lang="en-US" sz="2800" dirty="0"/>
              <a:t>Handled </a:t>
            </a:r>
            <a:r>
              <a:rPr lang="en-US" sz="2800" b="1" dirty="0"/>
              <a:t>sympathetically</a:t>
            </a:r>
            <a:endParaRPr lang="en-US" sz="2800" dirty="0"/>
          </a:p>
          <a:p>
            <a:r>
              <a:rPr lang="en-US" sz="2800" dirty="0"/>
              <a:t>Follow a </a:t>
            </a:r>
            <a:r>
              <a:rPr lang="en-US" sz="2800" b="1" dirty="0"/>
              <a:t>formal process</a:t>
            </a:r>
            <a:endParaRPr lang="en-US" sz="2800" dirty="0"/>
          </a:p>
          <a:p>
            <a:r>
              <a:rPr lang="en-US" sz="2800" dirty="0"/>
              <a:t>Resolved professionally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b="1" dirty="0"/>
              <a:t>Key exam phrase:</a:t>
            </a:r>
            <a:br>
              <a:rPr lang="en-US" sz="2800" dirty="0"/>
            </a:br>
            <a:r>
              <a:rPr lang="en-US" sz="2800" dirty="0"/>
              <a:t>👉 “Sympathetic yet formal process”</a:t>
            </a:r>
          </a:p>
        </p:txBody>
      </p:sp>
    </p:spTree>
    <p:extLst>
      <p:ext uri="{BB962C8B-B14F-4D97-AF65-F5344CB8AC3E}">
        <p14:creationId xmlns:p14="http://schemas.microsoft.com/office/powerpoint/2010/main" val="403639745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37099-EE8C-B2F0-3BCE-8246084A6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830D84A-B1C3-CB3F-02F7-B28A9F45A06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42F78D6-81C4-158F-4D4D-2BFD3751B75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44454CD-4F42-AE59-7A88-DFD00713399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4AE46AF-3A57-F6C5-C5ED-238395CEDB4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B1856E2C-EAEE-0969-651E-F8D5D0D74F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8601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dirty="0"/>
              <a:t> 9. </a:t>
            </a:r>
            <a:r>
              <a:rPr lang="en-US" dirty="0"/>
              <a:t>Value Creation Through Relationships</a:t>
            </a:r>
            <a:br>
              <a:rPr lang="en-US" dirty="0"/>
            </a:br>
            <a:endParaRPr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805BDF1B-CDF6-624E-59CB-6013EFEEB209}"/>
              </a:ext>
            </a:extLst>
          </p:cNvPr>
          <p:cNvSpPr txBox="1"/>
          <p:nvPr/>
        </p:nvSpPr>
        <p:spPr>
          <a:xfrm>
            <a:off x="3095752" y="2310181"/>
            <a:ext cx="8448040" cy="40568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Relationship management ensures:</a:t>
            </a:r>
          </a:p>
          <a:p>
            <a:r>
              <a:rPr lang="en-US" sz="3600" dirty="0"/>
              <a:t>Services create value for customers</a:t>
            </a:r>
          </a:p>
          <a:p>
            <a:r>
              <a:rPr lang="en-US" sz="3600" dirty="0"/>
              <a:t>Services also benefit the organization</a:t>
            </a:r>
          </a:p>
          <a:p>
            <a:r>
              <a:rPr lang="en-US" sz="3600" dirty="0"/>
              <a:t>Win–win outcomes</a:t>
            </a:r>
          </a:p>
          <a:p>
            <a:r>
              <a:rPr lang="en-US" sz="3600" dirty="0"/>
              <a:t>🧠 </a:t>
            </a:r>
            <a:r>
              <a:rPr lang="en-US" sz="3600" b="1" dirty="0"/>
              <a:t>Think:</a:t>
            </a:r>
            <a:br>
              <a:rPr lang="en-US" sz="3600" dirty="0"/>
            </a:br>
            <a:r>
              <a:rPr lang="en-US" sz="3600" dirty="0"/>
              <a:t>❓ Can value be created if relationships are bad?</a:t>
            </a:r>
          </a:p>
        </p:txBody>
      </p:sp>
    </p:spTree>
    <p:extLst>
      <p:ext uri="{BB962C8B-B14F-4D97-AF65-F5344CB8AC3E}">
        <p14:creationId xmlns:p14="http://schemas.microsoft.com/office/powerpoint/2010/main" val="408964760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2701A-DD8D-E21E-0696-19EB1D271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89CB281-311C-4642-5E0D-533BD86EEE9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BC75FB8-F8F4-0D2D-9589-88B7BE52F55F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2C411DD-CAA6-0A2C-E22D-8F5BA78ED79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CA26F68-05AB-6E70-93A2-0A9CCD3E3687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CCA32F30-96EC-E027-6E9A-8E0A6EFE33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dirty="0"/>
              <a:t> 9. Managing Conflicting Needs</a:t>
            </a:r>
            <a:endParaRPr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4DEB80-D390-9648-4697-5708091F1CAD}"/>
              </a:ext>
            </a:extLst>
          </p:cNvPr>
          <p:cNvSpPr txBox="1"/>
          <p:nvPr/>
        </p:nvSpPr>
        <p:spPr>
          <a:xfrm>
            <a:off x="3095752" y="2065433"/>
            <a:ext cx="8448040" cy="3502882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Example:</a:t>
            </a:r>
          </a:p>
          <a:p>
            <a:r>
              <a:rPr lang="en-US" sz="3600" dirty="0"/>
              <a:t>Students want flexible deadlines</a:t>
            </a:r>
          </a:p>
          <a:p>
            <a:r>
              <a:rPr lang="en-US" sz="3600" dirty="0"/>
              <a:t>Management wants strict rules</a:t>
            </a:r>
          </a:p>
          <a:p>
            <a:r>
              <a:rPr lang="en-US" sz="3600" dirty="0"/>
              <a:t>Relationship management:</a:t>
            </a:r>
            <a:br>
              <a:rPr lang="en-US" sz="3600" dirty="0"/>
            </a:br>
            <a:r>
              <a:rPr lang="en-US" sz="3600" dirty="0"/>
              <a:t>✔ Mediates conflicts</a:t>
            </a:r>
            <a:br>
              <a:rPr lang="en-US" sz="3600" dirty="0"/>
            </a:br>
            <a:r>
              <a:rPr lang="en-US" sz="3600" dirty="0"/>
              <a:t>✔ Finds balance</a:t>
            </a:r>
          </a:p>
        </p:txBody>
      </p:sp>
    </p:spTree>
    <p:extLst>
      <p:ext uri="{BB962C8B-B14F-4D97-AF65-F5344CB8AC3E}">
        <p14:creationId xmlns:p14="http://schemas.microsoft.com/office/powerpoint/2010/main" val="88183795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54DCD-9793-024B-0DE8-D783687A8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925275B-3D29-8704-FEF3-45AF7A01886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E1BD0DE2-CB3D-8B85-0527-72C1BBC8261E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F221048A-94F6-06AB-8647-7E4099AB9F7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E52EB2D-B02F-A0C7-2A7F-946336804B5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6685DED0-CE16-4E4C-9801-2A691C5C4A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dirty="0"/>
              <a:t> 9. Not Only Customers!</a:t>
            </a:r>
            <a:endParaRPr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E8D82F9-6467-A52A-D82D-0BCBF2FFB5B1}"/>
              </a:ext>
            </a:extLst>
          </p:cNvPr>
          <p:cNvSpPr txBox="1"/>
          <p:nvPr/>
        </p:nvSpPr>
        <p:spPr>
          <a:xfrm>
            <a:off x="3095752" y="2057400"/>
            <a:ext cx="8448040" cy="40568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Organizations must manage:</a:t>
            </a:r>
          </a:p>
          <a:p>
            <a:r>
              <a:rPr lang="en-US" sz="3600" dirty="0"/>
              <a:t>Internal stakeholders</a:t>
            </a:r>
          </a:p>
          <a:p>
            <a:r>
              <a:rPr lang="en-US" sz="3600" dirty="0"/>
              <a:t>External stakeholders</a:t>
            </a:r>
          </a:p>
          <a:p>
            <a:r>
              <a:rPr lang="en-US" sz="3600" dirty="0"/>
              <a:t>Not just service consumers!</a:t>
            </a:r>
          </a:p>
          <a:p>
            <a:r>
              <a:rPr lang="en-US" sz="3600" b="1" dirty="0"/>
              <a:t>Key reminder:</a:t>
            </a:r>
            <a:br>
              <a:rPr lang="en-US" sz="3600" dirty="0"/>
            </a:br>
            <a:r>
              <a:rPr lang="en-US" sz="3600" dirty="0"/>
              <a:t>👉 Ignoring internal stakeholders = service failure</a:t>
            </a:r>
          </a:p>
        </p:txBody>
      </p:sp>
    </p:spTree>
    <p:extLst>
      <p:ext uri="{BB962C8B-B14F-4D97-AF65-F5344CB8AC3E}">
        <p14:creationId xmlns:p14="http://schemas.microsoft.com/office/powerpoint/2010/main" val="273651249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20160-30BE-A3EC-147D-0FDC4BD78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B401C4-AA19-F59A-B730-174627132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1" y="197134"/>
            <a:ext cx="9251144" cy="6432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76776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486F3-4695-FFF5-18AA-6A0BE8060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E952A89-C0FC-C71E-AFEE-E9AC16159D4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E4787ACF-3807-4999-879A-7D8CAFE756AF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00CBBBD-D75B-52D8-5C34-F47795ADE1F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54A7AC6-1EEE-BC75-FAF4-06E8F0735971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45634662-DA36-A367-4988-CEF5D956B3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9. Summary Slide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C07B3AA6-80C2-35B5-E286-036414EE310D}"/>
              </a:ext>
            </a:extLst>
          </p:cNvPr>
          <p:cNvSpPr txBox="1"/>
          <p:nvPr/>
        </p:nvSpPr>
        <p:spPr>
          <a:xfrm>
            <a:off x="3095752" y="2310181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✅ Builds trust</a:t>
            </a:r>
            <a:br>
              <a:rPr lang="en-US" sz="3600" dirty="0"/>
            </a:br>
            <a:r>
              <a:rPr lang="en-US" sz="3600" dirty="0"/>
              <a:t>✅ Manages stakeholders</a:t>
            </a:r>
            <a:br>
              <a:rPr lang="en-US" sz="3600" dirty="0"/>
            </a:br>
            <a:r>
              <a:rPr lang="en-US" sz="3600" dirty="0"/>
              <a:t>✅ Handles conflicts</a:t>
            </a:r>
            <a:br>
              <a:rPr lang="en-US" sz="3600" dirty="0"/>
            </a:br>
            <a:r>
              <a:rPr lang="en-US" sz="3600" dirty="0"/>
              <a:t>✅ Improves satisfaction</a:t>
            </a:r>
            <a:br>
              <a:rPr lang="en-US" sz="3600" dirty="0"/>
            </a:br>
            <a:r>
              <a:rPr lang="en-US" sz="3600" dirty="0"/>
              <a:t>✅ Supports value creation</a:t>
            </a:r>
          </a:p>
        </p:txBody>
      </p:sp>
    </p:spTree>
    <p:extLst>
      <p:ext uri="{BB962C8B-B14F-4D97-AF65-F5344CB8AC3E}">
        <p14:creationId xmlns:p14="http://schemas.microsoft.com/office/powerpoint/2010/main" val="391269345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1B80A-E81B-5AB4-12E0-A0EB15BEE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A6498-EE04-7186-598C-8C78C0F59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667000"/>
            <a:ext cx="9677400" cy="923330"/>
          </a:xfrm>
        </p:spPr>
        <p:txBody>
          <a:bodyPr/>
          <a:lstStyle/>
          <a:p>
            <a:pPr algn="ctr"/>
            <a:r>
              <a:rPr lang="en-IN" dirty="0"/>
              <a:t>10. </a:t>
            </a:r>
            <a:r>
              <a:rPr lang="en-US" dirty="0"/>
              <a:t>Risk </a:t>
            </a:r>
            <a:r>
              <a:rPr lang="en-IN" dirty="0"/>
              <a:t>Management</a:t>
            </a:r>
            <a:br>
              <a:rPr lang="en-IN" dirty="0"/>
            </a:br>
            <a:r>
              <a:rPr lang="en-US" sz="2000" dirty="0"/>
              <a:t>“Is taking no risk also a risk?”</a:t>
            </a:r>
            <a:endParaRPr lang="en-IN" b="0" i="1" dirty="0"/>
          </a:p>
        </p:txBody>
      </p:sp>
    </p:spTree>
    <p:extLst>
      <p:ext uri="{BB962C8B-B14F-4D97-AF65-F5344CB8AC3E}">
        <p14:creationId xmlns:p14="http://schemas.microsoft.com/office/powerpoint/2010/main" val="368278419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8803C-40E9-5A4D-1B99-257177E1C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DB83BCA-0A72-5E43-24B1-9973549DA69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958E37FD-9F3D-050E-3FAB-E73048A694DD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1F41D626-C53E-B780-72F9-D0F40833085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8594BB7-B9BD-C011-F619-464C11D00E3F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7AE77A54-C523-FC44-4F00-9FEE7042A4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 </a:t>
            </a:r>
            <a:r>
              <a:rPr lang="en-IN" sz="4400" dirty="0"/>
              <a:t>10. </a:t>
            </a:r>
            <a:r>
              <a:rPr lang="en-US" sz="4400" dirty="0"/>
              <a:t>Risk</a:t>
            </a:r>
            <a:r>
              <a:rPr lang="en-IN" sz="4400" dirty="0"/>
              <a:t> Management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DF674528-1798-F0D9-4901-F1B1AFBD85B9}"/>
              </a:ext>
            </a:extLst>
          </p:cNvPr>
          <p:cNvSpPr txBox="1"/>
          <p:nvPr/>
        </p:nvSpPr>
        <p:spPr>
          <a:xfrm>
            <a:off x="3095752" y="2058145"/>
            <a:ext cx="8448040" cy="2394886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Risk management means:</a:t>
            </a:r>
          </a:p>
          <a:p>
            <a:r>
              <a:rPr lang="en-US" sz="3600" dirty="0"/>
              <a:t>Knowing </a:t>
            </a:r>
            <a:r>
              <a:rPr lang="en-US" sz="3600" b="1" dirty="0"/>
              <a:t>what can go wrong</a:t>
            </a:r>
            <a:endParaRPr lang="en-US" sz="3600" dirty="0"/>
          </a:p>
          <a:p>
            <a:r>
              <a:rPr lang="en-US" sz="3600" dirty="0"/>
              <a:t>Knowing </a:t>
            </a:r>
            <a:r>
              <a:rPr lang="en-US" sz="3600" b="1" dirty="0"/>
              <a:t>what can go right</a:t>
            </a:r>
            <a:endParaRPr lang="en-US" sz="3600" dirty="0"/>
          </a:p>
          <a:p>
            <a:r>
              <a:rPr lang="en-US" sz="3600" dirty="0"/>
              <a:t>Deciding </a:t>
            </a:r>
            <a:r>
              <a:rPr lang="en-US" sz="3600" b="1" dirty="0"/>
              <a:t>what risk is worth taking</a:t>
            </a:r>
            <a:endParaRPr lang="en-US" sz="3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0AC559-15E8-B4FD-C975-FCB82DB5971C}"/>
              </a:ext>
            </a:extLst>
          </p:cNvPr>
          <p:cNvSpPr txBox="1"/>
          <p:nvPr/>
        </p:nvSpPr>
        <p:spPr>
          <a:xfrm>
            <a:off x="6119446" y="6096000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👉 </a:t>
            </a:r>
            <a:r>
              <a:rPr lang="en-US" i="1" dirty="0"/>
              <a:t>Risk includes both threats and opportunities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38910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E6E9F-CD6E-DCD5-1BC0-90DC9C667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DAE51F0-A04C-5742-42FF-DC176125491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EC98809F-D275-55B0-4F82-08EE1BF287E0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A33F97A-825D-0195-733A-C35763F3C3B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EEC2B94-EC96-20C7-E97D-9587D7DD9741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BF620A3A-2544-1299-DC79-B6FA5E0659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10. </a:t>
            </a:r>
            <a:r>
              <a:rPr lang="en-US" sz="4400" dirty="0"/>
              <a:t>Risk Is NOT Always Bad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FA5C3A97-E1A6-C074-1576-6823269D6468}"/>
              </a:ext>
            </a:extLst>
          </p:cNvPr>
          <p:cNvSpPr txBox="1"/>
          <p:nvPr/>
        </p:nvSpPr>
        <p:spPr>
          <a:xfrm>
            <a:off x="3095752" y="2058145"/>
            <a:ext cx="8448040" cy="40568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⚠️ Threat risk:</a:t>
            </a:r>
          </a:p>
          <a:p>
            <a:r>
              <a:rPr lang="en-US" sz="3600" dirty="0"/>
              <a:t>System failure</a:t>
            </a:r>
          </a:p>
          <a:p>
            <a:r>
              <a:rPr lang="en-US" sz="3600" dirty="0"/>
              <a:t>Data loss</a:t>
            </a:r>
          </a:p>
          <a:p>
            <a:r>
              <a:rPr lang="en-US" sz="3600" dirty="0"/>
              <a:t>🌱 Opportunity risk:</a:t>
            </a:r>
          </a:p>
          <a:p>
            <a:r>
              <a:rPr lang="en-US" sz="3600" dirty="0"/>
              <a:t>Launching a new app</a:t>
            </a:r>
          </a:p>
          <a:p>
            <a:r>
              <a:rPr lang="en-US" sz="3600" dirty="0"/>
              <a:t>Entering a new market</a:t>
            </a:r>
          </a:p>
          <a:p>
            <a:r>
              <a:rPr lang="en-US" sz="3600" dirty="0"/>
              <a:t>❌ Avoiding opportunity = also a risk!</a:t>
            </a:r>
          </a:p>
        </p:txBody>
      </p:sp>
    </p:spTree>
    <p:extLst>
      <p:ext uri="{BB962C8B-B14F-4D97-AF65-F5344CB8AC3E}">
        <p14:creationId xmlns:p14="http://schemas.microsoft.com/office/powerpoint/2010/main" val="33977537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29519-6642-3B88-F755-75F0CC307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58D151F-39B5-5015-AA49-2A18D8E0501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D59BAD3-27F7-4FCA-3A5D-226A2794C9C6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2BE627D-C73D-9E5C-489F-6D27A0416D4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F536DFC-7627-92D1-A3A4-E5C8405F8C83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8671A1DA-9DE7-57F1-F068-48AFD963FF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10. Portfolio &amp; Risk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AF98553D-ACE6-40B9-4E8D-0E30954DDD46}"/>
              </a:ext>
            </a:extLst>
          </p:cNvPr>
          <p:cNvSpPr txBox="1"/>
          <p:nvPr/>
        </p:nvSpPr>
        <p:spPr>
          <a:xfrm>
            <a:off x="1905000" y="2310181"/>
            <a:ext cx="9638792" cy="40568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Every:</a:t>
            </a:r>
          </a:p>
          <a:p>
            <a:r>
              <a:rPr lang="en-US" sz="3600" dirty="0"/>
              <a:t>Product , Service and Project</a:t>
            </a:r>
          </a:p>
          <a:p>
            <a:r>
              <a:rPr lang="en-US" sz="3600" dirty="0"/>
              <a:t>Has </a:t>
            </a:r>
            <a:r>
              <a:rPr lang="en-US" sz="3600" b="1" dirty="0"/>
              <a:t>associated risks</a:t>
            </a:r>
            <a:r>
              <a:rPr lang="en-US" sz="3600" dirty="0"/>
              <a:t>.</a:t>
            </a:r>
          </a:p>
          <a:p>
            <a:r>
              <a:rPr lang="en-US" sz="3600" dirty="0"/>
              <a:t>✔ Good service management → opportunity</a:t>
            </a:r>
            <a:br>
              <a:rPr lang="en-US" sz="3600" dirty="0"/>
            </a:br>
            <a:r>
              <a:rPr lang="en-US" sz="3600" dirty="0"/>
              <a:t>❌ Poor service management → threat</a:t>
            </a:r>
          </a:p>
          <a:p>
            <a:r>
              <a:rPr lang="en-US" sz="3600" b="1" dirty="0"/>
              <a:t>Example:</a:t>
            </a:r>
            <a:br>
              <a:rPr lang="en-US" sz="3600" dirty="0"/>
            </a:br>
            <a:r>
              <a:rPr lang="en-US" sz="3600" dirty="0"/>
              <a:t>New service = value opportunity + failure risk</a:t>
            </a:r>
          </a:p>
        </p:txBody>
      </p:sp>
    </p:spTree>
    <p:extLst>
      <p:ext uri="{BB962C8B-B14F-4D97-AF65-F5344CB8AC3E}">
        <p14:creationId xmlns:p14="http://schemas.microsoft.com/office/powerpoint/2010/main" val="217891356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BD183-E18B-1206-745D-4F232CBF1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C888721-B9D5-BC88-B4D7-2B8B9AFE851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445E9D8D-870C-B0F1-33AC-720C2AECEFE7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E9CFACC0-06FE-9D43-0F57-233B0903C64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1EA0C7C-D53E-F5B4-0ABA-670A54A98E6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B55ADC31-4690-8914-32DB-5946E62761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10. Three Core Risk Activities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17E6B1EA-B8D0-D2A4-A5FF-F47C1D4A4A85}"/>
              </a:ext>
            </a:extLst>
          </p:cNvPr>
          <p:cNvSpPr txBox="1"/>
          <p:nvPr/>
        </p:nvSpPr>
        <p:spPr>
          <a:xfrm>
            <a:off x="3095752" y="2310181"/>
            <a:ext cx="8448040" cy="214866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dirty="0"/>
              <a:t>Risk management requires:</a:t>
            </a:r>
          </a:p>
          <a:p>
            <a:r>
              <a:rPr lang="en-US" sz="3200" dirty="0"/>
              <a:t>1️⃣ </a:t>
            </a:r>
            <a:r>
              <a:rPr lang="en-US" sz="3200" b="1" dirty="0"/>
              <a:t>Identify</a:t>
            </a:r>
            <a:br>
              <a:rPr lang="en-US" sz="3200" dirty="0"/>
            </a:br>
            <a:r>
              <a:rPr lang="en-US" sz="3200" dirty="0"/>
              <a:t>2️⃣ </a:t>
            </a:r>
            <a:r>
              <a:rPr lang="en-US" sz="3200" b="1" dirty="0"/>
              <a:t>Assess</a:t>
            </a:r>
            <a:br>
              <a:rPr lang="en-US" sz="3200" dirty="0"/>
            </a:br>
            <a:r>
              <a:rPr lang="en-US" sz="3200" dirty="0"/>
              <a:t>3️⃣ </a:t>
            </a:r>
            <a:r>
              <a:rPr lang="en-US" sz="3200" b="1" dirty="0"/>
              <a:t>Treat</a:t>
            </a:r>
            <a:endParaRPr lang="en-US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84105A-A0F0-D29A-94FE-56B14E69A0FA}"/>
              </a:ext>
            </a:extLst>
          </p:cNvPr>
          <p:cNvSpPr txBox="1"/>
          <p:nvPr/>
        </p:nvSpPr>
        <p:spPr>
          <a:xfrm>
            <a:off x="7924800" y="1161711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Are the </a:t>
            </a:r>
            <a:r>
              <a:rPr lang="en-US" b="1" dirty="0"/>
              <a:t>benefits worth the risk?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711020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isk Management Essentials | security">
            <a:extLst>
              <a:ext uri="{FF2B5EF4-FFF2-40B4-BE49-F238E27FC236}">
                <a16:creationId xmlns:a16="http://schemas.microsoft.com/office/drawing/2014/main" id="{CD226668-0C08-08CE-4F70-7D901146BF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762000"/>
            <a:ext cx="11097363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006755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438BC-7AF2-3159-F92B-983B2AC26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EE9E870-B2FA-A0A2-DA1F-9AC687AB742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63C1D2B-E824-AB9F-DD6E-15A2A55B6C19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0B34C172-41B8-4C38-552F-1A01DBEC434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CA77D73-FA4D-B61D-08E1-D160B172B08D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085E9496-77D7-B30F-6F68-DA5190DC60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10. Risk Identification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CF5D2C30-F283-B2BD-71CD-E310E4101FF6}"/>
              </a:ext>
            </a:extLst>
          </p:cNvPr>
          <p:cNvSpPr txBox="1"/>
          <p:nvPr/>
        </p:nvSpPr>
        <p:spPr>
          <a:xfrm>
            <a:off x="3095752" y="2310181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✔ Identify uncertainties</a:t>
            </a:r>
            <a:br>
              <a:rPr lang="en-US" sz="3600" dirty="0"/>
            </a:br>
            <a:r>
              <a:rPr lang="en-US" sz="3600" dirty="0"/>
              <a:t>✔ Describe them clearly</a:t>
            </a:r>
            <a:br>
              <a:rPr lang="en-US" sz="3600" dirty="0"/>
            </a:br>
            <a:r>
              <a:rPr lang="en-US" sz="3600" dirty="0"/>
              <a:t>✔ Ensure common understanding</a:t>
            </a:r>
          </a:p>
          <a:p>
            <a:r>
              <a:rPr lang="en-US" sz="3600" dirty="0"/>
              <a:t>Example:</a:t>
            </a:r>
          </a:p>
          <a:p>
            <a:r>
              <a:rPr lang="en-US" sz="3600" dirty="0"/>
              <a:t>“Server may crash during peak usage”</a:t>
            </a:r>
          </a:p>
        </p:txBody>
      </p:sp>
    </p:spTree>
    <p:extLst>
      <p:ext uri="{BB962C8B-B14F-4D97-AF65-F5344CB8AC3E}">
        <p14:creationId xmlns:p14="http://schemas.microsoft.com/office/powerpoint/2010/main" val="411643245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6EDBD-160E-79E3-2997-F34A8F31E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E48F561-F14B-CED6-2372-A7133C4C6C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D097E49-B11D-81DD-887E-DC97BBF8042A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F31ECD8-503D-2D6D-58AF-29FD1E6DCF5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E939585-5A94-1B0F-B0C4-99623CAB27AF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397FF381-BDD6-D9DC-02AB-CAE215F2F1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dirty="0"/>
              <a:t> 10. Risk Assessment</a:t>
            </a:r>
            <a:br>
              <a:rPr lang="en-US" dirty="0"/>
            </a:br>
            <a:endParaRPr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6B1DE79D-D5AC-B9B3-2623-26B8D353B405}"/>
              </a:ext>
            </a:extLst>
          </p:cNvPr>
          <p:cNvSpPr txBox="1"/>
          <p:nvPr/>
        </p:nvSpPr>
        <p:spPr>
          <a:xfrm>
            <a:off x="3095752" y="2310181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Assess:</a:t>
            </a:r>
          </a:p>
          <a:p>
            <a:r>
              <a:rPr lang="en-US" sz="3600" b="1" dirty="0"/>
              <a:t>Probability</a:t>
            </a:r>
            <a:r>
              <a:rPr lang="en-US" sz="3600" dirty="0"/>
              <a:t> (How likely?)</a:t>
            </a:r>
          </a:p>
          <a:p>
            <a:r>
              <a:rPr lang="en-US" sz="3600" b="1" dirty="0"/>
              <a:t>Impact</a:t>
            </a:r>
            <a:r>
              <a:rPr lang="en-US" sz="3600" dirty="0"/>
              <a:t> (How serious?)</a:t>
            </a:r>
          </a:p>
          <a:p>
            <a:r>
              <a:rPr lang="en-US" sz="3600" b="1" dirty="0"/>
              <a:t>Proximity</a:t>
            </a:r>
            <a:r>
              <a:rPr lang="en-US" sz="3600" dirty="0"/>
              <a:t> (How soon?)</a:t>
            </a:r>
          </a:p>
          <a:p>
            <a:r>
              <a:rPr lang="en-US" sz="3600" dirty="0"/>
              <a:t>🎯 Result: </a:t>
            </a:r>
            <a:r>
              <a:rPr lang="en-US" sz="3600" b="1" dirty="0"/>
              <a:t>Risk exposure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32683289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89375-15C3-3309-67C6-2F5C1F483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E390E51-A494-56D2-0CC7-A5B3A1455A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15D21DC-E44B-2E40-0FCE-EADBDF4D001F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1008C33C-DE2B-8538-F1F7-DFB1F351690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1646BA4-9A2A-867B-3446-20579D7690FB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4B936DA0-313A-F082-0805-E365F5C5B8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dirty="0"/>
              <a:t> 10. Risk Treatment</a:t>
            </a:r>
            <a:endParaRPr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E882892-A5D2-BA91-D50C-58CA372FD66A}"/>
              </a:ext>
            </a:extLst>
          </p:cNvPr>
          <p:cNvSpPr txBox="1"/>
          <p:nvPr/>
        </p:nvSpPr>
        <p:spPr>
          <a:xfrm>
            <a:off x="3095752" y="2065433"/>
            <a:ext cx="8448040" cy="461087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b="1" dirty="0"/>
              <a:t>Decide what to do:</a:t>
            </a:r>
          </a:p>
          <a:p>
            <a:r>
              <a:rPr lang="en-US" sz="3200" dirty="0"/>
              <a:t>Avoid</a:t>
            </a:r>
          </a:p>
          <a:p>
            <a:r>
              <a:rPr lang="en-US" sz="3200" dirty="0"/>
              <a:t>Reduce</a:t>
            </a:r>
          </a:p>
          <a:p>
            <a:r>
              <a:rPr lang="en-US" sz="3200" dirty="0"/>
              <a:t>Share</a:t>
            </a:r>
          </a:p>
          <a:p>
            <a:r>
              <a:rPr lang="en-US" sz="3200" dirty="0"/>
              <a:t>Accept</a:t>
            </a:r>
          </a:p>
          <a:p>
            <a:r>
              <a:rPr lang="en-US" sz="3200" b="1" dirty="0"/>
              <a:t>Assign:</a:t>
            </a:r>
            <a:br>
              <a:rPr lang="en-US" sz="3200" dirty="0"/>
            </a:br>
            <a:r>
              <a:rPr lang="en-US" sz="3200" dirty="0"/>
              <a:t>✔ Owners</a:t>
            </a:r>
            <a:br>
              <a:rPr lang="en-US" sz="3200" dirty="0"/>
            </a:br>
            <a:r>
              <a:rPr lang="en-US" sz="3200" dirty="0"/>
              <a:t>✔ Actions</a:t>
            </a:r>
            <a:br>
              <a:rPr lang="en-US" sz="3200" dirty="0"/>
            </a:br>
            <a:r>
              <a:rPr lang="en-US" sz="3200" dirty="0"/>
              <a:t>✔ Monitoring</a:t>
            </a:r>
          </a:p>
        </p:txBody>
      </p:sp>
    </p:spTree>
    <p:extLst>
      <p:ext uri="{BB962C8B-B14F-4D97-AF65-F5344CB8AC3E}">
        <p14:creationId xmlns:p14="http://schemas.microsoft.com/office/powerpoint/2010/main" val="425673324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618EE-9814-DA67-9D86-EE59A0201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57921BB-F336-0BC4-627D-04FC93F3FF5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3AB984D-2B2E-9F89-6996-CF75CFE4D30A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B5D82FA3-60D8-96CE-EB64-EB5BBFD1C14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EC47282-475B-7923-1440-B0848D37AD6E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F3346787-7960-483D-2976-C08EA00E10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dirty="0"/>
              <a:t> 10. </a:t>
            </a:r>
            <a:r>
              <a:rPr lang="en-US" dirty="0"/>
              <a:t>Principle: Risk Is Part of Business</a:t>
            </a:r>
            <a:endParaRPr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AE249E82-15A9-15BB-5171-755EC233B067}"/>
              </a:ext>
            </a:extLst>
          </p:cNvPr>
          <p:cNvSpPr txBox="1"/>
          <p:nvPr/>
        </p:nvSpPr>
        <p:spPr>
          <a:xfrm>
            <a:off x="3095752" y="2057400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✔ Risk cannot be eliminated</a:t>
            </a:r>
            <a:br>
              <a:rPr lang="en-US" sz="3600" dirty="0"/>
            </a:br>
            <a:r>
              <a:rPr lang="en-US" sz="3600" dirty="0"/>
              <a:t>✔ Risk-taking is necessary</a:t>
            </a:r>
            <a:br>
              <a:rPr lang="en-US" sz="3600" dirty="0"/>
            </a:br>
            <a:r>
              <a:rPr lang="en-US" sz="3600" dirty="0"/>
              <a:t>✔ Must align with </a:t>
            </a:r>
            <a:r>
              <a:rPr lang="en-US" sz="3600" b="1" dirty="0"/>
              <a:t>risk appetite</a:t>
            </a:r>
            <a:endParaRPr lang="en-US" sz="3600" dirty="0"/>
          </a:p>
          <a:p>
            <a:r>
              <a:rPr lang="en-US" sz="3600" dirty="0"/>
              <a:t>🧠 </a:t>
            </a:r>
            <a:r>
              <a:rPr lang="en-US" sz="3600" b="1" dirty="0"/>
              <a:t>Risk appetite</a:t>
            </a:r>
            <a:r>
              <a:rPr lang="en-US" sz="3600" dirty="0"/>
              <a:t> = how much risk an organization is willing to take</a:t>
            </a:r>
          </a:p>
        </p:txBody>
      </p:sp>
    </p:spTree>
    <p:extLst>
      <p:ext uri="{BB962C8B-B14F-4D97-AF65-F5344CB8AC3E}">
        <p14:creationId xmlns:p14="http://schemas.microsoft.com/office/powerpoint/2010/main" val="34684455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BA3D7-00F4-8A75-2503-498D3D247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FC1CA6-537D-AACF-A5A3-6C48DD9F4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1" y="197134"/>
            <a:ext cx="9251144" cy="6432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683805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D9129-FB11-A53B-F5E0-EC46168EF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7F5BE71-A98D-5729-D603-C1751E5848E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B40CD92-2EFF-F486-E177-999CC1125C45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2DE4740-60AB-62DC-9B28-BB1BFB698DB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72B81A5-3694-563B-5F5E-224B9D7C268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AAC467D5-693F-ABFF-44CA-57A758BC94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10. Good Risk Behaviour Includes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B957A9F1-AC4B-02A3-C252-24ECF496147C}"/>
              </a:ext>
            </a:extLst>
          </p:cNvPr>
          <p:cNvSpPr txBox="1"/>
          <p:nvPr/>
        </p:nvSpPr>
        <p:spPr>
          <a:xfrm>
            <a:off x="3095752" y="2310181"/>
            <a:ext cx="8448040" cy="3502882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Risk management depends on </a:t>
            </a:r>
            <a:r>
              <a:rPr lang="en-US" sz="3600" b="1" dirty="0"/>
              <a:t>people behavior</a:t>
            </a:r>
            <a:r>
              <a:rPr lang="en-US" sz="3600" dirty="0"/>
              <a:t>.</a:t>
            </a:r>
          </a:p>
          <a:p>
            <a:r>
              <a:rPr lang="en-US" sz="3600" dirty="0"/>
              <a:t>✔ Reporting incidents</a:t>
            </a:r>
            <a:br>
              <a:rPr lang="en-US" sz="3600" dirty="0"/>
            </a:br>
            <a:r>
              <a:rPr lang="en-US" sz="3600" dirty="0"/>
              <a:t>✔ Reporting opportunities</a:t>
            </a:r>
            <a:br>
              <a:rPr lang="en-US" sz="3600" dirty="0"/>
            </a:br>
            <a:r>
              <a:rPr lang="en-US" sz="3600" dirty="0"/>
              <a:t>✔ Clear roles &amp; responsibilities</a:t>
            </a:r>
            <a:br>
              <a:rPr lang="en-US" sz="3600" dirty="0"/>
            </a:br>
            <a:r>
              <a:rPr lang="en-US" sz="3600" dirty="0"/>
              <a:t>✔ Fair reward systems</a:t>
            </a:r>
          </a:p>
        </p:txBody>
      </p:sp>
    </p:spTree>
    <p:extLst>
      <p:ext uri="{BB962C8B-B14F-4D97-AF65-F5344CB8AC3E}">
        <p14:creationId xmlns:p14="http://schemas.microsoft.com/office/powerpoint/2010/main" val="337760356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BFDD5-A931-B681-4DA9-854AD6005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3453135-D0F0-BA3C-A57A-E88DCEDC05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7BB84F49-0EC2-BE74-8D75-FDE6826A13D5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B279EDB-4ACB-62E2-90CC-5320DC0E004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A5BDFB4-DC78-9E03-63AC-BC88C7CE2F4E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9E43C531-E09B-26AE-A329-00BB67C277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10. ISO 31000 Connection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407955D4-0D0A-E0D4-4113-86E686CB0391}"/>
              </a:ext>
            </a:extLst>
          </p:cNvPr>
          <p:cNvSpPr txBox="1"/>
          <p:nvPr/>
        </p:nvSpPr>
        <p:spPr>
          <a:xfrm>
            <a:off x="3095752" y="2310181"/>
            <a:ext cx="8448040" cy="461087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ISO 31000 says:</a:t>
            </a:r>
          </a:p>
          <a:p>
            <a:r>
              <a:rPr lang="en-US" sz="3600" dirty="0"/>
              <a:t>“Risk management creates and protects value”</a:t>
            </a:r>
          </a:p>
          <a:p>
            <a:r>
              <a:rPr lang="en-IN" sz="3600" dirty="0"/>
              <a:t>Benefits:</a:t>
            </a:r>
          </a:p>
          <a:p>
            <a:r>
              <a:rPr lang="en-IN" sz="3600" dirty="0"/>
              <a:t>Improves performance</a:t>
            </a:r>
          </a:p>
          <a:p>
            <a:r>
              <a:rPr lang="en-IN" sz="3600" dirty="0"/>
              <a:t>Encourages innovation</a:t>
            </a:r>
          </a:p>
          <a:p>
            <a:r>
              <a:rPr lang="en-IN" sz="3600" dirty="0"/>
              <a:t>Supports objectives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596460322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827B9-32DD-CA86-A350-F5CADAED3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6A6CBC5-01D4-F2BA-B0AE-725C962118E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70E0058A-2AA4-05A4-AF1F-2569AFAD6651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D2323213-9362-1C2D-C922-C79F679B976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5817F33-AFE2-D5CD-6269-AE3972603840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A09A73A-E582-1A19-1804-177C7A4923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10. Classroom Activity: “Risk Spotter” ⚠️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4F6266F8-A7BD-9746-4549-CD032DE1ACE9}"/>
              </a:ext>
            </a:extLst>
          </p:cNvPr>
          <p:cNvSpPr txBox="1"/>
          <p:nvPr/>
        </p:nvSpPr>
        <p:spPr>
          <a:xfrm>
            <a:off x="3095752" y="2310181"/>
            <a:ext cx="8448040" cy="3502882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Give scenario:</a:t>
            </a:r>
          </a:p>
          <a:p>
            <a:r>
              <a:rPr lang="en-US" sz="3600" dirty="0"/>
              <a:t>College online exam system</a:t>
            </a:r>
          </a:p>
          <a:p>
            <a:r>
              <a:rPr lang="en-US" sz="3600" dirty="0"/>
              <a:t>Ask students to list:</a:t>
            </a:r>
          </a:p>
          <a:p>
            <a:r>
              <a:rPr lang="en-US" sz="3600" dirty="0"/>
              <a:t>2 threats</a:t>
            </a:r>
          </a:p>
          <a:p>
            <a:r>
              <a:rPr lang="en-US" sz="3600" dirty="0"/>
              <a:t>1 opportunity</a:t>
            </a:r>
          </a:p>
          <a:p>
            <a:r>
              <a:rPr lang="en-US" sz="3600" dirty="0"/>
              <a:t>1 risk treatment</a:t>
            </a:r>
          </a:p>
        </p:txBody>
      </p:sp>
    </p:spTree>
    <p:extLst>
      <p:ext uri="{BB962C8B-B14F-4D97-AF65-F5344CB8AC3E}">
        <p14:creationId xmlns:p14="http://schemas.microsoft.com/office/powerpoint/2010/main" val="4231276181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AECA4-87D8-42DB-0AFE-C657B27A8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FE9E11E-8FE5-5F8F-397B-0938811719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AB866C3E-D0D3-B26F-E352-98438CD5B1C7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C3F37B9-B6D1-F53B-EA93-30254EC8CA7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04819F8-0BC5-022A-7A51-36625A899736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36E99233-1479-3AB2-4D8B-83DEC1E36A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10. Exam Memory Box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6D3A83CF-01A0-E2C4-A41C-3A1283BADC17}"/>
              </a:ext>
            </a:extLst>
          </p:cNvPr>
          <p:cNvSpPr txBox="1"/>
          <p:nvPr/>
        </p:nvSpPr>
        <p:spPr>
          <a:xfrm>
            <a:off x="3095752" y="2310181"/>
            <a:ext cx="8448040" cy="3502882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🧠 Remember:</a:t>
            </a:r>
          </a:p>
          <a:p>
            <a:r>
              <a:rPr lang="en-US" sz="3600" dirty="0"/>
              <a:t>Threat + Opportunity</a:t>
            </a:r>
          </a:p>
          <a:p>
            <a:r>
              <a:rPr lang="en-US" sz="3600" dirty="0"/>
              <a:t>Identify–Assess–Treat</a:t>
            </a:r>
          </a:p>
          <a:p>
            <a:r>
              <a:rPr lang="en-US" sz="3600" dirty="0"/>
              <a:t>Risk appetite</a:t>
            </a:r>
          </a:p>
          <a:p>
            <a:r>
              <a:rPr lang="en-US" sz="3600" dirty="0"/>
              <a:t>Risk culture</a:t>
            </a:r>
          </a:p>
          <a:p>
            <a:r>
              <a:rPr lang="en-US" sz="3600" dirty="0"/>
              <a:t>ISO 31000</a:t>
            </a:r>
          </a:p>
        </p:txBody>
      </p:sp>
    </p:spTree>
    <p:extLst>
      <p:ext uri="{BB962C8B-B14F-4D97-AF65-F5344CB8AC3E}">
        <p14:creationId xmlns:p14="http://schemas.microsoft.com/office/powerpoint/2010/main" val="3422093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BFFDD-2D15-4220-726C-9436BE55A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reating and maintaining a robust financial management syst">
            <a:extLst>
              <a:ext uri="{FF2B5EF4-FFF2-40B4-BE49-F238E27FC236}">
                <a16:creationId xmlns:a16="http://schemas.microsoft.com/office/drawing/2014/main" id="{C6BD6902-5FD3-063D-1D23-C78D4FE2F2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00" y="142312"/>
            <a:ext cx="11049000" cy="6563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C1E39D3-81D9-8172-D6EF-CE099D9A5BDE}"/>
              </a:ext>
            </a:extLst>
          </p:cNvPr>
          <p:cNvSpPr txBox="1">
            <a:spLocks/>
          </p:cNvSpPr>
          <p:nvPr/>
        </p:nvSpPr>
        <p:spPr>
          <a:xfrm>
            <a:off x="1371600" y="2667000"/>
            <a:ext cx="96774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ea typeface="+mj-ea"/>
                <a:cs typeface="Segoe UI"/>
              </a:defRPr>
            </a:lvl1pPr>
          </a:lstStyle>
          <a:p>
            <a:pPr algn="ctr"/>
            <a:r>
              <a:rPr lang="en-IN"/>
              <a:t>11. Service Financial Management</a:t>
            </a:r>
            <a:br>
              <a:rPr lang="en-IN"/>
            </a:br>
            <a:r>
              <a:rPr lang="en-US" sz="2000"/>
              <a:t>💰 </a:t>
            </a:r>
            <a:r>
              <a:rPr lang="en-US" sz="2000" i="1"/>
              <a:t>Managing money for services</a:t>
            </a:r>
            <a:endParaRPr lang="en-IN" b="0" i="1" dirty="0"/>
          </a:p>
        </p:txBody>
      </p:sp>
    </p:spTree>
    <p:extLst>
      <p:ext uri="{BB962C8B-B14F-4D97-AF65-F5344CB8AC3E}">
        <p14:creationId xmlns:p14="http://schemas.microsoft.com/office/powerpoint/2010/main" val="3054702043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2022F-130F-30B3-500A-CC967E879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C0B1617-4D38-6DDB-EF8E-B54EE25811A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AECE700-163E-4393-E869-C3D165C98C81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05283B3-69FC-6D00-5D59-D8AEA9A9222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3097A2D-DDC3-AF26-47B9-0BB0EA676969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CF19DB8-0160-FFF2-0E3B-8ECF2FC7E1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 </a:t>
            </a:r>
            <a:r>
              <a:rPr lang="en-IN" sz="4400" dirty="0"/>
              <a:t>11. </a:t>
            </a:r>
            <a:r>
              <a:rPr lang="en-US" sz="4400" dirty="0"/>
              <a:t>Service financial management 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C1CE3847-AF15-B81C-BEDF-FBEE7E5D8B99}"/>
              </a:ext>
            </a:extLst>
          </p:cNvPr>
          <p:cNvSpPr txBox="1"/>
          <p:nvPr/>
        </p:nvSpPr>
        <p:spPr>
          <a:xfrm>
            <a:off x="3095752" y="2058145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Service financial management answers:</a:t>
            </a:r>
          </a:p>
          <a:p>
            <a:r>
              <a:rPr lang="en-US" sz="3600" dirty="0"/>
              <a:t>Where should we spend money?</a:t>
            </a:r>
          </a:p>
          <a:p>
            <a:r>
              <a:rPr lang="en-US" sz="3600" dirty="0"/>
              <a:t>How much does a service cost?</a:t>
            </a:r>
          </a:p>
          <a:p>
            <a:r>
              <a:rPr lang="en-US" sz="3600" dirty="0"/>
              <a:t>Are we getting value for money?</a:t>
            </a:r>
          </a:p>
          <a:p>
            <a:r>
              <a:rPr lang="en-US" sz="3600" dirty="0"/>
              <a:t>💡 </a:t>
            </a:r>
            <a:r>
              <a:rPr lang="en-US" sz="3600" i="1" dirty="0"/>
              <a:t>Right service + right cost + right value</a:t>
            </a:r>
            <a:endParaRPr lang="en-US" sz="3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848954-6EFD-77B4-FDBC-EAAE9B601164}"/>
              </a:ext>
            </a:extLst>
          </p:cNvPr>
          <p:cNvSpPr txBox="1"/>
          <p:nvPr/>
        </p:nvSpPr>
        <p:spPr>
          <a:xfrm>
            <a:off x="6119446" y="6096000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Supports organization’s strategies and plans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2248800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6D197-7D7C-832E-BF12-969140065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D222F56-B7A9-D635-9209-EA041EADD90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750C60B7-6149-7B05-F079-7F8F4F557000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C804E625-7B29-ACF1-EC22-0912902A7E0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6EED365-D9BD-2ED9-28F5-90A97A4034B7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DDC39067-BD49-2F6C-2491-0FA04F28B2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11. Finance = Common Language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B86E2640-0B52-EAFA-F870-4D954330F4A9}"/>
              </a:ext>
            </a:extLst>
          </p:cNvPr>
          <p:cNvSpPr txBox="1"/>
          <p:nvPr/>
        </p:nvSpPr>
        <p:spPr>
          <a:xfrm>
            <a:off x="3095752" y="2058145"/>
            <a:ext cx="8448040" cy="3502882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Finance allows communication with:</a:t>
            </a:r>
          </a:p>
          <a:p>
            <a:r>
              <a:rPr lang="en-US" sz="3600" dirty="0"/>
              <a:t>Management</a:t>
            </a:r>
          </a:p>
          <a:p>
            <a:r>
              <a:rPr lang="en-US" sz="3600" dirty="0"/>
              <a:t>Customers</a:t>
            </a:r>
          </a:p>
          <a:p>
            <a:r>
              <a:rPr lang="en-US" sz="3600" dirty="0"/>
              <a:t>Suppliers</a:t>
            </a:r>
          </a:p>
          <a:p>
            <a:r>
              <a:rPr lang="en-US" sz="3600" dirty="0"/>
              <a:t>Investors</a:t>
            </a:r>
          </a:p>
          <a:p>
            <a:r>
              <a:rPr lang="en-US" sz="3600" dirty="0"/>
              <a:t>💬 Everyone understands </a:t>
            </a:r>
            <a:r>
              <a:rPr lang="en-US" sz="3600" b="1" dirty="0"/>
              <a:t>money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35564418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DA298-83D8-40D8-D340-3F74090DE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9F5A21D-F3DE-2B2E-4573-B159D0832E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7EFA7E14-85A6-16AB-CA1B-7728B0427B11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C069DAEC-A45A-18E8-02F9-A35CACC72D8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78C2253-5DB0-CEB1-8600-4E3FC2C728C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BFC0B258-0FD5-1068-1ACA-DE925DF12B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11. Budgeting &amp; Costing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3A8B61FF-8E65-1EA3-C921-FBCC9E0F9DF0}"/>
              </a:ext>
            </a:extLst>
          </p:cNvPr>
          <p:cNvSpPr txBox="1"/>
          <p:nvPr/>
        </p:nvSpPr>
        <p:spPr>
          <a:xfrm>
            <a:off x="1905000" y="2057400"/>
            <a:ext cx="9638792" cy="461087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Predicting and controlling income &amp; expenditure</a:t>
            </a:r>
          </a:p>
          <a:p>
            <a:r>
              <a:rPr lang="en-US" sz="3600" dirty="0"/>
              <a:t>Includes:</a:t>
            </a:r>
          </a:p>
          <a:p>
            <a:r>
              <a:rPr lang="en-US" sz="3600" dirty="0"/>
              <a:t>Setting budgets</a:t>
            </a:r>
          </a:p>
          <a:p>
            <a:r>
              <a:rPr lang="en-US" sz="3600" dirty="0"/>
              <a:t>Monitoring spending</a:t>
            </a:r>
          </a:p>
          <a:p>
            <a:r>
              <a:rPr lang="en-US" sz="3600" dirty="0"/>
              <a:t>Forecasting service demand</a:t>
            </a:r>
          </a:p>
          <a:p>
            <a:r>
              <a:rPr lang="en-US" sz="3600" dirty="0"/>
              <a:t>🎓 </a:t>
            </a:r>
            <a:r>
              <a:rPr lang="en-US" sz="3600" b="1" dirty="0"/>
              <a:t>College example:</a:t>
            </a:r>
            <a:br>
              <a:rPr lang="en-US" sz="3600" dirty="0"/>
            </a:br>
            <a:r>
              <a:rPr lang="en-US" sz="3600" dirty="0"/>
              <a:t>Department budget planning for labs</a:t>
            </a:r>
          </a:p>
        </p:txBody>
      </p:sp>
    </p:spTree>
    <p:extLst>
      <p:ext uri="{BB962C8B-B14F-4D97-AF65-F5344CB8AC3E}">
        <p14:creationId xmlns:p14="http://schemas.microsoft.com/office/powerpoint/2010/main" val="704192816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FBDCA-8284-8524-0A0F-56CBE4AD4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276028F-3905-A6EA-5FFC-CC18C72E75D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9227191-DC26-E22F-6634-58318C294D9D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0A17E41-6D61-AFCE-D1ED-7E83237A293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4D0A9DC-31B6-1BCC-46DC-78E1B984346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4D6CA948-036D-E586-6CE0-080B3D8BE3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11. Service-Based Budgeting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C27C0092-C4D4-D6FB-6474-827DD8FC6D07}"/>
              </a:ext>
            </a:extLst>
          </p:cNvPr>
          <p:cNvSpPr txBox="1"/>
          <p:nvPr/>
        </p:nvSpPr>
        <p:spPr>
          <a:xfrm>
            <a:off x="3095752" y="2310181"/>
            <a:ext cx="8448040" cy="165622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dirty="0"/>
              <a:t>Full cost of providing a service</a:t>
            </a:r>
          </a:p>
          <a:p>
            <a:r>
              <a:rPr lang="en-US" sz="3200" dirty="0"/>
              <a:t>Full cost of consuming a service</a:t>
            </a:r>
          </a:p>
          <a:p>
            <a:r>
              <a:rPr lang="en-US" sz="3200" dirty="0"/>
              <a:t>🧠 Not just “IT cost” → “Cost per service”</a:t>
            </a:r>
          </a:p>
        </p:txBody>
      </p:sp>
    </p:spTree>
    <p:extLst>
      <p:ext uri="{BB962C8B-B14F-4D97-AF65-F5344CB8AC3E}">
        <p14:creationId xmlns:p14="http://schemas.microsoft.com/office/powerpoint/2010/main" val="883839573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80512-F6B5-D24B-A44E-B31519B83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F555538-D4AD-DCEA-67D3-576E00E10C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C543D20-9D1D-C94F-B571-D6AFB46E3AA9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08F4C34-92B1-6EF2-6892-3D29F6B6125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58F9C7E-86B0-0308-99BB-04C49A136D33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AA66A785-8236-1538-2D6B-6AF4E298D8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11. Accounting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38E70D11-D6F4-48BC-3C23-45C3CF3D4453}"/>
              </a:ext>
            </a:extLst>
          </p:cNvPr>
          <p:cNvSpPr txBox="1"/>
          <p:nvPr/>
        </p:nvSpPr>
        <p:spPr>
          <a:xfrm>
            <a:off x="3095752" y="2310181"/>
            <a:ext cx="8448040" cy="40568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Track how money is actually spent</a:t>
            </a:r>
          </a:p>
          <a:p>
            <a:r>
              <a:rPr lang="en-US" sz="3600" dirty="0"/>
              <a:t>Includes:</a:t>
            </a:r>
          </a:p>
          <a:p>
            <a:r>
              <a:rPr lang="en-US" sz="3600" dirty="0"/>
              <a:t>Forecast vs actual comparison</a:t>
            </a:r>
          </a:p>
          <a:p>
            <a:r>
              <a:rPr lang="en-US" sz="3600" dirty="0"/>
              <a:t>Cost per:</a:t>
            </a:r>
          </a:p>
          <a:p>
            <a:pPr lvl="1"/>
            <a:r>
              <a:rPr lang="en-US" sz="3600" dirty="0"/>
              <a:t>Customer</a:t>
            </a:r>
          </a:p>
          <a:p>
            <a:pPr lvl="1"/>
            <a:r>
              <a:rPr lang="en-US" sz="3600" dirty="0"/>
              <a:t>Service</a:t>
            </a:r>
          </a:p>
          <a:p>
            <a:pPr lvl="1"/>
            <a:r>
              <a:rPr lang="en-US" sz="3600" dirty="0"/>
              <a:t>Activity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095F13-2A79-862A-3C33-E9279C19E5A1}"/>
              </a:ext>
            </a:extLst>
          </p:cNvPr>
          <p:cNvSpPr txBox="1"/>
          <p:nvPr/>
        </p:nvSpPr>
        <p:spPr>
          <a:xfrm>
            <a:off x="8991600" y="5197212"/>
            <a:ext cx="25521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Uses:</a:t>
            </a:r>
            <a:br>
              <a:rPr lang="en-US" sz="1800" dirty="0"/>
            </a:br>
            <a:r>
              <a:rPr lang="en-US" sz="1800" dirty="0"/>
              <a:t>✔ Ledgers</a:t>
            </a:r>
            <a:br>
              <a:rPr lang="en-US" sz="1800" dirty="0"/>
            </a:br>
            <a:r>
              <a:rPr lang="en-US" sz="1800" dirty="0"/>
              <a:t>✔ Journals</a:t>
            </a:r>
            <a:br>
              <a:rPr lang="en-US" sz="1800" dirty="0"/>
            </a:br>
            <a:r>
              <a:rPr lang="en-US" sz="1800" dirty="0"/>
              <a:t>✔ Charts of accounts</a:t>
            </a:r>
          </a:p>
        </p:txBody>
      </p:sp>
    </p:spTree>
    <p:extLst>
      <p:ext uri="{BB962C8B-B14F-4D97-AF65-F5344CB8AC3E}">
        <p14:creationId xmlns:p14="http://schemas.microsoft.com/office/powerpoint/2010/main" val="1220862748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955AE-20F1-1A84-E396-5248069E8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1F2CAD9-0461-4ED2-2FB0-0F89242B74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AD83AFA-65BF-942B-F52E-9654083C1A50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18A33FC-26EF-0499-5E4B-4BA9CDECA62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3E38C77-EF40-3813-8A50-BC501D3C0AC7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D4A77B2B-9886-4F79-6115-206D3E085F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dirty="0"/>
              <a:t> 11. Charging</a:t>
            </a:r>
            <a:endParaRPr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33852ACE-3E47-DE2A-0F03-4824D7C8A99C}"/>
              </a:ext>
            </a:extLst>
          </p:cNvPr>
          <p:cNvSpPr txBox="1"/>
          <p:nvPr/>
        </p:nvSpPr>
        <p:spPr>
          <a:xfrm>
            <a:off x="3095752" y="2310181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Billing customers for services used</a:t>
            </a:r>
          </a:p>
          <a:p>
            <a:r>
              <a:rPr lang="en-US" sz="3600" dirty="0"/>
              <a:t>✔ Mostly for </a:t>
            </a:r>
            <a:r>
              <a:rPr lang="en-US" sz="3600" b="1" dirty="0"/>
              <a:t>external customers</a:t>
            </a:r>
            <a:br>
              <a:rPr lang="en-US" sz="3600" dirty="0"/>
            </a:br>
            <a:r>
              <a:rPr lang="en-US" sz="3600" dirty="0"/>
              <a:t>✔ Charging is optional</a:t>
            </a:r>
            <a:br>
              <a:rPr lang="en-US" sz="3600" dirty="0"/>
            </a:br>
            <a:r>
              <a:rPr lang="en-US" sz="3600" dirty="0"/>
              <a:t>❌ Funding is NOT optional</a:t>
            </a:r>
          </a:p>
          <a:p>
            <a:r>
              <a:rPr lang="en-US" sz="3600" dirty="0"/>
              <a:t>🧠 All services must be funded somehow</a:t>
            </a:r>
          </a:p>
        </p:txBody>
      </p:sp>
    </p:spTree>
    <p:extLst>
      <p:ext uri="{BB962C8B-B14F-4D97-AF65-F5344CB8AC3E}">
        <p14:creationId xmlns:p14="http://schemas.microsoft.com/office/powerpoint/2010/main" val="2109755923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61433-3673-FC7B-7B1C-18207F25D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1B6E6A3-75E6-13C0-F8AF-5ACF9BA8751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F6DF279-528C-3B46-36F1-D4C897FB8B0D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B6192219-C051-C9DC-DA90-52213680BBF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00990D1-8339-C889-39AA-A909CBE6141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F5E9A2B-691C-9C0B-6DBE-B32120155D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dirty="0"/>
              <a:t> 11. </a:t>
            </a:r>
            <a:r>
              <a:rPr lang="en-US" dirty="0"/>
              <a:t>Classroom Activity: “Who Pays?” 💸</a:t>
            </a:r>
            <a:endParaRPr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A80B1CFD-58D8-B24C-C6C3-C03976E4CD61}"/>
              </a:ext>
            </a:extLst>
          </p:cNvPr>
          <p:cNvSpPr txBox="1"/>
          <p:nvPr/>
        </p:nvSpPr>
        <p:spPr>
          <a:xfrm>
            <a:off x="3095752" y="2065433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dirty="0"/>
              <a:t>Give examples:</a:t>
            </a:r>
          </a:p>
          <a:p>
            <a:r>
              <a:rPr lang="en-US" sz="3200" dirty="0"/>
              <a:t>College Wi-Fi</a:t>
            </a:r>
          </a:p>
          <a:p>
            <a:r>
              <a:rPr lang="en-US" sz="3200" dirty="0"/>
              <a:t>Netflix</a:t>
            </a:r>
          </a:p>
          <a:p>
            <a:r>
              <a:rPr lang="en-US" sz="3200" dirty="0"/>
              <a:t>Cloud storage</a:t>
            </a:r>
          </a:p>
          <a:p>
            <a:r>
              <a:rPr lang="en-US" sz="3200" dirty="0"/>
              <a:t>Ask:</a:t>
            </a:r>
            <a:br>
              <a:rPr lang="en-US" sz="3200" dirty="0"/>
            </a:br>
            <a:r>
              <a:rPr lang="en-US" sz="3200" dirty="0"/>
              <a:t>✔ Who pays?</a:t>
            </a:r>
            <a:br>
              <a:rPr lang="en-US" sz="3200" dirty="0"/>
            </a:br>
            <a:r>
              <a:rPr lang="en-US" sz="3200" dirty="0"/>
              <a:t>✔ Fixed or usage-based?</a:t>
            </a:r>
          </a:p>
        </p:txBody>
      </p:sp>
    </p:spTree>
    <p:extLst>
      <p:ext uri="{BB962C8B-B14F-4D97-AF65-F5344CB8AC3E}">
        <p14:creationId xmlns:p14="http://schemas.microsoft.com/office/powerpoint/2010/main" val="317744474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C0557-48EE-0E48-66D0-0BEFBC86E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D228E3-1307-755B-ADF9-9FB318C3A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62393"/>
            <a:ext cx="8915400" cy="6369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503630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A2EAC-C377-1E68-E06E-97695EF31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A29A855-EED8-68D9-0909-4F3FCC7ED38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A4C52FB1-6C2E-7699-4BBF-12ADA67E3F0F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89ED8EA-183B-AB72-B2F1-028B9E7A519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6E1C492-9E25-C722-CCBB-A816489ABF40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F331A6FE-8EF0-A056-E0E0-494CBFDB1C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dirty="0"/>
              <a:t> 11. Value Chain: Plan</a:t>
            </a:r>
            <a:endParaRPr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169D1D0B-6CFC-1DF1-5D4B-583FDEBA917C}"/>
              </a:ext>
            </a:extLst>
          </p:cNvPr>
          <p:cNvSpPr txBox="1"/>
          <p:nvPr/>
        </p:nvSpPr>
        <p:spPr>
          <a:xfrm>
            <a:off x="3095752" y="2057400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Supports planning with:</a:t>
            </a:r>
          </a:p>
          <a:p>
            <a:r>
              <a:rPr lang="en-US" sz="3600" dirty="0"/>
              <a:t>Budgets</a:t>
            </a:r>
          </a:p>
          <a:p>
            <a:r>
              <a:rPr lang="en-US" sz="3600" dirty="0"/>
              <a:t>Forecasts</a:t>
            </a:r>
          </a:p>
          <a:p>
            <a:r>
              <a:rPr lang="en-US" sz="3600" dirty="0"/>
              <a:t>Financial reports</a:t>
            </a:r>
          </a:p>
          <a:p>
            <a:r>
              <a:rPr lang="en-US" sz="3600" dirty="0"/>
              <a:t>📌 No plan works without money</a:t>
            </a:r>
          </a:p>
        </p:txBody>
      </p:sp>
    </p:spTree>
    <p:extLst>
      <p:ext uri="{BB962C8B-B14F-4D97-AF65-F5344CB8AC3E}">
        <p14:creationId xmlns:p14="http://schemas.microsoft.com/office/powerpoint/2010/main" val="2596276400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009AE-282E-1A06-D6CD-EBACDF4BF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F9EE9B9-6705-9708-5363-E06B8A13469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36F1B13-53F4-3AE1-CB16-85C522563669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D0C98AF-00D4-6113-7F6A-ACC9986006E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E47A2C8-4D3E-3A97-423B-FB5C1273105F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8442BFF0-B1BF-9B39-8627-3C07AA1E91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dirty="0"/>
              <a:t> 11. </a:t>
            </a:r>
            <a:r>
              <a:rPr lang="en-US" dirty="0"/>
              <a:t>IT Budgets: Old vs New</a:t>
            </a:r>
            <a:endParaRPr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BA4BA515-36ED-1A21-1B5B-DC88794580D2}"/>
              </a:ext>
            </a:extLst>
          </p:cNvPr>
          <p:cNvSpPr txBox="1"/>
          <p:nvPr/>
        </p:nvSpPr>
        <p:spPr>
          <a:xfrm>
            <a:off x="3095752" y="2057400"/>
            <a:ext cx="8448040" cy="461087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b="1" dirty="0"/>
              <a:t>Traditional IT:</a:t>
            </a:r>
            <a:endParaRPr lang="en-US" sz="3600" dirty="0"/>
          </a:p>
          <a:p>
            <a:r>
              <a:rPr lang="en-US" sz="3600" dirty="0"/>
              <a:t>CAPEX (one-time purchase)</a:t>
            </a:r>
          </a:p>
          <a:p>
            <a:r>
              <a:rPr lang="en-US" sz="3600" dirty="0"/>
              <a:t>Fixed budgets</a:t>
            </a:r>
          </a:p>
          <a:p>
            <a:r>
              <a:rPr lang="en-US" sz="3600" b="1" dirty="0"/>
              <a:t>Modern IT (Cloud):</a:t>
            </a:r>
            <a:endParaRPr lang="en-US" sz="3600" dirty="0"/>
          </a:p>
          <a:p>
            <a:r>
              <a:rPr lang="en-US" sz="3600" dirty="0"/>
              <a:t>OPEX (subscription)</a:t>
            </a:r>
          </a:p>
          <a:p>
            <a:r>
              <a:rPr lang="en-US" sz="3600" dirty="0"/>
              <a:t>Pay-as-you-use</a:t>
            </a:r>
          </a:p>
          <a:p>
            <a:r>
              <a:rPr lang="en-US" sz="3600" dirty="0"/>
              <a:t>🧠 Example: Buying server vs AWS subscription</a:t>
            </a:r>
          </a:p>
        </p:txBody>
      </p:sp>
    </p:spTree>
    <p:extLst>
      <p:ext uri="{BB962C8B-B14F-4D97-AF65-F5344CB8AC3E}">
        <p14:creationId xmlns:p14="http://schemas.microsoft.com/office/powerpoint/2010/main" val="2449910372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C6C93-F10D-53E2-E57C-4288B6EC1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5ED7377-AC03-69E3-1B1A-3D998B4D60F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E4204CF-B195-845E-8156-3574D835FF3E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CD1F4788-0CC5-745E-4DFF-29974997B5C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7E74F59-9361-4E79-F807-9DD15DC6DEC5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EF3A3726-F009-2DAA-B1D8-A2FD7BB4AB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11. CAPEX vs OPEX</a:t>
            </a:r>
            <a:endParaRPr sz="4400" dirty="0">
              <a:latin typeface="Cambria"/>
              <a:cs typeface="Cambria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02823CC-4EBC-E99A-B313-0BC7E389B4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18250"/>
              </p:ext>
            </p:extLst>
          </p:nvPr>
        </p:nvGraphicFramePr>
        <p:xfrm>
          <a:off x="4114800" y="2289227"/>
          <a:ext cx="5584826" cy="3979544"/>
        </p:xfrm>
        <a:graphic>
          <a:graphicData uri="http://schemas.openxmlformats.org/drawingml/2006/table">
            <a:tbl>
              <a:tblPr/>
              <a:tblGrid>
                <a:gridCol w="2792413">
                  <a:extLst>
                    <a:ext uri="{9D8B030D-6E8A-4147-A177-3AD203B41FA5}">
                      <a16:colId xmlns:a16="http://schemas.microsoft.com/office/drawing/2014/main" val="1716277405"/>
                    </a:ext>
                  </a:extLst>
                </a:gridCol>
                <a:gridCol w="2792413">
                  <a:extLst>
                    <a:ext uri="{9D8B030D-6E8A-4147-A177-3AD203B41FA5}">
                      <a16:colId xmlns:a16="http://schemas.microsoft.com/office/drawing/2014/main" val="2763481949"/>
                    </a:ext>
                  </a:extLst>
                </a:gridCol>
              </a:tblGrid>
              <a:tr h="9948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/>
                        <a:t>CAPEX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dirty="0"/>
                        <a:t>OPEX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4876320"/>
                  </a:ext>
                </a:extLst>
              </a:tr>
              <a:tr h="9948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One-time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Ongoing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623160"/>
                  </a:ext>
                </a:extLst>
              </a:tr>
              <a:tr h="9948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Fixed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Variable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8785364"/>
                  </a:ext>
                </a:extLst>
              </a:tr>
              <a:tr h="9948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Hardware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Subscription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281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7852517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A4585-E280-193D-4A50-B667760F2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7A35D20-E529-CBC4-15EB-D1EDD90CE96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1191C9F-0187-8A67-B516-3B8887192AEA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75BA998-79F1-D39F-008F-AD445C2B099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9A02EEB-E8FF-755C-D063-081DFE948B7B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A418E3BE-B96E-2A23-99A1-001A36F6C3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dirty="0"/>
              <a:t> 11. Procurement Challenges</a:t>
            </a:r>
            <a:endParaRPr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406FFEBB-813C-CCC2-F5AB-65781562E5DD}"/>
              </a:ext>
            </a:extLst>
          </p:cNvPr>
          <p:cNvSpPr txBox="1"/>
          <p:nvPr/>
        </p:nvSpPr>
        <p:spPr>
          <a:xfrm>
            <a:off x="3095752" y="2057400"/>
            <a:ext cx="8448040" cy="40568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IN" sz="3600" dirty="0"/>
              <a:t>Cloud services: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/>
              <a:t>Variable pricing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/>
              <a:t>Usage-based payment</a:t>
            </a:r>
          </a:p>
          <a:p>
            <a:r>
              <a:rPr lang="en-IN" sz="3600" dirty="0"/>
              <a:t>Organizations must:</a:t>
            </a:r>
            <a:br>
              <a:rPr lang="en-IN" sz="3600" dirty="0"/>
            </a:br>
            <a:r>
              <a:rPr lang="en-IN" sz="3600" dirty="0"/>
              <a:t>✔ Update procurement rules</a:t>
            </a:r>
            <a:br>
              <a:rPr lang="en-IN" sz="3600" dirty="0"/>
            </a:br>
            <a:r>
              <a:rPr lang="en-IN" sz="3600" dirty="0"/>
              <a:t>✔ Train staff</a:t>
            </a:r>
          </a:p>
          <a:p>
            <a:r>
              <a:rPr lang="en-IN" sz="3600" dirty="0"/>
              <a:t>Otherwise → barrier to digital services</a:t>
            </a:r>
          </a:p>
        </p:txBody>
      </p:sp>
    </p:spTree>
    <p:extLst>
      <p:ext uri="{BB962C8B-B14F-4D97-AF65-F5344CB8AC3E}">
        <p14:creationId xmlns:p14="http://schemas.microsoft.com/office/powerpoint/2010/main" val="933238547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DE358-4415-5555-9DD3-40D01CE6A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28A4E06-7554-608D-530E-51C1813820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93FCFC9-8AF7-B4B6-3FD6-E56EC05B0F63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B6E77D8-35FA-DA50-5CDD-A83A81429CB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A1131CF-869F-E7CA-0757-ABF034F3257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341293D9-B5C6-12CC-4539-6013B9ADB6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11. Exam Memory Box 🧠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20A4E6E-5DBE-8F13-8783-796E69818093}"/>
              </a:ext>
            </a:extLst>
          </p:cNvPr>
          <p:cNvSpPr txBox="1"/>
          <p:nvPr/>
        </p:nvSpPr>
        <p:spPr>
          <a:xfrm>
            <a:off x="3095752" y="2310181"/>
            <a:ext cx="8448040" cy="3502882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IN" sz="3600" dirty="0"/>
              <a:t>Remember:</a:t>
            </a:r>
            <a:br>
              <a:rPr lang="en-IN" sz="3600" dirty="0"/>
            </a:br>
            <a:r>
              <a:rPr lang="en-IN" sz="3600" dirty="0"/>
              <a:t>✔ Budgeting, Accounting, Charging</a:t>
            </a:r>
            <a:br>
              <a:rPr lang="en-IN" sz="3600" dirty="0"/>
            </a:br>
            <a:r>
              <a:rPr lang="en-IN" sz="3600" dirty="0"/>
              <a:t>✔ CAPEX vs OPEX</a:t>
            </a:r>
            <a:br>
              <a:rPr lang="en-IN" sz="3600" dirty="0"/>
            </a:br>
            <a:r>
              <a:rPr lang="en-IN" sz="3600" dirty="0"/>
              <a:t>✔ ROI</a:t>
            </a:r>
            <a:br>
              <a:rPr lang="en-IN" sz="3600" dirty="0"/>
            </a:br>
            <a:r>
              <a:rPr lang="en-IN" sz="3600" dirty="0"/>
              <a:t>✔ Funding vs Charging</a:t>
            </a:r>
            <a:br>
              <a:rPr lang="en-IN" sz="3600" dirty="0"/>
            </a:br>
            <a:r>
              <a:rPr lang="en-IN" sz="3600" dirty="0"/>
              <a:t>✔ Finance supports SVS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81530100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72" y="-2359"/>
            <a:ext cx="12182475" cy="6501765"/>
            <a:chOff x="9972" y="-2359"/>
            <a:chExt cx="12182475" cy="6501765"/>
          </a:xfrm>
        </p:grpSpPr>
        <p:sp>
          <p:nvSpPr>
            <p:cNvPr id="3" name="object 3"/>
            <p:cNvSpPr/>
            <p:nvPr/>
          </p:nvSpPr>
          <p:spPr>
            <a:xfrm>
              <a:off x="623876" y="-2359"/>
              <a:ext cx="4548505" cy="3168650"/>
            </a:xfrm>
            <a:custGeom>
              <a:avLst/>
              <a:gdLst/>
              <a:ahLst/>
              <a:cxnLst/>
              <a:rect l="l" t="t" r="r" b="b"/>
              <a:pathLst>
                <a:path w="4548505" h="3168650">
                  <a:moveTo>
                    <a:pt x="1256288" y="0"/>
                  </a:moveTo>
                  <a:lnTo>
                    <a:pt x="0" y="0"/>
                  </a:lnTo>
                  <a:lnTo>
                    <a:pt x="3293242" y="3168630"/>
                  </a:lnTo>
                  <a:lnTo>
                    <a:pt x="4548038" y="3168630"/>
                  </a:lnTo>
                  <a:lnTo>
                    <a:pt x="3674989" y="2327497"/>
                  </a:lnTo>
                  <a:lnTo>
                    <a:pt x="1256288" y="0"/>
                  </a:lnTo>
                  <a:close/>
                </a:path>
              </a:pathLst>
            </a:custGeom>
            <a:solidFill>
              <a:srgbClr val="797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6691" y="0"/>
              <a:ext cx="10465308" cy="351129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788097" y="2242136"/>
              <a:ext cx="1691005" cy="1092200"/>
            </a:xfrm>
            <a:custGeom>
              <a:avLst/>
              <a:gdLst/>
              <a:ahLst/>
              <a:cxnLst/>
              <a:rect l="l" t="t" r="r" b="b"/>
              <a:pathLst>
                <a:path w="1691004" h="1092200">
                  <a:moveTo>
                    <a:pt x="554199" y="0"/>
                  </a:moveTo>
                  <a:lnTo>
                    <a:pt x="0" y="0"/>
                  </a:lnTo>
                  <a:lnTo>
                    <a:pt x="1136342" y="1091875"/>
                  </a:lnTo>
                  <a:lnTo>
                    <a:pt x="1690541" y="1091875"/>
                  </a:lnTo>
                  <a:lnTo>
                    <a:pt x="1471838" y="882606"/>
                  </a:lnTo>
                  <a:lnTo>
                    <a:pt x="554199" y="0"/>
                  </a:lnTo>
                  <a:close/>
                </a:path>
              </a:pathLst>
            </a:custGeom>
            <a:solidFill>
              <a:srgbClr val="99D9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972" y="2972399"/>
              <a:ext cx="3660775" cy="3526790"/>
            </a:xfrm>
            <a:custGeom>
              <a:avLst/>
              <a:gdLst/>
              <a:ahLst/>
              <a:cxnLst/>
              <a:rect l="l" t="t" r="r" b="b"/>
              <a:pathLst>
                <a:path w="3660775" h="3526790">
                  <a:moveTo>
                    <a:pt x="0" y="0"/>
                  </a:moveTo>
                  <a:lnTo>
                    <a:pt x="0" y="477832"/>
                  </a:lnTo>
                  <a:lnTo>
                    <a:pt x="3163571" y="3526622"/>
                  </a:lnTo>
                  <a:lnTo>
                    <a:pt x="3660562" y="35266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5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41" y="2320818"/>
              <a:ext cx="2994025" cy="2885440"/>
            </a:xfrm>
            <a:custGeom>
              <a:avLst/>
              <a:gdLst/>
              <a:ahLst/>
              <a:cxnLst/>
              <a:rect l="l" t="t" r="r" b="b"/>
              <a:pathLst>
                <a:path w="2994025" h="2885440">
                  <a:moveTo>
                    <a:pt x="0" y="0"/>
                  </a:moveTo>
                  <a:lnTo>
                    <a:pt x="0" y="458147"/>
                  </a:lnTo>
                  <a:lnTo>
                    <a:pt x="2519204" y="2885259"/>
                  </a:lnTo>
                  <a:lnTo>
                    <a:pt x="2993958" y="2885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B0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8130667" y="1879549"/>
            <a:ext cx="3354704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dirty="0">
                <a:solidFill>
                  <a:srgbClr val="252525"/>
                </a:solidFill>
              </a:rPr>
              <a:t>Thank</a:t>
            </a:r>
            <a:r>
              <a:rPr sz="4500" spc="-20" dirty="0">
                <a:solidFill>
                  <a:srgbClr val="252525"/>
                </a:solidFill>
              </a:rPr>
              <a:t> you…</a:t>
            </a:r>
            <a:endParaRPr sz="4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5C4D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1733</TotalTime>
  <Words>4417</Words>
  <Application>Microsoft Office PowerPoint</Application>
  <PresentationFormat>Widescreen</PresentationFormat>
  <Paragraphs>719</Paragraphs>
  <Slides>133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133</vt:i4>
      </vt:variant>
    </vt:vector>
  </HeadingPairs>
  <TitlesOfParts>
    <vt:vector size="141" baseType="lpstr">
      <vt:lpstr>Aptos</vt:lpstr>
      <vt:lpstr>Arial</vt:lpstr>
      <vt:lpstr>Calibri</vt:lpstr>
      <vt:lpstr>Cambria</vt:lpstr>
      <vt:lpstr>Centaur</vt:lpstr>
      <vt:lpstr>Segoe UI</vt:lpstr>
      <vt:lpstr>Wingdings</vt:lpstr>
      <vt:lpstr>Office Theme</vt:lpstr>
      <vt:lpstr>IT Infrastructure                       Management            Chapter 5:  ITIL MANAGEMENT PRACTICES                        TY B.Sc. (IT)</vt:lpstr>
      <vt:lpstr>1 Topics:</vt:lpstr>
      <vt:lpstr>2  General management  </vt:lpstr>
      <vt:lpstr>2  Service management  </vt:lpstr>
      <vt:lpstr>2  Technical management  </vt:lpstr>
      <vt:lpstr>1. Architecture management</vt:lpstr>
      <vt:lpstr>2 1. Architecture management: </vt:lpstr>
      <vt:lpstr>2  1. Purpose: </vt:lpstr>
      <vt:lpstr>2  1. Why do we need it? </vt:lpstr>
      <vt:lpstr>2  1. Five Architecture Domains</vt:lpstr>
      <vt:lpstr>PowerPoint Presentation</vt:lpstr>
      <vt:lpstr>2  1. Real College Example</vt:lpstr>
      <vt:lpstr>2  1. ⏳ Activity: “Build Your Ideal College”</vt:lpstr>
      <vt:lpstr>2. Continual Improvement</vt:lpstr>
      <vt:lpstr>3 2. Continual Improvement</vt:lpstr>
      <vt:lpstr>3 2. Why is it Important?</vt:lpstr>
      <vt:lpstr>3 2. Real-Life Example</vt:lpstr>
      <vt:lpstr>PowerPoint Presentation</vt:lpstr>
      <vt:lpstr>3 2. Where Improvement Ideas Come From</vt:lpstr>
      <vt:lpstr>3 2. Who is Responsible?</vt:lpstr>
      <vt:lpstr>3 2. Continual Improvement Register (CIR)</vt:lpstr>
      <vt:lpstr>3 2. Activity Name: “Fix Your Classroom 🚧”</vt:lpstr>
      <vt:lpstr>4 3: Information Security Management (ISM) </vt:lpstr>
      <vt:lpstr>4 3: Why is it Needed?</vt:lpstr>
      <vt:lpstr>4 3: The CIA Triad</vt:lpstr>
      <vt:lpstr>4 3: Extra Security Concepts</vt:lpstr>
      <vt:lpstr>4 3: Balance Needed</vt:lpstr>
      <vt:lpstr>4 3: Methods Used</vt:lpstr>
      <vt:lpstr>PowerPoint Presentation</vt:lpstr>
      <vt:lpstr>4 3: Who Is Responsible?</vt:lpstr>
      <vt:lpstr>4 3: Activity: “Spot the Risk” Game</vt:lpstr>
      <vt:lpstr>4. Knowledge Management</vt:lpstr>
      <vt:lpstr>4 4. What Is Knowledge Management?</vt:lpstr>
      <vt:lpstr>4 4. Information vs Knowledge</vt:lpstr>
      <vt:lpstr>4 4. Types of Knowledge</vt:lpstr>
      <vt:lpstr>4 4. What KM Ensures</vt:lpstr>
      <vt:lpstr>4 4. 🎭 Class Activity: “Ask the Expert” Game</vt:lpstr>
      <vt:lpstr>PowerPoint Presentation</vt:lpstr>
      <vt:lpstr>5. Measurement and reporting</vt:lpstr>
      <vt:lpstr>4 5. What is Measurement &amp; Reporting</vt:lpstr>
      <vt:lpstr>4 5. What Do We Measure?</vt:lpstr>
      <vt:lpstr>4 5. Why Measurement Matters?</vt:lpstr>
      <vt:lpstr>4 5. CSF vs KPI</vt:lpstr>
      <vt:lpstr>4 5. Why Measurement Matters?</vt:lpstr>
      <vt:lpstr>4 5. Good Measurement = Good Reporting</vt:lpstr>
      <vt:lpstr>4 5. What a Good Report Looks Like</vt:lpstr>
      <vt:lpstr>PowerPoint Presentation</vt:lpstr>
      <vt:lpstr>4 5. 🎮 Class Activity “Dashboard Detective”</vt:lpstr>
      <vt:lpstr>PowerPoint Presentation</vt:lpstr>
      <vt:lpstr>6. Organizational Change Management</vt:lpstr>
      <vt:lpstr>4 6. Organizational Change Management</vt:lpstr>
      <vt:lpstr>4 6. Why Change Management?</vt:lpstr>
      <vt:lpstr>4 6. What OCM Achieves</vt:lpstr>
      <vt:lpstr>4 6. Essential Elements of Successful Change</vt:lpstr>
      <vt:lpstr>4 6. A. Clear &amp; Relevant Objectives</vt:lpstr>
      <vt:lpstr>4 6. B. Strong &amp; Committed Leadership</vt:lpstr>
      <vt:lpstr>4 6. C. Willing &amp; Prepared Participants</vt:lpstr>
      <vt:lpstr>4 6. D. Sustained Improvement</vt:lpstr>
      <vt:lpstr>4 6. Key OCM Activities</vt:lpstr>
      <vt:lpstr>PowerPoint Presentation</vt:lpstr>
      <vt:lpstr>4 6. 🎮 “Change Resistance Bingo”</vt:lpstr>
      <vt:lpstr>4 6. 🎮 “Change Resistance Bingo”</vt:lpstr>
      <vt:lpstr>4 6. Mini Case Study</vt:lpstr>
      <vt:lpstr>7. Portfolio Management</vt:lpstr>
      <vt:lpstr>4    7. Portfolio Management</vt:lpstr>
      <vt:lpstr>4 7. Portfolio vs Project </vt:lpstr>
      <vt:lpstr>4 7. Portfolio vs Project (Mini Game)</vt:lpstr>
      <vt:lpstr>4 7. Why Portfolio Management is Needed</vt:lpstr>
      <vt:lpstr>4 7. What Portfolio Management DOES </vt:lpstr>
      <vt:lpstr>4 7. Activity 1: Evaluation &amp; Prioritization</vt:lpstr>
      <vt:lpstr>4 7. Activity 2: Linking to Outcomes</vt:lpstr>
      <vt:lpstr>4 7. Activity 3: Portfolio Reviews</vt:lpstr>
      <vt:lpstr>4 7. Types of Portfolios (Overview)</vt:lpstr>
      <vt:lpstr>4 7. Product/Service Portfolio</vt:lpstr>
      <vt:lpstr>4 7. Project Portfolio</vt:lpstr>
      <vt:lpstr>4 7. Customer Portfolio</vt:lpstr>
      <vt:lpstr>PowerPoint Presentation</vt:lpstr>
      <vt:lpstr>4 7. Exit Activity</vt:lpstr>
      <vt:lpstr>8. Project Management Turning plans into results</vt:lpstr>
      <vt:lpstr>4    8. Project Management</vt:lpstr>
      <vt:lpstr>4  8. What is a Project?</vt:lpstr>
      <vt:lpstr>4  8. Why Project Management is Important</vt:lpstr>
      <vt:lpstr>4  8. Project vs Business as Usual (Game)</vt:lpstr>
      <vt:lpstr>4  8. Standalone Project or Programme</vt:lpstr>
      <vt:lpstr>4  8. Project &amp; Project Portfolio</vt:lpstr>
      <vt:lpstr>4  8. Risk of Poor Project Management</vt:lpstr>
      <vt:lpstr>4  8. Role of People in Projects</vt:lpstr>
      <vt:lpstr>4  8. Project Team Reality</vt:lpstr>
      <vt:lpstr>4  8. Project Delivery Approaches</vt:lpstr>
      <vt:lpstr>4  8. Value Chain: Design &amp; Transition AND Obtain / Build</vt:lpstr>
      <vt:lpstr>PowerPoint Presentation</vt:lpstr>
      <vt:lpstr>4  8. Summary Slide</vt:lpstr>
      <vt:lpstr>9. Relationship Management Because services are built on relationships</vt:lpstr>
      <vt:lpstr>4 9. Relationship Management</vt:lpstr>
      <vt:lpstr>4  9. Who Are Stakeholders?</vt:lpstr>
      <vt:lpstr>4  9. What Relationship Management Does</vt:lpstr>
      <vt:lpstr>4  9. Customer Priorities</vt:lpstr>
      <vt:lpstr>4  9. Handling Complaints &amp; Escalations</vt:lpstr>
      <vt:lpstr>4  9. Value Creation Through Relationships </vt:lpstr>
      <vt:lpstr>4  9. Managing Conflicting Needs</vt:lpstr>
      <vt:lpstr>4  9. Not Only Customers!</vt:lpstr>
      <vt:lpstr>PowerPoint Presentation</vt:lpstr>
      <vt:lpstr>4  9. Summary Slide</vt:lpstr>
      <vt:lpstr>10. Risk Management “Is taking no risk also a risk?”</vt:lpstr>
      <vt:lpstr>4 10. Risk Management</vt:lpstr>
      <vt:lpstr>4  10. Risk Is NOT Always Bad</vt:lpstr>
      <vt:lpstr>4  10. Portfolio &amp; Risk</vt:lpstr>
      <vt:lpstr>4  10. Three Core Risk Activities</vt:lpstr>
      <vt:lpstr>PowerPoint Presentation</vt:lpstr>
      <vt:lpstr>4  10. Risk Identification</vt:lpstr>
      <vt:lpstr>4  10. Risk Assessment </vt:lpstr>
      <vt:lpstr>4  10. Risk Treatment</vt:lpstr>
      <vt:lpstr>4  10. Principle: Risk Is Part of Business</vt:lpstr>
      <vt:lpstr>PowerPoint Presentation</vt:lpstr>
      <vt:lpstr>4  10. Good Risk Behaviour Includes</vt:lpstr>
      <vt:lpstr>4  10. ISO 31000 Connection</vt:lpstr>
      <vt:lpstr>4  10. Classroom Activity: “Risk Spotter” ⚠️</vt:lpstr>
      <vt:lpstr>4  10. Exam Memory Box</vt:lpstr>
      <vt:lpstr>PowerPoint Presentation</vt:lpstr>
      <vt:lpstr>4 11. Service financial management </vt:lpstr>
      <vt:lpstr>4  11. Finance = Common Language</vt:lpstr>
      <vt:lpstr>4  11. Budgeting &amp; Costing</vt:lpstr>
      <vt:lpstr>4  11. Service-Based Budgeting</vt:lpstr>
      <vt:lpstr>4  11. Accounting</vt:lpstr>
      <vt:lpstr>4  11. Charging</vt:lpstr>
      <vt:lpstr>4  11. Classroom Activity: “Who Pays?” 💸</vt:lpstr>
      <vt:lpstr>PowerPoint Presentation</vt:lpstr>
      <vt:lpstr>4  11. Value Chain: Plan</vt:lpstr>
      <vt:lpstr>4  11. IT Budgets: Old vs New</vt:lpstr>
      <vt:lpstr>4  11. CAPEX vs OPEX</vt:lpstr>
      <vt:lpstr>4  11. Procurement Challenges</vt:lpstr>
      <vt:lpstr>4  11. Exam Memory Box 🧠</vt:lpstr>
      <vt:lpstr>Thank you…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 Geographic Information Systems </dc:title>
  <dc:creator>Pushpa Mahapatro</dc:creator>
  <cp:lastModifiedBy>poornimanadar1234@gmail.com</cp:lastModifiedBy>
  <cp:revision>66</cp:revision>
  <dcterms:created xsi:type="dcterms:W3CDTF">2025-11-04T17:06:10Z</dcterms:created>
  <dcterms:modified xsi:type="dcterms:W3CDTF">2026-01-11T16:38:07Z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2021-01-13T00:00:00Z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2025-11-04T00:00:00Z</vt:filetime>
  </property>
  <property fmtid="{D5CDD505-2E9C-101B-9397-08002B2CF9AE}" pid="5" name="Producer">
    <vt:lpwstr>Microsoft® PowerPoint® for Microsoft 365</vt:lpwstr>
  </property>
</Properties>
</file>