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80" r:id="rId5"/>
    <p:sldId id="270" r:id="rId6"/>
    <p:sldId id="275" r:id="rId7"/>
    <p:sldId id="281" r:id="rId8"/>
    <p:sldId id="286" r:id="rId9"/>
    <p:sldId id="300" r:id="rId10"/>
    <p:sldId id="287" r:id="rId11"/>
    <p:sldId id="282" r:id="rId12"/>
    <p:sldId id="301" r:id="rId13"/>
    <p:sldId id="288" r:id="rId14"/>
    <p:sldId id="284" r:id="rId15"/>
    <p:sldId id="289" r:id="rId16"/>
    <p:sldId id="291" r:id="rId17"/>
    <p:sldId id="290" r:id="rId18"/>
    <p:sldId id="293" r:id="rId19"/>
    <p:sldId id="285" r:id="rId20"/>
    <p:sldId id="294" r:id="rId21"/>
    <p:sldId id="297" r:id="rId22"/>
    <p:sldId id="298" r:id="rId23"/>
    <p:sldId id="296" r:id="rId24"/>
    <p:sldId id="299" r:id="rId25"/>
    <p:sldId id="269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94660"/>
  </p:normalViewPr>
  <p:slideViewPr>
    <p:cSldViewPr>
      <p:cViewPr varScale="1">
        <p:scale>
          <a:sx n="74" d="100"/>
          <a:sy n="74" d="100"/>
        </p:scale>
        <p:origin x="72" y="42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089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730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00200" y="945215"/>
            <a:ext cx="9296400" cy="2821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IT Infrastructure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Management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</a:t>
            </a:r>
            <a:r>
              <a:rPr lang="en-IN" sz="2400" b="0" spc="150" dirty="0">
                <a:solidFill>
                  <a:srgbClr val="FFFFFF"/>
                </a:solidFill>
                <a:latin typeface="Cambria"/>
                <a:cs typeface="Cambria"/>
              </a:rPr>
              <a:t>Chapter 2:</a:t>
            </a:r>
            <a:r>
              <a:rPr lang="en-US" sz="2400" b="0" spc="150" dirty="0">
                <a:solidFill>
                  <a:srgbClr val="FFFFFF"/>
                </a:solidFill>
                <a:latin typeface="Cambria"/>
                <a:cs typeface="Cambria"/>
              </a:rPr>
              <a:t> Key concepts of service management</a:t>
            </a:r>
            <a:b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   </a:t>
            </a:r>
            <a:r>
              <a:rPr lang="en-IN" sz="3200" b="0" spc="210" dirty="0">
                <a:solidFill>
                  <a:srgbClr val="FFFFFF"/>
                </a:solidFill>
                <a:latin typeface="Cambria"/>
                <a:cs typeface="Cambria"/>
              </a:rPr>
              <a:t>TY B.Sc. (IT)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858041" y="2001387"/>
            <a:ext cx="9714738" cy="407611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Value and value co-creation</a:t>
            </a:r>
          </a:p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Organizations, service providers, service consumers, and other stakeholders</a:t>
            </a:r>
          </a:p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Products and services</a:t>
            </a:r>
          </a:p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Service relationships</a:t>
            </a:r>
          </a:p>
          <a:p>
            <a:pPr marL="469900" marR="3267075" indent="-457200">
              <a:lnSpc>
                <a:spcPts val="49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Value: outcomes, costs, and risks.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Topics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Value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The perceived benefits, usefulness, and importance of something.</a:t>
            </a:r>
          </a:p>
          <a:p>
            <a:endParaRPr lang="en-US" sz="2800" dirty="0">
              <a:latin typeface="+mj-lt"/>
            </a:endParaRPr>
          </a:p>
          <a:p>
            <a:r>
              <a:rPr lang="en-IN" sz="2800" dirty="0"/>
              <a:t>Value can be subjective. 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Value co-creation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Value is co-created through active collaboration between providers and consumers.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/>
              <a:t>📘 </a:t>
            </a:r>
            <a:r>
              <a:rPr lang="en-US" sz="2800" b="1" dirty="0"/>
              <a:t>Earlier:</a:t>
            </a:r>
            <a:r>
              <a:rPr lang="en-US" sz="2800" dirty="0"/>
              <a:t> Provider → Consumer (one-way)</a:t>
            </a:r>
            <a:br>
              <a:rPr lang="en-US" sz="2800" dirty="0"/>
            </a:br>
            <a:r>
              <a:rPr lang="en-US" sz="2800" dirty="0"/>
              <a:t>📘 </a:t>
            </a:r>
            <a:r>
              <a:rPr lang="en-US" sz="2800" b="1" dirty="0"/>
              <a:t>Now:</a:t>
            </a:r>
            <a:r>
              <a:rPr lang="en-US" sz="2800" dirty="0"/>
              <a:t> Provider 🤝 Consumer (collaboration)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3532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CBB987-9B11-023D-D33C-8CBAF9B1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F9DFEF-2D54-8B63-A410-80F619289F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DC9E1E0-028B-960F-284B-6D068DB55D6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AF316CF-C62B-D60B-DB2B-3BC8287BA5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460D41-CAE6-6660-E033-D97CF68F494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AB92D4A-F154-EA20-4B39-BCB8090D4E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Organizations and Stakeholders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8A3DE4E-E2D7-7B9F-0998-091805673814}"/>
              </a:ext>
            </a:extLst>
          </p:cNvPr>
          <p:cNvSpPr txBox="1"/>
          <p:nvPr/>
        </p:nvSpPr>
        <p:spPr>
          <a:xfrm>
            <a:off x="2934462" y="2286000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dirty="0"/>
              <a:t>An organization is a person or group of people that has its own functions and objectives.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Provider: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Offers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Consumer: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Stakeholders: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Partners, employees, regulators, shareholders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1750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D414B9-B90A-F669-2C51-DCEAF934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79B427-02E0-3818-B528-27CC02853E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ABD643F-0508-8BE8-F4C7-E58271DCF8E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919399F-F845-83CA-BBC6-04A7381D99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B7C0A9C-8282-3253-4D01-740FAD392F3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CB3F5A9-BF5C-BC5E-2FB9-BF1459AC37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Service Providers and Consumers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9EFF2F3-CCD0-8934-605B-567D98C1158F}"/>
              </a:ext>
            </a:extLst>
          </p:cNvPr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2400" dirty="0"/>
              <a:t>📘 </a:t>
            </a:r>
            <a:r>
              <a:rPr lang="en-IN" sz="2400" b="1" dirty="0"/>
              <a:t>Service Provider:</a:t>
            </a:r>
            <a:br>
              <a:rPr lang="en-IN" sz="2400" dirty="0"/>
            </a:br>
            <a:r>
              <a:rPr lang="en-IN" sz="2400" dirty="0"/>
              <a:t>Organization delivering services</a:t>
            </a:r>
          </a:p>
          <a:p>
            <a:r>
              <a:rPr lang="en-IN" sz="2400" dirty="0"/>
              <a:t>📘 </a:t>
            </a:r>
            <a:r>
              <a:rPr lang="en-IN" sz="2400" b="1" dirty="0"/>
              <a:t>Service Consumer:</a:t>
            </a:r>
            <a:br>
              <a:rPr lang="en-IN" sz="2400" dirty="0"/>
            </a:br>
            <a:r>
              <a:rPr lang="en-IN" sz="2400" dirty="0"/>
              <a:t>Organization or person using services</a:t>
            </a:r>
          </a:p>
          <a:p>
            <a:r>
              <a:rPr lang="en-IN" sz="2400" dirty="0"/>
              <a:t>🔹 </a:t>
            </a:r>
            <a:r>
              <a:rPr lang="en-IN" sz="2400" b="1" dirty="0"/>
              <a:t>Roles of Service Consumer:</a:t>
            </a:r>
            <a:endParaRPr lang="en-IN" sz="2400" dirty="0"/>
          </a:p>
          <a:p>
            <a:r>
              <a:rPr lang="en-IN" sz="2400" b="1" dirty="0"/>
              <a:t>User</a:t>
            </a:r>
            <a:r>
              <a:rPr lang="en-IN" sz="2400" dirty="0"/>
              <a:t> → uses the service</a:t>
            </a:r>
          </a:p>
          <a:p>
            <a:r>
              <a:rPr lang="en-IN" sz="2400" b="1" dirty="0"/>
              <a:t>Customer</a:t>
            </a:r>
            <a:r>
              <a:rPr lang="en-IN" sz="2400" dirty="0"/>
              <a:t> → defines needs</a:t>
            </a:r>
          </a:p>
          <a:p>
            <a:r>
              <a:rPr lang="en-IN" sz="2400" b="1" dirty="0"/>
              <a:t>Sponsor</a:t>
            </a:r>
            <a:r>
              <a:rPr lang="en-IN" sz="2400" dirty="0"/>
              <a:t> → approves budget</a:t>
            </a:r>
          </a:p>
        </p:txBody>
      </p:sp>
    </p:spTree>
    <p:extLst>
      <p:ext uri="{BB962C8B-B14F-4D97-AF65-F5344CB8AC3E}">
        <p14:creationId xmlns:p14="http://schemas.microsoft.com/office/powerpoint/2010/main" val="216168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304CCF-0E86-1A4F-6366-6B04A8B87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7B1891-8659-4ABB-4D34-4E63D37F11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8361829-4804-022A-0537-EFDF10EC98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BE62608-826E-0336-3886-B8A09B2F8A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807196-54FB-CF97-36B7-51C217887DA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CB50881-1F3C-51E3-3BEA-A65ED0B8B6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8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Products and Services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EB26F5F-3D5F-0F48-2071-19A33554AF85}"/>
              </a:ext>
            </a:extLst>
          </p:cNvPr>
          <p:cNvSpPr txBox="1"/>
          <p:nvPr/>
        </p:nvSpPr>
        <p:spPr>
          <a:xfrm>
            <a:off x="2934462" y="2286000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📘 </a:t>
            </a:r>
            <a:r>
              <a:rPr lang="en-US" sz="2400" b="1" dirty="0"/>
              <a:t>Product:</a:t>
            </a:r>
            <a:br>
              <a:rPr lang="en-US" sz="2400" dirty="0"/>
            </a:br>
            <a:r>
              <a:rPr lang="en-US" sz="2400" dirty="0"/>
              <a:t>Configuration of resources designed to offer value</a:t>
            </a:r>
          </a:p>
          <a:p>
            <a:r>
              <a:rPr lang="en-US" sz="2400" dirty="0"/>
              <a:t>📘 </a:t>
            </a:r>
            <a:r>
              <a:rPr lang="en-US" sz="2400" b="1" dirty="0"/>
              <a:t>Service:</a:t>
            </a:r>
            <a:br>
              <a:rPr lang="en-US" sz="2400" dirty="0"/>
            </a:br>
            <a:r>
              <a:rPr lang="en-US" sz="2400" dirty="0"/>
              <a:t>A means of enabling value co-creation by facilitating outcomes without managing specific costs or risks	</a:t>
            </a:r>
          </a:p>
          <a:p>
            <a:endParaRPr lang="en-US" sz="2400" dirty="0"/>
          </a:p>
          <a:p>
            <a:r>
              <a:rPr lang="en-US" sz="2400" dirty="0"/>
              <a:t>Example:</a:t>
            </a:r>
          </a:p>
          <a:p>
            <a:r>
              <a:rPr lang="en-US" sz="2400" dirty="0"/>
              <a:t>“Lite” version → individual users</a:t>
            </a:r>
          </a:p>
          <a:p>
            <a:r>
              <a:rPr lang="en-US" sz="2400" dirty="0"/>
              <a:t>“Pro” version → corporate users</a:t>
            </a:r>
          </a:p>
        </p:txBody>
      </p:sp>
    </p:spTree>
    <p:extLst>
      <p:ext uri="{BB962C8B-B14F-4D97-AF65-F5344CB8AC3E}">
        <p14:creationId xmlns:p14="http://schemas.microsoft.com/office/powerpoint/2010/main" val="231849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2A94A4-ABF7-6E6D-7071-4BBC4320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1FA8EA-C087-3E97-3A40-84D1242DD7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BCB4701-6E13-3319-32B4-2625DAF0792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72FCCE0-2925-1FB1-C688-1553BA1EA56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C20C4A3-79C6-D955-F760-4633F7B3BA8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D3E3B65-6155-D11E-D633-CC142783B5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Service Offerings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1EEEF1A-A37E-FCD0-AAD9-7D345720DE8B}"/>
              </a:ext>
            </a:extLst>
          </p:cNvPr>
          <p:cNvSpPr txBox="1"/>
          <p:nvPr/>
        </p:nvSpPr>
        <p:spPr>
          <a:xfrm>
            <a:off x="2934462" y="2286000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A </a:t>
            </a:r>
            <a:r>
              <a:rPr lang="en-US" sz="3600" b="1" dirty="0"/>
              <a:t>service offering</a:t>
            </a:r>
            <a:r>
              <a:rPr lang="en-US" sz="3600" dirty="0"/>
              <a:t> is a </a:t>
            </a:r>
            <a:r>
              <a:rPr lang="en-US" sz="3600" i="1" u="sng" dirty="0"/>
              <a:t>formal description</a:t>
            </a:r>
            <a:r>
              <a:rPr lang="en-US" sz="3600" u="sng" dirty="0"/>
              <a:t> </a:t>
            </a:r>
            <a:r>
              <a:rPr lang="en-US" sz="3600" dirty="0"/>
              <a:t>of one or more services, designed to meet the needs of a </a:t>
            </a:r>
            <a:r>
              <a:rPr lang="en-US" sz="3600" b="1" dirty="0"/>
              <a:t>target consumer group</a:t>
            </a:r>
            <a:r>
              <a:rPr lang="en-US" sz="36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806C7A-BC69-C36C-29EE-28DC93B94D05}"/>
              </a:ext>
            </a:extLst>
          </p:cNvPr>
          <p:cNvSpPr txBox="1"/>
          <p:nvPr/>
        </p:nvSpPr>
        <p:spPr>
          <a:xfrm>
            <a:off x="6121400" y="5486400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It’s how the organization says,</a:t>
            </a:r>
            <a:br>
              <a:rPr lang="en-US" sz="2000" b="1" dirty="0"/>
            </a:br>
            <a:r>
              <a:rPr lang="en-US" sz="2000" b="1" dirty="0"/>
              <a:t>“Here’s what we provide, who it’s for, and how it meets your needs.”</a:t>
            </a:r>
          </a:p>
        </p:txBody>
      </p:sp>
    </p:spTree>
    <p:extLst>
      <p:ext uri="{BB962C8B-B14F-4D97-AF65-F5344CB8AC3E}">
        <p14:creationId xmlns:p14="http://schemas.microsoft.com/office/powerpoint/2010/main" val="557081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927FC01-D80F-B977-6F90-F3161EF4B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468F004-C74E-5802-4EB9-45146B42F6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A1F2D23-5C6F-6AC8-1A7A-05FE1AE6986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77BB55E-90F8-FD07-6087-2FC2C7F2C0C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88B948-90BC-DABD-2576-EF192DE0FC8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ADB3063-C5C6-B78E-9838-C75C43F491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10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Example: Food Delivery App (like Swiggy / Zomato)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EA42E86-75F6-DAE1-CFFC-1A1D68002C28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1. Goods:</a:t>
            </a:r>
            <a:br>
              <a:rPr lang="en-US" sz="2800" dirty="0"/>
            </a:br>
            <a:r>
              <a:rPr lang="en-US" sz="2800" dirty="0"/>
              <a:t>🍔 The food prepared and packed by the restaurant.</a:t>
            </a:r>
          </a:p>
          <a:p>
            <a:r>
              <a:rPr lang="en-US" sz="2800" b="1" dirty="0"/>
              <a:t>2. Access to Resources:</a:t>
            </a:r>
            <a:br>
              <a:rPr lang="en-US" sz="2800" dirty="0"/>
            </a:br>
            <a:r>
              <a:rPr lang="en-US" sz="2800" dirty="0"/>
              <a:t>📱 The mobile app that lets users browse restaurants, place orders, and track delivery.</a:t>
            </a:r>
          </a:p>
          <a:p>
            <a:r>
              <a:rPr lang="en-US" sz="2800" b="1" dirty="0"/>
              <a:t>3. Service Actions:</a:t>
            </a:r>
            <a:br>
              <a:rPr lang="en-US" sz="2800" dirty="0"/>
            </a:br>
            <a:r>
              <a:rPr lang="en-US" sz="2800" dirty="0"/>
              <a:t>🚴 Delivery by riders and customer support for order issues.</a:t>
            </a:r>
          </a:p>
        </p:txBody>
      </p:sp>
    </p:spTree>
    <p:extLst>
      <p:ext uri="{BB962C8B-B14F-4D97-AF65-F5344CB8AC3E}">
        <p14:creationId xmlns:p14="http://schemas.microsoft.com/office/powerpoint/2010/main" val="3075802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1FBCCA-3061-6E7E-3B3F-4B1F0CA89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"/>
            <a:ext cx="12192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46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7A1890-3D1F-A065-3273-A299305D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241C81-5C36-7ACC-0600-53075DBEBB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0E24E25-67ED-5462-DA00-4767B59490D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C42B881-B964-3CCF-DB40-0DCE6521C8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C8608A-F19A-6F76-74A4-F7E12CB35B4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B2C12B5-C551-9D4D-8259-330DC37069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11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Service Relationships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EF04921-5C2E-3765-60A4-0BCCFDCFD787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i="1" dirty="0"/>
              <a:t>Cooperation between provider and consumer to co-create value.</a:t>
            </a:r>
            <a:endParaRPr lang="en-US" sz="2400" dirty="0"/>
          </a:p>
          <a:p>
            <a:r>
              <a:rPr lang="en-US" sz="2400" dirty="0"/>
              <a:t>Includes: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Provision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delivering the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Consumption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using the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Relationship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ensuring ongoing collaboration</a:t>
            </a:r>
          </a:p>
        </p:txBody>
      </p:sp>
    </p:spTree>
    <p:extLst>
      <p:ext uri="{BB962C8B-B14F-4D97-AF65-F5344CB8AC3E}">
        <p14:creationId xmlns:p14="http://schemas.microsoft.com/office/powerpoint/2010/main" val="3554562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5B4AEA-BC5E-D5DF-C76F-53FFA6423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C3B6ECA-06B0-FFE6-10EB-296F9D9B03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D0E161B-F7D1-AAC6-B218-F7E35FCC443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AE2EC6C-4BAA-34B8-492B-2593170CEE3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18CC417-E0A4-433C-1423-A1565795996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CDB82C2-9E0E-4C05-D8AB-054E7CC8A6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Example: Cloud Storage Service (like Google Drive)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39B6AC1-08BC-0008-F139-5DAB4B566593}"/>
              </a:ext>
            </a:extLst>
          </p:cNvPr>
          <p:cNvSpPr txBox="1"/>
          <p:nvPr/>
        </p:nvSpPr>
        <p:spPr>
          <a:xfrm>
            <a:off x="2934462" y="2286000"/>
            <a:ext cx="8448040" cy="424154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/>
              <a:t>Service Provision:</a:t>
            </a:r>
            <a:br>
              <a:rPr lang="en-US" sz="2400" dirty="0"/>
            </a:br>
            <a:r>
              <a:rPr lang="en-US" sz="2400" dirty="0"/>
              <a:t>☁️ Google provides online storage space, backup, and data security.</a:t>
            </a:r>
          </a:p>
          <a:p>
            <a:endParaRPr lang="en-US" sz="2400" dirty="0"/>
          </a:p>
          <a:p>
            <a:r>
              <a:rPr lang="en-US" sz="2400" b="1" dirty="0"/>
              <a:t>2. Service Consumption:</a:t>
            </a:r>
            <a:br>
              <a:rPr lang="en-US" sz="2400" dirty="0"/>
            </a:br>
            <a:r>
              <a:rPr lang="en-US" sz="2400" dirty="0"/>
              <a:t>👩‍💻 Users upload, store, and share their files using the service.</a:t>
            </a:r>
          </a:p>
          <a:p>
            <a:endParaRPr lang="en-US" sz="2400" dirty="0"/>
          </a:p>
          <a:p>
            <a:r>
              <a:rPr lang="en-US" sz="2400" b="1" dirty="0"/>
              <a:t>3. Service Relationship Management:</a:t>
            </a:r>
            <a:br>
              <a:rPr lang="en-US" sz="2400" dirty="0"/>
            </a:br>
            <a:r>
              <a:rPr lang="en-US" sz="2400" dirty="0"/>
              <a:t>💬 Google offers support, updates, and ensures service quality —</a:t>
            </a:r>
            <a:br>
              <a:rPr lang="en-US" sz="2400" dirty="0"/>
            </a:br>
            <a:r>
              <a:rPr lang="en-US" sz="2400" dirty="0"/>
              <a:t>while users give feedback or report issues.</a:t>
            </a:r>
          </a:p>
        </p:txBody>
      </p:sp>
    </p:spTree>
    <p:extLst>
      <p:ext uri="{BB962C8B-B14F-4D97-AF65-F5344CB8AC3E}">
        <p14:creationId xmlns:p14="http://schemas.microsoft.com/office/powerpoint/2010/main" val="4175904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AA8B88-36C0-8FC8-7361-1C05480F7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9616"/>
            <a:ext cx="12192000" cy="413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890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956A08-A44A-1C1B-A131-CB0FB645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BE539B-056B-F871-CCFA-0F3623FE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CB0F000-E42D-F4B5-C91C-00209DEC623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66FB6D6-88B7-B92C-FF14-8B7ACC3844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64A4EF2-B392-6F4A-9880-0FD92C09F59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1585DDA-8DB0-F52E-D8E5-9FAF3E49F2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Value: Outcomes, Costs, and Risks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93E063A-A6CE-65DE-028B-2EB28AB14127}"/>
              </a:ext>
            </a:extLst>
          </p:cNvPr>
          <p:cNvSpPr txBox="1"/>
          <p:nvPr/>
        </p:nvSpPr>
        <p:spPr>
          <a:xfrm>
            <a:off x="2934462" y="2286000"/>
            <a:ext cx="8448040" cy="202555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📘 </a:t>
            </a:r>
            <a:r>
              <a:rPr lang="en-US" sz="2400" b="1" dirty="0"/>
              <a:t>Value is realized when:</a:t>
            </a:r>
            <a:br>
              <a:rPr lang="en-US" sz="2400" dirty="0"/>
            </a:br>
            <a:r>
              <a:rPr lang="en-US" sz="2400" dirty="0"/>
              <a:t>✔ Desired outcomes are achieved</a:t>
            </a:r>
            <a:br>
              <a:rPr lang="en-US" sz="2400" dirty="0"/>
            </a:br>
            <a:r>
              <a:rPr lang="en-US" sz="2400" dirty="0"/>
              <a:t>❌ Costs and risks are reduced</a:t>
            </a:r>
          </a:p>
          <a:p>
            <a:r>
              <a:rPr lang="en-US" sz="2400" dirty="0"/>
              <a:t>💡 </a:t>
            </a:r>
            <a:r>
              <a:rPr lang="en-US" sz="2400" b="1" dirty="0"/>
              <a:t>Formula:</a:t>
            </a:r>
            <a:br>
              <a:rPr lang="en-US" sz="2400" dirty="0"/>
            </a:br>
            <a:r>
              <a:rPr lang="en-US" sz="2400" b="1" dirty="0"/>
              <a:t>Value = Outcomes Achieved – (Costs + Risks)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9082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EE52FC-A79E-16E2-12B1-DF9F4663E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8C7710-55B5-DF2F-F66A-F91DAFE7AB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5915633-6573-730E-8FB9-64D6985A979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E101951-E0EA-BA25-0867-60E0F2A751D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865756A-3298-F7C6-1B00-F3579B88437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404F2B4-88BC-E7C4-D129-50B1052D96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Outcomes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3178DA5-8D48-9483-FC6E-924D9CDF481A}"/>
              </a:ext>
            </a:extLst>
          </p:cNvPr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Service providers create </a:t>
            </a:r>
            <a:r>
              <a:rPr lang="en-US" sz="2400" b="1" dirty="0"/>
              <a:t>outputs</a:t>
            </a:r>
            <a:r>
              <a:rPr lang="en-US" sz="2400" dirty="0"/>
              <a:t> that help consumers achieve </a:t>
            </a:r>
            <a:r>
              <a:rPr lang="en-US" sz="2400" b="1" dirty="0"/>
              <a:t>desired outcomes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dirty="0"/>
              <a:t>Output:</a:t>
            </a:r>
            <a:r>
              <a:rPr lang="en-US" sz="2400" dirty="0"/>
              <a:t> Deliverable from an activity (e.g. photo album)</a:t>
            </a:r>
          </a:p>
          <a:p>
            <a:r>
              <a:rPr lang="en-US" sz="2400" b="1" dirty="0"/>
              <a:t>Outcome:</a:t>
            </a:r>
            <a:r>
              <a:rPr lang="en-US" sz="2400" dirty="0"/>
              <a:t> Result achieved by outputs (e.g. preserved memories)</a:t>
            </a:r>
          </a:p>
          <a:p>
            <a:pPr algn="ctr"/>
            <a:br>
              <a:rPr lang="en-US" sz="2400" dirty="0"/>
            </a:br>
            <a:r>
              <a:rPr lang="en-IN" sz="2400" b="1" dirty="0"/>
              <a:t>Outputs ≠ Outcomes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32429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3BC76D-A0AE-6372-4C17-79D47E726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F252DB-5194-F450-504F-50668F3AB7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B38DE3D-4FC4-2685-DD26-11CD516C099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0B610C9-A341-910C-FFB3-C4DA955A53E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723A4B5-47CF-6C06-490B-4D3CEAB664F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80656A7-C6E3-D5F0-EF4D-59272388D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Costs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38C08A0-DC7D-CBE0-9264-5C85702E39BF}"/>
              </a:ext>
            </a:extLst>
          </p:cNvPr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Amount of money spent on an activity or resource.</a:t>
            </a:r>
          </a:p>
          <a:p>
            <a:endParaRPr lang="en-US" sz="2400" dirty="0"/>
          </a:p>
          <a:p>
            <a:r>
              <a:rPr lang="en-US" sz="2400" b="1" dirty="0"/>
              <a:t>From Consumer Perspective:</a:t>
            </a:r>
            <a:endParaRPr lang="en-US" sz="2400" dirty="0"/>
          </a:p>
          <a:p>
            <a:r>
              <a:rPr lang="en-US" sz="2400" b="1" dirty="0"/>
              <a:t>Costs removed</a:t>
            </a:r>
            <a:r>
              <a:rPr lang="en-US" sz="2400" dirty="0"/>
              <a:t> by service (e.g. no staff, no hardware cost)</a:t>
            </a:r>
          </a:p>
          <a:p>
            <a:r>
              <a:rPr lang="en-US" sz="2400" b="1" dirty="0"/>
              <a:t>Costs imposed</a:t>
            </a:r>
            <a:r>
              <a:rPr lang="en-US" sz="2400" dirty="0"/>
              <a:t> by service (e.g. subscription, training cost)</a:t>
            </a:r>
          </a:p>
          <a:p>
            <a:endParaRPr lang="en-US" sz="2400" dirty="0"/>
          </a:p>
          <a:p>
            <a:r>
              <a:rPr lang="en-US" sz="2400" b="1" dirty="0"/>
              <a:t>From Provider Perspective:</a:t>
            </a:r>
            <a:endParaRPr lang="en-US" sz="2400" dirty="0"/>
          </a:p>
          <a:p>
            <a:r>
              <a:rPr lang="en-US" sz="2400" dirty="0"/>
              <a:t>Understand total cost to deliver service within budget.</a:t>
            </a:r>
          </a:p>
        </p:txBody>
      </p:sp>
    </p:spTree>
    <p:extLst>
      <p:ext uri="{BB962C8B-B14F-4D97-AF65-F5344CB8AC3E}">
        <p14:creationId xmlns:p14="http://schemas.microsoft.com/office/powerpoint/2010/main" val="2792204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E5863C-EEA7-D711-205D-9A479FCB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C5D4F8F-C642-FAF0-19FE-F30C42FFEE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08A7859-6312-1665-CF5E-16BCDCA14A8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9C7EC5B-31AA-D283-88B5-8EF1D0751CF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5BACD82-3D1A-F04E-45F0-C6A3E5F12E1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30D626D-F2F5-8516-6AA5-203EBC6420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Risks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0CA8033-4DC4-D0A0-60B2-558D97191B0B}"/>
              </a:ext>
            </a:extLst>
          </p:cNvPr>
          <p:cNvSpPr txBox="1"/>
          <p:nvPr/>
        </p:nvSpPr>
        <p:spPr>
          <a:xfrm>
            <a:off x="2934462" y="2286000"/>
            <a:ext cx="8448040" cy="424154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A possible event causing harm, loss, or uncertainty in achieving objectives.</a:t>
            </a:r>
          </a:p>
          <a:p>
            <a:r>
              <a:rPr lang="en-US" sz="2400" b="1" dirty="0"/>
              <a:t>From Consumer Perspective:</a:t>
            </a:r>
            <a:endParaRPr lang="en-US" sz="2400" dirty="0"/>
          </a:p>
          <a:p>
            <a:r>
              <a:rPr lang="en-US" sz="2400" b="1" dirty="0"/>
              <a:t>Risks removed</a:t>
            </a:r>
            <a:r>
              <a:rPr lang="en-US" sz="2400" dirty="0"/>
              <a:t> by service (e.g. reduced system failure risk)</a:t>
            </a:r>
          </a:p>
          <a:p>
            <a:r>
              <a:rPr lang="en-US" sz="2400" b="1" dirty="0"/>
              <a:t>Risks imposed</a:t>
            </a:r>
            <a:r>
              <a:rPr lang="en-US" sz="2400" dirty="0"/>
              <a:t> by service (e.g. security breach, provider failure)</a:t>
            </a:r>
          </a:p>
          <a:p>
            <a:endParaRPr lang="en-US" sz="2400" dirty="0"/>
          </a:p>
          <a:p>
            <a:r>
              <a:rPr lang="en-US" sz="2400" b="1" dirty="0"/>
              <a:t>Shared Responsibility:</a:t>
            </a:r>
            <a:endParaRPr lang="en-US" sz="2400" dirty="0"/>
          </a:p>
          <a:p>
            <a:r>
              <a:rPr lang="en-US" sz="2400" dirty="0"/>
              <a:t>Provider manages operational risks.</a:t>
            </a:r>
          </a:p>
          <a:p>
            <a:r>
              <a:rPr lang="en-US" sz="2400" dirty="0"/>
              <a:t>Consumer helps by defining outcomes, success factors &amp; providing resources.</a:t>
            </a:r>
          </a:p>
        </p:txBody>
      </p:sp>
    </p:spTree>
    <p:extLst>
      <p:ext uri="{BB962C8B-B14F-4D97-AF65-F5344CB8AC3E}">
        <p14:creationId xmlns:p14="http://schemas.microsoft.com/office/powerpoint/2010/main" val="1701497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65D48F-DABC-4B3F-22D8-F8456360A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156" y="72099"/>
            <a:ext cx="9769687" cy="67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84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F93AFC-256A-D2FC-0D25-5A55BD8CB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F1DCD8-81F2-8ACC-AE82-AE64E6391D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3E654BD-D40B-8409-209C-8412BE0F7CD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16FA16A-EA06-22C8-19DA-6C12EB4DF2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3F7A2D4-9C54-1788-4F02-9528C1B1C41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5B768C2-9F54-A286-8FC4-4D0E80D31D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b="0" dirty="0">
                <a:solidFill>
                  <a:srgbClr val="464A56"/>
                </a:solidFill>
                <a:latin typeface="Cambria"/>
                <a:cs typeface="Cambria"/>
              </a:rPr>
              <a:t>EXAMPLE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145E4A-AFEA-95BD-B41B-5B45AFDC0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46074"/>
              </p:ext>
            </p:extLst>
          </p:nvPr>
        </p:nvGraphicFramePr>
        <p:xfrm>
          <a:off x="1905000" y="2356636"/>
          <a:ext cx="9862017" cy="4068542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287339">
                  <a:extLst>
                    <a:ext uri="{9D8B030D-6E8A-4147-A177-3AD203B41FA5}">
                      <a16:colId xmlns:a16="http://schemas.microsoft.com/office/drawing/2014/main" val="3377253684"/>
                    </a:ext>
                  </a:extLst>
                </a:gridCol>
                <a:gridCol w="3287339">
                  <a:extLst>
                    <a:ext uri="{9D8B030D-6E8A-4147-A177-3AD203B41FA5}">
                      <a16:colId xmlns:a16="http://schemas.microsoft.com/office/drawing/2014/main" val="3120321716"/>
                    </a:ext>
                  </a:extLst>
                </a:gridCol>
                <a:gridCol w="3287339">
                  <a:extLst>
                    <a:ext uri="{9D8B030D-6E8A-4147-A177-3AD203B41FA5}">
                      <a16:colId xmlns:a16="http://schemas.microsoft.com/office/drawing/2014/main" val="389943367"/>
                    </a:ext>
                  </a:extLst>
                </a:gridCol>
              </a:tblGrid>
              <a:tr h="524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Aspect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What happens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Effect on Value</a:t>
                      </a:r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3701589023"/>
                  </a:ext>
                </a:extLst>
              </a:tr>
              <a:tr h="524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✅ Supported Outcome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I can access files anywhere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↑ Increases value</a:t>
                      </a:r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2604471173"/>
                  </a:ext>
                </a:extLst>
              </a:tr>
              <a:tr h="524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💸 Cost Removed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I don’t need to buy servers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↑ Increases value</a:t>
                      </a:r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4061869121"/>
                  </a:ext>
                </a:extLst>
              </a:tr>
              <a:tr h="9187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🔒 Risk Removed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Provider handles data backup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↑ Increases value</a:t>
                      </a:r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1585021297"/>
                  </a:ext>
                </a:extLst>
              </a:tr>
              <a:tr h="524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⚠️ Affected Outcome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Slightly slower upload speed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↓ Reduces value</a:t>
                      </a:r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206886891"/>
                  </a:ext>
                </a:extLst>
              </a:tr>
              <a:tr h="524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💰 Cost Introduced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I pay a monthly subscription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↓ Reduces value</a:t>
                      </a:r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1486044342"/>
                  </a:ext>
                </a:extLst>
              </a:tr>
              <a:tr h="524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❗ Risk Introduced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If provider fails, I lose access</a:t>
                      </a:r>
                    </a:p>
                  </a:txBody>
                  <a:tcPr marL="81526" marR="81526" marT="40763" marB="4076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↓ Reduces value</a:t>
                      </a:r>
                    </a:p>
                  </a:txBody>
                  <a:tcPr marL="81526" marR="81526" marT="40763" marB="40763" anchor="ctr"/>
                </a:tc>
                <a:extLst>
                  <a:ext uri="{0D108BD9-81ED-4DB2-BD59-A6C34878D82A}">
                    <a16:rowId xmlns:a16="http://schemas.microsoft.com/office/drawing/2014/main" val="1592392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319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6BDADA-6B0F-A389-F949-CC26D3A13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609047-9F23-67C2-A5EA-29180F89A6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3952EFB-90FF-3B5D-B9CC-FD561A5988B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E8F89C2-A9EF-0398-F420-9B3375BB2B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05DF55B-94BF-F3B8-F136-B26D0A8E101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9C5E201-49BD-6EC4-AA09-D16F2FF893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Utility and Warranty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5E78819-ED77-517B-DF59-955C1BB4ED14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When we judge whether a service truly gives </a:t>
            </a:r>
            <a:r>
              <a:rPr lang="en-US" sz="2800" b="1" dirty="0"/>
              <a:t>value</a:t>
            </a:r>
            <a:r>
              <a:rPr lang="en-US" sz="2800" dirty="0"/>
              <a:t> to the consumer, we check </a:t>
            </a:r>
            <a:r>
              <a:rPr lang="en-US" sz="2800" b="1" dirty="0"/>
              <a:t>two things:</a:t>
            </a:r>
            <a:endParaRPr lang="en-US" sz="2800" dirty="0"/>
          </a:p>
          <a:p>
            <a:r>
              <a:rPr lang="en-US" sz="2800" b="1" dirty="0"/>
              <a:t>Utility</a:t>
            </a:r>
            <a:r>
              <a:rPr lang="en-US" sz="2800" dirty="0"/>
              <a:t> → What the service </a:t>
            </a:r>
            <a:r>
              <a:rPr lang="en-US" sz="2800" i="1" dirty="0"/>
              <a:t>does</a:t>
            </a:r>
            <a:br>
              <a:rPr lang="en-US" sz="2800" dirty="0"/>
            </a:br>
            <a:r>
              <a:rPr lang="en-US" sz="2800" b="1" dirty="0"/>
              <a:t>Warranty</a:t>
            </a:r>
            <a:r>
              <a:rPr lang="en-US" sz="2800" dirty="0"/>
              <a:t> → How the service </a:t>
            </a:r>
            <a:r>
              <a:rPr lang="en-US" sz="2800" i="1" dirty="0"/>
              <a:t>performs</a:t>
            </a:r>
            <a:endParaRPr lang="en-US" sz="2800" dirty="0"/>
          </a:p>
          <a:p>
            <a:r>
              <a:rPr lang="en-US" sz="2800" dirty="0"/>
              <a:t>Both must be present for the service to create </a:t>
            </a:r>
            <a:r>
              <a:rPr lang="en-US" sz="2800" b="1" dirty="0"/>
              <a:t>real value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8687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9F61C0-10D7-680C-CA4A-F2642DFF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D2AF7DB-4AD1-5ED6-0BC8-403EC9EF09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0DC1B5A-FA16-E203-41A3-13C91FC9BED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8B13C68-234E-2CFA-72DA-733F8AD6E63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60C725D-2A39-89AE-6EFE-27CBCB2E296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4E5881D-EF41-8A83-C20E-A51672D0D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18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Utility</a:t>
            </a:r>
            <a:br>
              <a:rPr lang="en-IN" sz="4400" dirty="0"/>
            </a:br>
            <a:r>
              <a:rPr lang="en-IN" sz="4400" dirty="0"/>
              <a:t>           					</a:t>
            </a:r>
            <a:r>
              <a:rPr lang="en-US" sz="2000" i="1" dirty="0">
                <a:solidFill>
                  <a:schemeClr val="tx1"/>
                </a:solidFill>
              </a:rPr>
              <a:t>does the service meet the purpose?</a:t>
            </a:r>
            <a:endParaRPr sz="4400" i="1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B9F4387-8B0F-8292-84C0-793D762ED15A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Utility is about the </a:t>
            </a:r>
            <a:r>
              <a:rPr lang="en-US" sz="2400" b="1" dirty="0"/>
              <a:t>functionality.</a:t>
            </a:r>
            <a:endParaRPr lang="en-US" sz="2400" dirty="0"/>
          </a:p>
          <a:p>
            <a:endParaRPr lang="en-US" sz="2400" b="1" dirty="0"/>
          </a:p>
          <a:p>
            <a:r>
              <a:rPr lang="en-US" sz="2400" dirty="0"/>
              <a:t>Example:</a:t>
            </a:r>
            <a:br>
              <a:rPr lang="en-US" sz="2400" dirty="0"/>
            </a:br>
            <a:r>
              <a:rPr lang="en-US" sz="2400" dirty="0"/>
              <a:t>In a </a:t>
            </a:r>
            <a:r>
              <a:rPr lang="en-US" sz="2400" b="1" dirty="0"/>
              <a:t>theme park</a:t>
            </a:r>
            <a:r>
              <a:rPr lang="en-US" sz="2400" dirty="0"/>
              <a:t>, the </a:t>
            </a:r>
            <a:r>
              <a:rPr lang="en-US" sz="2400" i="1" dirty="0"/>
              <a:t>rides</a:t>
            </a:r>
            <a:r>
              <a:rPr lang="en-US" sz="2400" dirty="0"/>
              <a:t> that deliver thrills and fun = </a:t>
            </a:r>
            <a:r>
              <a:rPr lang="en-US" sz="2400" b="1" dirty="0"/>
              <a:t>utility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If the rides are exciting and entertaining → the service is </a:t>
            </a:r>
            <a:r>
              <a:rPr lang="en-US" sz="2400" b="1" dirty="0"/>
              <a:t>fit for purpose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09244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36F4AA-E14F-6012-A4B8-DDDDECC0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8E0059-A302-F36D-091B-AE354112BC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C3C1B72-493F-E5BA-4BA7-93B051C0251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FCBBC1E-F59D-6D96-CC80-E4688C03832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C3A25EE-3C30-E827-CC12-149AC91BEDB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8E51838-1965-BF01-A111-7F0E162ED2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Warranty</a:t>
            </a:r>
            <a:br>
              <a:rPr lang="en-IN" sz="4400" dirty="0"/>
            </a:br>
            <a:r>
              <a:rPr lang="en-IN" sz="4400" dirty="0"/>
              <a:t>           		          </a:t>
            </a:r>
            <a:r>
              <a:rPr lang="en-US" sz="2000" i="1" dirty="0">
                <a:solidFill>
                  <a:schemeClr val="tx1"/>
                </a:solidFill>
              </a:rPr>
              <a:t>does it work reliably, safely, and consistently?</a:t>
            </a:r>
            <a:endParaRPr sz="4400" i="1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EFC5C03-375A-570E-FE93-6B3949859ADF}"/>
              </a:ext>
            </a:extLst>
          </p:cNvPr>
          <p:cNvSpPr txBox="1"/>
          <p:nvPr/>
        </p:nvSpPr>
        <p:spPr>
          <a:xfrm>
            <a:off x="2934462" y="2286000"/>
            <a:ext cx="8448040" cy="387221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Warranty is about the </a:t>
            </a:r>
            <a:r>
              <a:rPr lang="en-US" sz="2400" b="1" dirty="0"/>
              <a:t>assurance</a:t>
            </a:r>
          </a:p>
          <a:p>
            <a:endParaRPr lang="en-US" sz="2400" dirty="0"/>
          </a:p>
          <a:p>
            <a:r>
              <a:rPr lang="en-US" sz="2400" dirty="0"/>
              <a:t>Warranty deals with:</a:t>
            </a:r>
          </a:p>
          <a:p>
            <a:r>
              <a:rPr lang="en-US" sz="2400" dirty="0"/>
              <a:t>Availability ,Capacity ,Security and Continuity</a:t>
            </a:r>
          </a:p>
          <a:p>
            <a:endParaRPr lang="en-US" sz="2400" dirty="0"/>
          </a:p>
          <a:p>
            <a:r>
              <a:rPr lang="en-US" sz="2400" dirty="0"/>
              <a:t>Example:</a:t>
            </a:r>
            <a:br>
              <a:rPr lang="en-US" sz="2400" dirty="0"/>
            </a:br>
            <a:r>
              <a:rPr lang="en-US" sz="2400" dirty="0"/>
              <a:t>In the </a:t>
            </a:r>
            <a:r>
              <a:rPr lang="en-US" sz="2400" b="1" dirty="0"/>
              <a:t>theme park</a:t>
            </a:r>
            <a:r>
              <a:rPr lang="en-US" sz="2400" dirty="0"/>
              <a:t>, if rides are working properly, open on time, and safe → that’s </a:t>
            </a:r>
            <a:r>
              <a:rPr lang="en-US" sz="2400" b="1" dirty="0"/>
              <a:t>warranty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If rides break down often → the service is </a:t>
            </a:r>
            <a:r>
              <a:rPr lang="en-US" sz="2400" b="1" dirty="0"/>
              <a:t>not fit for use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8163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765ABD-F9F4-32D8-2D0A-704041E4E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6A0A95-805E-514B-CDDB-7717B02C18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4DBF3E2-C8D2-7921-ABA3-0D87873DFAE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C0FB197-028B-2F65-EFC9-8A3A514EC59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33881C1-4F69-69C3-2E8D-516A6C9A8BD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FA1B693-6682-2A38-0A7C-C7552F95F4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20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Utility + Warranty = Value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D1B8E4F-0AD9-3532-087D-199F0397C4AE}"/>
              </a:ext>
            </a:extLst>
          </p:cNvPr>
          <p:cNvSpPr txBox="1"/>
          <p:nvPr/>
        </p:nvSpPr>
        <p:spPr>
          <a:xfrm>
            <a:off x="4572000" y="5403866"/>
            <a:ext cx="8448040" cy="91755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b="1" dirty="0"/>
              <a:t>Utility</a:t>
            </a:r>
            <a:r>
              <a:rPr lang="en-US" sz="2400" dirty="0"/>
              <a:t> gives the reason to use the service,</a:t>
            </a:r>
            <a:br>
              <a:rPr lang="en-US" sz="2400" dirty="0"/>
            </a:br>
            <a:r>
              <a:rPr lang="en-US" sz="2400" b="1" dirty="0"/>
              <a:t>Warranty</a:t>
            </a:r>
            <a:r>
              <a:rPr lang="en-US" sz="2400" dirty="0"/>
              <a:t> gives the confidence to rely on it.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B99B4A-F8F3-318E-91B2-4FDA810D5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496303"/>
              </p:ext>
            </p:extLst>
          </p:nvPr>
        </p:nvGraphicFramePr>
        <p:xfrm>
          <a:off x="1730376" y="2390774"/>
          <a:ext cx="9623424" cy="309562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405856">
                  <a:extLst>
                    <a:ext uri="{9D8B030D-6E8A-4147-A177-3AD203B41FA5}">
                      <a16:colId xmlns:a16="http://schemas.microsoft.com/office/drawing/2014/main" val="2140159781"/>
                    </a:ext>
                  </a:extLst>
                </a:gridCol>
                <a:gridCol w="2405856">
                  <a:extLst>
                    <a:ext uri="{9D8B030D-6E8A-4147-A177-3AD203B41FA5}">
                      <a16:colId xmlns:a16="http://schemas.microsoft.com/office/drawing/2014/main" val="3852040244"/>
                    </a:ext>
                  </a:extLst>
                </a:gridCol>
                <a:gridCol w="2405856">
                  <a:extLst>
                    <a:ext uri="{9D8B030D-6E8A-4147-A177-3AD203B41FA5}">
                      <a16:colId xmlns:a16="http://schemas.microsoft.com/office/drawing/2014/main" val="1495672990"/>
                    </a:ext>
                  </a:extLst>
                </a:gridCol>
                <a:gridCol w="2405856">
                  <a:extLst>
                    <a:ext uri="{9D8B030D-6E8A-4147-A177-3AD203B41FA5}">
                      <a16:colId xmlns:a16="http://schemas.microsoft.com/office/drawing/2014/main" val="2985799990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Utility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Warranty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7216859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Exciting rides, but often closed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❌ Poor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266493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Always working rides, but boring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❌ Poor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8075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Exciting + reliable rides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✅ Great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376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777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2DA17C-E927-02D6-2322-010060E4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9118FE-F9DF-7E63-D213-9B3727DA82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D7700E3-0FFB-C371-31EF-A7B86D2E5EF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316DA4B-9917-BD0E-FB6D-EA87665CAC5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C2EB27F-F612-AB87-226D-5481CEE0542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0AE29BE-F8D2-61D5-F722-131F51BAB5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21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Examples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9F9D8B0-79C2-8901-47B5-32BAD5DEB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413282"/>
              </p:ext>
            </p:extLst>
          </p:nvPr>
        </p:nvGraphicFramePr>
        <p:xfrm>
          <a:off x="2325343" y="2239049"/>
          <a:ext cx="9257058" cy="4390347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85686">
                  <a:extLst>
                    <a:ext uri="{9D8B030D-6E8A-4147-A177-3AD203B41FA5}">
                      <a16:colId xmlns:a16="http://schemas.microsoft.com/office/drawing/2014/main" val="302261956"/>
                    </a:ext>
                  </a:extLst>
                </a:gridCol>
                <a:gridCol w="3085686">
                  <a:extLst>
                    <a:ext uri="{9D8B030D-6E8A-4147-A177-3AD203B41FA5}">
                      <a16:colId xmlns:a16="http://schemas.microsoft.com/office/drawing/2014/main" val="4080971688"/>
                    </a:ext>
                  </a:extLst>
                </a:gridCol>
                <a:gridCol w="3085686">
                  <a:extLst>
                    <a:ext uri="{9D8B030D-6E8A-4147-A177-3AD203B41FA5}">
                      <a16:colId xmlns:a16="http://schemas.microsoft.com/office/drawing/2014/main" val="2816009994"/>
                    </a:ext>
                  </a:extLst>
                </a:gridCol>
              </a:tblGrid>
              <a:tr h="8066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Example</a:t>
                      </a:r>
                    </a:p>
                  </a:txBody>
                  <a:tcPr marL="78978" marR="78978" marT="39489" marB="3948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Utility (What it does)</a:t>
                      </a:r>
                    </a:p>
                  </a:txBody>
                  <a:tcPr marL="78978" marR="78978" marT="39489" marB="3948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Warranty (How it performs)</a:t>
                      </a:r>
                    </a:p>
                  </a:txBody>
                  <a:tcPr marL="78978" marR="78978" marT="39489" marB="39489" anchor="ctr"/>
                </a:tc>
                <a:extLst>
                  <a:ext uri="{0D108BD9-81ED-4DB2-BD59-A6C34878D82A}">
                    <a16:rowId xmlns:a16="http://schemas.microsoft.com/office/drawing/2014/main" val="1998180001"/>
                  </a:ext>
                </a:extLst>
              </a:tr>
              <a:tr h="8066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Wi-Fi service</a:t>
                      </a:r>
                      <a:endParaRPr lang="en-IN" sz="2000"/>
                    </a:p>
                  </a:txBody>
                  <a:tcPr marL="78978" marR="78978" marT="39489" marB="3948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Lets you connect to the internet</a:t>
                      </a:r>
                    </a:p>
                  </a:txBody>
                  <a:tcPr marL="78978" marR="78978" marT="39489" marB="3948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Must be available, stable, and secure</a:t>
                      </a:r>
                    </a:p>
                  </a:txBody>
                  <a:tcPr marL="78978" marR="78978" marT="39489" marB="39489" anchor="ctr"/>
                </a:tc>
                <a:extLst>
                  <a:ext uri="{0D108BD9-81ED-4DB2-BD59-A6C34878D82A}">
                    <a16:rowId xmlns:a16="http://schemas.microsoft.com/office/drawing/2014/main" val="255017748"/>
                  </a:ext>
                </a:extLst>
              </a:tr>
              <a:tr h="11637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Online banking app</a:t>
                      </a:r>
                      <a:endParaRPr lang="en-IN" sz="2000"/>
                    </a:p>
                  </a:txBody>
                  <a:tcPr marL="78978" marR="78978" marT="39489" marB="3948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/>
                        <a:t>Enables money transfers &amp; balance check</a:t>
                      </a:r>
                    </a:p>
                  </a:txBody>
                  <a:tcPr marL="78978" marR="78978" marT="39489" marB="3948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Must work reliably, securely, 24/7</a:t>
                      </a:r>
                    </a:p>
                  </a:txBody>
                  <a:tcPr marL="78978" marR="78978" marT="39489" marB="39489" anchor="ctr"/>
                </a:tc>
                <a:extLst>
                  <a:ext uri="{0D108BD9-81ED-4DB2-BD59-A6C34878D82A}">
                    <a16:rowId xmlns:a16="http://schemas.microsoft.com/office/drawing/2014/main" val="3144765497"/>
                  </a:ext>
                </a:extLst>
              </a:tr>
              <a:tr h="8066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Theme park</a:t>
                      </a:r>
                      <a:endParaRPr lang="en-IN" sz="2000"/>
                    </a:p>
                  </a:txBody>
                  <a:tcPr marL="78978" marR="78978" marT="39489" marB="3948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Offers thrilling experiences</a:t>
                      </a:r>
                    </a:p>
                  </a:txBody>
                  <a:tcPr marL="78978" marR="78978" marT="39489" marB="3948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Must have safe, working rides</a:t>
                      </a:r>
                    </a:p>
                  </a:txBody>
                  <a:tcPr marL="78978" marR="78978" marT="39489" marB="39489" anchor="ctr"/>
                </a:tc>
                <a:extLst>
                  <a:ext uri="{0D108BD9-81ED-4DB2-BD59-A6C34878D82A}">
                    <a16:rowId xmlns:a16="http://schemas.microsoft.com/office/drawing/2014/main" val="662546007"/>
                  </a:ext>
                </a:extLst>
              </a:tr>
              <a:tr h="8066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Laptop</a:t>
                      </a:r>
                      <a:endParaRPr lang="en-IN" sz="2000"/>
                    </a:p>
                  </a:txBody>
                  <a:tcPr marL="78978" marR="78978" marT="39489" marB="3948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Runs applications efficiently</a:t>
                      </a:r>
                    </a:p>
                  </a:txBody>
                  <a:tcPr marL="78978" marR="78978" marT="39489" marB="3948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Should not crash, overheat, or lag</a:t>
                      </a:r>
                    </a:p>
                  </a:txBody>
                  <a:tcPr marL="78978" marR="78978" marT="39489" marB="39489" anchor="ctr"/>
                </a:tc>
                <a:extLst>
                  <a:ext uri="{0D108BD9-81ED-4DB2-BD59-A6C34878D82A}">
                    <a16:rowId xmlns:a16="http://schemas.microsoft.com/office/drawing/2014/main" val="1237275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070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</TotalTime>
  <Words>1112</Words>
  <Application>Microsoft Office PowerPoint</Application>
  <PresentationFormat>Widescreen</PresentationFormat>
  <Paragraphs>159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Cambria</vt:lpstr>
      <vt:lpstr>Segoe UI</vt:lpstr>
      <vt:lpstr>Office Theme</vt:lpstr>
      <vt:lpstr>IT Infrastructure                       Management             Chapter 2: Key concepts of service management                        TY B.Sc. (IT)</vt:lpstr>
      <vt:lpstr>3 Topics:</vt:lpstr>
      <vt:lpstr>4 Value </vt:lpstr>
      <vt:lpstr>5 Value co-creation </vt:lpstr>
      <vt:lpstr>6 Organizations and Stakeholders</vt:lpstr>
      <vt:lpstr>7 Service Providers and Consumers</vt:lpstr>
      <vt:lpstr>8 Products and Services</vt:lpstr>
      <vt:lpstr>9 Service Offerings</vt:lpstr>
      <vt:lpstr>10  Example: Food Delivery App (like Swiggy / Zomato)</vt:lpstr>
      <vt:lpstr>PowerPoint Presentation</vt:lpstr>
      <vt:lpstr>11 Service Relationships</vt:lpstr>
      <vt:lpstr>12  Example: Cloud Storage Service (like Google Drive)</vt:lpstr>
      <vt:lpstr>PowerPoint Presentation</vt:lpstr>
      <vt:lpstr>12 Value: Outcomes, Costs, and Risks</vt:lpstr>
      <vt:lpstr>13 Outcomes</vt:lpstr>
      <vt:lpstr>14 Costs</vt:lpstr>
      <vt:lpstr>15 Risks</vt:lpstr>
      <vt:lpstr>PowerPoint Presentation</vt:lpstr>
      <vt:lpstr>16 EXAMPLE</vt:lpstr>
      <vt:lpstr>17 Utility and Warranty</vt:lpstr>
      <vt:lpstr>18 Utility                 does the service meet the purpose?</vt:lpstr>
      <vt:lpstr>19  Warranty                        does it work reliably, safely, and consistently?</vt:lpstr>
      <vt:lpstr>20  Utility + Warranty = Value</vt:lpstr>
      <vt:lpstr>21  Examples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17</cp:revision>
  <dcterms:created xsi:type="dcterms:W3CDTF">2025-11-04T17:06:10Z</dcterms:created>
  <dcterms:modified xsi:type="dcterms:W3CDTF">2025-11-13T16:06:53Z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