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80" r:id="rId5"/>
    <p:sldId id="286" r:id="rId6"/>
    <p:sldId id="270" r:id="rId7"/>
    <p:sldId id="289" r:id="rId8"/>
    <p:sldId id="275" r:id="rId9"/>
    <p:sldId id="290" r:id="rId10"/>
    <p:sldId id="281" r:id="rId11"/>
    <p:sldId id="291" r:id="rId12"/>
    <p:sldId id="282" r:id="rId13"/>
    <p:sldId id="287" r:id="rId14"/>
    <p:sldId id="284" r:id="rId15"/>
    <p:sldId id="288" r:id="rId16"/>
    <p:sldId id="285" r:id="rId17"/>
    <p:sldId id="269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>
      <p:cViewPr varScale="1">
        <p:scale>
          <a:sx n="90" d="100"/>
          <a:sy n="90" d="100"/>
        </p:scale>
        <p:origin x="149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50E53-DE1B-407D-A709-579CCB904A60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43FC4-0F31-4797-9FA8-1F6AE7072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60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43FC4-0F31-4797-9FA8-1F6AE707272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089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43FC4-0F31-4797-9FA8-1F6AE707272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730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984" y="432816"/>
            <a:ext cx="3459183" cy="612343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934462" y="2177033"/>
            <a:ext cx="8770620" cy="0"/>
          </a:xfrm>
          <a:custGeom>
            <a:avLst/>
            <a:gdLst/>
            <a:ahLst/>
            <a:cxnLst/>
            <a:rect l="l" t="t" r="r" b="b"/>
            <a:pathLst>
              <a:path w="8770620">
                <a:moveTo>
                  <a:pt x="0" y="0"/>
                </a:moveTo>
                <a:lnTo>
                  <a:pt x="8770619" y="0"/>
                </a:lnTo>
              </a:path>
            </a:pathLst>
          </a:custGeom>
          <a:ln w="38100">
            <a:solidFill>
              <a:srgbClr val="79A8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44368" y="2456687"/>
            <a:ext cx="3077845" cy="1516380"/>
          </a:xfrm>
          <a:custGeom>
            <a:avLst/>
            <a:gdLst/>
            <a:ahLst/>
            <a:cxnLst/>
            <a:rect l="l" t="t" r="r" b="b"/>
            <a:pathLst>
              <a:path w="3077845" h="1516379">
                <a:moveTo>
                  <a:pt x="3077845" y="757428"/>
                </a:moveTo>
                <a:lnTo>
                  <a:pt x="3066948" y="751078"/>
                </a:lnTo>
                <a:lnTo>
                  <a:pt x="2989199" y="705739"/>
                </a:lnTo>
                <a:lnTo>
                  <a:pt x="2985262" y="706755"/>
                </a:lnTo>
                <a:lnTo>
                  <a:pt x="2981706" y="712851"/>
                </a:lnTo>
                <a:lnTo>
                  <a:pt x="2982722" y="716661"/>
                </a:lnTo>
                <a:lnTo>
                  <a:pt x="3041700" y="751078"/>
                </a:lnTo>
                <a:lnTo>
                  <a:pt x="2528316" y="751078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lnTo>
                  <a:pt x="2528316" y="1516380"/>
                </a:lnTo>
                <a:lnTo>
                  <a:pt x="2528316" y="763778"/>
                </a:lnTo>
                <a:lnTo>
                  <a:pt x="3041700" y="763778"/>
                </a:lnTo>
                <a:lnTo>
                  <a:pt x="2982722" y="798195"/>
                </a:lnTo>
                <a:lnTo>
                  <a:pt x="2981706" y="802005"/>
                </a:lnTo>
                <a:lnTo>
                  <a:pt x="2985262" y="808101"/>
                </a:lnTo>
                <a:lnTo>
                  <a:pt x="2989199" y="809117"/>
                </a:lnTo>
                <a:lnTo>
                  <a:pt x="3066948" y="763778"/>
                </a:lnTo>
                <a:lnTo>
                  <a:pt x="3077845" y="757428"/>
                </a:lnTo>
                <a:close/>
              </a:path>
            </a:pathLst>
          </a:custGeom>
          <a:solidFill>
            <a:srgbClr val="79A8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944368" y="2456688"/>
            <a:ext cx="2528570" cy="1516380"/>
          </a:xfrm>
          <a:custGeom>
            <a:avLst/>
            <a:gdLst/>
            <a:ahLst/>
            <a:cxnLst/>
            <a:rect l="l" t="t" r="r" b="b"/>
            <a:pathLst>
              <a:path w="2528570" h="1516379">
                <a:moveTo>
                  <a:pt x="0" y="1516380"/>
                </a:moveTo>
                <a:lnTo>
                  <a:pt x="2528316" y="1516380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9780" y="130251"/>
            <a:ext cx="595439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31010" y="2270505"/>
            <a:ext cx="8729980" cy="2527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600961" y="304286"/>
            <a:ext cx="10363200" cy="3539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650490">
              <a:lnSpc>
                <a:spcPts val="5550"/>
              </a:lnSpc>
            </a:pP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IT Infrastructure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                 Management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           </a:t>
            </a:r>
            <a:r>
              <a:rPr lang="en-IN" sz="2400" b="0" spc="150" dirty="0">
                <a:solidFill>
                  <a:srgbClr val="FFFFFF"/>
                </a:solidFill>
                <a:latin typeface="Cambria"/>
                <a:cs typeface="Cambria"/>
              </a:rPr>
              <a:t>Chapter 3:</a:t>
            </a:r>
            <a:r>
              <a:rPr lang="en-US" sz="2400" b="0" spc="150" dirty="0">
                <a:solidFill>
                  <a:srgbClr val="FFFFFF"/>
                </a:solidFill>
                <a:latin typeface="Cambria"/>
                <a:cs typeface="Cambria"/>
              </a:rPr>
              <a:t>  The four dimensions of</a:t>
            </a:r>
            <a:br>
              <a:rPr lang="en-US" sz="2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US" sz="2400" b="0" spc="150" dirty="0">
                <a:solidFill>
                  <a:srgbClr val="FFFFFF"/>
                </a:solidFill>
                <a:latin typeface="Cambria"/>
                <a:cs typeface="Cambria"/>
              </a:rPr>
              <a:t>                                        service management</a:t>
            </a:r>
            <a:br>
              <a:rPr lang="en-IN" sz="4400" b="0" spc="21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210" dirty="0">
                <a:solidFill>
                  <a:srgbClr val="FFFFFF"/>
                </a:solidFill>
                <a:latin typeface="Cambria"/>
                <a:cs typeface="Cambria"/>
              </a:rPr>
              <a:t>                       </a:t>
            </a:r>
            <a:r>
              <a:rPr lang="en-IN" sz="3200" b="0" spc="210" dirty="0">
                <a:solidFill>
                  <a:srgbClr val="FFFFFF"/>
                </a:solidFill>
                <a:latin typeface="Cambria"/>
                <a:cs typeface="Cambria"/>
              </a:rPr>
              <a:t>TY B.Sc. (IT)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33290" y="3920997"/>
            <a:ext cx="2729865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Semester</a:t>
            </a:r>
            <a:r>
              <a:rPr sz="17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Calibri"/>
                <a:cs typeface="Calibri"/>
              </a:rPr>
              <a:t>VI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10961" y="3766565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599" y="0"/>
                </a:lnTo>
              </a:path>
            </a:pathLst>
          </a:custGeom>
          <a:ln w="38100">
            <a:solidFill>
              <a:srgbClr val="00A4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5388" y="6519164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DFCF8"/>
                </a:solidFill>
                <a:latin typeface="Cambria"/>
                <a:cs typeface="Cambria"/>
              </a:rPr>
              <a:t>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7" name="object 3" descr="$PPTXTitle">
            <a:extLst>
              <a:ext uri="{FF2B5EF4-FFF2-40B4-BE49-F238E27FC236}">
                <a16:creationId xmlns:a16="http://schemas.microsoft.com/office/drawing/2014/main" id="{6FAB2A22-FBB1-FA70-ED68-3643E270AE45}"/>
              </a:ext>
            </a:extLst>
          </p:cNvPr>
          <p:cNvSpPr txBox="1">
            <a:spLocks/>
          </p:cNvSpPr>
          <p:nvPr/>
        </p:nvSpPr>
        <p:spPr>
          <a:xfrm>
            <a:off x="3189922" y="5105400"/>
            <a:ext cx="8546465" cy="132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 marR="5080" indent="2650490" algn="r">
              <a:lnSpc>
                <a:spcPts val="5550"/>
              </a:lnSpc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                                        Poornima .N</a:t>
            </a:r>
          </a:p>
          <a:p>
            <a:pPr marL="12700" marR="5080" indent="2650490" algn="r">
              <a:lnSpc>
                <a:spcPts val="5550"/>
              </a:lnSpc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Assistant Professor, Department of IT/CS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581400" y="1809249"/>
            <a:ext cx="9714738" cy="474264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12700" marR="3267075">
              <a:lnSpc>
                <a:spcPts val="4900"/>
              </a:lnSpc>
              <a:spcBef>
                <a:spcPts val="375"/>
              </a:spcBef>
            </a:pPr>
            <a:r>
              <a:rPr lang="en-US" sz="2000" dirty="0"/>
              <a:t>The four dimensions of service management  Organizations and people</a:t>
            </a:r>
          </a:p>
          <a:p>
            <a:pPr marL="12700" marR="3267075">
              <a:lnSpc>
                <a:spcPts val="4900"/>
              </a:lnSpc>
              <a:spcBef>
                <a:spcPts val="375"/>
              </a:spcBef>
            </a:pPr>
            <a:r>
              <a:rPr lang="en-US" sz="2000" dirty="0"/>
              <a:t>Information and technology</a:t>
            </a:r>
          </a:p>
          <a:p>
            <a:pPr marL="12700" marR="3267075">
              <a:lnSpc>
                <a:spcPts val="4900"/>
              </a:lnSpc>
              <a:spcBef>
                <a:spcPts val="375"/>
              </a:spcBef>
            </a:pPr>
            <a:r>
              <a:rPr lang="en-US" sz="2000" dirty="0"/>
              <a:t>Partners and suppliers</a:t>
            </a:r>
          </a:p>
          <a:p>
            <a:pPr marL="12700" marR="3267075">
              <a:lnSpc>
                <a:spcPts val="4900"/>
              </a:lnSpc>
              <a:spcBef>
                <a:spcPts val="375"/>
              </a:spcBef>
            </a:pPr>
            <a:r>
              <a:rPr lang="en-US" sz="2000" dirty="0"/>
              <a:t>Value streams and processes</a:t>
            </a:r>
          </a:p>
          <a:p>
            <a:pPr marL="12700" marR="3267075">
              <a:lnSpc>
                <a:spcPts val="4900"/>
              </a:lnSpc>
              <a:spcBef>
                <a:spcPts val="375"/>
              </a:spcBef>
            </a:pPr>
            <a:r>
              <a:rPr lang="en-US" sz="2000" dirty="0"/>
              <a:t>External factors</a:t>
            </a:r>
          </a:p>
          <a:p>
            <a:pPr marL="12700" marR="3267075">
              <a:lnSpc>
                <a:spcPts val="4900"/>
              </a:lnSpc>
              <a:spcBef>
                <a:spcPts val="375"/>
              </a:spcBef>
            </a:pPr>
            <a:r>
              <a:rPr lang="en-US" sz="2000" dirty="0"/>
              <a:t>Summary</a:t>
            </a:r>
            <a:endParaRPr sz="20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69437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4400" b="0" spc="225" dirty="0">
                <a:solidFill>
                  <a:schemeClr val="tx1"/>
                </a:solidFill>
                <a:latin typeface="Cambria"/>
                <a:cs typeface="Cambria"/>
              </a:rPr>
              <a:t>Topics</a:t>
            </a:r>
            <a:r>
              <a:rPr sz="4400" b="0" spc="140" dirty="0">
                <a:solidFill>
                  <a:schemeClr val="tx1"/>
                </a:solidFill>
                <a:latin typeface="Cambria"/>
                <a:cs typeface="Cambria"/>
              </a:rPr>
              <a:t>: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Introduction</a:t>
            </a:r>
            <a:br>
              <a:rPr lang="en-US" sz="4400" dirty="0"/>
            </a:b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0B6F45A-3E48-C83F-505A-1069ACABA0A4}"/>
              </a:ext>
            </a:extLst>
          </p:cNvPr>
          <p:cNvSpPr txBox="1"/>
          <p:nvPr/>
        </p:nvSpPr>
        <p:spPr>
          <a:xfrm>
            <a:off x="2934462" y="2286000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Organizations create </a:t>
            </a:r>
            <a:r>
              <a:rPr lang="en-US" sz="2800" b="1" dirty="0"/>
              <a:t>value for stakeholders</a:t>
            </a:r>
            <a:r>
              <a:rPr lang="en-US" sz="2800" dirty="0"/>
              <a:t> through services.</a:t>
            </a:r>
          </a:p>
          <a:p>
            <a:r>
              <a:rPr lang="en-US" sz="2800" dirty="0"/>
              <a:t>ITIL </a:t>
            </a:r>
            <a:r>
              <a:rPr lang="en-US" sz="2800" b="1" dirty="0"/>
              <a:t>Service Value System (SVS)</a:t>
            </a:r>
            <a:r>
              <a:rPr lang="en-US" sz="2800" dirty="0"/>
              <a:t> shows how components and activities work together.</a:t>
            </a:r>
          </a:p>
          <a:p>
            <a:r>
              <a:rPr lang="en-US" sz="2800" dirty="0"/>
              <a:t>The </a:t>
            </a:r>
            <a:r>
              <a:rPr lang="en-US" sz="2800" b="1" dirty="0"/>
              <a:t>four dimensions of service management</a:t>
            </a:r>
            <a:r>
              <a:rPr lang="en-US" sz="2800" dirty="0"/>
              <a:t> impact all elements of the SVS.</a:t>
            </a:r>
          </a:p>
          <a:p>
            <a:r>
              <a:rPr lang="en-US" sz="2800" b="1" dirty="0"/>
              <a:t>Holistic consideration</a:t>
            </a:r>
            <a:r>
              <a:rPr lang="en-US" sz="2800" dirty="0"/>
              <a:t> of all dimensions is essential for effective service delivery.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Key Message</a:t>
            </a:r>
            <a:br>
              <a:rPr lang="en-US" sz="4400" dirty="0"/>
            </a:b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2934462" y="2286000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Focusing on one area and neglecting others leads to inefficiency.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ITIL defines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four dimensions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critical to creating value: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Organizations and People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Information and Technology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Partners and Suppliers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 Streams and Processes</a:t>
            </a:r>
          </a:p>
        </p:txBody>
      </p:sp>
    </p:spTree>
    <p:extLst>
      <p:ext uri="{BB962C8B-B14F-4D97-AF65-F5344CB8AC3E}">
        <p14:creationId xmlns:p14="http://schemas.microsoft.com/office/powerpoint/2010/main" val="3243532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BE6AD1-9188-F772-D211-7F65F0C57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98191"/>
            <a:ext cx="9533003" cy="666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057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9CBB987-9B11-023D-D33C-8CBAF9B1D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EF9DFEF-2D54-8B63-A410-80F619289FE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DC9E1E0-028B-960F-284B-6D068DB55D63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AF316CF-C62B-D60B-DB2B-3BC8287BA5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9460D41-CAE6-6660-E033-D97CF68F494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4AB92D4A-F154-EA20-4B39-BCB8090D4E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78505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5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Organizations and People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8A3DE4E-E2D7-7B9F-0998-091805673814}"/>
              </a:ext>
            </a:extLst>
          </p:cNvPr>
          <p:cNvSpPr txBox="1"/>
          <p:nvPr/>
        </p:nvSpPr>
        <p:spPr>
          <a:xfrm>
            <a:off x="2934462" y="2286000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Focus on </a:t>
            </a:r>
            <a:r>
              <a:rPr lang="en-US" sz="2800" b="1" dirty="0"/>
              <a:t>roles, responsibilities, culture, capacity, and competency</a:t>
            </a:r>
            <a:r>
              <a:rPr lang="en-US" sz="2800" dirty="0"/>
              <a:t>.</a:t>
            </a:r>
          </a:p>
          <a:p>
            <a:r>
              <a:rPr lang="en-US" sz="2800" dirty="0"/>
              <a:t>Employees need </a:t>
            </a:r>
            <a:r>
              <a:rPr lang="en-US" sz="2800" b="1" dirty="0"/>
              <a:t>skills, collaboration, and awareness of value creation</a:t>
            </a:r>
            <a:r>
              <a:rPr lang="en-US" sz="2800" dirty="0"/>
              <a:t>.</a:t>
            </a:r>
          </a:p>
          <a:p>
            <a:r>
              <a:rPr lang="en-US" sz="2800" b="1" dirty="0"/>
              <a:t>Key Message:</a:t>
            </a:r>
            <a:r>
              <a:rPr lang="en-US" sz="2800" dirty="0"/>
              <a:t> Organizational structure and culture should support strategy and objectives.</a:t>
            </a:r>
          </a:p>
          <a:p>
            <a:endParaRPr lang="en-US" sz="2800" dirty="0"/>
          </a:p>
          <a:p>
            <a:r>
              <a:rPr lang="en-US" sz="2800" b="1" dirty="0"/>
              <a:t>Example:</a:t>
            </a:r>
            <a:r>
              <a:rPr lang="en-US" sz="2800" dirty="0"/>
              <a:t> Axle Car Hire’s IT team collaborates with HR, procurement, and facilities.</a:t>
            </a:r>
          </a:p>
        </p:txBody>
      </p:sp>
    </p:spTree>
    <p:extLst>
      <p:ext uri="{BB962C8B-B14F-4D97-AF65-F5344CB8AC3E}">
        <p14:creationId xmlns:p14="http://schemas.microsoft.com/office/powerpoint/2010/main" val="2117502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7C6C7D9-09EF-89EA-8932-BD73EA0DB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B3CE5D3-AD6D-A894-044C-B497D17965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B4D5CB6-A9DA-D14E-641B-75CE37E81585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A757F5E-D0B6-83A0-B72D-588E5EE75C1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56690DD-775C-F2DD-2334-BF9A230B18F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905D9F5B-B07B-14B6-6B70-51A097F84E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Activity 1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B278640-8260-893F-E121-FC08C78A04FA}"/>
              </a:ext>
            </a:extLst>
          </p:cNvPr>
          <p:cNvSpPr txBox="1"/>
          <p:nvPr/>
        </p:nvSpPr>
        <p:spPr>
          <a:xfrm>
            <a:off x="2934462" y="2286000"/>
            <a:ext cx="8448040" cy="214866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If you were in charge of an IT team, what one cultural value would you introduce to ensure everyone works efficiently and collaborates well?</a:t>
            </a:r>
          </a:p>
        </p:txBody>
      </p:sp>
    </p:spTree>
    <p:extLst>
      <p:ext uri="{BB962C8B-B14F-4D97-AF65-F5344CB8AC3E}">
        <p14:creationId xmlns:p14="http://schemas.microsoft.com/office/powerpoint/2010/main" val="2895953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DD414B9-B90A-F669-2C51-DCEAF934D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579B427-02E0-3818-B528-27CC02853E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ABD643F-0508-8BE8-F4C7-E58271DCF8E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919399F-F845-83CA-BBC6-04A7381D99F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B7C0A9C-8282-3253-4D01-740FAD392F3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1CB3F5A9-BF5C-BC5E-2FB9-BF1459AC37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Information and Technology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89EFF2F3-CCD0-8934-605B-567D98C1158F}"/>
              </a:ext>
            </a:extLst>
          </p:cNvPr>
          <p:cNvSpPr txBox="1"/>
          <p:nvPr/>
        </p:nvSpPr>
        <p:spPr>
          <a:xfrm>
            <a:off x="2934462" y="2286000"/>
            <a:ext cx="8448040" cy="387221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400" dirty="0"/>
              <a:t>Includes </a:t>
            </a:r>
            <a:r>
              <a:rPr lang="en-US" sz="2400" b="1" dirty="0"/>
              <a:t>information, knowledge, and technologies</a:t>
            </a:r>
            <a:r>
              <a:rPr lang="en-US" sz="2400" dirty="0"/>
              <a:t> needed to deliver services.</a:t>
            </a:r>
          </a:p>
          <a:p>
            <a:endParaRPr lang="en-US" sz="2400" dirty="0"/>
          </a:p>
          <a:p>
            <a:r>
              <a:rPr lang="en-US" sz="2400" dirty="0"/>
              <a:t>Technology considerations:</a:t>
            </a:r>
          </a:p>
          <a:p>
            <a:pPr lvl="1"/>
            <a:r>
              <a:rPr lang="en-US" sz="2400" dirty="0"/>
              <a:t>Compatibility, automation, emerging tech (AI, IoT, cloud)</a:t>
            </a:r>
          </a:p>
          <a:p>
            <a:pPr lvl="1"/>
            <a:r>
              <a:rPr lang="en-US" sz="2400" dirty="0"/>
              <a:t>Compliance, security, and future viability</a:t>
            </a:r>
          </a:p>
          <a:p>
            <a:pPr lvl="1"/>
            <a:r>
              <a:rPr lang="en-US" sz="2400" dirty="0"/>
              <a:t>Alignment with strategy and staff skills</a:t>
            </a:r>
          </a:p>
          <a:p>
            <a:pPr lvl="1"/>
            <a:endParaRPr lang="en-US" sz="2400" dirty="0"/>
          </a:p>
          <a:p>
            <a:r>
              <a:rPr lang="en-US" sz="2400" b="1" dirty="0"/>
              <a:t>Example:</a:t>
            </a:r>
            <a:r>
              <a:rPr lang="en-US" sz="2400" dirty="0"/>
              <a:t> Axle Car Hire uses booking apps and databases to manage car rentals.</a:t>
            </a:r>
          </a:p>
        </p:txBody>
      </p:sp>
    </p:spTree>
    <p:extLst>
      <p:ext uri="{BB962C8B-B14F-4D97-AF65-F5344CB8AC3E}">
        <p14:creationId xmlns:p14="http://schemas.microsoft.com/office/powerpoint/2010/main" val="216168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747D6E-EBFC-B3CD-2051-93A282413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1E7BE05-CE3D-6688-AC2A-80545D7D87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C48CB43-1DCF-9D75-2AAF-6BF4DF6BADE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A40DFFB-26E4-12D2-6B35-4C97DFAEE4F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7C341A7-18AD-650D-25C9-7568780A0656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7522CA93-B835-F1C2-D16F-5A7F9AA31D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Activity 2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0880AAA-B9D6-210C-D1C4-F46AAF466D7A}"/>
              </a:ext>
            </a:extLst>
          </p:cNvPr>
          <p:cNvSpPr txBox="1"/>
          <p:nvPr/>
        </p:nvSpPr>
        <p:spPr>
          <a:xfrm>
            <a:off x="2934462" y="2286000"/>
            <a:ext cx="8448040" cy="214866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Think of a service you use daily (e.g., a food delivery app). What information and technology are critical to make it work smoothly?</a:t>
            </a:r>
          </a:p>
        </p:txBody>
      </p:sp>
    </p:spTree>
    <p:extLst>
      <p:ext uri="{BB962C8B-B14F-4D97-AF65-F5344CB8AC3E}">
        <p14:creationId xmlns:p14="http://schemas.microsoft.com/office/powerpoint/2010/main" val="3960187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304CCF-0E86-1A4F-6366-6B04A8B87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C7B1891-8659-4ABB-4D34-4E63D37F11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8361829-4804-022A-0537-EFDF10EC989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BE62608-826E-0336-3886-B8A09B2F8AA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C807196-54FB-CF97-36B7-51C217887DA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ACB50881-1F3C-51E3-3BEA-A65ED0B8B6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Partners and Suppliers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EB26F5F-3D5F-0F48-2071-19A33554AF85}"/>
              </a:ext>
            </a:extLst>
          </p:cNvPr>
          <p:cNvSpPr txBox="1"/>
          <p:nvPr/>
        </p:nvSpPr>
        <p:spPr>
          <a:xfrm>
            <a:off x="2934462" y="2286000"/>
            <a:ext cx="8448040" cy="313355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400" dirty="0"/>
              <a:t>Relationships with external organizations for service design, delivery, and improvement.</a:t>
            </a:r>
          </a:p>
          <a:p>
            <a:r>
              <a:rPr lang="en-US" sz="2400" dirty="0"/>
              <a:t>Range from </a:t>
            </a:r>
            <a:r>
              <a:rPr lang="en-US" sz="2400" b="1" dirty="0"/>
              <a:t>formal contracts to flexible partnerships</a:t>
            </a:r>
            <a:r>
              <a:rPr lang="en-US" sz="2400" dirty="0"/>
              <a:t>.</a:t>
            </a:r>
          </a:p>
          <a:p>
            <a:r>
              <a:rPr lang="en-US" sz="2400" dirty="0"/>
              <a:t>Strategy depends on </a:t>
            </a:r>
            <a:r>
              <a:rPr lang="en-US" sz="2400" b="1" dirty="0"/>
              <a:t>core competencies, culture, resource availability, and cost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b="1" dirty="0"/>
              <a:t>Example:</a:t>
            </a:r>
            <a:r>
              <a:rPr lang="en-US" sz="2400" dirty="0"/>
              <a:t> Axle partners with Go </a:t>
            </a:r>
            <a:r>
              <a:rPr lang="en-US" sz="2400" dirty="0" err="1"/>
              <a:t>Go</a:t>
            </a:r>
            <a:r>
              <a:rPr lang="en-US" sz="2400" dirty="0"/>
              <a:t> Gas, cleaning services, ISPs, and developers.</a:t>
            </a:r>
          </a:p>
        </p:txBody>
      </p:sp>
    </p:spTree>
    <p:extLst>
      <p:ext uri="{BB962C8B-B14F-4D97-AF65-F5344CB8AC3E}">
        <p14:creationId xmlns:p14="http://schemas.microsoft.com/office/powerpoint/2010/main" val="2318496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3D9FAAD-151F-D0F8-B1AC-0F3C37711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F4A49C9-6293-1044-0445-28061614DA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7BBC64E-64F4-3D4B-476B-3B7EF46B089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1B06B26-6141-8EF8-BF06-66961FB40D2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83A7246-D72A-C3B6-5D0C-0EF821D6EC6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2929D0EA-3D6B-421E-C555-C570B94056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Activity 3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55E352E6-58A7-C349-72E3-0833C5DBD0CB}"/>
              </a:ext>
            </a:extLst>
          </p:cNvPr>
          <p:cNvSpPr txBox="1"/>
          <p:nvPr/>
        </p:nvSpPr>
        <p:spPr>
          <a:xfrm>
            <a:off x="2934462" y="2286000"/>
            <a:ext cx="8448040" cy="165622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Name a service you rely on that depends on multiple partners or suppliers. What might happen if one of these partners fails?</a:t>
            </a:r>
          </a:p>
        </p:txBody>
      </p:sp>
    </p:spTree>
    <p:extLst>
      <p:ext uri="{BB962C8B-B14F-4D97-AF65-F5344CB8AC3E}">
        <p14:creationId xmlns:p14="http://schemas.microsoft.com/office/powerpoint/2010/main" val="1129693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D7A1890-3D1F-A065-3273-A299305D7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C241C81-5C36-7ACC-0600-53075DBEBB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0E24E25-67ED-5462-DA00-4767B59490DC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C42B881-B964-3CCF-DB40-0DCE6521C8E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EC8608A-F19A-6F76-74A4-F7E12CB35B4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CB2C12B5-C551-9D4D-8259-330DC37069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Value Streams and Processes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9EF04921-5C2E-3765-60A4-0BCCFDCFD787}"/>
              </a:ext>
            </a:extLst>
          </p:cNvPr>
          <p:cNvSpPr txBox="1"/>
          <p:nvPr/>
        </p:nvSpPr>
        <p:spPr>
          <a:xfrm>
            <a:off x="2934462" y="2286000"/>
            <a:ext cx="8448040" cy="35028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400" dirty="0"/>
              <a:t>Focus on </a:t>
            </a:r>
            <a:r>
              <a:rPr lang="en-US" sz="2400" b="1" dirty="0"/>
              <a:t>activities, workflows, and procedures</a:t>
            </a:r>
            <a:r>
              <a:rPr lang="en-US" sz="2400" dirty="0"/>
              <a:t> to achieve objectives.</a:t>
            </a:r>
          </a:p>
          <a:p>
            <a:r>
              <a:rPr lang="en-US" sz="2400" b="1" dirty="0"/>
              <a:t>Value streams:</a:t>
            </a:r>
            <a:r>
              <a:rPr lang="en-US" sz="2400" dirty="0"/>
              <a:t> steps to create and deliver products/services.</a:t>
            </a:r>
          </a:p>
          <a:p>
            <a:r>
              <a:rPr lang="en-US" sz="2400" b="1" dirty="0"/>
              <a:t>Processes:</a:t>
            </a:r>
            <a:r>
              <a:rPr lang="en-US" sz="2400" dirty="0"/>
              <a:t> interrelated activities that transform inputs to outputs.</a:t>
            </a:r>
          </a:p>
          <a:p>
            <a:r>
              <a:rPr lang="en-US" sz="2400" dirty="0"/>
              <a:t>Helps identify </a:t>
            </a:r>
            <a:r>
              <a:rPr lang="en-US" sz="2400" b="1" dirty="0"/>
              <a:t>waste and improve efficiency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b="1" dirty="0"/>
              <a:t>Example:</a:t>
            </a:r>
            <a:r>
              <a:rPr lang="en-US" sz="2400" dirty="0"/>
              <a:t> Axle maps value streams to remove obstacles and enhance productivity.</a:t>
            </a:r>
          </a:p>
        </p:txBody>
      </p:sp>
    </p:spTree>
    <p:extLst>
      <p:ext uri="{BB962C8B-B14F-4D97-AF65-F5344CB8AC3E}">
        <p14:creationId xmlns:p14="http://schemas.microsoft.com/office/powerpoint/2010/main" val="3554562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7629CAF-6986-7D02-E07E-1195FCE16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F55673B-70AC-F2D1-ACD7-94FC923DBEA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7EDC4B0-D09E-B6D7-52F3-76B86BBC5588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4346C56-97C6-C5D0-929C-987FB467607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8BB7982-C59D-6AF3-91BE-C90183C68B0A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7AC9F87-A694-6444-3530-F6C3D4EDF8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Activity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63BF825E-9392-58B6-872F-CF51B0DBD0F3}"/>
              </a:ext>
            </a:extLst>
          </p:cNvPr>
          <p:cNvSpPr txBox="1"/>
          <p:nvPr/>
        </p:nvSpPr>
        <p:spPr>
          <a:xfrm>
            <a:off x="2934462" y="2286000"/>
            <a:ext cx="8448040" cy="214866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Take a simple activity you do every day (e.g., ordering coffee). Can you list the steps (value stream) involved and identify one step that could be improved?”</a:t>
            </a:r>
          </a:p>
        </p:txBody>
      </p:sp>
    </p:spTree>
    <p:extLst>
      <p:ext uri="{BB962C8B-B14F-4D97-AF65-F5344CB8AC3E}">
        <p14:creationId xmlns:p14="http://schemas.microsoft.com/office/powerpoint/2010/main" val="3290974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2956A08-A44A-1C1B-A131-CB0FB6457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BBE539B-056B-F871-CCFA-0F3623FED4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CB0F000-E42D-F4B5-C91C-00209DEC6238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66FB6D6-88B7-B92C-FF14-8B7ACC38445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64A4EF2-B392-6F4A-9880-0FD92C09F59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1585DDA-8DB0-F52E-D8E5-9FAF3E49F2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External Factors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993E063A-A6CE-65DE-028B-2EB28AB14127}"/>
              </a:ext>
            </a:extLst>
          </p:cNvPr>
          <p:cNvSpPr txBox="1"/>
          <p:nvPr/>
        </p:nvSpPr>
        <p:spPr>
          <a:xfrm>
            <a:off x="2934462" y="2286000"/>
            <a:ext cx="8448040" cy="276421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400" dirty="0"/>
              <a:t>Organizations operate in </a:t>
            </a:r>
            <a:r>
              <a:rPr lang="en-US" sz="2400" b="1" dirty="0"/>
              <a:t>dynamic, complex environments</a:t>
            </a:r>
            <a:r>
              <a:rPr lang="en-US" sz="2400" dirty="0"/>
              <a:t>.</a:t>
            </a:r>
          </a:p>
          <a:p>
            <a:r>
              <a:rPr lang="en-US" sz="2400" dirty="0"/>
              <a:t>Factors analyzed via </a:t>
            </a:r>
            <a:r>
              <a:rPr lang="en-US" sz="2400" b="1" dirty="0"/>
              <a:t>PESTLE</a:t>
            </a:r>
            <a:r>
              <a:rPr lang="en-US" sz="2400" dirty="0"/>
              <a:t>: Political, Economic, Social, Technological, Legal, Environmental.</a:t>
            </a:r>
          </a:p>
          <a:p>
            <a:r>
              <a:rPr lang="en-US" sz="2400" dirty="0"/>
              <a:t>These influence how resources are configured and services delivered.</a:t>
            </a:r>
          </a:p>
          <a:p>
            <a:r>
              <a:rPr lang="en-US" sz="2400" b="1" dirty="0"/>
              <a:t>Example:</a:t>
            </a:r>
            <a:r>
              <a:rPr lang="en-US" sz="2400" dirty="0"/>
              <a:t> GDPR influences how companies handle customer data.</a:t>
            </a:r>
          </a:p>
        </p:txBody>
      </p:sp>
    </p:spTree>
    <p:extLst>
      <p:ext uri="{BB962C8B-B14F-4D97-AF65-F5344CB8AC3E}">
        <p14:creationId xmlns:p14="http://schemas.microsoft.com/office/powerpoint/2010/main" val="1379082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C1F3908-49E1-3CF5-D5F3-7436B942A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A930A48-8CA9-BC9B-98E9-AA88A4AD9E0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9FF9602-E11E-BEAD-4072-13375927EA11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AD27D1E-AFF2-4ED4-F052-4A39E707D80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29668E5-F7B1-5F40-CCC4-13DC1DB3DFF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87C98E25-5E26-F29B-DA2C-88507F8411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Activity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96A1B003-E3E1-00B2-6914-BAE3E6C4844B}"/>
              </a:ext>
            </a:extLst>
          </p:cNvPr>
          <p:cNvSpPr txBox="1"/>
          <p:nvPr/>
        </p:nvSpPr>
        <p:spPr>
          <a:xfrm>
            <a:off x="2934462" y="2286000"/>
            <a:ext cx="8448040" cy="214866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Which external factor do you think affects a music streaming service the most? Why?</a:t>
            </a:r>
          </a:p>
          <a:p>
            <a:endParaRPr lang="en-US" sz="3200" dirty="0"/>
          </a:p>
          <a:p>
            <a:r>
              <a:rPr lang="en-US" sz="3200" b="1" dirty="0"/>
              <a:t>PESTLE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09319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BF93AFC-256A-D2FC-0D25-5A55BD8CB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DF1DCD8-81F2-8ACC-AE82-AE64E6391D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3E654BD-D40B-8409-209C-8412BE0F7CD3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16FA16A-EA06-22C8-19DA-6C12EB4DF21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3F7A2D4-9C54-1788-4F02-9528C1B1C41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B5B768C2-9F54-A286-8FC4-4D0E80D31D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Summary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AF5BC75A-77EA-4F0F-C0A5-97B4CFE72C3B}"/>
              </a:ext>
            </a:extLst>
          </p:cNvPr>
          <p:cNvSpPr txBox="1"/>
          <p:nvPr/>
        </p:nvSpPr>
        <p:spPr>
          <a:xfrm>
            <a:off x="2934462" y="2286000"/>
            <a:ext cx="8448040" cy="202555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Four dimensions provide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holistic approach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service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Balance of focus across dimensions is essential.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External factors and emerging trends must also be considered.</a:t>
            </a:r>
          </a:p>
        </p:txBody>
      </p:sp>
    </p:spTree>
    <p:extLst>
      <p:ext uri="{BB962C8B-B14F-4D97-AF65-F5344CB8AC3E}">
        <p14:creationId xmlns:p14="http://schemas.microsoft.com/office/powerpoint/2010/main" val="3778319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72" y="-2359"/>
            <a:ext cx="12182475" cy="6501765"/>
            <a:chOff x="9972" y="-2359"/>
            <a:chExt cx="12182475" cy="6501765"/>
          </a:xfrm>
        </p:grpSpPr>
        <p:sp>
          <p:nvSpPr>
            <p:cNvPr id="3" name="object 3"/>
            <p:cNvSpPr/>
            <p:nvPr/>
          </p:nvSpPr>
          <p:spPr>
            <a:xfrm>
              <a:off x="623876" y="-2359"/>
              <a:ext cx="4548505" cy="3168650"/>
            </a:xfrm>
            <a:custGeom>
              <a:avLst/>
              <a:gdLst/>
              <a:ahLst/>
              <a:cxnLst/>
              <a:rect l="l" t="t" r="r" b="b"/>
              <a:pathLst>
                <a:path w="4548505" h="3168650">
                  <a:moveTo>
                    <a:pt x="1256288" y="0"/>
                  </a:moveTo>
                  <a:lnTo>
                    <a:pt x="0" y="0"/>
                  </a:lnTo>
                  <a:lnTo>
                    <a:pt x="3293242" y="3168630"/>
                  </a:lnTo>
                  <a:lnTo>
                    <a:pt x="4548038" y="3168630"/>
                  </a:lnTo>
                  <a:lnTo>
                    <a:pt x="3674989" y="2327497"/>
                  </a:lnTo>
                  <a:lnTo>
                    <a:pt x="1256288" y="0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6691" y="0"/>
              <a:ext cx="10465308" cy="35112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788097" y="2242136"/>
              <a:ext cx="1691005" cy="1092200"/>
            </a:xfrm>
            <a:custGeom>
              <a:avLst/>
              <a:gdLst/>
              <a:ahLst/>
              <a:cxnLst/>
              <a:rect l="l" t="t" r="r" b="b"/>
              <a:pathLst>
                <a:path w="1691004" h="1092200">
                  <a:moveTo>
                    <a:pt x="554199" y="0"/>
                  </a:moveTo>
                  <a:lnTo>
                    <a:pt x="0" y="0"/>
                  </a:lnTo>
                  <a:lnTo>
                    <a:pt x="1136342" y="1091875"/>
                  </a:lnTo>
                  <a:lnTo>
                    <a:pt x="1690541" y="1091875"/>
                  </a:lnTo>
                  <a:lnTo>
                    <a:pt x="1471838" y="882606"/>
                  </a:lnTo>
                  <a:lnTo>
                    <a:pt x="554199" y="0"/>
                  </a:lnTo>
                  <a:close/>
                </a:path>
              </a:pathLst>
            </a:custGeom>
            <a:solidFill>
              <a:srgbClr val="99D9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972" y="2972399"/>
              <a:ext cx="3660775" cy="3526790"/>
            </a:xfrm>
            <a:custGeom>
              <a:avLst/>
              <a:gdLst/>
              <a:ahLst/>
              <a:cxnLst/>
              <a:rect l="l" t="t" r="r" b="b"/>
              <a:pathLst>
                <a:path w="3660775" h="3526790">
                  <a:moveTo>
                    <a:pt x="0" y="0"/>
                  </a:moveTo>
                  <a:lnTo>
                    <a:pt x="0" y="477832"/>
                  </a:lnTo>
                  <a:lnTo>
                    <a:pt x="3163571" y="3526622"/>
                  </a:lnTo>
                  <a:lnTo>
                    <a:pt x="3660562" y="35266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5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41" y="2320818"/>
              <a:ext cx="2994025" cy="2885440"/>
            </a:xfrm>
            <a:custGeom>
              <a:avLst/>
              <a:gdLst/>
              <a:ahLst/>
              <a:cxnLst/>
              <a:rect l="l" t="t" r="r" b="b"/>
              <a:pathLst>
                <a:path w="2994025" h="2885440">
                  <a:moveTo>
                    <a:pt x="0" y="0"/>
                  </a:moveTo>
                  <a:lnTo>
                    <a:pt x="0" y="458147"/>
                  </a:lnTo>
                  <a:lnTo>
                    <a:pt x="2519204" y="2885259"/>
                  </a:lnTo>
                  <a:lnTo>
                    <a:pt x="2993958" y="2885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B0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130667" y="1879549"/>
            <a:ext cx="3354704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>
                <a:solidFill>
                  <a:srgbClr val="252525"/>
                </a:solidFill>
              </a:rPr>
              <a:t>Thank</a:t>
            </a:r>
            <a:r>
              <a:rPr sz="4500" spc="-20" dirty="0">
                <a:solidFill>
                  <a:srgbClr val="252525"/>
                </a:solidFill>
              </a:rPr>
              <a:t> you…</a:t>
            </a:r>
            <a:endParaRPr sz="4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5C4D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</TotalTime>
  <Words>631</Words>
  <Application>Microsoft Office PowerPoint</Application>
  <PresentationFormat>Widescreen</PresentationFormat>
  <Paragraphs>76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Cambria</vt:lpstr>
      <vt:lpstr>Segoe UI</vt:lpstr>
      <vt:lpstr>Office Theme</vt:lpstr>
      <vt:lpstr>IT Infrastructure                       Management                 Chapter 3:  The four dimensions of                                         service management                        TY B.Sc. (IT)</vt:lpstr>
      <vt:lpstr>3 Topics:</vt:lpstr>
      <vt:lpstr>4 Introduction </vt:lpstr>
      <vt:lpstr>4 Key Message </vt:lpstr>
      <vt:lpstr>PowerPoint Presentation</vt:lpstr>
      <vt:lpstr>5 Organizations and People</vt:lpstr>
      <vt:lpstr>6 Activity 1</vt:lpstr>
      <vt:lpstr>6 Information and Technology</vt:lpstr>
      <vt:lpstr>6 Activity 2</vt:lpstr>
      <vt:lpstr>6 Partners and Suppliers</vt:lpstr>
      <vt:lpstr>6 Activity 3</vt:lpstr>
      <vt:lpstr>6 Value Streams and Processes</vt:lpstr>
      <vt:lpstr>6 Activity</vt:lpstr>
      <vt:lpstr>6  External Factors</vt:lpstr>
      <vt:lpstr>6 Activity</vt:lpstr>
      <vt:lpstr>6 Summary</vt:lpstr>
      <vt:lpstr>Thank you…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 Geographic Information Systems </dc:title>
  <dc:creator>Pushpa Mahapatro</dc:creator>
  <cp:lastModifiedBy>poornimanadar1234@gmail.com</cp:lastModifiedBy>
  <cp:revision>17</cp:revision>
  <dcterms:created xsi:type="dcterms:W3CDTF">2025-11-04T17:06:10Z</dcterms:created>
  <dcterms:modified xsi:type="dcterms:W3CDTF">2025-11-17T18:33:22Z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2021-01-13T00:00:00Z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2025-11-04T00:00:00Z</vt:filetime>
  </property>
  <property fmtid="{D5CDD505-2E9C-101B-9397-08002B2CF9AE}" pid="5" name="Producer">
    <vt:lpwstr>Microsoft® PowerPoint® for Microsoft 365</vt:lpwstr>
  </property>
</Properties>
</file>