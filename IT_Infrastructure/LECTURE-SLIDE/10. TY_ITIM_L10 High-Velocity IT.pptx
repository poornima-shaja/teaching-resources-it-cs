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70" r:id="rId7"/>
    <p:sldId id="271" r:id="rId8"/>
    <p:sldId id="260" r:id="rId9"/>
    <p:sldId id="272" r:id="rId10"/>
    <p:sldId id="261" r:id="rId11"/>
    <p:sldId id="273" r:id="rId12"/>
    <p:sldId id="262" r:id="rId13"/>
    <p:sldId id="274" r:id="rId14"/>
    <p:sldId id="263" r:id="rId15"/>
    <p:sldId id="264" r:id="rId16"/>
    <p:sldId id="265" r:id="rId17"/>
    <p:sldId id="267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75" r:id="rId26"/>
    <p:sldId id="268" r:id="rId27"/>
    <p:sldId id="284" r:id="rId28"/>
    <p:sldId id="312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66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2" r:id="rId47"/>
    <p:sldId id="301" r:id="rId48"/>
    <p:sldId id="313" r:id="rId49"/>
    <p:sldId id="303" r:id="rId50"/>
    <p:sldId id="304" r:id="rId51"/>
    <p:sldId id="305" r:id="rId52"/>
    <p:sldId id="306" r:id="rId53"/>
    <p:sldId id="307" r:id="rId54"/>
    <p:sldId id="308" r:id="rId55"/>
    <p:sldId id="314" r:id="rId56"/>
    <p:sldId id="315" r:id="rId57"/>
    <p:sldId id="309" r:id="rId58"/>
    <p:sldId id="310" r:id="rId59"/>
    <p:sldId id="316" r:id="rId60"/>
    <p:sldId id="311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High-Velocity IT (HVIT) &amp; Digital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in ITIL 4</a:t>
            </a:r>
          </a:p>
          <a:p>
            <a:r>
              <a:t>Digital transformation and objectives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HVIT?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of digital tech for business enablement</a:t>
            </a:r>
          </a:p>
          <a:p>
            <a:r>
              <a:t>Speed matters: time to market, time to customer, time to change</a:t>
            </a:r>
          </a:p>
          <a:p>
            <a:r>
              <a:t>Not always faster = better; depends on organizational context</a:t>
            </a:r>
          </a:p>
          <a:p>
            <a:r>
              <a:t>Applies across the service value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in ITIL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Aligns IT with high-velocity business needs</a:t>
            </a:r>
          </a:p>
          <a:p>
            <a:r>
              <a:t>Supports innovation → development → operations → value realization</a:t>
            </a:r>
          </a:p>
          <a:p>
            <a:r>
              <a:t>Uses ITIL building blocks for efficient HVIT operating model</a:t>
            </a:r>
          </a:p>
          <a:p>
            <a:r>
              <a:t>Ensures fast flow, feedback, and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CF20FB-344C-BCFA-86F5-82701F7AD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4" y="897467"/>
            <a:ext cx="8603659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7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Digital Technology vs Digital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Digital Technology:</a:t>
            </a:r>
          </a:p>
          <a:p>
            <a:pPr marL="0" indent="0">
              <a:buNone/>
            </a:pPr>
            <a:r>
              <a:rPr dirty="0"/>
              <a:t>- IT: data processing, information systems, software</a:t>
            </a:r>
          </a:p>
          <a:p>
            <a:pPr marL="0" indent="0">
              <a:buNone/>
            </a:pPr>
            <a:r>
              <a:rPr dirty="0"/>
              <a:t>- OT: controls physical devices, IoT-enabled</a:t>
            </a:r>
          </a:p>
          <a:p>
            <a:endParaRPr dirty="0"/>
          </a:p>
          <a:p>
            <a:r>
              <a:rPr dirty="0"/>
              <a:t>Digital Organization:</a:t>
            </a:r>
          </a:p>
          <a:p>
            <a:pPr marL="0" indent="0">
              <a:buNone/>
            </a:pPr>
            <a:r>
              <a:rPr dirty="0"/>
              <a:t>- Strategic use of digital tech in products, services, processes</a:t>
            </a:r>
          </a:p>
          <a:p>
            <a:pPr marL="0" indent="0">
              <a:buNone/>
            </a:pPr>
            <a:r>
              <a:rPr dirty="0"/>
              <a:t>- Digital-first culture: affects customer &amp; employee experience</a:t>
            </a:r>
          </a:p>
          <a:p>
            <a:pPr marL="0" indent="0">
              <a:buNone/>
            </a:pPr>
            <a:r>
              <a:rPr dirty="0"/>
              <a:t>- Differentiates business competitively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702EC-928D-F698-D1C9-8BA93BCD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1" y="437963"/>
            <a:ext cx="5427132" cy="602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9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C189C-2CF0-11D5-0642-57B3D1405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86" y="313267"/>
            <a:ext cx="8760847" cy="59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Doing things differently or doing different things with digital tech</a:t>
            </a:r>
          </a:p>
          <a:p>
            <a:r>
              <a:t>Major improvement in objectives not feasible by non-digital means</a:t>
            </a:r>
          </a:p>
          <a:p>
            <a:r>
              <a:t>May include IT transformation: restructuring IT to integrate with business</a:t>
            </a:r>
          </a:p>
          <a:p>
            <a:r>
              <a:t>Can be incremental or major shifts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01972-9E6A-6610-34DF-80816B7C0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33" y="67296"/>
            <a:ext cx="5638800" cy="656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HVIT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Valuable investments – strategic IT application</a:t>
            </a:r>
          </a:p>
          <a:p>
            <a:pPr marL="0" indent="0">
              <a:buNone/>
            </a:pPr>
            <a:r>
              <a:rPr dirty="0"/>
              <a:t>2. Fast development – rapid delivery of services/products</a:t>
            </a:r>
          </a:p>
          <a:p>
            <a:pPr marL="0" indent="0">
              <a:buNone/>
            </a:pPr>
            <a:r>
              <a:rPr dirty="0"/>
              <a:t>3. Resilient operations – reliable IT performance</a:t>
            </a:r>
          </a:p>
          <a:p>
            <a:pPr marL="0" indent="0">
              <a:buNone/>
            </a:pPr>
            <a:r>
              <a:rPr dirty="0"/>
              <a:t>4. Co-created value – effective provider-consumer collaboration</a:t>
            </a:r>
          </a:p>
          <a:p>
            <a:pPr marL="0" indent="0">
              <a:buNone/>
            </a:pPr>
            <a:r>
              <a:rPr dirty="0"/>
              <a:t>5. Assured conformance – meet governance, risk,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B034D-A2CF-6106-F86C-F27B6525C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12" y="50892"/>
            <a:ext cx="8131976" cy="675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8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HVIT 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Lean: Reduce waste, improve throughput, small batch work</a:t>
            </a:r>
          </a:p>
          <a:p>
            <a:r>
              <a:t>Agile: Iterative development, feedback-driven, cross-functional teams</a:t>
            </a:r>
          </a:p>
          <a:p>
            <a:r>
              <a:t>Resilient: Minimize incident impact, quick recovery, SRE/DevOps</a:t>
            </a:r>
          </a:p>
          <a:p>
            <a:r>
              <a:t>Continuous: CI/CD, automation of build/test/deploy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4218B-29B9-CE36-E612-772144B25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78" y="973667"/>
            <a:ext cx="607833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91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&amp; Agile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Lean: Small batches, Kanban boards, reduce WIP, identify bottlenecks</a:t>
            </a:r>
          </a:p>
          <a:p>
            <a:r>
              <a:t>Agile: Frequent iterations, backlog prioritization, cost of delay</a:t>
            </a:r>
          </a:p>
          <a:p>
            <a:r>
              <a:t>DevOps: Collaboration between dev &amp; ops, automates repetitive tasks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Resilient &amp; Continuous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Resilient: SRE, DevOps, microservices, disaster recovery</a:t>
            </a:r>
          </a:p>
          <a:p>
            <a:r>
              <a:t>Continuous: CI/CD, build automation, test automation, deployment automation</a:t>
            </a:r>
          </a:p>
          <a:p>
            <a:r>
              <a:t>Small &amp; frequent changes = faster value, lower 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Co-creation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HVIT characteristics → co-creation of value</a:t>
            </a:r>
          </a:p>
          <a:p>
            <a:r>
              <a:t>Service-dominant logic: Value created with consumers, not just delivered</a:t>
            </a:r>
          </a:p>
          <a:p>
            <a:r>
              <a:t>Focus: customer outcomes, effective service interaction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Products &amp; Lifecycles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product: Tech is essential to product/service</a:t>
            </a:r>
          </a:p>
          <a:p>
            <a:r>
              <a:rPr dirty="0"/>
              <a:t>Lifecycle: Explore → Engage → Onboard → Co-create → Realize → Offboard → Retired</a:t>
            </a:r>
          </a:p>
          <a:p>
            <a:r>
              <a:rPr dirty="0"/>
              <a:t>Band of visibility: balance what provider/consumer sees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1791-44FA-8FFC-4A54-08B3EE2A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28E4-E767-76E9-22F6-900F43A9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Explore 🔍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4042-910F-CAFC-43E9-5D3B8B044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Meaning:</a:t>
            </a:r>
            <a:r>
              <a:rPr lang="en-US" dirty="0"/>
              <a:t> This is the </a:t>
            </a:r>
            <a:r>
              <a:rPr lang="en-US" b="1" dirty="0"/>
              <a:t>research and discovery stage</a:t>
            </a:r>
            <a:r>
              <a:rPr lang="en-US" dirty="0"/>
              <a:t>. You look for opportunities, problems to solve, or new ideas.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Identify what users need.</a:t>
            </a:r>
          </a:p>
          <a:p>
            <a:pPr lvl="1"/>
            <a:r>
              <a:rPr lang="en-US" dirty="0"/>
              <a:t>Understand market trends or technology options.</a:t>
            </a:r>
          </a:p>
          <a:p>
            <a:pPr lvl="1"/>
            <a:r>
              <a:rPr lang="en-US" dirty="0"/>
              <a:t>Evaluate feasibility (can we actually do it?).</a:t>
            </a:r>
          </a:p>
          <a:p>
            <a:r>
              <a:rPr lang="en-US" b="1" dirty="0"/>
              <a:t>Example:</a:t>
            </a:r>
            <a:r>
              <a:rPr lang="en-US" dirty="0"/>
              <a:t> A company wants to create a new app feature. They survey users to see what they like or need.</a:t>
            </a:r>
          </a:p>
        </p:txBody>
      </p:sp>
    </p:spTree>
    <p:extLst>
      <p:ext uri="{BB962C8B-B14F-4D97-AF65-F5344CB8AC3E}">
        <p14:creationId xmlns:p14="http://schemas.microsoft.com/office/powerpoint/2010/main" val="1986371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6978D-B9AE-3432-8898-0863F5E5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85E6-B666-F681-A77B-3207B1E4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Engage 🤝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FAA7-38CF-16AE-0A48-78F98314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  <a:r>
              <a:rPr lang="en-US" dirty="0"/>
              <a:t> Start </a:t>
            </a:r>
            <a:r>
              <a:rPr lang="en-US" b="1" dirty="0"/>
              <a:t>talking and involving stakeholders</a:t>
            </a:r>
            <a:r>
              <a:rPr lang="en-US" dirty="0"/>
              <a:t> (users, managers, team). This helps define what’s important.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Discuss ideas with users and internal teams.</a:t>
            </a:r>
          </a:p>
          <a:p>
            <a:pPr lvl="1"/>
            <a:r>
              <a:rPr lang="en-US" dirty="0"/>
              <a:t>Gather early feedback to guide development.</a:t>
            </a:r>
          </a:p>
          <a:p>
            <a:r>
              <a:rPr lang="en-US" b="1" dirty="0"/>
              <a:t>Example:</a:t>
            </a:r>
            <a:r>
              <a:rPr lang="en-US" dirty="0"/>
              <a:t> Show the app prototype to a few users and ask: “Do you like this feature? Would it help you?”</a:t>
            </a:r>
          </a:p>
        </p:txBody>
      </p:sp>
    </p:spTree>
    <p:extLst>
      <p:ext uri="{BB962C8B-B14F-4D97-AF65-F5344CB8AC3E}">
        <p14:creationId xmlns:p14="http://schemas.microsoft.com/office/powerpoint/2010/main" val="190157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D049-06A4-2B60-F6EC-5C1ABDB3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FADB-6C2F-D5E8-5B47-825B9474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Onboard 🚀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9E1B-A26C-D2B0-456A-581224556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  <a:r>
              <a:rPr lang="en-US" dirty="0"/>
              <a:t> Prepare everything so the service or technology is ready to start being used.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Set up systems and tools.</a:t>
            </a:r>
          </a:p>
          <a:p>
            <a:pPr lvl="1"/>
            <a:r>
              <a:rPr lang="en-US" dirty="0"/>
              <a:t>Train users or team members.</a:t>
            </a:r>
          </a:p>
          <a:p>
            <a:pPr lvl="1"/>
            <a:r>
              <a:rPr lang="en-US" dirty="0"/>
              <a:t>Make sure everyone knows how to use it.</a:t>
            </a:r>
          </a:p>
          <a:p>
            <a:r>
              <a:rPr lang="en-US" b="1" dirty="0"/>
              <a:t>Example:</a:t>
            </a:r>
            <a:r>
              <a:rPr lang="en-US" dirty="0"/>
              <a:t> The new app feature is installed for users, and a short guide shows them how it works.</a:t>
            </a:r>
          </a:p>
        </p:txBody>
      </p:sp>
    </p:spTree>
    <p:extLst>
      <p:ext uri="{BB962C8B-B14F-4D97-AF65-F5344CB8AC3E}">
        <p14:creationId xmlns:p14="http://schemas.microsoft.com/office/powerpoint/2010/main" val="234560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CBE0-E814-C555-87D6-FB1174E5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4476-7E6E-865B-61B6-3FE611C9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Co-create 🛠️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9B9AF-227E-1ADF-E9B5-131FFF78D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Meaning:</a:t>
            </a:r>
            <a:r>
              <a:rPr lang="en-US" dirty="0"/>
              <a:t> </a:t>
            </a:r>
            <a:r>
              <a:rPr lang="en-US" b="1" dirty="0"/>
              <a:t>Work with users to improve the service</a:t>
            </a:r>
            <a:r>
              <a:rPr lang="en-US" dirty="0"/>
              <a:t>. Their feedback is used to enhance it.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Iterate and update based on real usage.</a:t>
            </a:r>
          </a:p>
          <a:p>
            <a:pPr lvl="1"/>
            <a:r>
              <a:rPr lang="en-US" dirty="0"/>
              <a:t>Collaborate with users to make the product better.</a:t>
            </a:r>
          </a:p>
          <a:p>
            <a:r>
              <a:rPr lang="en-US" b="1" dirty="0"/>
              <a:t>Example:</a:t>
            </a:r>
            <a:r>
              <a:rPr lang="en-US" dirty="0"/>
              <a:t> Users suggest a faster loading button, and the team improves the app accordingly.</a:t>
            </a:r>
          </a:p>
        </p:txBody>
      </p:sp>
    </p:spTree>
    <p:extLst>
      <p:ext uri="{BB962C8B-B14F-4D97-AF65-F5344CB8AC3E}">
        <p14:creationId xmlns:p14="http://schemas.microsoft.com/office/powerpoint/2010/main" val="3605888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4C8E-4713-1486-5275-F1C966D4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9883-D4D8-1F7F-F94C-63A20B1E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Realize 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75478-9EC0-9BD5-7C65-9843155B1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Meaning:</a:t>
            </a:r>
            <a:r>
              <a:rPr lang="en-US" dirty="0"/>
              <a:t> The service starts </a:t>
            </a:r>
            <a:r>
              <a:rPr lang="en-US" b="1" dirty="0"/>
              <a:t>delivering value</a:t>
            </a:r>
            <a:r>
              <a:rPr lang="en-US" dirty="0"/>
              <a:t>. Users get the benefits it was designed for.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Monitor performance.</a:t>
            </a:r>
          </a:p>
          <a:p>
            <a:pPr lvl="1"/>
            <a:r>
              <a:rPr lang="en-US" dirty="0"/>
              <a:t>Measure how well it meets user needs.</a:t>
            </a:r>
          </a:p>
          <a:p>
            <a:r>
              <a:rPr lang="en-US" b="1" dirty="0"/>
              <a:t>Example:</a:t>
            </a:r>
            <a:r>
              <a:rPr lang="en-US" dirty="0"/>
              <a:t> Users are now using the app feature regularly, and their tasks are completed faster.</a:t>
            </a:r>
          </a:p>
        </p:txBody>
      </p:sp>
    </p:spTree>
    <p:extLst>
      <p:ext uri="{BB962C8B-B14F-4D97-AF65-F5344CB8AC3E}">
        <p14:creationId xmlns:p14="http://schemas.microsoft.com/office/powerpoint/2010/main" val="3079212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E0C0-13ED-910A-B50A-E5522BBB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69918-27B6-68D5-6E0C-49227D55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Offboard 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3C51-5546-FFA6-792A-FCA176442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  <a:r>
              <a:rPr lang="en-US" dirty="0"/>
              <a:t> Gradually </a:t>
            </a:r>
            <a:r>
              <a:rPr lang="en-US" b="1" dirty="0"/>
              <a:t>remove or replace the service</a:t>
            </a:r>
            <a:r>
              <a:rPr lang="en-US" dirty="0"/>
              <a:t> when it’s no longer needed or is being upgraded.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Help users transition smoothly.</a:t>
            </a:r>
          </a:p>
          <a:p>
            <a:pPr lvl="1"/>
            <a:r>
              <a:rPr lang="en-US" dirty="0"/>
              <a:t>Move data or resources if required.</a:t>
            </a:r>
          </a:p>
          <a:p>
            <a:r>
              <a:rPr lang="en-US" b="1" dirty="0"/>
              <a:t>Example:</a:t>
            </a:r>
            <a:r>
              <a:rPr lang="en-US" dirty="0"/>
              <a:t> An old version of the app feature is removed, and users are guided to use the new version.</a:t>
            </a:r>
          </a:p>
        </p:txBody>
      </p:sp>
    </p:spTree>
    <p:extLst>
      <p:ext uri="{BB962C8B-B14F-4D97-AF65-F5344CB8AC3E}">
        <p14:creationId xmlns:p14="http://schemas.microsoft.com/office/powerpoint/2010/main" val="93988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E222-1390-2908-A6D0-4BBF3028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A98D-FEF8-1AD2-1829-0AD12F4B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Retired 🗑️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287E-6FF5-A0B1-0F7A-E47455B4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Meaning:</a:t>
            </a:r>
            <a:r>
              <a:rPr lang="en-US" dirty="0"/>
              <a:t> The service is </a:t>
            </a:r>
            <a:r>
              <a:rPr lang="en-US" b="1" dirty="0"/>
              <a:t>fully retired</a:t>
            </a:r>
            <a:r>
              <a:rPr lang="en-US" dirty="0"/>
              <a:t>. It’s no longer active or supported.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Archive or delete data safely.</a:t>
            </a:r>
          </a:p>
          <a:p>
            <a:pPr lvl="1"/>
            <a:r>
              <a:rPr lang="en-US" dirty="0"/>
              <a:t>Learn lessons for future services.</a:t>
            </a:r>
          </a:p>
          <a:p>
            <a:r>
              <a:rPr lang="en-US" b="1" dirty="0"/>
              <a:t>Example:</a:t>
            </a:r>
            <a:r>
              <a:rPr lang="en-US" dirty="0"/>
              <a:t> The old app feature is removed permanently, and the team documents what they learned for future projects.</a:t>
            </a:r>
          </a:p>
        </p:txBody>
      </p:sp>
    </p:spTree>
    <p:extLst>
      <p:ext uri="{BB962C8B-B14F-4D97-AF65-F5344CB8AC3E}">
        <p14:creationId xmlns:p14="http://schemas.microsoft.com/office/powerpoint/2010/main" val="7969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F5DED0-D3D6-88AB-FB47-CC6476CB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2" y="186266"/>
            <a:ext cx="9065748" cy="4415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148B83-C4DC-368D-30A6-01EB3019637D}"/>
              </a:ext>
            </a:extLst>
          </p:cNvPr>
          <p:cNvSpPr txBox="1"/>
          <p:nvPr/>
        </p:nvSpPr>
        <p:spPr>
          <a:xfrm>
            <a:off x="685800" y="5052536"/>
            <a:ext cx="7916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Explore 🔍 → Engage 🤝 → Onboard 🚀 → Co-create 🛠️ → Realize 💡 → Offboard 🛑 → Retired 🗑️</a:t>
            </a:r>
          </a:p>
          <a:p>
            <a:r>
              <a:rPr lang="en-IN" sz="1400" dirty="0"/>
              <a:t>  (Idea)     (Plan)       (Start)       (Improve)        (Benefit)      (Transition)   (Done)</a:t>
            </a:r>
          </a:p>
        </p:txBody>
      </p:sp>
    </p:spTree>
    <p:extLst>
      <p:ext uri="{BB962C8B-B14F-4D97-AF65-F5344CB8AC3E}">
        <p14:creationId xmlns:p14="http://schemas.microsoft.com/office/powerpoint/2010/main" val="2769383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HVIT = Speed + Value + Resilience + Collaboration</a:t>
            </a:r>
          </a:p>
          <a:p>
            <a:r>
              <a:t>Digital organizations leverage HVIT to achieve strategic advantage</a:t>
            </a:r>
          </a:p>
          <a:p>
            <a:r>
              <a:t>Objectives and characteristics of HVIT guide ITIL-aligned operations</a:t>
            </a:r>
          </a:p>
          <a:p>
            <a:r>
              <a:t>Digital transformation = foundation for high-velocity, digitally-enabled businesses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Culture in HVIT?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values, behaviors and mindset in an organization</a:t>
            </a:r>
          </a:p>
          <a:p>
            <a:r>
              <a:t>Influences how people make decisions</a:t>
            </a:r>
          </a:p>
          <a:p>
            <a:r>
              <a:t>Supports innovation, trust and learning</a:t>
            </a:r>
          </a:p>
          <a:p>
            <a:r>
              <a:t>Without right culture, speed becomes chaos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D41F-DDE0-F827-99C2-1BD401654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603500"/>
            <a:ext cx="8229600" cy="1143000"/>
          </a:xfrm>
        </p:spPr>
        <p:txBody>
          <a:bodyPr/>
          <a:lstStyle/>
          <a:p>
            <a:r>
              <a:rPr lang="en-IN" dirty="0"/>
              <a:t>Culture</a:t>
            </a:r>
          </a:p>
        </p:txBody>
      </p:sp>
    </p:spTree>
    <p:extLst>
      <p:ext uri="{BB962C8B-B14F-4D97-AF65-F5344CB8AC3E}">
        <p14:creationId xmlns:p14="http://schemas.microsoft.com/office/powerpoint/2010/main" val="1634993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Five Key Behaviour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Accept ambiguity and uncertainty</a:t>
            </a:r>
          </a:p>
          <a:p>
            <a:r>
              <a:t>2. Trust and be trusted</a:t>
            </a:r>
          </a:p>
          <a:p>
            <a:r>
              <a:t>3. Continually raise the bar</a:t>
            </a:r>
          </a:p>
          <a:p>
            <a:r>
              <a:t>4. Help get customers’ jobs done</a:t>
            </a:r>
          </a:p>
          <a:p>
            <a:r>
              <a:t>5. Commit to continual learning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 Ambiguity and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world is unpredictable</a:t>
            </a:r>
          </a:p>
          <a:p>
            <a:r>
              <a:t>Not all information is available</a:t>
            </a:r>
          </a:p>
          <a:p>
            <a:r>
              <a:t>Take calculated risks</a:t>
            </a:r>
          </a:p>
          <a:p>
            <a:r>
              <a:t>Adapt quickly instead of waiting for perfection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and Be Trusted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micromanagement</a:t>
            </a:r>
          </a:p>
          <a:p>
            <a:r>
              <a:t>Encourages open communication</a:t>
            </a:r>
          </a:p>
          <a:p>
            <a:r>
              <a:t>Supports collaboration and speed</a:t>
            </a:r>
          </a:p>
          <a:p>
            <a:r>
              <a:t>Builds psychological safety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Continually Raise the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improve quality and performance</a:t>
            </a:r>
          </a:p>
          <a:p>
            <a:r>
              <a:t>Focus on innovation and excellence</a:t>
            </a:r>
          </a:p>
          <a:p>
            <a:r>
              <a:t>Never settle for ‘good enough’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 Get Customers’ Jobs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customer outcomes, not just output</a:t>
            </a:r>
          </a:p>
          <a:p>
            <a:r>
              <a:t>Understand real customer problems</a:t>
            </a:r>
          </a:p>
          <a:p>
            <a:r>
              <a:t>Deliver value that helps achieve goals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to Continual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from failure and success</a:t>
            </a:r>
          </a:p>
          <a:p>
            <a:r>
              <a:t>Encourage experimentation</a:t>
            </a:r>
          </a:p>
          <a:p>
            <a:r>
              <a:t>Upgrade skills continuously</a:t>
            </a:r>
          </a:p>
          <a:p>
            <a:r>
              <a:t>Share knowledge across teams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3.2.1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 = External goal that drives effort</a:t>
            </a:r>
          </a:p>
          <a:p>
            <a:r>
              <a:t>Connects technology to real-world impact</a:t>
            </a:r>
          </a:p>
          <a:p>
            <a:r>
              <a:t>Ensures responsible and meaningful work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in HVIT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Moral principles guiding technology use</a:t>
            </a:r>
          </a:p>
          <a:p>
            <a:r>
              <a:t>Ensure fairness, transparency and accountability</a:t>
            </a:r>
          </a:p>
          <a:p>
            <a:r>
              <a:t>Protect data privacy and society</a:t>
            </a:r>
          </a:p>
          <a:p>
            <a:r>
              <a:t>Build trust with customers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Subtopics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Techno-ethics (impact of technology on society)</a:t>
            </a:r>
          </a:p>
          <a:p>
            <a:r>
              <a:t>Ethics in Artificial Intelligence</a:t>
            </a:r>
          </a:p>
          <a:p>
            <a:r>
              <a:t>Habits and role of failure</a:t>
            </a:r>
          </a:p>
          <a:p>
            <a:r>
              <a:t>Education and awareness</a:t>
            </a:r>
          </a:p>
          <a:p>
            <a:r>
              <a:t>Organizational design supporting accountability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Human-centered problem solving approach</a:t>
            </a:r>
          </a:p>
          <a:p>
            <a:r>
              <a:t>Focus on understanding user needs</a:t>
            </a:r>
          </a:p>
          <a:p>
            <a:r>
              <a:t>Encourages innovation and experimentation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Empathize (understand user)</a:t>
            </a:r>
          </a:p>
          <a:p>
            <a:r>
              <a:t>2. Define problem clearly</a:t>
            </a:r>
          </a:p>
          <a:p>
            <a:r>
              <a:t>3. Ideate possible solutions</a:t>
            </a:r>
          </a:p>
          <a:p>
            <a:r>
              <a:t>4. Prototype small version</a:t>
            </a:r>
          </a:p>
          <a:p>
            <a:r>
              <a:t>5. Test and improve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3.2.2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Organizing knowledge work effectively</a:t>
            </a:r>
          </a:p>
          <a:p>
            <a:r>
              <a:t>Creating healthy and productive workplace</a:t>
            </a:r>
          </a:p>
          <a:p>
            <a:r>
              <a:t>Supporting agility and collaboration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Reconstructing for Service Agility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Flexible team structures</a:t>
            </a:r>
          </a:p>
          <a:p>
            <a:r>
              <a:t>Cross-functional teams</a:t>
            </a:r>
          </a:p>
          <a:p>
            <a:r>
              <a:t>Organize around services and value delivery</a:t>
            </a:r>
          </a:p>
          <a:p>
            <a:r>
              <a:t>Faster decision-making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Psychological safety</a:t>
            </a:r>
          </a:p>
          <a:p>
            <a:r>
              <a:t>No blame environment</a:t>
            </a:r>
          </a:p>
          <a:p>
            <a:r>
              <a:t>Encourage reporting mistakes</a:t>
            </a:r>
          </a:p>
          <a:p>
            <a:r>
              <a:t>Promotes learning and innovation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 unhealthy tension and burnout</a:t>
            </a:r>
          </a:p>
          <a:p>
            <a:r>
              <a:t>Support work-life balance</a:t>
            </a:r>
          </a:p>
          <a:p>
            <a:r>
              <a:t>Sustainable high performance</a:t>
            </a:r>
          </a:p>
          <a:p>
            <a:r>
              <a:t>Monitor and manage workload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3.2.3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improvement in complex environments</a:t>
            </a:r>
          </a:p>
          <a:p>
            <a:r>
              <a:t>Use experimentation and learning</a:t>
            </a:r>
          </a:p>
          <a:p>
            <a:r>
              <a:t>Encourage lean thinking and structured improvement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in Complex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 and effect not always clear</a:t>
            </a:r>
          </a:p>
          <a:p>
            <a:r>
              <a:t>Use safe-to-fail experiments</a:t>
            </a:r>
          </a:p>
          <a:p>
            <a:r>
              <a:t>Identify multiple hypotheses</a:t>
            </a:r>
          </a:p>
          <a:p>
            <a:r>
              <a:t>Amplify positive results, reduce negative impact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Eliminate waste</a:t>
            </a:r>
          </a:p>
          <a:p>
            <a:r>
              <a:t>Improve continuously</a:t>
            </a:r>
          </a:p>
          <a:p>
            <a:r>
              <a:t>Use fast feedback loops</a:t>
            </a:r>
          </a:p>
          <a:p>
            <a:r>
              <a:t>Focus only on value-adding activities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Cynefin Framework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– Apply best practices</a:t>
            </a:r>
          </a:p>
          <a:p>
            <a:r>
              <a:t>Complicated – Use expert analysis</a:t>
            </a:r>
          </a:p>
          <a:p>
            <a:r>
              <a:t>Complex – Experiment and learn</a:t>
            </a:r>
          </a:p>
          <a:p>
            <a:r>
              <a:t>Chaotic – Act immediately to stabilize</a:t>
            </a:r>
          </a:p>
          <a:p>
            <a:r>
              <a:t>Confused – Not sure which domain applies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ynefin framework - Wikipedia">
            <a:extLst>
              <a:ext uri="{FF2B5EF4-FFF2-40B4-BE49-F238E27FC236}">
                <a16:creationId xmlns:a16="http://schemas.microsoft.com/office/drawing/2014/main" id="{BC803351-D852-CB51-0624-369486FCD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99" y="-44501"/>
            <a:ext cx="7653867" cy="679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135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ITIL Continual Improvement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improvement approach</a:t>
            </a:r>
          </a:p>
          <a:p>
            <a:r>
              <a:t>Applies to whole service value system</a:t>
            </a:r>
          </a:p>
          <a:p>
            <a:r>
              <a:t>Iterative and incremental</a:t>
            </a:r>
          </a:p>
          <a:p>
            <a:r>
              <a:t>Everyone participates in improvement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Steps of Continual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the vision?</a:t>
            </a:r>
          </a:p>
          <a:p>
            <a:r>
              <a:t>2. Where are we now?</a:t>
            </a:r>
          </a:p>
          <a:p>
            <a:r>
              <a:t>3. Where do we want to be?</a:t>
            </a:r>
          </a:p>
          <a:p>
            <a:r>
              <a:t>4. How do we get there?</a:t>
            </a:r>
          </a:p>
          <a:p>
            <a:r>
              <a:t>5. Take action</a:t>
            </a:r>
          </a:p>
          <a:p>
            <a:r>
              <a:t>6. Did we get there?</a:t>
            </a:r>
          </a:p>
          <a:p>
            <a:r>
              <a:t>7. How do we keep momentum?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products and services</a:t>
            </a:r>
          </a:p>
          <a:p>
            <a:r>
              <a:rPr dirty="0"/>
              <a:t>Improve management practices</a:t>
            </a:r>
          </a:p>
          <a:p>
            <a:r>
              <a:rPr dirty="0"/>
              <a:t>Improve the continual improvement practice itself</a:t>
            </a:r>
            <a:endParaRPr lang="en-IN" dirty="0"/>
          </a:p>
          <a:p>
            <a:r>
              <a:rPr lang="en-IN" dirty="0"/>
              <a:t>Improvement is everyone’s responsibility.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Toyota Kata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Scientific thinking model for improvement</a:t>
            </a:r>
          </a:p>
          <a:p>
            <a:r>
              <a:t>Step-by-step experimentation</a:t>
            </a:r>
          </a:p>
          <a:p>
            <a:r>
              <a:t>Practice and coaching to build habits</a:t>
            </a:r>
          </a:p>
          <a:p>
            <a:r>
              <a:t>Reduces wrong assumptions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Toyota Kata – 5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we trying to achieve?</a:t>
            </a:r>
          </a:p>
          <a:p>
            <a:r>
              <a:t>Where are we now?</a:t>
            </a:r>
          </a:p>
          <a:p>
            <a:r>
              <a:t>What obstacle is in the way?</a:t>
            </a:r>
          </a:p>
          <a:p>
            <a:r>
              <a:t>What is our next step?</a:t>
            </a:r>
          </a:p>
          <a:p>
            <a:r>
              <a:t>When will we review what we learned?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Toyota Kata – 4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direction</a:t>
            </a:r>
          </a:p>
          <a:p>
            <a:r>
              <a:t>Grasp current condition</a:t>
            </a:r>
          </a:p>
          <a:p>
            <a:r>
              <a:t>Set next target condition</a:t>
            </a:r>
          </a:p>
          <a:p>
            <a:r>
              <a:t>Experiment toward target condition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31E9EF8-B8D6-34CD-227C-62E2E6658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39" y="541867"/>
            <a:ext cx="7537322" cy="49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497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OODA Loop?">
            <a:extLst>
              <a:ext uri="{FF2B5EF4-FFF2-40B4-BE49-F238E27FC236}">
                <a16:creationId xmlns:a16="http://schemas.microsoft.com/office/drawing/2014/main" id="{532C4A8B-DC81-D9A1-9871-19D9D7295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33" y="327998"/>
            <a:ext cx="5901267" cy="588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1127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OODA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 – Collect information</a:t>
            </a:r>
          </a:p>
          <a:p>
            <a:r>
              <a:t>Orient – Analyze and interpret</a:t>
            </a:r>
          </a:p>
          <a:p>
            <a:r>
              <a:t>Decide – Choose action</a:t>
            </a:r>
          </a:p>
          <a:p>
            <a:r>
              <a:t>Act – Execute quickly</a:t>
            </a:r>
          </a:p>
          <a:p>
            <a:r>
              <a:t>Repeat continuously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OODA is Important in HVIT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r>
              <a:rPr dirty="0"/>
              <a:t>Faster than traditional PDCA</a:t>
            </a:r>
            <a:endParaRPr lang="en-IN" dirty="0"/>
          </a:p>
          <a:p>
            <a:r>
              <a:rPr lang="en-US" dirty="0"/>
              <a:t>Originally used in military operations.</a:t>
            </a:r>
          </a:p>
          <a:p>
            <a:r>
              <a:rPr dirty="0"/>
              <a:t>Useful in cybersecurity and fast industries</a:t>
            </a:r>
          </a:p>
          <a:p>
            <a:r>
              <a:rPr dirty="0"/>
              <a:t>Supports agility and rapid response</a:t>
            </a:r>
          </a:p>
          <a:p>
            <a:r>
              <a:rPr dirty="0"/>
              <a:t>Orientation influenced by experience and culture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1EE559-B17A-0130-B1FC-8CDAAA66D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750413"/>
              </p:ext>
            </p:extLst>
          </p:nvPr>
        </p:nvGraphicFramePr>
        <p:xfrm>
          <a:off x="651934" y="2965714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34352229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541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258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ITIL Continual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0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Toyota Kata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Scientific habit-based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88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OODA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Rapid adaptive decision-making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619468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7210CFB0-D496-5E23-9E38-39D76222E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1597496"/>
            <a:ext cx="602826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🔷 Comparison: Toyota Kata vs OODA vs ITIL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7433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QUICK REVISION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HVIT = Fast, adaptive, customer-focused IT</a:t>
            </a:r>
          </a:p>
          <a:p>
            <a:r>
              <a:t>3.1 Behaviour Patterns – 5 key mindsets</a:t>
            </a:r>
          </a:p>
          <a:p>
            <a:r>
              <a:t>3.2 Purpose – Ethics + Design Thinking</a:t>
            </a:r>
          </a:p>
          <a:p>
            <a:r>
              <a:t>3.2 People – Agility, Safety, Stress control</a:t>
            </a:r>
          </a:p>
          <a:p>
            <a:r>
              <a:t>3.2 Progress – Complexity, Lean, Improvement models</a:t>
            </a:r>
          </a:p>
          <a:p>
            <a:r>
              <a:t>Improvement = Iterative, Experimental, Scientific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1656</Words>
  <Application>Microsoft Office PowerPoint</Application>
  <PresentationFormat>On-screen Show (4:3)</PresentationFormat>
  <Paragraphs>267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High-Velocity IT (HVIT) &amp; Digital Organizations</vt:lpstr>
      <vt:lpstr>What is HVIT?</vt:lpstr>
      <vt:lpstr>Importance in ITIL 4</vt:lpstr>
      <vt:lpstr>PowerPoint Presentation</vt:lpstr>
      <vt:lpstr>Digital Technology vs Digital Organization</vt:lpstr>
      <vt:lpstr>PowerPoint Presentation</vt:lpstr>
      <vt:lpstr>PowerPoint Presentation</vt:lpstr>
      <vt:lpstr>Digital Transformation</vt:lpstr>
      <vt:lpstr>PowerPoint Presentation</vt:lpstr>
      <vt:lpstr>HVIT Objectives</vt:lpstr>
      <vt:lpstr>PowerPoint Presentation</vt:lpstr>
      <vt:lpstr>HVIT Key Characteristics</vt:lpstr>
      <vt:lpstr>PowerPoint Presentation</vt:lpstr>
      <vt:lpstr>Lean &amp; Agile Explained</vt:lpstr>
      <vt:lpstr>Resilient &amp; Continuous</vt:lpstr>
      <vt:lpstr>Co-creation &amp; Value</vt:lpstr>
      <vt:lpstr>Digital Products &amp; Lifecycles</vt:lpstr>
      <vt:lpstr>Explore 🔍</vt:lpstr>
      <vt:lpstr>Engage 🤝</vt:lpstr>
      <vt:lpstr>Onboard 🚀</vt:lpstr>
      <vt:lpstr>Co-create 🛠️</vt:lpstr>
      <vt:lpstr>Realize 💡</vt:lpstr>
      <vt:lpstr>Offboard 🛑</vt:lpstr>
      <vt:lpstr>Retired 🗑️</vt:lpstr>
      <vt:lpstr>PowerPoint Presentation</vt:lpstr>
      <vt:lpstr>Summary</vt:lpstr>
      <vt:lpstr>What is Culture in HVIT?</vt:lpstr>
      <vt:lpstr>Culture</vt:lpstr>
      <vt:lpstr>3.1 Five Key Behaviour Patterns</vt:lpstr>
      <vt:lpstr>Accept Ambiguity and Uncertainty</vt:lpstr>
      <vt:lpstr>Trust and Be Trusted</vt:lpstr>
      <vt:lpstr>Continually Raise the Bar</vt:lpstr>
      <vt:lpstr>Help Get Customers’ Jobs Done</vt:lpstr>
      <vt:lpstr>Commit to Continual Learning</vt:lpstr>
      <vt:lpstr>3.2.1 Purpose</vt:lpstr>
      <vt:lpstr>Ethics in HVIT</vt:lpstr>
      <vt:lpstr>Ethics Subtopics</vt:lpstr>
      <vt:lpstr>Design Thinking</vt:lpstr>
      <vt:lpstr>Design Thinking Steps</vt:lpstr>
      <vt:lpstr>3.2.2 People</vt:lpstr>
      <vt:lpstr>Reconstructing for Service Agility</vt:lpstr>
      <vt:lpstr>Safety Culture</vt:lpstr>
      <vt:lpstr>Stress Prevention</vt:lpstr>
      <vt:lpstr>3.2.3 Progress</vt:lpstr>
      <vt:lpstr>Working in Complex Environments</vt:lpstr>
      <vt:lpstr>Lean Culture</vt:lpstr>
      <vt:lpstr>Cynefin Framework Domains</vt:lpstr>
      <vt:lpstr>PowerPoint Presentation</vt:lpstr>
      <vt:lpstr>ITIL Continual Improvement Model</vt:lpstr>
      <vt:lpstr>7 Steps of Continual Improvement</vt:lpstr>
      <vt:lpstr>Improvement Domains</vt:lpstr>
      <vt:lpstr>Toyota Kata</vt:lpstr>
      <vt:lpstr>Toyota Kata – 5 Questions</vt:lpstr>
      <vt:lpstr>Toyota Kata – 4 Steps</vt:lpstr>
      <vt:lpstr>PowerPoint Presentation</vt:lpstr>
      <vt:lpstr>PowerPoint Presentation</vt:lpstr>
      <vt:lpstr>OODA Loop</vt:lpstr>
      <vt:lpstr>Why OODA is Important in HVIT</vt:lpstr>
      <vt:lpstr>PowerPoint Presentation</vt:lpstr>
      <vt:lpstr>FINAL QUICK REVISION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8</cp:revision>
  <dcterms:created xsi:type="dcterms:W3CDTF">2013-01-27T09:14:16Z</dcterms:created>
  <dcterms:modified xsi:type="dcterms:W3CDTF">2026-02-24T19:06:43Z</dcterms:modified>
  <cp:category/>
</cp:coreProperties>
</file>