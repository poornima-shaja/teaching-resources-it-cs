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57" r:id="rId4"/>
    <p:sldId id="258" r:id="rId5"/>
    <p:sldId id="270" r:id="rId6"/>
    <p:sldId id="275" r:id="rId7"/>
    <p:sldId id="277" r:id="rId8"/>
    <p:sldId id="278" r:id="rId9"/>
    <p:sldId id="272" r:id="rId10"/>
    <p:sldId id="279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81805-A0FC-CA3B-AF19-850D52D3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C1768-ACEB-188B-FBA7-456184A93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D8B6C-8B07-130A-AC63-716A2509E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BB98-FC99-AEE9-C7D7-945F89342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4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SYALLABUS/6.6-R-T.Y.B.Sc-I.T-Sem-V-VI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wgnpfMK8vDk?si=jnXhi7WR-oWPV_2Z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1600" y="945215"/>
            <a:ext cx="8546465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   </a:t>
            </a:r>
            <a:r>
              <a:rPr lang="en-IN" sz="3200" b="0" spc="15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b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5438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99190" cy="6123940"/>
            <a:chOff x="424984" y="432816"/>
            <a:chExt cx="11299190" cy="6123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12694" y="989202"/>
            <a:ext cx="750290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204" dirty="0">
                <a:solidFill>
                  <a:srgbClr val="464A56"/>
                </a:solidFill>
                <a:latin typeface="Cambria"/>
                <a:cs typeface="Cambria"/>
              </a:rPr>
              <a:t>Contents</a:t>
            </a:r>
            <a:r>
              <a:rPr sz="4400" b="0" spc="225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of</a:t>
            </a:r>
            <a:r>
              <a:rPr sz="4400" b="0" spc="254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spc="160" dirty="0">
                <a:solidFill>
                  <a:srgbClr val="464A56"/>
                </a:solidFill>
                <a:latin typeface="Cambria"/>
                <a:cs typeface="Cambria"/>
              </a:rPr>
              <a:t>the</a:t>
            </a:r>
            <a:r>
              <a:rPr sz="4400" b="0" spc="254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spc="150" dirty="0">
                <a:solidFill>
                  <a:srgbClr val="464A56"/>
                </a:solidFill>
                <a:latin typeface="Cambria"/>
                <a:cs typeface="Cambria"/>
              </a:rPr>
              <a:t>Course:</a:t>
            </a:r>
            <a:endParaRPr sz="4400" dirty="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27350" y="2436622"/>
            <a:ext cx="8783320" cy="3655060"/>
            <a:chOff x="2927350" y="2436622"/>
            <a:chExt cx="8783320" cy="3655060"/>
          </a:xfrm>
        </p:grpSpPr>
        <p:sp>
          <p:nvSpPr>
            <p:cNvPr id="8" name="object 8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3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7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3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7"/>
                  </a:lnTo>
                  <a:lnTo>
                    <a:pt x="8763396" y="56149"/>
                  </a:lnTo>
                  <a:lnTo>
                    <a:pt x="8743696" y="26923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40"/>
                  </a:lnTo>
                  <a:lnTo>
                    <a:pt x="7223" y="495538"/>
                  </a:lnTo>
                  <a:lnTo>
                    <a:pt x="26924" y="524764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40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40"/>
                  </a:lnTo>
                  <a:lnTo>
                    <a:pt x="7223" y="495538"/>
                  </a:lnTo>
                  <a:lnTo>
                    <a:pt x="26924" y="524764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3"/>
                  </a:lnTo>
                  <a:lnTo>
                    <a:pt x="8763396" y="495538"/>
                  </a:lnTo>
                  <a:lnTo>
                    <a:pt x="8770620" y="459740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3"/>
                  </a:lnTo>
                  <a:lnTo>
                    <a:pt x="7223" y="56149"/>
                  </a:lnTo>
                  <a:lnTo>
                    <a:pt x="0" y="91947"/>
                  </a:lnTo>
                  <a:lnTo>
                    <a:pt x="0" y="459739"/>
                  </a:lnTo>
                  <a:lnTo>
                    <a:pt x="7223" y="495532"/>
                  </a:lnTo>
                  <a:lnTo>
                    <a:pt x="26924" y="524759"/>
                  </a:lnTo>
                  <a:lnTo>
                    <a:pt x="56149" y="544463"/>
                  </a:lnTo>
                  <a:lnTo>
                    <a:pt x="91948" y="551687"/>
                  </a:lnTo>
                  <a:lnTo>
                    <a:pt x="8678672" y="551687"/>
                  </a:lnTo>
                  <a:lnTo>
                    <a:pt x="8714470" y="544463"/>
                  </a:lnTo>
                  <a:lnTo>
                    <a:pt x="8743696" y="524759"/>
                  </a:lnTo>
                  <a:lnTo>
                    <a:pt x="8763396" y="495532"/>
                  </a:lnTo>
                  <a:lnTo>
                    <a:pt x="8770620" y="459739"/>
                  </a:lnTo>
                  <a:lnTo>
                    <a:pt x="8770620" y="91947"/>
                  </a:lnTo>
                  <a:lnTo>
                    <a:pt x="8763396" y="56149"/>
                  </a:lnTo>
                  <a:lnTo>
                    <a:pt x="8743696" y="26923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3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2"/>
                  </a:lnTo>
                  <a:lnTo>
                    <a:pt x="8743696" y="524759"/>
                  </a:lnTo>
                  <a:lnTo>
                    <a:pt x="8714470" y="544463"/>
                  </a:lnTo>
                  <a:lnTo>
                    <a:pt x="8678672" y="551687"/>
                  </a:lnTo>
                  <a:lnTo>
                    <a:pt x="91948" y="551687"/>
                  </a:lnTo>
                  <a:lnTo>
                    <a:pt x="56149" y="544463"/>
                  </a:lnTo>
                  <a:lnTo>
                    <a:pt x="26924" y="524759"/>
                  </a:lnTo>
                  <a:lnTo>
                    <a:pt x="7223" y="495532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35934" y="2496438"/>
            <a:ext cx="7936865" cy="36254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I: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300" spc="-3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300" spc="-3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II: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300" spc="-30" dirty="0">
                <a:solidFill>
                  <a:srgbClr val="FFFFFF"/>
                </a:solidFill>
                <a:latin typeface="Calibri"/>
                <a:cs typeface="Calibri"/>
              </a:rPr>
              <a:t>ITIL management practices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300" spc="-3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III:</a:t>
            </a:r>
            <a:r>
              <a:rPr lang="en-IN" sz="2300" dirty="0">
                <a:solidFill>
                  <a:srgbClr val="FFFFFF"/>
                </a:solidFill>
                <a:latin typeface="Calibri"/>
                <a:cs typeface="Calibri"/>
              </a:rPr>
              <a:t> Drive Stakeholder Value</a:t>
            </a:r>
            <a:endParaRPr sz="2300" dirty="0">
              <a:latin typeface="Calibri"/>
              <a:cs typeface="Calibri"/>
            </a:endParaRPr>
          </a:p>
          <a:p>
            <a:pPr marL="12700" marR="2556510">
              <a:lnSpc>
                <a:spcPct val="176300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IV:</a:t>
            </a:r>
            <a:r>
              <a:rPr sz="2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300" dirty="0">
                <a:solidFill>
                  <a:srgbClr val="FFFFFF"/>
                </a:solidFill>
                <a:latin typeface="Calibri"/>
                <a:cs typeface="Calibri"/>
              </a:rPr>
              <a:t>Create, Delivery and Support </a:t>
            </a:r>
          </a:p>
          <a:p>
            <a:pPr marL="12700" marR="2556510">
              <a:lnSpc>
                <a:spcPct val="176300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V: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300" dirty="0">
                <a:solidFill>
                  <a:srgbClr val="FFFFFF"/>
                </a:solidFill>
                <a:latin typeface="Calibri"/>
                <a:cs typeface="Calibri"/>
              </a:rPr>
              <a:t>High-Velocity IT</a:t>
            </a:r>
          </a:p>
          <a:p>
            <a:pPr marL="12700" marR="2556510">
              <a:lnSpc>
                <a:spcPct val="176300"/>
              </a:lnSpc>
            </a:pPr>
            <a:r>
              <a:rPr sz="2300" u="sng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Syllabus</a:t>
            </a:r>
            <a:r>
              <a:rPr sz="2300" u="sng" spc="-60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 </a:t>
            </a:r>
            <a:r>
              <a:rPr sz="2300" u="sng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of</a:t>
            </a:r>
            <a:r>
              <a:rPr sz="2300" u="sng" spc="-40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 </a:t>
            </a:r>
            <a:r>
              <a:rPr sz="2300" u="sng" spc="-25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GIS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23" name="object 32" descr="$PPTXTitle">
            <a:extLst>
              <a:ext uri="{FF2B5EF4-FFF2-40B4-BE49-F238E27FC236}">
                <a16:creationId xmlns:a16="http://schemas.microsoft.com/office/drawing/2014/main" id="{0F8C547D-9A03-C8F8-20EF-FE3A4C1A97B8}"/>
              </a:ext>
            </a:extLst>
          </p:cNvPr>
          <p:cNvSpPr txBox="1">
            <a:spLocks/>
          </p:cNvSpPr>
          <p:nvPr/>
        </p:nvSpPr>
        <p:spPr>
          <a:xfrm>
            <a:off x="1981961" y="589229"/>
            <a:ext cx="337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endParaRPr lang="en-IN" sz="4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84167" y="2362200"/>
            <a:ext cx="9714738" cy="337143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IT service management in the modern world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About ITIL 4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The structure and benefits of the ITIL 4 framework. </a:t>
            </a:r>
            <a:endParaRPr sz="3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  <a:hlinkClick r:id="rId3"/>
              </a:rPr>
              <a:t>IT Service Management 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in the Modern World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IT Service Management (ITSM) is </a:t>
            </a:r>
            <a:r>
              <a:rPr lang="en-US" sz="2800" b="1" dirty="0"/>
              <a:t>how organizations manage their IT services</a:t>
            </a:r>
            <a:r>
              <a:rPr lang="en-US" sz="2800" dirty="0"/>
              <a:t> to make sure they work well for users.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/>
              <a:t>ITSM makes sure these services </a:t>
            </a:r>
            <a:r>
              <a:rPr lang="en-US" sz="2800" b="1" dirty="0"/>
              <a:t>deliver value, work reliably, and meet business goals</a:t>
            </a:r>
            <a:r>
              <a:rPr lang="en-US" sz="2800" dirty="0"/>
              <a:t>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189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  <a:t>About ITIL 4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ITIL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Technology Infrastructure Library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or guide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tells organizations how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IT services effectively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/>
              <a:t>Not a software, not a tool — it’s </a:t>
            </a:r>
            <a:r>
              <a:rPr lang="en-US" sz="2800" b="1" dirty="0"/>
              <a:t>best practices</a:t>
            </a:r>
            <a:r>
              <a:rPr lang="en-US" sz="2800" dirty="0"/>
              <a:t> and </a:t>
            </a:r>
            <a:r>
              <a:rPr lang="en-US" sz="2800" b="1" dirty="0"/>
              <a:t>guidelines</a:t>
            </a:r>
            <a:r>
              <a:rPr lang="en-US" sz="2800" dirty="0"/>
              <a:t>.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Structure and Benefits of ITIL 4</a:t>
            </a:r>
            <a:b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       Framework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301044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It ensures that </a:t>
            </a:r>
            <a:r>
              <a:rPr lang="en-US" b="1" dirty="0"/>
              <a:t>all activities in an organization work together</a:t>
            </a:r>
            <a:r>
              <a:rPr lang="en-US" dirty="0"/>
              <a:t> to deliver value to customers through IT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/>
          </a:p>
          <a:p>
            <a:r>
              <a:rPr lang="en-US" sz="2800" b="1" dirty="0"/>
              <a:t>Two Main Components of the ITIL 4 Framework:</a:t>
            </a:r>
          </a:p>
          <a:p>
            <a:r>
              <a:rPr lang="en-US" sz="2800" b="1" dirty="0"/>
              <a:t>1. ITIL Service Value System (SVS)</a:t>
            </a:r>
            <a:endParaRPr lang="en-US" sz="2800" dirty="0"/>
          </a:p>
          <a:p>
            <a:r>
              <a:rPr lang="en-US" sz="2800" b="1" dirty="0"/>
              <a:t>2. Four Dimensions Model</a:t>
            </a: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A9415D-741E-8C7B-4B96-DAF09CA5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0BD93E-DA6D-6BCD-7110-E4477912E8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4252D83-0A34-188D-3BB5-E12CC1B76F8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A48A78-824A-A1C7-3B41-F20D8A375C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C2F791C-74B9-0BEF-9453-E9EB52D7FA3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D363A48-71C5-11FF-F1AC-2D4400C31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The Core Components of the ITIL</a:t>
            </a:r>
            <a:b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                                SVS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B7930B4-742F-C9CD-6E09-BD11B9A1BC8E}"/>
              </a:ext>
            </a:extLst>
          </p:cNvPr>
          <p:cNvSpPr txBox="1"/>
          <p:nvPr/>
        </p:nvSpPr>
        <p:spPr>
          <a:xfrm>
            <a:off x="2934462" y="2286000"/>
            <a:ext cx="8448040" cy="45589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It ensures that </a:t>
            </a:r>
            <a:r>
              <a:rPr lang="en-US" b="1" dirty="0"/>
              <a:t>all activities in an organization work together</a:t>
            </a:r>
            <a:r>
              <a:rPr lang="en-US" dirty="0"/>
              <a:t> to deliver value to</a:t>
            </a:r>
            <a:endParaRPr lang="en-US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2AA1A2-9205-D1FC-AB4F-23CCE044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461" y="1927770"/>
            <a:ext cx="8770620" cy="493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D9BAB3-6C69-904F-F4AF-328B5856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8ABEB1-7501-52B7-8862-ED0D2EFCC0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5B0F702-9A7E-5105-40B2-79F9FC2A61A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80167E5-27B2-2320-5850-C9D265AEC8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956C670-54DC-263F-4F25-452D3107BD9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39B85E4-4301-1725-C153-2B48B6B12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The Four Dimensions Model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623F9E-CB8F-87C3-91A0-7FEE0E45D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352510"/>
              </p:ext>
            </p:extLst>
          </p:nvPr>
        </p:nvGraphicFramePr>
        <p:xfrm>
          <a:off x="2325342" y="2117129"/>
          <a:ext cx="9441674" cy="4151641"/>
        </p:xfrm>
        <a:graphic>
          <a:graphicData uri="http://schemas.openxmlformats.org/drawingml/2006/table">
            <a:tbl>
              <a:tblPr/>
              <a:tblGrid>
                <a:gridCol w="4720837">
                  <a:extLst>
                    <a:ext uri="{9D8B030D-6E8A-4147-A177-3AD203B41FA5}">
                      <a16:colId xmlns:a16="http://schemas.microsoft.com/office/drawing/2014/main" val="3633096324"/>
                    </a:ext>
                  </a:extLst>
                </a:gridCol>
                <a:gridCol w="4720837">
                  <a:extLst>
                    <a:ext uri="{9D8B030D-6E8A-4147-A177-3AD203B41FA5}">
                      <a16:colId xmlns:a16="http://schemas.microsoft.com/office/drawing/2014/main" val="4277459992"/>
                    </a:ext>
                  </a:extLst>
                </a:gridCol>
              </a:tblGrid>
              <a:tr h="47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Meaning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0003"/>
                  </a:ext>
                </a:extLst>
              </a:tr>
              <a:tr h="1187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1. Organizations and People</a:t>
                      </a:r>
                      <a:endParaRPr lang="en-IN" sz="20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Roles, responsibilities, skills, and culture of the people involved in service management.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555604"/>
                  </a:ext>
                </a:extLst>
              </a:tr>
              <a:tr h="83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2. Information and Technology</a:t>
                      </a:r>
                      <a:endParaRPr lang="en-IN" sz="20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The data, tools, and technology needed to deliver and manage services.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825094"/>
                  </a:ext>
                </a:extLst>
              </a:tr>
              <a:tr h="83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3. Partners and Suppliers</a:t>
                      </a:r>
                      <a:endParaRPr lang="en-IN" sz="20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 external organizations, vendors, or suppliers that help deliver services.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65987"/>
                  </a:ext>
                </a:extLst>
              </a:tr>
              <a:tr h="83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4. Value Streams and Processes</a:t>
                      </a:r>
                      <a:endParaRPr lang="en-US" sz="2000"/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The workflows and steps needed to deliver value efficiently.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00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47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7BAA12-1698-8F37-3EA5-54E27833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E9F218-91BB-308F-AFF3-DD8C4E9516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87F6948-DD78-FEEF-1F8E-A769ED7919D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D2DD62-7FBF-A398-024B-84A3A04575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C66173-CE9C-1D3D-B810-141BAFE611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12D522E-3E86-C07F-27C0-77FB6F4A3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Examples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583F6E6-A461-C746-CDB0-39F3C603C6DA}"/>
              </a:ext>
            </a:extLst>
          </p:cNvPr>
          <p:cNvSpPr txBox="1"/>
          <p:nvPr/>
        </p:nvSpPr>
        <p:spPr>
          <a:xfrm>
            <a:off x="2934462" y="2286000"/>
            <a:ext cx="8724138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ITSM is like running a restaurant. The kitchen (IT) has to deliver meals (services) to customers (users) on time and tasty. ITIL 4 is the recipe book that helps the kitchen work efficiently, make customers happy, and improve continuously.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35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8E6AE9-9789-2B03-5F4C-02BF9B7E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F57D771-D38A-01E0-526F-4E94F92D842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B01DEC5-CBFF-9952-66FE-ACE53991EB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23F554F-7FDF-6B4F-9869-8FDE92DD4ED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70226DFB-7A8A-DF00-C6A8-60BD727F3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2DFA8D-B80A-8663-50D1-B09C919B8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341372"/>
              </p:ext>
            </p:extLst>
          </p:nvPr>
        </p:nvGraphicFramePr>
        <p:xfrm>
          <a:off x="2819400" y="1852345"/>
          <a:ext cx="8657366" cy="4860316"/>
        </p:xfrm>
        <a:graphic>
          <a:graphicData uri="http://schemas.openxmlformats.org/drawingml/2006/table">
            <a:tbl>
              <a:tblPr/>
              <a:tblGrid>
                <a:gridCol w="4328683">
                  <a:extLst>
                    <a:ext uri="{9D8B030D-6E8A-4147-A177-3AD203B41FA5}">
                      <a16:colId xmlns:a16="http://schemas.microsoft.com/office/drawing/2014/main" val="3403855445"/>
                    </a:ext>
                  </a:extLst>
                </a:gridCol>
                <a:gridCol w="4328683">
                  <a:extLst>
                    <a:ext uri="{9D8B030D-6E8A-4147-A177-3AD203B41FA5}">
                      <a16:colId xmlns:a16="http://schemas.microsoft.com/office/drawing/2014/main" val="2124495789"/>
                    </a:ext>
                  </a:extLst>
                </a:gridCol>
              </a:tblGrid>
              <a:tr h="290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Column A – Terms</a:t>
                      </a:r>
                      <a:endParaRPr lang="en-IN" sz="1800"/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Column B – Meaning</a:t>
                      </a:r>
                      <a:endParaRPr lang="en-IN" sz="1800"/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932255"/>
                  </a:ext>
                </a:extLst>
              </a:tr>
              <a:tr h="50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 IT Service Management (ITSM)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a) A structured way to manage IT services to deliver value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85026"/>
                  </a:ext>
                </a:extLst>
              </a:tr>
              <a:tr h="290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2. ITIL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b) A framework of best practices for ITSM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20878"/>
                  </a:ext>
                </a:extLst>
              </a:tr>
              <a:tr h="290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3. Service Provider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c) Organization that offers IT services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888356"/>
                  </a:ext>
                </a:extLst>
              </a:tr>
              <a:tr h="290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4. Service Consumer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d) Person or group who uses the service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32526"/>
                  </a:ext>
                </a:extLst>
              </a:tr>
              <a:tr h="290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5. Value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e) The benefit received from using a service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180452"/>
                  </a:ext>
                </a:extLst>
              </a:tr>
              <a:tr h="50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6. Co-creation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f) When provider and consumer work together to create value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22860"/>
                  </a:ext>
                </a:extLst>
              </a:tr>
              <a:tr h="50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7. Service Relationship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g) The cooperation between provider and consumer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54041"/>
                  </a:ext>
                </a:extLst>
              </a:tr>
              <a:tr h="290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8. Four Dimensions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h) People, technology, partners, processes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754771"/>
                  </a:ext>
                </a:extLst>
              </a:tr>
              <a:tr h="50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9. Service Value System (SVS)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i) Model showing how all parts of ITIL work together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670958"/>
                  </a:ext>
                </a:extLst>
              </a:tr>
              <a:tr h="508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10. Guiding Principles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j) General recommendations for all organizations</a:t>
                      </a:r>
                    </a:p>
                  </a:txBody>
                  <a:tcPr marL="42836" marR="42836" marT="21418" marB="21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742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615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549</Words>
  <Application>Microsoft Office PowerPoint</Application>
  <PresentationFormat>Widescreen</PresentationFormat>
  <Paragraphs>77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</vt:lpstr>
      <vt:lpstr>Segoe UI</vt:lpstr>
      <vt:lpstr>Office Theme</vt:lpstr>
      <vt:lpstr>IT Infrastructure                       Management                          Introduction                        TY B.Sc. (IT)</vt:lpstr>
      <vt:lpstr>Contents of the Course:</vt:lpstr>
      <vt:lpstr>3 Topics:</vt:lpstr>
      <vt:lpstr>4 IT Service Management in the Modern World</vt:lpstr>
      <vt:lpstr>5 About ITIL 4</vt:lpstr>
      <vt:lpstr>6 Structure and Benefits of ITIL 4        Framework</vt:lpstr>
      <vt:lpstr>7 The Core Components of the ITIL                                 SVS</vt:lpstr>
      <vt:lpstr>8 The Four Dimensions Model</vt:lpstr>
      <vt:lpstr>9 Examples</vt:lpstr>
      <vt:lpstr>10 Activity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13</cp:revision>
  <dcterms:created xsi:type="dcterms:W3CDTF">2025-11-04T17:06:10Z</dcterms:created>
  <dcterms:modified xsi:type="dcterms:W3CDTF">2025-11-09T20:38:20Z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