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80" r:id="rId5"/>
    <p:sldId id="270" r:id="rId6"/>
    <p:sldId id="289" r:id="rId7"/>
    <p:sldId id="275" r:id="rId8"/>
    <p:sldId id="292" r:id="rId9"/>
    <p:sldId id="290" r:id="rId10"/>
    <p:sldId id="281" r:id="rId11"/>
    <p:sldId id="291" r:id="rId12"/>
    <p:sldId id="282" r:id="rId13"/>
    <p:sldId id="287" r:id="rId14"/>
    <p:sldId id="284" r:id="rId15"/>
    <p:sldId id="288" r:id="rId16"/>
    <p:sldId id="285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269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>
      <p:cViewPr varScale="1">
        <p:scale>
          <a:sx n="90" d="100"/>
          <a:sy n="90" d="100"/>
        </p:scale>
        <p:origin x="31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089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730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00961" y="304286"/>
            <a:ext cx="10363200" cy="2821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IT Infrastructure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Management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</a:t>
            </a:r>
            <a:r>
              <a:rPr lang="en-IN" sz="2400" b="0" spc="150" dirty="0">
                <a:solidFill>
                  <a:srgbClr val="FFFFFF"/>
                </a:solidFill>
                <a:latin typeface="Cambria"/>
                <a:cs typeface="Cambria"/>
              </a:rPr>
              <a:t>Chapter 7:</a:t>
            </a:r>
            <a:r>
              <a:rPr lang="en-US" sz="2400" b="0" spc="150" dirty="0">
                <a:solidFill>
                  <a:srgbClr val="FFFFFF"/>
                </a:solidFill>
                <a:latin typeface="Cambria"/>
                <a:cs typeface="Cambria"/>
              </a:rPr>
              <a:t>  Create, Delivery and Support (CDS)</a:t>
            </a:r>
            <a:br>
              <a:rPr lang="en-US" sz="2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US" sz="2400" b="0" spc="150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    </a:t>
            </a:r>
            <a:r>
              <a:rPr lang="en-IN" sz="3200" b="0" spc="210" dirty="0">
                <a:solidFill>
                  <a:srgbClr val="FFFFFF"/>
                </a:solidFill>
                <a:latin typeface="Cambria"/>
                <a:cs typeface="Cambria"/>
              </a:rPr>
              <a:t>TY B.Sc. (IT)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581400" y="1809249"/>
            <a:ext cx="8185616" cy="39603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 marR="3267075" algn="l">
              <a:lnSpc>
                <a:spcPts val="4900"/>
              </a:lnSpc>
              <a:spcBef>
                <a:spcPts val="375"/>
              </a:spcBef>
            </a:pPr>
            <a:r>
              <a:rPr lang="en-US" sz="2000" dirty="0"/>
              <a:t>Service value system key concepts and challenges, Using a shift-left approach, </a:t>
            </a:r>
          </a:p>
          <a:p>
            <a:pPr marL="12700" marR="3267075" algn="l">
              <a:lnSpc>
                <a:spcPts val="4900"/>
              </a:lnSpc>
              <a:spcBef>
                <a:spcPts val="375"/>
              </a:spcBef>
            </a:pPr>
            <a:r>
              <a:rPr lang="en-US" sz="2000" dirty="0"/>
              <a:t>Plan and manage resources in the service value system, </a:t>
            </a:r>
          </a:p>
          <a:p>
            <a:pPr marL="12700" marR="3267075" algn="l">
              <a:lnSpc>
                <a:spcPts val="4900"/>
              </a:lnSpc>
              <a:spcBef>
                <a:spcPts val="375"/>
              </a:spcBef>
            </a:pPr>
            <a:r>
              <a:rPr lang="en-US" sz="2000" dirty="0"/>
              <a:t>The use and value of technology across the service value system</a:t>
            </a:r>
            <a:endParaRPr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Topics</a:t>
            </a:r>
            <a:r>
              <a:rPr sz="4400" b="0" spc="140" dirty="0">
                <a:solidFill>
                  <a:schemeClr val="tx1"/>
                </a:solidFill>
                <a:latin typeface="Cambria"/>
                <a:cs typeface="Cambria"/>
              </a:rPr>
              <a:t>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Introduction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Service Value System explains how ITIL ensures value creation through services. It shows how all components work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5 Components of SVS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Guiding Principles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Value Chain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Continual Improvement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403CB2-3084-CAF5-43A3-4EFD56A34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664230"/>
            <a:ext cx="5257800" cy="328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32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CBB987-9B11-023D-D33C-8CBAF9B1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F9DFEF-2D54-8B63-A410-80F619289F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DC9E1E0-028B-960F-284B-6D068DB55D6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AF316CF-C62B-D60B-DB2B-3BC8287BA5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460D41-CAE6-6660-E033-D97CF68F494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AB92D4A-F154-EA20-4B39-BCB8090D4E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CDS Connection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8A3DE4E-E2D7-7B9F-0998-091805673814}"/>
              </a:ext>
            </a:extLst>
          </p:cNvPr>
          <p:cNvSpPr txBox="1"/>
          <p:nvPr/>
        </p:nvSpPr>
        <p:spPr>
          <a:xfrm>
            <a:off x="2934462" y="2286000"/>
            <a:ext cx="8448040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&amp; Transition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Obtain/Build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 &amp; Support</a:t>
            </a:r>
          </a:p>
        </p:txBody>
      </p:sp>
    </p:spTree>
    <p:extLst>
      <p:ext uri="{BB962C8B-B14F-4D97-AF65-F5344CB8AC3E}">
        <p14:creationId xmlns:p14="http://schemas.microsoft.com/office/powerpoint/2010/main" val="2117502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C6C7D9-09EF-89EA-8932-BD73EA0D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3CE5D3-AD6D-A894-044C-B497D17965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B4D5CB6-A9DA-D14E-641B-75CE37E8158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A757F5E-D0B6-83A0-B72D-588E5EE75C1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56690DD-775C-F2DD-2334-BF9A230B18F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05D9F5B-B07B-14B6-6B70-51A097F84E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Key Challenges in Create, Deliver &amp; Support (CDS)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B278640-8260-893F-E121-FC08C78A04FA}"/>
              </a:ext>
            </a:extLst>
          </p:cNvPr>
          <p:cNvSpPr txBox="1"/>
          <p:nvPr/>
        </p:nvSpPr>
        <p:spPr>
          <a:xfrm>
            <a:off x="2934462" y="2286000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3200" dirty="0"/>
              <a:t>Organizational Silos</a:t>
            </a:r>
          </a:p>
          <a:p>
            <a:r>
              <a:rPr lang="en-IN" sz="3200" dirty="0"/>
              <a:t>Balancing Speed vs Stability</a:t>
            </a:r>
          </a:p>
          <a:p>
            <a:r>
              <a:rPr lang="en-IN" sz="3200" dirty="0"/>
              <a:t>Resource Constraints</a:t>
            </a:r>
          </a:p>
          <a:p>
            <a:r>
              <a:rPr lang="en-IN" sz="3200" dirty="0"/>
              <a:t>Cultural Resistance</a:t>
            </a:r>
          </a:p>
          <a:p>
            <a:r>
              <a:rPr lang="en-IN" sz="3200" dirty="0"/>
              <a:t>Technology Complexity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95953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D414B9-B90A-F669-2C51-DCEAF934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79B427-02E0-3818-B528-27CC02853E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ABD643F-0508-8BE8-F4C7-E58271DCF8E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919399F-F845-83CA-BBC6-04A7381D99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B7C0A9C-8282-3253-4D01-740FAD392F3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CB3F5A9-BF5C-BC5E-2FB9-BF1459AC37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Shift-Left Approach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9EFF2F3-CCD0-8934-605B-567D98C1158F}"/>
              </a:ext>
            </a:extLst>
          </p:cNvPr>
          <p:cNvSpPr txBox="1"/>
          <p:nvPr/>
        </p:nvSpPr>
        <p:spPr>
          <a:xfrm>
            <a:off x="2934462" y="2286000"/>
            <a:ext cx="8448040" cy="288732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400" dirty="0"/>
              <a:t>Shift-Left means moving activities like testing, security, and support earlier in the service lifecycle to detect and fix issues early.</a:t>
            </a:r>
          </a:p>
        </p:txBody>
      </p:sp>
    </p:spTree>
    <p:extLst>
      <p:ext uri="{BB962C8B-B14F-4D97-AF65-F5344CB8AC3E}">
        <p14:creationId xmlns:p14="http://schemas.microsoft.com/office/powerpoint/2010/main" val="216168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hift Left Testing in Software Development – BMC Software | Blogs">
            <a:extLst>
              <a:ext uri="{FF2B5EF4-FFF2-40B4-BE49-F238E27FC236}">
                <a16:creationId xmlns:a16="http://schemas.microsoft.com/office/drawing/2014/main" id="{60E9A6BF-3BEF-F580-BCBC-43834391E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57413"/>
            <a:ext cx="97536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002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747D6E-EBFC-B3CD-2051-93A282413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1E7BE05-CE3D-6688-AC2A-80545D7D87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C48CB43-1DCF-9D75-2AAF-6BF4DF6BADE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A40DFFB-26E4-12D2-6B35-4C97DFAEE4F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7C341A7-18AD-650D-25C9-7568780A065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522CA93-B835-F1C2-D16F-5A7F9AA31D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Types of Shift-Left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0880AAA-B9D6-210C-D1C4-F46AAF466D7A}"/>
              </a:ext>
            </a:extLst>
          </p:cNvPr>
          <p:cNvSpPr txBox="1"/>
          <p:nvPr/>
        </p:nvSpPr>
        <p:spPr>
          <a:xfrm>
            <a:off x="2934462" y="2286000"/>
            <a:ext cx="8448040" cy="165622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3200" dirty="0"/>
              <a:t>Testing Shift-Left</a:t>
            </a:r>
          </a:p>
          <a:p>
            <a:r>
              <a:rPr lang="en-IN" sz="3200" dirty="0"/>
              <a:t>Security Shift-Left (</a:t>
            </a:r>
            <a:r>
              <a:rPr lang="en-IN" sz="3200" dirty="0" err="1"/>
              <a:t>DevSecOps</a:t>
            </a:r>
            <a:r>
              <a:rPr lang="en-IN" sz="3200" dirty="0"/>
              <a:t>)</a:t>
            </a:r>
          </a:p>
          <a:p>
            <a:r>
              <a:rPr lang="en-IN" sz="3200" dirty="0"/>
              <a:t>Support Shift-Left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60187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304CCF-0E86-1A4F-6366-6B04A8B87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7B1891-8659-4ABB-4D34-4E63D37F11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8361829-4804-022A-0537-EFDF10EC98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BE62608-826E-0336-3886-B8A09B2F8A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807196-54FB-CF97-36B7-51C217887DA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CB50881-1F3C-51E3-3BEA-A65ED0B8B6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Testing Shift-Left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EB26F5F-3D5F-0F48-2071-19A33554AF85}"/>
              </a:ext>
            </a:extLst>
          </p:cNvPr>
          <p:cNvSpPr txBox="1"/>
          <p:nvPr/>
        </p:nvSpPr>
        <p:spPr>
          <a:xfrm>
            <a:off x="2934462" y="2286000"/>
            <a:ext cx="8448040" cy="165622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during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integration</a:t>
            </a:r>
          </a:p>
        </p:txBody>
      </p:sp>
    </p:spTree>
    <p:extLst>
      <p:ext uri="{BB962C8B-B14F-4D97-AF65-F5344CB8AC3E}">
        <p14:creationId xmlns:p14="http://schemas.microsoft.com/office/powerpoint/2010/main" val="2318496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D9FAAD-151F-D0F8-B1AC-0F3C3771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4A49C9-6293-1044-0445-28061614D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7BBC64E-64F4-3D4B-476B-3B7EF46B08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1B06B26-6141-8EF8-BF06-66961FB40D2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83A7246-D72A-C3B6-5D0C-0EF821D6EC6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929D0EA-3D6B-421E-C555-C570B94056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Security Shift-Left (</a:t>
            </a:r>
            <a:r>
              <a:rPr lang="en-IN" sz="4400" dirty="0" err="1"/>
              <a:t>DevSecOps</a:t>
            </a:r>
            <a:r>
              <a:rPr lang="en-IN" sz="4400" dirty="0"/>
              <a:t>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5E352E6-58A7-C349-72E3-0833C5DBD0CB}"/>
              </a:ext>
            </a:extLst>
          </p:cNvPr>
          <p:cNvSpPr txBox="1"/>
          <p:nvPr/>
        </p:nvSpPr>
        <p:spPr>
          <a:xfrm>
            <a:off x="2934462" y="2286000"/>
            <a:ext cx="8448040" cy="141000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checks during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integrated into development</a:t>
            </a:r>
          </a:p>
        </p:txBody>
      </p:sp>
    </p:spTree>
    <p:extLst>
      <p:ext uri="{BB962C8B-B14F-4D97-AF65-F5344CB8AC3E}">
        <p14:creationId xmlns:p14="http://schemas.microsoft.com/office/powerpoint/2010/main" val="1129693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7A1890-3D1F-A065-3273-A299305D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241C81-5C36-7ACC-0600-53075DBEBB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0E24E25-67ED-5462-DA00-4767B59490D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C42B881-B964-3CCF-DB40-0DCE6521C8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C8608A-F19A-6F76-74A4-F7E12CB35B4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B2C12B5-C551-9D4D-8259-330DC37069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Support Shift-Left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EF04921-5C2E-3765-60A4-0BCCFDCFD787}"/>
              </a:ext>
            </a:extLst>
          </p:cNvPr>
          <p:cNvSpPr txBox="1"/>
          <p:nvPr/>
        </p:nvSpPr>
        <p:spPr>
          <a:xfrm>
            <a:off x="2934462" y="2286000"/>
            <a:ext cx="8448040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 base articles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Self-service portals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FAQs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Chatbots</a:t>
            </a:r>
          </a:p>
        </p:txBody>
      </p:sp>
    </p:spTree>
    <p:extLst>
      <p:ext uri="{BB962C8B-B14F-4D97-AF65-F5344CB8AC3E}">
        <p14:creationId xmlns:p14="http://schemas.microsoft.com/office/powerpoint/2010/main" val="3554562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629CAF-6986-7D02-E07E-1195FCE1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F55673B-70AC-F2D1-ACD7-94FC923DBE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7EDC4B0-D09E-B6D7-52F3-76B86BBC558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4346C56-97C6-C5D0-929C-987FB467607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8BB7982-C59D-6AF3-91BE-C90183C68B0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7AC9F87-A694-6444-3530-F6C3D4EDF8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lang="en-IN"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Benefits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3BF825E-9392-58B6-872F-CF51B0DBD0F3}"/>
              </a:ext>
            </a:extLst>
          </p:cNvPr>
          <p:cNvSpPr txBox="1"/>
          <p:nvPr/>
        </p:nvSpPr>
        <p:spPr>
          <a:xfrm>
            <a:off x="2934462" y="2286000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cost of fixing defects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delivery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Fewer production failures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customer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3290974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956A08-A44A-1C1B-A131-CB0FB645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BE539B-056B-F871-CCFA-0F3623FE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CB0F000-E42D-F4B5-C91C-00209DEC623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66FB6D6-88B7-B92C-FF14-8B7ACC3844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64A4EF2-B392-6F4A-9880-0FD92C09F59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1585DDA-8DB0-F52E-D8E5-9FAF3E49F2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Challenges of Shift-Left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93E063A-A6CE-65DE-028B-2EB28AB14127}"/>
              </a:ext>
            </a:extLst>
          </p:cNvPr>
          <p:cNvSpPr txBox="1"/>
          <p:nvPr/>
        </p:nvSpPr>
        <p:spPr>
          <a:xfrm>
            <a:off x="2934462" y="2286000"/>
            <a:ext cx="8448040" cy="165622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skilled teams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automation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Cultural resistance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investment</a:t>
            </a:r>
          </a:p>
        </p:txBody>
      </p:sp>
    </p:spTree>
    <p:extLst>
      <p:ext uri="{BB962C8B-B14F-4D97-AF65-F5344CB8AC3E}">
        <p14:creationId xmlns:p14="http://schemas.microsoft.com/office/powerpoint/2010/main" val="1379082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1F3908-49E1-3CF5-D5F3-7436B942A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930A48-8CA9-BC9B-98E9-AA88A4AD9E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9FF9602-E11E-BEAD-4072-13375927EA1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AD27D1E-AFF2-4ED4-F052-4A39E707D80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29668E5-F7B1-5F40-CCC4-13DC1DB3DFF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7C98E25-5E26-F29B-DA2C-88507F8411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Role of Technology in Create, Deliver &amp; Support (CDS)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6A1B003-E3E1-00B2-6914-BAE3E6C4844B}"/>
              </a:ext>
            </a:extLst>
          </p:cNvPr>
          <p:cNvSpPr txBox="1"/>
          <p:nvPr/>
        </p:nvSpPr>
        <p:spPr>
          <a:xfrm>
            <a:off x="2934462" y="2286000"/>
            <a:ext cx="8448040" cy="165622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Technology enables automation, monitoring, collaboration, and continuous improvement across the service value system.</a:t>
            </a:r>
          </a:p>
        </p:txBody>
      </p:sp>
    </p:spTree>
    <p:extLst>
      <p:ext uri="{BB962C8B-B14F-4D97-AF65-F5344CB8AC3E}">
        <p14:creationId xmlns:p14="http://schemas.microsoft.com/office/powerpoint/2010/main" val="1309319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F93AFC-256A-D2FC-0D25-5A55BD8CB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F1DCD8-81F2-8ACC-AE82-AE64E6391D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3E654BD-D40B-8409-209C-8412BE0F7CD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16FA16A-EA06-22C8-19DA-6C12EB4DF2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3F7A2D4-9C54-1788-4F02-9528C1B1C41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5B768C2-9F54-A286-8FC4-4D0E80D31D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b="0" dirty="0">
                <a:solidFill>
                  <a:srgbClr val="464A56"/>
                </a:solidFill>
                <a:latin typeface="Cambria"/>
                <a:cs typeface="Cambria"/>
              </a:rPr>
              <a:t>1. </a:t>
            </a:r>
            <a:r>
              <a:rPr lang="en-IN" sz="4400" dirty="0"/>
              <a:t>Automation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F5BC75A-77EA-4F0F-C0A5-97B4CFE72C3B}"/>
              </a:ext>
            </a:extLst>
          </p:cNvPr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CI/CD pipelines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as Code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78319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0BB29-6BD3-2561-D6AA-533C4E520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B7B6A77-7472-0EF2-A03B-1D057E3AE1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F3E25CB-7D9E-71BE-A948-BA705AFA99D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F4F40F7-52FA-A9F3-6A59-BFC54C9374D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8E40234-6376-511E-D7F3-A862047ABF8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8F124A3-D372-B51E-75D5-F84D65D477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b="0" dirty="0">
                <a:solidFill>
                  <a:srgbClr val="464A56"/>
                </a:solidFill>
                <a:latin typeface="Cambria"/>
                <a:cs typeface="Cambria"/>
              </a:rPr>
              <a:t>2. </a:t>
            </a:r>
            <a:r>
              <a:rPr lang="en-IN" sz="4400" dirty="0"/>
              <a:t>Monitoring &amp; Observability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1E7EE26-47BB-2B18-05DC-0977D56AC42E}"/>
              </a:ext>
            </a:extLst>
          </p:cNvPr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Technology helps in:</a:t>
            </a:r>
          </a:p>
          <a:p>
            <a:r>
              <a:rPr lang="en-US" sz="2800" dirty="0"/>
              <a:t>Real-time monitoring</a:t>
            </a:r>
          </a:p>
          <a:p>
            <a:r>
              <a:rPr lang="en-US" sz="2800" dirty="0"/>
              <a:t>Event detection</a:t>
            </a:r>
          </a:p>
          <a:p>
            <a:r>
              <a:rPr lang="en-US" sz="2800" dirty="0"/>
              <a:t>Performance tracking</a:t>
            </a:r>
          </a:p>
          <a:p>
            <a:r>
              <a:rPr lang="en-US" sz="2800" dirty="0"/>
              <a:t>Alert systems</a:t>
            </a:r>
          </a:p>
        </p:txBody>
      </p:sp>
    </p:spTree>
    <p:extLst>
      <p:ext uri="{BB962C8B-B14F-4D97-AF65-F5344CB8AC3E}">
        <p14:creationId xmlns:p14="http://schemas.microsoft.com/office/powerpoint/2010/main" val="1971461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45CD2-88AB-E21B-0559-6B520B2F6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159B2DD-E72B-6949-7C0D-7AC7528040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E2330A0-D5D7-B299-C986-055D61FA3E9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1753054-1A11-EC9E-6F99-513412E8045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35081C7-3808-EC35-DDCE-64F0B6C23F3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6CB4746-4E78-DA3F-A1E7-CC897521E3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b="0" dirty="0">
                <a:solidFill>
                  <a:srgbClr val="464A56"/>
                </a:solidFill>
                <a:latin typeface="Cambria"/>
                <a:cs typeface="Cambria"/>
              </a:rPr>
              <a:t>3. </a:t>
            </a:r>
            <a:r>
              <a:rPr lang="en-IN" sz="4400" dirty="0"/>
              <a:t>Cloud &amp; Modern Platforms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110F903-4C85-0F20-B8A2-C394F3D22A94}"/>
              </a:ext>
            </a:extLst>
          </p:cNvPr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provisioning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control</a:t>
            </a:r>
          </a:p>
        </p:txBody>
      </p:sp>
    </p:spTree>
    <p:extLst>
      <p:ext uri="{BB962C8B-B14F-4D97-AF65-F5344CB8AC3E}">
        <p14:creationId xmlns:p14="http://schemas.microsoft.com/office/powerpoint/2010/main" val="2046770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7CDD2-A24E-DFB8-EF1A-D7F93C9A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ED079E-D409-68C3-8BE1-3DA00E07A1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597B6C3-2234-FFFC-054E-BE66E1BF384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7940E39-D369-9038-0961-B0D16F111E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4C6CB83-3808-998A-3782-03B3569F11C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0557E2A-B7F1-8CD7-41AE-B0BDA05D4A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AI &amp; Analytics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7E8A5D7-AC47-DE25-E6E8-97C5ABFBBCC0}"/>
              </a:ext>
            </a:extLst>
          </p:cNvPr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Used for:</a:t>
            </a:r>
          </a:p>
          <a:p>
            <a:r>
              <a:rPr lang="en-US" sz="2800" dirty="0"/>
              <a:t>Predictive incident management</a:t>
            </a:r>
          </a:p>
          <a:p>
            <a:r>
              <a:rPr lang="en-US" sz="2800" dirty="0"/>
              <a:t>Chatbots</a:t>
            </a:r>
          </a:p>
          <a:p>
            <a:r>
              <a:rPr lang="en-US" sz="2800" dirty="0"/>
              <a:t>Trend analysis</a:t>
            </a:r>
          </a:p>
          <a:p>
            <a:r>
              <a:rPr lang="en-US" sz="2800" dirty="0"/>
              <a:t>Smart reporting</a:t>
            </a:r>
          </a:p>
        </p:txBody>
      </p:sp>
    </p:spTree>
    <p:extLst>
      <p:ext uri="{BB962C8B-B14F-4D97-AF65-F5344CB8AC3E}">
        <p14:creationId xmlns:p14="http://schemas.microsoft.com/office/powerpoint/2010/main" val="602181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D5545-AAD8-DB6E-E257-2A9D14CA0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D9870E-F246-9AE0-10C5-412328A137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8B9CF7E-B2D7-12BF-546F-AA0C7C9FE15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51763DB-704D-16A1-D3AF-9D58E5528DB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C258D37-48DA-E206-967A-4D6EF5F5576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D880A9F-C79F-380F-FA67-68E4D20DB5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Value of Technology Across SVS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902D2D2-74A2-6BDE-0ED3-0C684A624A95}"/>
              </a:ext>
            </a:extLst>
          </p:cNvPr>
          <p:cNvSpPr txBox="1"/>
          <p:nvPr/>
        </p:nvSpPr>
        <p:spPr>
          <a:xfrm>
            <a:off x="2934462" y="2286000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3600" dirty="0"/>
              <a:t>Technology supports all value chain activities:</a:t>
            </a:r>
          </a:p>
          <a:p>
            <a:r>
              <a:rPr lang="en-IN" sz="3600" dirty="0"/>
              <a:t>Plan → Data analytics</a:t>
            </a:r>
            <a:br>
              <a:rPr lang="en-IN" sz="3600" dirty="0"/>
            </a:br>
            <a:r>
              <a:rPr lang="en-IN" sz="3600" dirty="0"/>
              <a:t>Design → </a:t>
            </a:r>
            <a:r>
              <a:rPr lang="en-IN" sz="3600" dirty="0" err="1"/>
              <a:t>Modeling</a:t>
            </a:r>
            <a:r>
              <a:rPr lang="en-IN" sz="3600" dirty="0"/>
              <a:t> tools</a:t>
            </a:r>
            <a:br>
              <a:rPr lang="en-IN" sz="3600" dirty="0"/>
            </a:br>
            <a:r>
              <a:rPr lang="en-IN" sz="3600" dirty="0"/>
              <a:t>Build → CI/CD tools</a:t>
            </a:r>
            <a:br>
              <a:rPr lang="en-IN" sz="3600" dirty="0"/>
            </a:br>
            <a:r>
              <a:rPr lang="en-IN" sz="3600" dirty="0"/>
              <a:t>Deliver → Monitoring systems</a:t>
            </a:r>
            <a:br>
              <a:rPr lang="en-IN" sz="3600" dirty="0"/>
            </a:br>
            <a:r>
              <a:rPr lang="en-IN" sz="3600" dirty="0"/>
              <a:t>Improve → Reports &amp; metrics</a:t>
            </a:r>
          </a:p>
        </p:txBody>
      </p:sp>
    </p:spTree>
    <p:extLst>
      <p:ext uri="{BB962C8B-B14F-4D97-AF65-F5344CB8AC3E}">
        <p14:creationId xmlns:p14="http://schemas.microsoft.com/office/powerpoint/2010/main" val="1107886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E59B3-F199-9267-BE56-6BB2D5C7E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BA77C3-36AD-CA4C-BB75-2DC958B818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12716BC-05BB-2600-073C-764AEEF9525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17E5777-F304-8EC9-C731-BB516EBE86B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CD756CD-FAC0-4037-3391-911FB483EBF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98EBA14-CB21-68E4-8461-D15CD3E9FF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Planning &amp; Managing Resources in CDS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E4207BF-1D56-E16A-A954-47CB3E5A6BB1}"/>
              </a:ext>
            </a:extLst>
          </p:cNvPr>
          <p:cNvSpPr txBox="1"/>
          <p:nvPr/>
        </p:nvSpPr>
        <p:spPr>
          <a:xfrm>
            <a:off x="2934462" y="2286000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1️⃣ People</a:t>
            </a:r>
            <a:br>
              <a:rPr lang="en-US" sz="3600" dirty="0"/>
            </a:br>
            <a:r>
              <a:rPr lang="en-US" sz="3600" dirty="0"/>
              <a:t>2️⃣ Information &amp; Technology</a:t>
            </a:r>
            <a:br>
              <a:rPr lang="en-US" sz="3600" dirty="0"/>
            </a:br>
            <a:r>
              <a:rPr lang="en-US" sz="3600" dirty="0"/>
              <a:t>3️⃣ Partners &amp; Suppliers</a:t>
            </a:r>
            <a:br>
              <a:rPr lang="en-US" sz="3600" dirty="0"/>
            </a:br>
            <a:r>
              <a:rPr lang="en-US" sz="3600" dirty="0"/>
              <a:t>4️⃣ Value Streams &amp; Processes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259895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5B5F-5CE1-E0C9-57F7-AF06FDFC5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269024-1D47-7B66-0963-B9C4DEEB66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FAFF899-257F-BBA4-5429-65E7FE4CF25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C0BA627-2FB2-C31D-E25D-ED4295ABCDB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1496091-C672-CEF5-E9CD-D3DA58FD33D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7C95650-7213-75A0-6A45-71B6356D5D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1️⃣ Managing People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10C90FF-4B33-22D2-9C7A-B2D694A3DA8E}"/>
              </a:ext>
            </a:extLst>
          </p:cNvPr>
          <p:cNvSpPr txBox="1"/>
          <p:nvPr/>
        </p:nvSpPr>
        <p:spPr>
          <a:xfrm>
            <a:off x="2934462" y="2286000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Skilled workforce is necessary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Cross-functional teams are preferred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learning is important</a:t>
            </a:r>
          </a:p>
        </p:txBody>
      </p:sp>
    </p:spTree>
    <p:extLst>
      <p:ext uri="{BB962C8B-B14F-4D97-AF65-F5344CB8AC3E}">
        <p14:creationId xmlns:p14="http://schemas.microsoft.com/office/powerpoint/2010/main" val="168323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1D67-9046-824F-9035-6212EB96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61072CE-AB6B-B2A6-47F8-0FE82523AA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D482A8D-CF28-91AD-A3A6-5DEF1D652FF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FC07BCB-A279-0CDE-7A0B-53CA22DFB1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933DBC8-82EA-88FE-84C5-4CA1A3C459A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E3DCF0C9-C2A8-711D-B685-CA7E2E50EA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2️⃣ Managing Technology &amp; Information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41FCB7E-9F2F-A4B1-163C-34E7060CD43C}"/>
              </a:ext>
            </a:extLst>
          </p:cNvPr>
          <p:cNvSpPr txBox="1"/>
          <p:nvPr/>
        </p:nvSpPr>
        <p:spPr>
          <a:xfrm>
            <a:off x="2934462" y="2286000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Includes:</a:t>
            </a:r>
          </a:p>
          <a:p>
            <a:r>
              <a:rPr lang="en-US" sz="3600" dirty="0"/>
              <a:t>Selecting correct tools</a:t>
            </a:r>
          </a:p>
          <a:p>
            <a:r>
              <a:rPr lang="en-US" sz="3600" dirty="0"/>
              <a:t>Maintaining systems</a:t>
            </a:r>
          </a:p>
          <a:p>
            <a:r>
              <a:rPr lang="en-US" sz="3600" dirty="0"/>
              <a:t>Managing data properly</a:t>
            </a:r>
          </a:p>
          <a:p>
            <a:r>
              <a:rPr lang="en-US" sz="3600" dirty="0"/>
              <a:t>Ensuring security</a:t>
            </a:r>
          </a:p>
        </p:txBody>
      </p:sp>
    </p:spTree>
    <p:extLst>
      <p:ext uri="{BB962C8B-B14F-4D97-AF65-F5344CB8AC3E}">
        <p14:creationId xmlns:p14="http://schemas.microsoft.com/office/powerpoint/2010/main" val="2560414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46C7A-25C3-2350-7360-07E33A76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C2AD4E-0BF0-7BB0-A5E8-0746A2E7BF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CDDAF06-8907-038A-DB95-06F8BD9DF2E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4232B-72B0-DE44-8667-35B4E3F7337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CDC9709-9A70-EC94-5910-030444BEB2F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EFA06A0-1ED2-98E1-7433-008CE5DD47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3️⃣ Managing Partners &amp; Suppliers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BD5DFBB-032F-CD31-1056-BE49FD899A92}"/>
              </a:ext>
            </a:extLst>
          </p:cNvPr>
          <p:cNvSpPr txBox="1"/>
          <p:nvPr/>
        </p:nvSpPr>
        <p:spPr>
          <a:xfrm>
            <a:off x="2934462" y="22860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fr-FR" sz="3600" dirty="0"/>
              <a:t>Effective supplier management </a:t>
            </a:r>
            <a:r>
              <a:rPr lang="fr-FR" sz="3600" dirty="0" err="1"/>
              <a:t>ensures</a:t>
            </a:r>
            <a:r>
              <a:rPr lang="fr-FR" sz="3600" dirty="0"/>
              <a:t> service </a:t>
            </a:r>
            <a:r>
              <a:rPr lang="fr-FR" sz="3600" dirty="0" err="1"/>
              <a:t>reliability</a:t>
            </a:r>
            <a:r>
              <a:rPr lang="fr-FR" sz="3600" dirty="0"/>
              <a:t>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604669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0897C-B0DE-C369-BC10-3DC847547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40F786-B23C-FF6E-0C27-918B18491C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E26BEF2-2CD3-CF9B-55A7-F07ADFFAB4E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F3423A3-0B0B-0504-CE16-5AE56A6B648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6EA0690-1DA4-D2EA-8F61-1439E7D2A79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2EA4E6A-EDBE-F8B7-056E-E91230E9C8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4️⃣ Capacity &amp; Workforce Planning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2CACECD-EB95-946E-FC37-9AEF3BB6E4F8}"/>
              </a:ext>
            </a:extLst>
          </p:cNvPr>
          <p:cNvSpPr txBox="1"/>
          <p:nvPr/>
        </p:nvSpPr>
        <p:spPr>
          <a:xfrm>
            <a:off x="2934462" y="2286000"/>
            <a:ext cx="8448040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Value Stream: Steps taken to create and deliver a service.</a:t>
            </a:r>
          </a:p>
          <a:p>
            <a:r>
              <a:rPr lang="en-IN" sz="2400" dirty="0"/>
              <a:t>Process: Structured set of activities.</a:t>
            </a:r>
          </a:p>
          <a:p>
            <a:endParaRPr lang="en-IN" sz="3600" dirty="0"/>
          </a:p>
          <a:p>
            <a:r>
              <a:rPr lang="en-US" sz="3200" dirty="0"/>
              <a:t>Enough staff</a:t>
            </a:r>
          </a:p>
          <a:p>
            <a:r>
              <a:rPr lang="en-US" sz="3200" dirty="0"/>
              <a:t>Enough infrastructure</a:t>
            </a:r>
          </a:p>
          <a:p>
            <a:r>
              <a:rPr lang="en-US" sz="3200" dirty="0"/>
              <a:t>Enough budget</a:t>
            </a:r>
          </a:p>
          <a:p>
            <a:r>
              <a:rPr lang="en-US" sz="3200" dirty="0"/>
              <a:t>Not too much (waste)</a:t>
            </a:r>
            <a:br>
              <a:rPr lang="en-US" sz="3200" dirty="0"/>
            </a:br>
            <a:r>
              <a:rPr lang="en-US" sz="3200" dirty="0"/>
              <a:t>Not too little (overload)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200017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753C1-AB52-C0F5-5605-A7D13BB98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7134181-F39E-0B76-0B8F-F39B191CA1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109DBD9-92AA-C0E3-F264-A2B204B7A28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81A0EFC-D5AB-05EF-E776-A527CD44D09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52F01ED-44B6-D6BA-1265-A63A627CB1D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C53E8B5-DD2C-18B2-636E-63A24BF61A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Common Resource Challenges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90D2DB4-C99E-1F29-4C18-633C2F117548}"/>
              </a:ext>
            </a:extLst>
          </p:cNvPr>
          <p:cNvSpPr txBox="1"/>
          <p:nvPr/>
        </p:nvSpPr>
        <p:spPr>
          <a:xfrm>
            <a:off x="2934462" y="2286000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 gaps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Overworked teams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 on vendors</a:t>
            </a:r>
          </a:p>
        </p:txBody>
      </p:sp>
    </p:spTree>
    <p:extLst>
      <p:ext uri="{BB962C8B-B14F-4D97-AF65-F5344CB8AC3E}">
        <p14:creationId xmlns:p14="http://schemas.microsoft.com/office/powerpoint/2010/main" val="1234142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endParaRPr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</TotalTime>
  <Words>356</Words>
  <Application>Microsoft Office PowerPoint</Application>
  <PresentationFormat>Widescreen</PresentationFormat>
  <Paragraphs>113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Calibri</vt:lpstr>
      <vt:lpstr>Cambria</vt:lpstr>
      <vt:lpstr>Segoe UI</vt:lpstr>
      <vt:lpstr>Office Theme</vt:lpstr>
      <vt:lpstr>IT Infrastructure                       Management          Chapter 7:  Create, Delivery and Support (CDS)                            TY B.Sc. (IT)</vt:lpstr>
      <vt:lpstr>3 Topics:</vt:lpstr>
      <vt:lpstr>4 Introduction </vt:lpstr>
      <vt:lpstr>4 5 Components of SVS </vt:lpstr>
      <vt:lpstr>5 CDS Connection</vt:lpstr>
      <vt:lpstr>6 Key Challenges in Create, Deliver &amp; Support (CDS)</vt:lpstr>
      <vt:lpstr>6 Shift-Left Approach</vt:lpstr>
      <vt:lpstr>PowerPoint Presentation</vt:lpstr>
      <vt:lpstr>6 Types of Shift-Left</vt:lpstr>
      <vt:lpstr>6 Testing Shift-Left</vt:lpstr>
      <vt:lpstr>6 Security Shift-Left (DevSecOps)</vt:lpstr>
      <vt:lpstr>6 Support Shift-Left</vt:lpstr>
      <vt:lpstr>6 Benefits</vt:lpstr>
      <vt:lpstr>6  Challenges of Shift-Left</vt:lpstr>
      <vt:lpstr>6 Role of Technology in Create, Deliver &amp; Support (CDS)</vt:lpstr>
      <vt:lpstr>6 1. Automation</vt:lpstr>
      <vt:lpstr>6 2. Monitoring &amp; Observability</vt:lpstr>
      <vt:lpstr>6 3. Cloud &amp; Modern Platforms</vt:lpstr>
      <vt:lpstr>6 AI &amp; Analytics</vt:lpstr>
      <vt:lpstr>6 Value of Technology Across SVS</vt:lpstr>
      <vt:lpstr>6 Planning &amp; Managing Resources in CDS</vt:lpstr>
      <vt:lpstr>6 1️⃣ Managing People</vt:lpstr>
      <vt:lpstr>6 2️⃣ Managing Technology &amp; Information</vt:lpstr>
      <vt:lpstr>6 3️⃣ Managing Partners &amp; Suppliers</vt:lpstr>
      <vt:lpstr>6 4️⃣ Capacity &amp; Workforce Planning</vt:lpstr>
      <vt:lpstr>6 Common Resource Challenges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pvgit</cp:lastModifiedBy>
  <cp:revision>20</cp:revision>
  <dcterms:created xsi:type="dcterms:W3CDTF">2025-11-04T17:06:10Z</dcterms:created>
  <dcterms:modified xsi:type="dcterms:W3CDTF">2026-02-14T03:34:54Z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