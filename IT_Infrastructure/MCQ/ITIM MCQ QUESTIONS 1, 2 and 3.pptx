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5" r:id="rId40"/>
    <p:sldId id="293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406E-BD6A-49BD-A6A8-C8415A5B8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4E3D2-6CCE-46E7-8C4E-BC2C1DF66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C25F2-F34D-49BB-A249-823226C0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09481-465E-43B4-BF3F-308A07A5F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912BD-1DBE-462F-8212-E154729C1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CAD8-3BA7-43BF-81DB-2EE2AAE90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B5FEE-C1A4-4301-8B0B-7061D9644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4D169-3D1D-4DE6-861D-F6B31BEA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8DC9A-6F0C-44BC-84A7-E92EE681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DD83E-09B5-4438-9AC1-483E2ABE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1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E3DD-07E2-4F3A-AEA9-37CDC9190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18F13-247B-4AD1-832E-C0D05861F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B0666-4481-492D-BF19-939D5845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D1733-0208-4C20-AF9D-6D1A19AE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33BD2-9058-436A-A4CC-4B67A888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1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5624-4685-4C70-955C-4C1DA4C79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59F8F-7601-45D5-9761-A49FFBA85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648B9-69C1-4BD3-9BAA-EA2F3FA36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500D7-A023-4508-8F28-ADD4A141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58DCA-CDAD-428B-9C49-CFC58DBB2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12F26-9652-4F92-9ECA-E9B6DBA5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465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172D-904F-4FB9-9DF5-0664B697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638C9-7FF3-4642-9BBB-E40AB77DA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A67F3-8F78-4F2B-8D57-3A7DA6C58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F697C-C739-4403-9066-216F051F7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EDEB6A-9E0E-4F74-A40B-6553459A8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41EF6-1093-4F31-9916-B1F3C237A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58203-3F25-44B8-B5AA-01B0C2E5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4CA17-9FAE-49A6-9DF6-36637B53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58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1FAE-095D-499A-83BE-D91C14648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B4D2F-21EB-46F5-945C-5E0A00BF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C34FE-F63D-4D00-9F7E-FF0F3DCA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1C137-CE89-4896-B33A-55AB6099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12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6ABB6-F55D-4831-8745-7F2A5093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30F8C1-6D5D-4C9F-AB0B-3C1D482D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60416-41EF-4FAB-8B7E-DC3EEC93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38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0630-45A2-4C2B-816C-8FBE48C3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27309-0674-4943-9B0E-B0A82F1B7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24912-868C-4082-B3FE-25966ECB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B945B-05FE-4296-8459-C69C811EB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1A772-BAEF-4927-8B10-41E4D6C8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1288B-B70C-4793-A657-154AAE45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98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DB2E-A453-4403-90FF-E9D2AAE4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4D21D-D8B9-4C0B-830D-85F18858E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A09CA-37BB-49BA-86AC-925B67E0B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DF4AE-5021-483B-8E1A-D9A2CF7C8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04524-25B4-4B7A-A02C-83F79F91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8FEC3-90AD-414B-ABA8-86876063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91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77786-4D4A-41EF-AACC-D4EEEF26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D2848-A75C-4822-96F4-68898E15A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02CCE-6A08-46CE-98E7-3782B48E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1E5CD-E9F6-4B1D-902F-FF7E7032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D765A-CF86-4160-BF0D-95615689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29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725677-B620-4478-BE94-63B531597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29501-C075-40D5-8AD1-035DB646A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9A8C7-660C-4398-A32D-2AEDFBBB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B10E0-5A43-43C6-9C85-224B75C7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98FBF-0C0C-49E3-80F1-7A1BEF3B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30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8D3A3-0E0B-4815-845F-69730FA9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6701D-5317-4D1A-828D-AC9AB40C5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B79F1-CCF8-4B59-BCC2-7BE20688B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A2812-5747-45C0-9B59-CECB234B105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41DAB-87CF-42D7-AE23-B51E5C07E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7C3B5-78E7-41F4-96B1-C4DE946CC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5DC64-3278-4755-BC5B-DE0C1666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22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2214-691F-4DA6-9ADC-DA3B302F3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ITIT MCQ QUESTIONS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B4601-3DB3-4C98-A265-E52E935DC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 TO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91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EFB9-17C3-43EC-8FD3-D6060970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Chapter 1: Introduction &amp; ITIL 4 (15 MCQs)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EA1FD-9C41-4698-AA99-B52229C63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main purpose of IT-enabled services in organizations?</a:t>
            </a:r>
            <a:br>
              <a:rPr lang="en-US" dirty="0"/>
            </a:br>
            <a:r>
              <a:rPr lang="en-US" dirty="0"/>
              <a:t>a) Reduce employee workload</a:t>
            </a:r>
            <a:br>
              <a:rPr lang="en-US" dirty="0"/>
            </a:br>
            <a:r>
              <a:rPr lang="en-US" dirty="0"/>
              <a:t>b) Create value for organizations and customers</a:t>
            </a:r>
            <a:br>
              <a:rPr lang="en-US" dirty="0"/>
            </a:br>
            <a:r>
              <a:rPr lang="en-US" dirty="0"/>
              <a:t>c) Replace human decision-making</a:t>
            </a:r>
            <a:br>
              <a:rPr lang="en-US" dirty="0"/>
            </a:br>
            <a:r>
              <a:rPr lang="en-US" dirty="0"/>
              <a:t>d) Automate only accounting processes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4095E-F108-495C-B4FC-5C2B476FF897}"/>
              </a:ext>
            </a:extLst>
          </p:cNvPr>
          <p:cNvSpPr txBox="1"/>
          <p:nvPr/>
        </p:nvSpPr>
        <p:spPr>
          <a:xfrm>
            <a:off x="5469592" y="4373887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Create value for organizations and customers </a:t>
            </a:r>
            <a:r>
              <a:rPr lang="en-IN" dirty="0">
                <a:highlight>
                  <a:srgbClr val="00FF00"/>
                </a:highlight>
              </a:rPr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416717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D4485-0BF2-4639-93EA-B2B01863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A338-EC0D-46DC-977E-C3C828403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Which technologies are creating fresh opportunities for IT service management?</a:t>
            </a:r>
            <a:br>
              <a:rPr lang="en-IN" dirty="0"/>
            </a:br>
            <a:r>
              <a:rPr lang="en-IN" dirty="0"/>
              <a:t>a) Cloud computing, IaaS, machine learning, blockchain </a:t>
            </a:r>
            <a:br>
              <a:rPr lang="en-IN" dirty="0"/>
            </a:br>
            <a:r>
              <a:rPr lang="en-IN" dirty="0"/>
              <a:t>b) Waterfall, Kanban, Scrum</a:t>
            </a:r>
            <a:br>
              <a:rPr lang="en-IN" dirty="0"/>
            </a:br>
            <a:r>
              <a:rPr lang="en-IN" dirty="0"/>
              <a:t>c) Telephone systems and fax machines</a:t>
            </a:r>
            <a:br>
              <a:rPr lang="en-IN" dirty="0"/>
            </a:br>
            <a:r>
              <a:rPr lang="en-IN" dirty="0"/>
              <a:t>d) Paper-based record keeping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6D2E1-BAAA-41D0-9B9C-24117CCEA847}"/>
              </a:ext>
            </a:extLst>
          </p:cNvPr>
          <p:cNvSpPr txBox="1"/>
          <p:nvPr/>
        </p:nvSpPr>
        <p:spPr>
          <a:xfrm>
            <a:off x="4931709" y="480419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00FF00"/>
                </a:highlight>
              </a:rPr>
              <a:t>a) Cloud computing, IaaS, machine learning, blockchain ✅</a:t>
            </a:r>
          </a:p>
        </p:txBody>
      </p:sp>
    </p:spTree>
    <p:extLst>
      <p:ext uri="{BB962C8B-B14F-4D97-AF65-F5344CB8AC3E}">
        <p14:creationId xmlns:p14="http://schemas.microsoft.com/office/powerpoint/2010/main" val="304664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F939B-2D17-4915-9FC1-975D8D38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FCE7E-E592-44B4-AF60-FED89DC32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ITIL primarily focused on?</a:t>
            </a:r>
            <a:br>
              <a:rPr lang="en-US" dirty="0"/>
            </a:br>
            <a:r>
              <a:rPr lang="en-US" dirty="0"/>
              <a:t>a) Marketing strategies</a:t>
            </a:r>
            <a:br>
              <a:rPr lang="en-US" dirty="0"/>
            </a:br>
            <a:r>
              <a:rPr lang="en-US" dirty="0"/>
              <a:t>b) IT service management guidance </a:t>
            </a:r>
            <a:br>
              <a:rPr lang="en-US" dirty="0"/>
            </a:br>
            <a:r>
              <a:rPr lang="en-US" dirty="0"/>
              <a:t>c) Product manufacturing</a:t>
            </a:r>
            <a:br>
              <a:rPr lang="en-US" dirty="0"/>
            </a:br>
            <a:r>
              <a:rPr lang="en-US" dirty="0"/>
              <a:t>d) Financial auditing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CF193-3B1E-4060-9492-989CE02BF429}"/>
              </a:ext>
            </a:extLst>
          </p:cNvPr>
          <p:cNvSpPr txBox="1"/>
          <p:nvPr/>
        </p:nvSpPr>
        <p:spPr>
          <a:xfrm>
            <a:off x="6545356" y="480419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IT service management guidance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0441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97F8-20F0-4B4B-ACCC-AEFFB4D7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B5356-68D9-4F5B-8C53-CA3B1ED82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long has ITIL provided guidance, training, and certification?</a:t>
            </a:r>
            <a:br>
              <a:rPr lang="en-US" dirty="0"/>
            </a:br>
            <a:r>
              <a:rPr lang="en-US" dirty="0"/>
              <a:t>a) 10 years</a:t>
            </a:r>
            <a:br>
              <a:rPr lang="en-US" dirty="0"/>
            </a:br>
            <a:r>
              <a:rPr lang="en-US" dirty="0"/>
              <a:t>b) 20 years</a:t>
            </a:r>
            <a:br>
              <a:rPr lang="en-US" dirty="0"/>
            </a:br>
            <a:r>
              <a:rPr lang="en-US" dirty="0"/>
              <a:t>c) More than 30 years </a:t>
            </a:r>
            <a:br>
              <a:rPr lang="en-US" dirty="0"/>
            </a:br>
            <a:r>
              <a:rPr lang="en-US" dirty="0"/>
              <a:t>d) 5 years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469FB-9C4C-40D8-B572-CBC165E049CB}"/>
              </a:ext>
            </a:extLst>
          </p:cNvPr>
          <p:cNvSpPr txBox="1"/>
          <p:nvPr/>
        </p:nvSpPr>
        <p:spPr>
          <a:xfrm>
            <a:off x="5926792" y="471006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c) More than 30 years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530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836C3-2862-4610-89D3-5EAFAE02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8B53-39ED-4C9E-A382-43ED58906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of the following is NOT a component of the ITIL Service Value System (SVS)?</a:t>
            </a:r>
            <a:br>
              <a:rPr lang="en-US" dirty="0"/>
            </a:br>
            <a:r>
              <a:rPr lang="en-US" dirty="0"/>
              <a:t>a) Service value chain</a:t>
            </a:r>
            <a:br>
              <a:rPr lang="en-US" dirty="0"/>
            </a:br>
            <a:r>
              <a:rPr lang="en-US" dirty="0"/>
              <a:t>b) ITIL practices</a:t>
            </a:r>
            <a:br>
              <a:rPr lang="en-US" dirty="0"/>
            </a:br>
            <a:r>
              <a:rPr lang="en-US" dirty="0"/>
              <a:t>c) Payroll management </a:t>
            </a:r>
            <a:br>
              <a:rPr lang="en-US" dirty="0"/>
            </a:br>
            <a:r>
              <a:rPr lang="en-US" dirty="0"/>
              <a:t>d) Continual improvement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A439E-B75E-4644-A743-BED85FBA7DB5}"/>
              </a:ext>
            </a:extLst>
          </p:cNvPr>
          <p:cNvSpPr txBox="1"/>
          <p:nvPr/>
        </p:nvSpPr>
        <p:spPr>
          <a:xfrm>
            <a:off x="6652933" y="448146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c) Payroll management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7561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CDBA-9914-474D-B147-B75D4C42D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EA4AA-0181-47B4-A6A9-9250C59E7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many key activities does the ITIL service value chain define?</a:t>
            </a:r>
            <a:br>
              <a:rPr lang="en-US" dirty="0"/>
            </a:br>
            <a:r>
              <a:rPr lang="en-US" dirty="0"/>
              <a:t>a) Four</a:t>
            </a:r>
            <a:br>
              <a:rPr lang="en-US" dirty="0"/>
            </a:br>
            <a:r>
              <a:rPr lang="en-US" dirty="0"/>
              <a:t>b) Six </a:t>
            </a:r>
            <a:br>
              <a:rPr lang="en-US" dirty="0"/>
            </a:br>
            <a:r>
              <a:rPr lang="en-US" dirty="0"/>
              <a:t>c) Eight</a:t>
            </a:r>
            <a:br>
              <a:rPr lang="en-US" dirty="0"/>
            </a:br>
            <a:r>
              <a:rPr lang="en-US" dirty="0"/>
              <a:t>d) Ten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2D098-5F5C-48A2-A1D7-4545E0BEE20B}"/>
              </a:ext>
            </a:extLst>
          </p:cNvPr>
          <p:cNvSpPr txBox="1"/>
          <p:nvPr/>
        </p:nvSpPr>
        <p:spPr>
          <a:xfrm>
            <a:off x="6096000" y="400129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Six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238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D32F-D038-4A60-B2D0-F5B717B4B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E141-A07C-4D3A-B98F-1A32E206D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purpose of the ITIL guiding principles?</a:t>
            </a:r>
            <a:br>
              <a:rPr lang="en-US" dirty="0"/>
            </a:br>
            <a:r>
              <a:rPr lang="en-US" dirty="0"/>
              <a:t>a) Replace organizational policies</a:t>
            </a:r>
            <a:br>
              <a:rPr lang="en-US" dirty="0"/>
            </a:br>
            <a:r>
              <a:rPr lang="en-US" dirty="0"/>
              <a:t>b) Guide decisions and actions across the organization </a:t>
            </a:r>
            <a:br>
              <a:rPr lang="en-US" dirty="0"/>
            </a:br>
            <a:r>
              <a:rPr lang="en-US" dirty="0"/>
              <a:t>c) Ensure all employees use the same software</a:t>
            </a:r>
            <a:br>
              <a:rPr lang="en-US" dirty="0"/>
            </a:br>
            <a:r>
              <a:rPr lang="en-US" dirty="0"/>
              <a:t>d) Track service costs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5ADC6-ACE0-4904-A19F-BF924B3FB720}"/>
              </a:ext>
            </a:extLst>
          </p:cNvPr>
          <p:cNvSpPr txBox="1"/>
          <p:nvPr/>
        </p:nvSpPr>
        <p:spPr>
          <a:xfrm>
            <a:off x="5738532" y="448146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Guide decisions and actions across the organization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3387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A298-BA21-4F67-A922-250B22C4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457B1-C8DD-4E76-AEB4-9A79634C8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ITIL component ensures an organization’s operations align with strategic direction?</a:t>
            </a:r>
            <a:br>
              <a:rPr lang="en-US" dirty="0"/>
            </a:br>
            <a:r>
              <a:rPr lang="en-US" dirty="0"/>
              <a:t>a) Continual improvement</a:t>
            </a:r>
            <a:br>
              <a:rPr lang="en-US" dirty="0"/>
            </a:br>
            <a:r>
              <a:rPr lang="en-US" dirty="0"/>
              <a:t>b) Service value chain</a:t>
            </a:r>
            <a:br>
              <a:rPr lang="en-US" dirty="0"/>
            </a:br>
            <a:r>
              <a:rPr lang="en-US" dirty="0"/>
              <a:t>c) Governance </a:t>
            </a:r>
            <a:br>
              <a:rPr lang="en-US" dirty="0"/>
            </a:br>
            <a:r>
              <a:rPr lang="en-US" dirty="0"/>
              <a:t>d) ITIL practices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F2DD7-48F5-4745-A69D-7CE30CFB295B}"/>
              </a:ext>
            </a:extLst>
          </p:cNvPr>
          <p:cNvSpPr txBox="1"/>
          <p:nvPr/>
        </p:nvSpPr>
        <p:spPr>
          <a:xfrm>
            <a:off x="6330204" y="4696617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c) Governance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964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12E9-2CC6-4906-B48B-31C6F4F6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30A25-1980-4BD3-B020-3E35072A1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new ways of working does ITIL 4 embrace?</a:t>
            </a:r>
            <a:br>
              <a:rPr lang="en-US" dirty="0"/>
            </a:br>
            <a:r>
              <a:rPr lang="en-US" dirty="0"/>
              <a:t>a) Lean, Agile, DevOps </a:t>
            </a:r>
            <a:br>
              <a:rPr lang="en-US" dirty="0"/>
            </a:br>
            <a:r>
              <a:rPr lang="en-US" dirty="0"/>
              <a:t>b) Waterfall, Six Sigma</a:t>
            </a:r>
            <a:br>
              <a:rPr lang="en-US" dirty="0"/>
            </a:br>
            <a:r>
              <a:rPr lang="en-US" dirty="0"/>
              <a:t>c) Scrum only</a:t>
            </a:r>
            <a:br>
              <a:rPr lang="en-US" dirty="0"/>
            </a:br>
            <a:r>
              <a:rPr lang="en-US" dirty="0"/>
              <a:t>d) PRINCE2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8F06C-B015-4775-920B-5C1D42F9CA59}"/>
              </a:ext>
            </a:extLst>
          </p:cNvPr>
          <p:cNvSpPr txBox="1"/>
          <p:nvPr/>
        </p:nvSpPr>
        <p:spPr>
          <a:xfrm>
            <a:off x="5967133" y="4629381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a) Lean, Agile, DevOps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4774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FAF1-8117-466B-9C02-58AA3DC6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11701-ACD3-4CFB-930F-7613F9F8C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four dimensions of service management include:</a:t>
            </a:r>
            <a:br>
              <a:rPr lang="en-US" dirty="0"/>
            </a:br>
            <a:r>
              <a:rPr lang="en-US" dirty="0"/>
              <a:t>a) Finance, HR, IT, Marketing</a:t>
            </a:r>
            <a:br>
              <a:rPr lang="en-US" dirty="0"/>
            </a:br>
            <a:r>
              <a:rPr lang="en-US" dirty="0"/>
              <a:t>b) Organizations &amp; people, Information &amp; technology, Partners &amp; suppliers, Value streams &amp; processes </a:t>
            </a:r>
            <a:br>
              <a:rPr lang="en-US" dirty="0"/>
            </a:br>
            <a:r>
              <a:rPr lang="en-US" dirty="0"/>
              <a:t>c) Strategy, Tactics, Operations, Support</a:t>
            </a:r>
            <a:br>
              <a:rPr lang="en-US" dirty="0"/>
            </a:br>
            <a:r>
              <a:rPr lang="en-US" dirty="0"/>
              <a:t>d) Planning, Execution, Delivery, Review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F8809-5704-4A6A-87D8-A2E32A6EC5E2}"/>
              </a:ext>
            </a:extLst>
          </p:cNvPr>
          <p:cNvSpPr txBox="1"/>
          <p:nvPr/>
        </p:nvSpPr>
        <p:spPr>
          <a:xfrm>
            <a:off x="4972051" y="4988423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Organizations &amp; people, Information &amp; technology, Partners &amp; suppliers, Value streams &amp; processes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9564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A2EAD-F674-42F3-9BFA-CF1ABCFF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4D6F7-8579-4D1D-B89E-615FDA25C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Which ITIL component supports multiple service value chain activities?</a:t>
            </a:r>
            <a:br>
              <a:rPr lang="en-IN" dirty="0"/>
            </a:br>
            <a:r>
              <a:rPr lang="en-IN" dirty="0"/>
              <a:t>a) Governance</a:t>
            </a:r>
            <a:br>
              <a:rPr lang="en-IN" dirty="0"/>
            </a:br>
            <a:r>
              <a:rPr lang="en-IN" dirty="0"/>
              <a:t>b) ITIL practices </a:t>
            </a:r>
            <a:br>
              <a:rPr lang="en-IN" dirty="0"/>
            </a:br>
            <a:r>
              <a:rPr lang="en-IN" dirty="0"/>
              <a:t>c) Continual improvement</a:t>
            </a:r>
            <a:br>
              <a:rPr lang="en-IN" dirty="0"/>
            </a:br>
            <a:r>
              <a:rPr lang="en-IN" dirty="0"/>
              <a:t>d) Utility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81E6D-6EEC-4FAA-BF1D-01F827A0F081}"/>
              </a:ext>
            </a:extLst>
          </p:cNvPr>
          <p:cNvSpPr txBox="1"/>
          <p:nvPr/>
        </p:nvSpPr>
        <p:spPr>
          <a:xfrm>
            <a:off x="6478121" y="4857981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00FF00"/>
                </a:highlight>
              </a:rPr>
              <a:t>b) ITIL practices ✅</a:t>
            </a:r>
          </a:p>
        </p:txBody>
      </p:sp>
    </p:spTree>
    <p:extLst>
      <p:ext uri="{BB962C8B-B14F-4D97-AF65-F5344CB8AC3E}">
        <p14:creationId xmlns:p14="http://schemas.microsoft.com/office/powerpoint/2010/main" val="173092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3EFB-5ECA-4B96-B24E-D52F92B4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F546-B51B-4DAA-8FE1-1E53C8056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would you define ITIL 4?</a:t>
            </a:r>
            <a:br>
              <a:rPr lang="en-US" dirty="0"/>
            </a:br>
            <a:r>
              <a:rPr lang="en-US" dirty="0"/>
              <a:t>a) A set of hardware standards</a:t>
            </a:r>
            <a:br>
              <a:rPr lang="en-US" dirty="0"/>
            </a:br>
            <a:r>
              <a:rPr lang="en-US" dirty="0"/>
              <a:t>b) Updated guidance for IT service management in the context of digital transformation </a:t>
            </a:r>
            <a:br>
              <a:rPr lang="en-US" dirty="0"/>
            </a:br>
            <a:r>
              <a:rPr lang="en-US" dirty="0"/>
              <a:t>c) A financial reporting framework</a:t>
            </a:r>
            <a:br>
              <a:rPr lang="en-US" dirty="0"/>
            </a:br>
            <a:r>
              <a:rPr lang="en-US" dirty="0"/>
              <a:t>d) A marketing methodology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033C1-EA03-4141-A1E9-2F2DFE5622C4}"/>
              </a:ext>
            </a:extLst>
          </p:cNvPr>
          <p:cNvSpPr txBox="1"/>
          <p:nvPr/>
        </p:nvSpPr>
        <p:spPr>
          <a:xfrm>
            <a:off x="5590615" y="5001870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Updated guidance for IT service management in the context of digital transformation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6336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549E-3B19-4890-BF0F-E497C0A1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C2CE8-01E2-4A5C-BA57-924B908EE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ultimate purpose of IT service management?</a:t>
            </a:r>
            <a:br>
              <a:rPr lang="en-US" dirty="0"/>
            </a:br>
            <a:r>
              <a:rPr lang="en-US" dirty="0"/>
              <a:t>a) To reduce costs only</a:t>
            </a:r>
            <a:br>
              <a:rPr lang="en-US" dirty="0"/>
            </a:br>
            <a:r>
              <a:rPr lang="en-US" dirty="0"/>
              <a:t>b) To create value through IT-enabled services </a:t>
            </a:r>
            <a:br>
              <a:rPr lang="en-US" dirty="0"/>
            </a:br>
            <a:r>
              <a:rPr lang="en-US" dirty="0"/>
              <a:t>c) To eliminate manual work entirely</a:t>
            </a:r>
            <a:br>
              <a:rPr lang="en-US" dirty="0"/>
            </a:br>
            <a:r>
              <a:rPr lang="en-US" dirty="0"/>
              <a:t>d) To increase the number of IT staff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407DD-2946-4E6D-9797-1D00949B9829}"/>
              </a:ext>
            </a:extLst>
          </p:cNvPr>
          <p:cNvSpPr txBox="1"/>
          <p:nvPr/>
        </p:nvSpPr>
        <p:spPr>
          <a:xfrm>
            <a:off x="5765427" y="503279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To create value through IT-enabled services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7005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E1F5-D874-42AC-9789-A45535B7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DB9E1-73FE-4B9C-A6FE-062AC06EE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does the ITIL SVS accommodate different approaches like DevOps?</a:t>
            </a:r>
            <a:br>
              <a:rPr lang="en-US" dirty="0"/>
            </a:br>
            <a:r>
              <a:rPr lang="en-US" dirty="0"/>
              <a:t>a) By defining rigid processes</a:t>
            </a:r>
            <a:br>
              <a:rPr lang="en-US" dirty="0"/>
            </a:br>
            <a:r>
              <a:rPr lang="en-US" dirty="0"/>
              <a:t>b) By providing flexible combination of service value chain activities </a:t>
            </a:r>
            <a:br>
              <a:rPr lang="en-US" dirty="0"/>
            </a:br>
            <a:r>
              <a:rPr lang="en-US" dirty="0"/>
              <a:t>c) By outsourcing IT services</a:t>
            </a:r>
            <a:br>
              <a:rPr lang="en-US" dirty="0"/>
            </a:br>
            <a:r>
              <a:rPr lang="en-US" dirty="0"/>
              <a:t>d) By focusing only on hardware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DD156-BF37-4369-A155-05A77194025B}"/>
              </a:ext>
            </a:extLst>
          </p:cNvPr>
          <p:cNvSpPr txBox="1"/>
          <p:nvPr/>
        </p:nvSpPr>
        <p:spPr>
          <a:xfrm>
            <a:off x="5550274" y="4894293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By providing flexible combination of service value chain activities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9039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171E9-417E-4151-8F57-DA4DA8D2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FFDB-3839-4574-BCCF-83F14D9A3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main objective of the four dimensions model?</a:t>
            </a:r>
            <a:br>
              <a:rPr lang="en-US" dirty="0"/>
            </a:br>
            <a:r>
              <a:rPr lang="en-US" dirty="0"/>
              <a:t>a) Ensure all services are digital</a:t>
            </a:r>
            <a:br>
              <a:rPr lang="en-US" dirty="0"/>
            </a:br>
            <a:r>
              <a:rPr lang="en-US" dirty="0"/>
              <a:t>b) Ensure a holistic and balanced approach to service management </a:t>
            </a:r>
            <a:br>
              <a:rPr lang="en-US" dirty="0"/>
            </a:br>
            <a:r>
              <a:rPr lang="en-US" dirty="0"/>
              <a:t>c) Reduce employee count</a:t>
            </a:r>
            <a:br>
              <a:rPr lang="en-US" dirty="0"/>
            </a:br>
            <a:r>
              <a:rPr lang="en-US" dirty="0"/>
              <a:t>d) Maximize IT expenditure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43DE0-E6CE-44AA-A9FB-DD1DA3B508DE}"/>
              </a:ext>
            </a:extLst>
          </p:cNvPr>
          <p:cNvSpPr txBox="1"/>
          <p:nvPr/>
        </p:nvSpPr>
        <p:spPr>
          <a:xfrm>
            <a:off x="5859556" y="5136340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Ensure a holistic and balanced approach to service management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6482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6ACB-69B6-42CC-99A5-A085A1B1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2: Key Concepts of Service Management (15 MCQs)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70082-D594-48F6-B61C-51C0EFF9E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definition of service management?</a:t>
            </a:r>
            <a:br>
              <a:rPr lang="en-US" dirty="0"/>
            </a:br>
            <a:r>
              <a:rPr lang="en-US" dirty="0"/>
              <a:t>a) Management of employees</a:t>
            </a:r>
            <a:br>
              <a:rPr lang="en-US" dirty="0"/>
            </a:br>
            <a:r>
              <a:rPr lang="en-US" dirty="0"/>
              <a:t>b) A set of specialized organizational capabilities for enabling value for customers in the form of services </a:t>
            </a:r>
            <a:br>
              <a:rPr lang="en-US" dirty="0"/>
            </a:br>
            <a:r>
              <a:rPr lang="en-US" dirty="0"/>
              <a:t>c) Selling products online</a:t>
            </a:r>
            <a:br>
              <a:rPr lang="en-US" dirty="0"/>
            </a:br>
            <a:r>
              <a:rPr lang="en-US" dirty="0"/>
              <a:t>d) Managing company finances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324B5-6EE9-4884-9CF9-44737A10BE82}"/>
              </a:ext>
            </a:extLst>
          </p:cNvPr>
          <p:cNvSpPr txBox="1"/>
          <p:nvPr/>
        </p:nvSpPr>
        <p:spPr>
          <a:xfrm>
            <a:off x="5980580" y="5203576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A set of specialized organizational capabilities for enabling value for customers in the form of services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083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FD93-E7C5-45F0-8826-FCBC6C34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0D314-7F2B-477F-9393-5131E9467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does 'value' mean in service management?</a:t>
            </a:r>
            <a:br>
              <a:rPr lang="en-US" dirty="0"/>
            </a:br>
            <a:r>
              <a:rPr lang="en-US" dirty="0"/>
              <a:t>a) Monetary profit only</a:t>
            </a:r>
            <a:br>
              <a:rPr lang="en-US" dirty="0"/>
            </a:br>
            <a:r>
              <a:rPr lang="en-US" dirty="0"/>
              <a:t>b) The perceived benefits, usefulness, and importance of something </a:t>
            </a:r>
            <a:br>
              <a:rPr lang="en-US" dirty="0"/>
            </a:br>
            <a:r>
              <a:rPr lang="en-US" dirty="0"/>
              <a:t>c) Employee satisfaction only</a:t>
            </a:r>
            <a:br>
              <a:rPr lang="en-US" dirty="0"/>
            </a:br>
            <a:r>
              <a:rPr lang="en-US" dirty="0"/>
              <a:t>d) Number of services delivered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C4348-BC73-40BB-9C0F-F80F99CC1C2D}"/>
              </a:ext>
            </a:extLst>
          </p:cNvPr>
          <p:cNvSpPr txBox="1"/>
          <p:nvPr/>
        </p:nvSpPr>
        <p:spPr>
          <a:xfrm>
            <a:off x="6249521" y="4665693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The perceived benefits, usefulness, and importance of something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7949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97270-4054-477D-9019-CB9167B4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9AF22-3A1B-48F4-B29E-0DC23448A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does value co-creation involve?</a:t>
            </a:r>
            <a:br>
              <a:rPr lang="en-US" dirty="0"/>
            </a:br>
            <a:r>
              <a:rPr lang="en-US" dirty="0"/>
              <a:t>a) Provider delivering services without consumer involvement</a:t>
            </a:r>
            <a:br>
              <a:rPr lang="en-US" dirty="0"/>
            </a:br>
            <a:r>
              <a:rPr lang="en-US" dirty="0"/>
              <a:t>b) Collaboration between providers, consumers, and other stakeholders </a:t>
            </a:r>
            <a:br>
              <a:rPr lang="en-US" dirty="0"/>
            </a:br>
            <a:r>
              <a:rPr lang="en-US" dirty="0"/>
              <a:t>c) Financial auditing</a:t>
            </a:r>
            <a:br>
              <a:rPr lang="en-US" dirty="0"/>
            </a:br>
            <a:r>
              <a:rPr lang="en-US" dirty="0"/>
              <a:t>d) Outsourcing all services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F725B-468B-4304-AF45-9216E386AD00}"/>
              </a:ext>
            </a:extLst>
          </p:cNvPr>
          <p:cNvSpPr txBox="1"/>
          <p:nvPr/>
        </p:nvSpPr>
        <p:spPr>
          <a:xfrm>
            <a:off x="5967132" y="4813611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Collaboration between providers, consumers, and other stakeholders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4786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5213-D7B2-4125-AF4D-758082B69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84F53-6706-45C9-8FB8-80B3D6963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roles can a service consumer play?</a:t>
            </a:r>
            <a:br>
              <a:rPr lang="en-US" dirty="0"/>
            </a:br>
            <a:r>
              <a:rPr lang="en-US" dirty="0"/>
              <a:t>a) Manager, Accountant, Developer</a:t>
            </a:r>
            <a:br>
              <a:rPr lang="en-US" dirty="0"/>
            </a:br>
            <a:r>
              <a:rPr lang="en-US" dirty="0"/>
              <a:t>b) Customer, User, Sponsor </a:t>
            </a:r>
            <a:br>
              <a:rPr lang="en-US" dirty="0"/>
            </a:br>
            <a:r>
              <a:rPr lang="en-US" dirty="0"/>
              <a:t>c) Only Customer</a:t>
            </a:r>
            <a:br>
              <a:rPr lang="en-US" dirty="0"/>
            </a:br>
            <a:r>
              <a:rPr lang="en-US" dirty="0"/>
              <a:t>d) Only User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B37A3-690B-49F1-82EF-71900DDFC822}"/>
              </a:ext>
            </a:extLst>
          </p:cNvPr>
          <p:cNvSpPr txBox="1"/>
          <p:nvPr/>
        </p:nvSpPr>
        <p:spPr>
          <a:xfrm>
            <a:off x="5751980" y="4548699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Customer, User, Sponsor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1851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D58D-7383-4279-8A06-83E6883E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0CE97-8C6D-4D7F-AEB9-27FA4EFE2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Who authorizes the budget for service consumption?</a:t>
            </a:r>
            <a:br>
              <a:rPr lang="en-US" dirty="0"/>
            </a:br>
            <a:r>
              <a:rPr lang="en-US" dirty="0"/>
              <a:t>a) User</a:t>
            </a:r>
            <a:br>
              <a:rPr lang="en-US" dirty="0"/>
            </a:br>
            <a:r>
              <a:rPr lang="en-US" dirty="0"/>
              <a:t>b) Customer</a:t>
            </a:r>
            <a:br>
              <a:rPr lang="en-US" dirty="0"/>
            </a:br>
            <a:r>
              <a:rPr lang="en-US" dirty="0"/>
              <a:t>c) Sponsor </a:t>
            </a:r>
            <a:br>
              <a:rPr lang="en-US" dirty="0"/>
            </a:br>
            <a:r>
              <a:rPr lang="en-US" dirty="0"/>
              <a:t>d) Service provider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CC62F-A698-45EA-8D71-3A1D26716950}"/>
              </a:ext>
            </a:extLst>
          </p:cNvPr>
          <p:cNvSpPr txBox="1"/>
          <p:nvPr/>
        </p:nvSpPr>
        <p:spPr>
          <a:xfrm>
            <a:off x="5819215" y="4185628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c) Sponsor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867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0C634-7B19-4068-93FA-07FC40B51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89925-8481-4F54-AD36-0BC9B3921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of the following is not typically a stakeholder in service management?</a:t>
            </a:r>
            <a:br>
              <a:rPr lang="en-US" dirty="0"/>
            </a:br>
            <a:r>
              <a:rPr lang="en-US" dirty="0"/>
              <a:t>a) Individual employees</a:t>
            </a:r>
            <a:br>
              <a:rPr lang="en-US" dirty="0"/>
            </a:br>
            <a:r>
              <a:rPr lang="en-US" dirty="0"/>
              <a:t>b) Partners and suppliers</a:t>
            </a:r>
            <a:br>
              <a:rPr lang="en-US" dirty="0"/>
            </a:br>
            <a:r>
              <a:rPr lang="en-US" dirty="0"/>
              <a:t>c) Financial accounting system </a:t>
            </a:r>
            <a:br>
              <a:rPr lang="en-US" dirty="0"/>
            </a:br>
            <a:r>
              <a:rPr lang="en-US" dirty="0"/>
              <a:t>d) Government organizations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00052-F1F4-48B1-8C57-25B03D78703F}"/>
              </a:ext>
            </a:extLst>
          </p:cNvPr>
          <p:cNvSpPr txBox="1"/>
          <p:nvPr/>
        </p:nvSpPr>
        <p:spPr>
          <a:xfrm>
            <a:off x="5819215" y="4629381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c) Financial accounting system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4977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A684-E72C-4923-B7C1-10A95EB4A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6F232-C4DD-4566-BF2E-87C3B723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is a 'product' defined in ITIL?</a:t>
            </a:r>
            <a:br>
              <a:rPr lang="en-US" dirty="0"/>
            </a:br>
            <a:r>
              <a:rPr lang="en-US" dirty="0"/>
              <a:t>a) Physical goods only</a:t>
            </a:r>
            <a:br>
              <a:rPr lang="en-US" dirty="0"/>
            </a:br>
            <a:r>
              <a:rPr lang="en-US" dirty="0"/>
              <a:t>b) A configuration of an organization’s resources designed to offer value for a consumer </a:t>
            </a:r>
            <a:br>
              <a:rPr lang="en-US" dirty="0"/>
            </a:br>
            <a:r>
              <a:rPr lang="en-US" dirty="0"/>
              <a:t>c) Service level agreement</a:t>
            </a:r>
            <a:br>
              <a:rPr lang="en-US" dirty="0"/>
            </a:br>
            <a:r>
              <a:rPr lang="en-US" dirty="0"/>
              <a:t>d) Marketing material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4D922-54D8-4CB5-A515-036BD3A145B0}"/>
              </a:ext>
            </a:extLst>
          </p:cNvPr>
          <p:cNvSpPr txBox="1"/>
          <p:nvPr/>
        </p:nvSpPr>
        <p:spPr>
          <a:xfrm>
            <a:off x="5255560" y="4665693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A configuration of an organization’s resources designed to offer value for a consumer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809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5927-988E-4491-898B-7A8671E6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D3B3C-CC18-49B5-B29C-39588436C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are the components of a service offering?</a:t>
            </a:r>
            <a:br>
              <a:rPr lang="en-US" dirty="0"/>
            </a:br>
            <a:r>
              <a:rPr lang="en-US" dirty="0"/>
              <a:t>a) People, Technology, Value streams</a:t>
            </a:r>
            <a:br>
              <a:rPr lang="en-US" dirty="0"/>
            </a:br>
            <a:r>
              <a:rPr lang="en-US" dirty="0"/>
              <a:t>b) Goods, Access to resources, Service actions </a:t>
            </a:r>
            <a:br>
              <a:rPr lang="en-US" dirty="0"/>
            </a:br>
            <a:r>
              <a:rPr lang="en-US" dirty="0"/>
              <a:t>c) Costs, Risks, Outputs</a:t>
            </a:r>
            <a:br>
              <a:rPr lang="en-US" dirty="0"/>
            </a:br>
            <a:r>
              <a:rPr lang="en-US" dirty="0"/>
              <a:t>d) Governance, Practices, Improvement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79C0C-1C56-410D-9241-951566CA7FB6}"/>
              </a:ext>
            </a:extLst>
          </p:cNvPr>
          <p:cNvSpPr txBox="1"/>
          <p:nvPr/>
        </p:nvSpPr>
        <p:spPr>
          <a:xfrm>
            <a:off x="5362015" y="4683169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Goods, Access to resources, Service actions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1390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7D6A-9F5A-4EF5-8346-F4CE44AC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03ECC-DE31-4A1D-9157-FB9BDD2F0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a service relationship?</a:t>
            </a:r>
            <a:br>
              <a:rPr lang="en-US" dirty="0"/>
            </a:br>
            <a:r>
              <a:rPr lang="en-US" dirty="0"/>
              <a:t>a) Cooperation between provider and consumer to co-create value </a:t>
            </a:r>
            <a:br>
              <a:rPr lang="en-US" dirty="0"/>
            </a:br>
            <a:r>
              <a:rPr lang="en-US" dirty="0"/>
              <a:t>b) Only the contract agreement</a:t>
            </a:r>
            <a:br>
              <a:rPr lang="en-US" dirty="0"/>
            </a:br>
            <a:r>
              <a:rPr lang="en-US" dirty="0"/>
              <a:t>c) Employee hierarchy</a:t>
            </a:r>
            <a:br>
              <a:rPr lang="en-US" dirty="0"/>
            </a:br>
            <a:r>
              <a:rPr lang="en-US" dirty="0"/>
              <a:t>d) Software licensing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1BCAB-E7E3-47AA-B2B6-DE4C3A6A9BB9}"/>
              </a:ext>
            </a:extLst>
          </p:cNvPr>
          <p:cNvSpPr txBox="1"/>
          <p:nvPr/>
        </p:nvSpPr>
        <p:spPr>
          <a:xfrm>
            <a:off x="5469592" y="4934635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a) Cooperation between provider and consumer to co-create value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2201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43F7-F8F0-4916-ACED-08B2A8FC5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3A79E-3018-4C7B-BF01-F06F971AF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are the three main components of service relationships?</a:t>
            </a:r>
            <a:br>
              <a:rPr lang="en-US" dirty="0"/>
            </a:br>
            <a:r>
              <a:rPr lang="en-US" dirty="0"/>
              <a:t>a) Governance, Outputs, Costs</a:t>
            </a:r>
            <a:br>
              <a:rPr lang="en-US" dirty="0"/>
            </a:br>
            <a:r>
              <a:rPr lang="en-US" dirty="0"/>
              <a:t>b) Service provision, Service consumption, Service relationship management </a:t>
            </a:r>
            <a:br>
              <a:rPr lang="en-US" dirty="0"/>
            </a:br>
            <a:r>
              <a:rPr lang="en-US" dirty="0"/>
              <a:t>c) Planning, Execution, Control</a:t>
            </a:r>
            <a:br>
              <a:rPr lang="en-US" dirty="0"/>
            </a:br>
            <a:r>
              <a:rPr lang="en-US" dirty="0"/>
              <a:t>d) Users, Sponsors, Customers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86BB3-C678-4B2C-89AC-1E25859FE21B}"/>
              </a:ext>
            </a:extLst>
          </p:cNvPr>
          <p:cNvSpPr txBox="1"/>
          <p:nvPr/>
        </p:nvSpPr>
        <p:spPr>
          <a:xfrm>
            <a:off x="5255560" y="4800164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Service provision, Service consumption, Service relationship management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1384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DD0D-62CA-4134-AE18-7B0A3EDB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6DAFC-B16F-4488-8A8D-A9181EB64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difference between output and outcome?</a:t>
            </a:r>
            <a:br>
              <a:rPr lang="en-US" dirty="0"/>
            </a:br>
            <a:r>
              <a:rPr lang="en-US" dirty="0"/>
              <a:t>a) Output is tangible; outcome is intangible</a:t>
            </a:r>
            <a:br>
              <a:rPr lang="en-US" dirty="0"/>
            </a:br>
            <a:r>
              <a:rPr lang="en-US" dirty="0"/>
              <a:t>b) Output is the deliverable; outcome is the result achieved by stakeholders </a:t>
            </a:r>
            <a:br>
              <a:rPr lang="en-US" dirty="0"/>
            </a:br>
            <a:r>
              <a:rPr lang="en-US" dirty="0"/>
              <a:t>c) Output is revenue; outcome is cost</a:t>
            </a:r>
            <a:br>
              <a:rPr lang="en-US" dirty="0"/>
            </a:br>
            <a:r>
              <a:rPr lang="en-US" dirty="0"/>
              <a:t>d) There is no difference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F4C90-7905-4F27-A3D5-3F4ABF4E8184}"/>
              </a:ext>
            </a:extLst>
          </p:cNvPr>
          <p:cNvSpPr txBox="1"/>
          <p:nvPr/>
        </p:nvSpPr>
        <p:spPr>
          <a:xfrm>
            <a:off x="5255560" y="4934635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Output is the deliverable; outcome is the result achieved by stakeholders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5670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276A-357F-43CB-93B8-9A691008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4988-A24F-4C66-8E9A-32C4726BB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costs are part of the value proposition for consumers?</a:t>
            </a:r>
            <a:br>
              <a:rPr lang="en-US" dirty="0"/>
            </a:br>
            <a:r>
              <a:rPr lang="en-US" dirty="0"/>
              <a:t>a) Costs removed from the consumer by the service </a:t>
            </a:r>
            <a:br>
              <a:rPr lang="en-US" dirty="0"/>
            </a:br>
            <a:r>
              <a:rPr lang="en-US" dirty="0"/>
              <a:t>b) Costs imposed on the provider</a:t>
            </a:r>
            <a:br>
              <a:rPr lang="en-US" dirty="0"/>
            </a:br>
            <a:r>
              <a:rPr lang="en-US" dirty="0"/>
              <a:t>c) Costs of competitors</a:t>
            </a:r>
            <a:br>
              <a:rPr lang="en-US" dirty="0"/>
            </a:br>
            <a:r>
              <a:rPr lang="en-US" dirty="0"/>
              <a:t>d) Irrelevant costs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27C73-4EE6-4601-9406-E3C7B07ED847}"/>
              </a:ext>
            </a:extLst>
          </p:cNvPr>
          <p:cNvSpPr txBox="1"/>
          <p:nvPr/>
        </p:nvSpPr>
        <p:spPr>
          <a:xfrm>
            <a:off x="5146862" y="4652246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a) Costs removed from the consumer by the service ✅</a:t>
            </a:r>
            <a:br>
              <a:rPr lang="en-US" dirty="0">
                <a:highlight>
                  <a:srgbClr val="00FF00"/>
                </a:highlight>
              </a:rPr>
            </a:b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6735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5697-39D8-4A24-8582-5325740C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EF420-AA20-454E-A518-67DBF2FB5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risks are the responsibility of the service provider to manage?</a:t>
            </a:r>
            <a:br>
              <a:rPr lang="en-US" dirty="0"/>
            </a:br>
            <a:r>
              <a:rPr lang="en-US" dirty="0"/>
              <a:t>a) Risks imposed on the consumer by the service </a:t>
            </a:r>
            <a:br>
              <a:rPr lang="en-US" dirty="0"/>
            </a:br>
            <a:r>
              <a:rPr lang="en-US" dirty="0"/>
              <a:t>b) Risks internal to the consumer only</a:t>
            </a:r>
            <a:br>
              <a:rPr lang="en-US" dirty="0"/>
            </a:br>
            <a:r>
              <a:rPr lang="en-US" dirty="0"/>
              <a:t>c) Financial market risks only</a:t>
            </a:r>
            <a:br>
              <a:rPr lang="en-US" dirty="0"/>
            </a:br>
            <a:r>
              <a:rPr lang="en-US" dirty="0"/>
              <a:t>d) No risks at all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FC06E-4ADA-4C87-8309-5DE8CCFC1009}"/>
              </a:ext>
            </a:extLst>
          </p:cNvPr>
          <p:cNvSpPr txBox="1"/>
          <p:nvPr/>
        </p:nvSpPr>
        <p:spPr>
          <a:xfrm>
            <a:off x="5765427" y="4790746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a) Risks imposed on the consumer by the service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9163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A69E-9E2B-41F2-A562-229653AC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4494D-6F5F-424C-997F-1B775EC8E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does 'utility' indicate in ITIL?</a:t>
            </a:r>
            <a:br>
              <a:rPr lang="en-US" dirty="0"/>
            </a:br>
            <a:r>
              <a:rPr lang="en-US" dirty="0"/>
              <a:t>a) How the service performs</a:t>
            </a:r>
            <a:br>
              <a:rPr lang="en-US" dirty="0"/>
            </a:br>
            <a:r>
              <a:rPr lang="en-US" dirty="0"/>
              <a:t>b) Functionality offered by a product/service to meet a particular need (‘fit for purpose’) </a:t>
            </a:r>
            <a:br>
              <a:rPr lang="en-US" dirty="0"/>
            </a:br>
            <a:r>
              <a:rPr lang="en-US" dirty="0"/>
              <a:t>c) Cost-effectiveness</a:t>
            </a:r>
            <a:br>
              <a:rPr lang="en-US" dirty="0"/>
            </a:br>
            <a:r>
              <a:rPr lang="en-US" dirty="0"/>
              <a:t>d) Governance alignment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7F029-3D5F-46C1-BA08-68D0A0ECBC4A}"/>
              </a:ext>
            </a:extLst>
          </p:cNvPr>
          <p:cNvSpPr txBox="1"/>
          <p:nvPr/>
        </p:nvSpPr>
        <p:spPr>
          <a:xfrm>
            <a:off x="5873003" y="4719482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Functionality offered by a product/service to meet a particular need (‘fit for purpose’)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6768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9B06-1C2E-4D6A-9C9F-3DAE2EDB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62E26-70AA-4113-BA8A-BEC8B5218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does 'warranty' indicate in ITIL?</a:t>
            </a:r>
            <a:br>
              <a:rPr lang="en-US" dirty="0"/>
            </a:br>
            <a:r>
              <a:rPr lang="en-US" dirty="0"/>
              <a:t>a) How the service performs (‘fit for use’) </a:t>
            </a:r>
            <a:br>
              <a:rPr lang="en-US" dirty="0"/>
            </a:br>
            <a:r>
              <a:rPr lang="en-US" dirty="0"/>
              <a:t>b) Ownership of the product</a:t>
            </a:r>
            <a:br>
              <a:rPr lang="en-US" dirty="0"/>
            </a:br>
            <a:r>
              <a:rPr lang="en-US" dirty="0"/>
              <a:t>c) Consumer satisfaction only</a:t>
            </a:r>
            <a:br>
              <a:rPr lang="en-US" dirty="0"/>
            </a:br>
            <a:r>
              <a:rPr lang="en-US" dirty="0"/>
              <a:t>d) Service creation speed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CF67E-E6D9-4343-A947-23EDF4265F73}"/>
              </a:ext>
            </a:extLst>
          </p:cNvPr>
          <p:cNvSpPr txBox="1"/>
          <p:nvPr/>
        </p:nvSpPr>
        <p:spPr>
          <a:xfrm>
            <a:off x="5255560" y="4723510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a) How the service performs (‘fit for use’)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6648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43F6-0D99-40EC-B4A4-7A72C981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3: The Four Dimensions of Service Management (15 MCQs)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F03A-5305-4171-B9E7-9636B3A92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of the following is NOT one of the four dimensions of service management?</a:t>
            </a:r>
            <a:br>
              <a:rPr lang="en-US" dirty="0"/>
            </a:br>
            <a:r>
              <a:rPr lang="en-US" dirty="0"/>
              <a:t>a) Organizations and people</a:t>
            </a:r>
            <a:br>
              <a:rPr lang="en-US" dirty="0"/>
            </a:br>
            <a:r>
              <a:rPr lang="en-US" dirty="0"/>
              <a:t>b) Information and technology</a:t>
            </a:r>
            <a:br>
              <a:rPr lang="en-US" dirty="0"/>
            </a:br>
            <a:r>
              <a:rPr lang="en-US" dirty="0"/>
              <a:t>c) Financial accounting </a:t>
            </a:r>
            <a:br>
              <a:rPr lang="en-US" dirty="0"/>
            </a:br>
            <a:r>
              <a:rPr lang="en-US" dirty="0"/>
              <a:t>d) Value streams and processes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78E61-AA33-430C-8776-77273938F221}"/>
              </a:ext>
            </a:extLst>
          </p:cNvPr>
          <p:cNvSpPr txBox="1"/>
          <p:nvPr/>
        </p:nvSpPr>
        <p:spPr>
          <a:xfrm>
            <a:off x="5255560" y="4535252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c) Financial accounting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8335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AAF2C-313D-4FE9-B56C-91213572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61725-705F-4530-9385-35B27A992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must organizations consider all four dimensions of service management?</a:t>
            </a:r>
            <a:br>
              <a:rPr lang="en-US" dirty="0"/>
            </a:br>
            <a:r>
              <a:rPr lang="en-US" dirty="0"/>
              <a:t>a) To improve financial reporting</a:t>
            </a:r>
            <a:br>
              <a:rPr lang="en-US" dirty="0"/>
            </a:br>
            <a:r>
              <a:rPr lang="en-US" dirty="0"/>
              <a:t>b) To ensure services are effective, efficient, and deliver value </a:t>
            </a:r>
            <a:br>
              <a:rPr lang="en-US" dirty="0"/>
            </a:br>
            <a:r>
              <a:rPr lang="en-US" dirty="0"/>
              <a:t>c) To reduce staff numbers</a:t>
            </a:r>
            <a:br>
              <a:rPr lang="en-US" dirty="0"/>
            </a:br>
            <a:r>
              <a:rPr lang="en-US" dirty="0"/>
              <a:t>d) To comply with ITIL only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90DBA-9FF9-459E-84F6-311C2C185428}"/>
              </a:ext>
            </a:extLst>
          </p:cNvPr>
          <p:cNvSpPr txBox="1"/>
          <p:nvPr/>
        </p:nvSpPr>
        <p:spPr>
          <a:xfrm>
            <a:off x="5819216" y="5136341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To ensure services are effective, efficient, and deliver value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1752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11E9-0D20-4C68-9F9B-DB64F9414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6A434-E4F3-4CCE-8328-AFD40877D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does the organizations and people dimension focus on?</a:t>
            </a:r>
            <a:br>
              <a:rPr lang="en-US" dirty="0"/>
            </a:br>
            <a:r>
              <a:rPr lang="en-US" dirty="0"/>
              <a:t>a) The organization’s culture, roles, responsibilities, and competencies </a:t>
            </a:r>
            <a:br>
              <a:rPr lang="en-US" dirty="0"/>
            </a:br>
            <a:r>
              <a:rPr lang="en-US" dirty="0"/>
              <a:t>b) Cloud computing adoption</a:t>
            </a:r>
            <a:br>
              <a:rPr lang="en-US" dirty="0"/>
            </a:br>
            <a:r>
              <a:rPr lang="en-US" dirty="0"/>
              <a:t>c) Financial cost optimization</a:t>
            </a:r>
            <a:br>
              <a:rPr lang="en-US" dirty="0"/>
            </a:br>
            <a:r>
              <a:rPr lang="en-US" dirty="0"/>
              <a:t>d) Supplier contracts only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97241-8C80-42E1-972F-CF0281D8F18F}"/>
              </a:ext>
            </a:extLst>
          </p:cNvPr>
          <p:cNvSpPr txBox="1"/>
          <p:nvPr/>
        </p:nvSpPr>
        <p:spPr>
          <a:xfrm>
            <a:off x="6093760" y="4504330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a) The organization’s culture, roles, responsibilities, and competencies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435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A3DD-EDED-4545-9C7C-7D8E2389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4B81C-BDAE-481E-B0ED-7193E153B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is culture important in the organizations and people dimension?</a:t>
            </a:r>
            <a:br>
              <a:rPr lang="en-US" dirty="0"/>
            </a:br>
            <a:r>
              <a:rPr lang="en-US" dirty="0"/>
              <a:t>a) It determines employee payroll</a:t>
            </a:r>
            <a:br>
              <a:rPr lang="en-US" dirty="0"/>
            </a:br>
            <a:r>
              <a:rPr lang="en-US" dirty="0"/>
              <a:t>b) It motivates people to work in desirable ways and supports objectives </a:t>
            </a:r>
            <a:br>
              <a:rPr lang="en-US" dirty="0"/>
            </a:br>
            <a:r>
              <a:rPr lang="en-US" dirty="0"/>
              <a:t>c) It dictates hardware usage</a:t>
            </a:r>
            <a:br>
              <a:rPr lang="en-US" dirty="0"/>
            </a:br>
            <a:r>
              <a:rPr lang="en-US" dirty="0"/>
              <a:t>d) It sets service pricing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32DD4-DE03-440C-9CED-918AC7BF6D49}"/>
              </a:ext>
            </a:extLst>
          </p:cNvPr>
          <p:cNvSpPr txBox="1"/>
          <p:nvPr/>
        </p:nvSpPr>
        <p:spPr>
          <a:xfrm>
            <a:off x="5255560" y="4786717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It motivates people to work in desirable ways and supports objectives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666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25E1-D268-40F5-A62A-7280A1E3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86DC2-87B5-4AB5-B5BA-B516BA8A9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of the following is a key aspect of the information and technology dimension?</a:t>
            </a:r>
            <a:br>
              <a:rPr lang="en-US" dirty="0"/>
            </a:br>
            <a:r>
              <a:rPr lang="en-US" dirty="0"/>
              <a:t>a) Service contracts</a:t>
            </a:r>
            <a:br>
              <a:rPr lang="en-US" dirty="0"/>
            </a:br>
            <a:r>
              <a:rPr lang="en-US" dirty="0"/>
              <a:t>b) The information and knowledge necessary to manage services, and the technologies that support them </a:t>
            </a:r>
            <a:br>
              <a:rPr lang="en-US" dirty="0"/>
            </a:br>
            <a:r>
              <a:rPr lang="en-US" dirty="0"/>
              <a:t>c) Team building exercises</a:t>
            </a:r>
            <a:br>
              <a:rPr lang="en-US" dirty="0"/>
            </a:br>
            <a:r>
              <a:rPr lang="en-US" dirty="0"/>
              <a:t>d) Customer billing only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F8E1D-1ABB-4E50-B48F-4689D90ADEE4}"/>
              </a:ext>
            </a:extLst>
          </p:cNvPr>
          <p:cNvSpPr txBox="1"/>
          <p:nvPr/>
        </p:nvSpPr>
        <p:spPr>
          <a:xfrm>
            <a:off x="5146862" y="4921188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The information and knowledge necessary to manage services, and the technologies that support them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485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5830-3554-446D-8BDA-9D7D9649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F1F6D-99A7-49E5-BBFC-4E1B9C650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does cloud computing affect IT service management?</a:t>
            </a:r>
            <a:br>
              <a:rPr lang="en-US" dirty="0"/>
            </a:br>
            <a:r>
              <a:rPr lang="en-US" dirty="0"/>
              <a:t>a) It increases capital expenditure only</a:t>
            </a:r>
            <a:br>
              <a:rPr lang="en-US" dirty="0"/>
            </a:br>
            <a:r>
              <a:rPr lang="en-US" dirty="0"/>
              <a:t>b) It introduces architectural shifts, opportunities, and risks for organizations </a:t>
            </a:r>
            <a:br>
              <a:rPr lang="en-US" dirty="0"/>
            </a:br>
            <a:r>
              <a:rPr lang="en-US" dirty="0"/>
              <a:t>c) It eliminates the need for processes</a:t>
            </a:r>
            <a:br>
              <a:rPr lang="en-US" dirty="0"/>
            </a:br>
            <a:r>
              <a:rPr lang="en-US" dirty="0"/>
              <a:t>d) It reduces the need for leadership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840B8-3FB4-4DD3-A192-DE6F6B23D45A}"/>
              </a:ext>
            </a:extLst>
          </p:cNvPr>
          <p:cNvSpPr txBox="1"/>
          <p:nvPr/>
        </p:nvSpPr>
        <p:spPr>
          <a:xfrm>
            <a:off x="4998945" y="5190129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It introduces architectural shifts, opportunities, and risks for organizations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3639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E85D-6FB6-4C55-AFB5-F006C7AC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79FF4-BC3E-489F-A6B6-A92D13F5D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of the following is a key characteristic of cloud computing?</a:t>
            </a:r>
            <a:br>
              <a:rPr lang="en-US" dirty="0"/>
            </a:br>
            <a:r>
              <a:rPr lang="en-US" dirty="0"/>
              <a:t>a) Measured service</a:t>
            </a:r>
            <a:br>
              <a:rPr lang="en-US" dirty="0"/>
            </a:br>
            <a:r>
              <a:rPr lang="en-US" dirty="0"/>
              <a:t>b) Rapid elasticity</a:t>
            </a:r>
            <a:br>
              <a:rPr lang="en-US" dirty="0"/>
            </a:br>
            <a:r>
              <a:rPr lang="en-US" dirty="0"/>
              <a:t>c) Resource pooling</a:t>
            </a:r>
            <a:br>
              <a:rPr lang="en-US" dirty="0"/>
            </a:br>
            <a:r>
              <a:rPr lang="en-US" dirty="0"/>
              <a:t>d) All of the above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50AFE-1DA9-407B-9A59-C0D991974DC1}"/>
              </a:ext>
            </a:extLst>
          </p:cNvPr>
          <p:cNvSpPr txBox="1"/>
          <p:nvPr/>
        </p:nvSpPr>
        <p:spPr>
          <a:xfrm>
            <a:off x="5738533" y="4669722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d) All of the above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5904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43A3-2D7A-4570-B12C-7EA5DC59F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207CB-470E-4FB6-8A2D-882FCD45E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focus of the partners and suppliers dimension?</a:t>
            </a:r>
            <a:br>
              <a:rPr lang="en-US" dirty="0"/>
            </a:br>
            <a:r>
              <a:rPr lang="en-US" dirty="0"/>
              <a:t>a) Employees’ skills</a:t>
            </a:r>
            <a:br>
              <a:rPr lang="en-US" dirty="0"/>
            </a:br>
            <a:r>
              <a:rPr lang="en-US" dirty="0"/>
              <a:t>b) Relationships with external organizations involved in service delivery and improvement </a:t>
            </a:r>
            <a:br>
              <a:rPr lang="en-US" dirty="0"/>
            </a:br>
            <a:r>
              <a:rPr lang="en-US" dirty="0"/>
              <a:t>c) Cloud architecture only</a:t>
            </a:r>
            <a:br>
              <a:rPr lang="en-US" dirty="0"/>
            </a:br>
            <a:r>
              <a:rPr lang="en-US" dirty="0"/>
              <a:t>d) Value stream optimization only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ABA52-BF9D-4B2D-A76E-6D995C14BBD4}"/>
              </a:ext>
            </a:extLst>
          </p:cNvPr>
          <p:cNvSpPr txBox="1"/>
          <p:nvPr/>
        </p:nvSpPr>
        <p:spPr>
          <a:xfrm>
            <a:off x="5967133" y="5015317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Relationships with external organizations involved in service delivery and improvement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405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CCBE-03A4-4A21-BCA0-A9CB0943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B946C-EBE3-4063-8D79-973133CF5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factor does NOT influence an organization’s strategy regarding partners and suppliers?</a:t>
            </a:r>
            <a:br>
              <a:rPr lang="en-US" dirty="0"/>
            </a:br>
            <a:r>
              <a:rPr lang="en-US" dirty="0"/>
              <a:t>a) Strategic focus</a:t>
            </a:r>
            <a:br>
              <a:rPr lang="en-US" dirty="0"/>
            </a:br>
            <a:r>
              <a:rPr lang="en-US" dirty="0"/>
              <a:t>b) Corporate culture</a:t>
            </a:r>
            <a:br>
              <a:rPr lang="en-US" dirty="0"/>
            </a:br>
            <a:r>
              <a:rPr lang="en-US" dirty="0"/>
              <a:t>c) Resource scarcity</a:t>
            </a:r>
            <a:br>
              <a:rPr lang="en-US" dirty="0"/>
            </a:br>
            <a:r>
              <a:rPr lang="en-US" dirty="0"/>
              <a:t>d) Employee vacation schedule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788D2-4CDD-4D7C-AA59-5E22DB165192}"/>
              </a:ext>
            </a:extLst>
          </p:cNvPr>
          <p:cNvSpPr txBox="1"/>
          <p:nvPr/>
        </p:nvSpPr>
        <p:spPr>
          <a:xfrm>
            <a:off x="6599144" y="4804193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d) Employee vacation schedule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036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BFF7-32C8-456F-A888-1D5BCFA6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CD28-6C63-49F1-BC3A-11AB6136F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a value stream in ITIL?</a:t>
            </a:r>
            <a:br>
              <a:rPr lang="en-US" dirty="0"/>
            </a:br>
            <a:r>
              <a:rPr lang="en-US" dirty="0"/>
              <a:t>a) A series of steps an organization uses to create and deliver products and services </a:t>
            </a:r>
            <a:br>
              <a:rPr lang="en-US" dirty="0"/>
            </a:br>
            <a:r>
              <a:rPr lang="en-US" dirty="0"/>
              <a:t>b) A cloud storage solution</a:t>
            </a:r>
            <a:br>
              <a:rPr lang="en-US" dirty="0"/>
            </a:br>
            <a:r>
              <a:rPr lang="en-US" dirty="0"/>
              <a:t>c) A type of supplier contract</a:t>
            </a:r>
            <a:br>
              <a:rPr lang="en-US" dirty="0"/>
            </a:br>
            <a:r>
              <a:rPr lang="en-US" dirty="0"/>
              <a:t>d) A financial report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8D0DC-F1A4-4285-B0EF-41BAB9B5AAF8}"/>
              </a:ext>
            </a:extLst>
          </p:cNvPr>
          <p:cNvSpPr txBox="1"/>
          <p:nvPr/>
        </p:nvSpPr>
        <p:spPr>
          <a:xfrm>
            <a:off x="5684745" y="4638800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a) A series of steps an organization uses to create and deliver products and services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5225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4E14-DE0D-4FFE-8A32-E5438FD4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FFD4D-6AED-48C6-A4A1-BE27D697C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is mapping value streams important?</a:t>
            </a:r>
            <a:br>
              <a:rPr lang="en-US" dirty="0"/>
            </a:br>
            <a:r>
              <a:rPr lang="en-US" dirty="0"/>
              <a:t>a) To assign salaries</a:t>
            </a:r>
            <a:br>
              <a:rPr lang="en-US" dirty="0"/>
            </a:br>
            <a:r>
              <a:rPr lang="en-US" dirty="0"/>
              <a:t>b) To identify non-value-adding activities (waste) and improve productivity </a:t>
            </a:r>
            <a:br>
              <a:rPr lang="en-US" dirty="0"/>
            </a:br>
            <a:r>
              <a:rPr lang="en-US" dirty="0"/>
              <a:t>c) To hire more staff</a:t>
            </a:r>
            <a:br>
              <a:rPr lang="en-US" dirty="0"/>
            </a:br>
            <a:r>
              <a:rPr lang="en-US" dirty="0"/>
              <a:t>d) To monitor suppliers only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77A22-A426-400D-8AB1-02DB24AF9B17}"/>
              </a:ext>
            </a:extLst>
          </p:cNvPr>
          <p:cNvSpPr txBox="1"/>
          <p:nvPr/>
        </p:nvSpPr>
        <p:spPr>
          <a:xfrm>
            <a:off x="5577168" y="4853952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To identify non-value-adding activities (waste) and improve productivity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0831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0ACD-B86E-40DB-A642-B5FA8F082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F210B-8A57-4802-8F73-38C2DDAD0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purpose of processes in the value streams and processes dimension?</a:t>
            </a:r>
            <a:br>
              <a:rPr lang="en-US" dirty="0"/>
            </a:br>
            <a:r>
              <a:rPr lang="en-US" dirty="0"/>
              <a:t>a) To assign roles only</a:t>
            </a:r>
            <a:br>
              <a:rPr lang="en-US" dirty="0"/>
            </a:br>
            <a:r>
              <a:rPr lang="en-US" dirty="0"/>
              <a:t>b) To transform inputs into outputs efficiently, achieving objectives </a:t>
            </a:r>
            <a:br>
              <a:rPr lang="en-US" dirty="0"/>
            </a:br>
            <a:r>
              <a:rPr lang="en-US" dirty="0"/>
              <a:t>c) To manage suppliers exclusively</a:t>
            </a:r>
            <a:br>
              <a:rPr lang="en-US" dirty="0"/>
            </a:br>
            <a:r>
              <a:rPr lang="en-US" dirty="0"/>
              <a:t>d) To measure employee attendance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4B9C9-0904-44AE-9789-3F2D6B5AC6A3}"/>
              </a:ext>
            </a:extLst>
          </p:cNvPr>
          <p:cNvSpPr txBox="1"/>
          <p:nvPr/>
        </p:nvSpPr>
        <p:spPr>
          <a:xfrm>
            <a:off x="5846109" y="5069105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To transform inputs into outputs efficiently, achieving objectives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748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8BA20-F64F-4044-9ABD-081A3AB6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B9D0D-6D4E-4883-8046-C9F0F58B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question is critical when considering processes in service design and delivery?</a:t>
            </a:r>
            <a:br>
              <a:rPr lang="en-US" dirty="0"/>
            </a:br>
            <a:r>
              <a:rPr lang="en-US" dirty="0"/>
              <a:t>a) How much does the service cost?</a:t>
            </a:r>
            <a:br>
              <a:rPr lang="en-US" dirty="0"/>
            </a:br>
            <a:r>
              <a:rPr lang="en-US" dirty="0"/>
              <a:t>b) Who performs the required service actions? </a:t>
            </a:r>
            <a:br>
              <a:rPr lang="en-US" dirty="0"/>
            </a:br>
            <a:r>
              <a:rPr lang="en-US" dirty="0"/>
              <a:t>c) Who approves holidays?</a:t>
            </a:r>
            <a:br>
              <a:rPr lang="en-US" dirty="0"/>
            </a:br>
            <a:r>
              <a:rPr lang="en-US" dirty="0"/>
              <a:t>d) Which cloud provider is cheapest?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A3ABA-66B3-482E-B1A2-3DE13975C8DB}"/>
              </a:ext>
            </a:extLst>
          </p:cNvPr>
          <p:cNvSpPr txBox="1"/>
          <p:nvPr/>
        </p:nvSpPr>
        <p:spPr>
          <a:xfrm>
            <a:off x="6249521" y="5355522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Who performs the required service actions?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4192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1B03-5264-40F2-9799-D79B620E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A1F8C-9CA2-4A10-AADE-005D8634C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do external factors impact the four dimensions of service management?</a:t>
            </a:r>
            <a:br>
              <a:rPr lang="en-US" dirty="0"/>
            </a:br>
            <a:r>
              <a:rPr lang="en-US" dirty="0"/>
              <a:t>a) They have no effect</a:t>
            </a:r>
            <a:br>
              <a:rPr lang="en-US" dirty="0"/>
            </a:br>
            <a:r>
              <a:rPr lang="en-US" dirty="0"/>
              <a:t>b) They constrain or influence how resources are configured and services are delivered </a:t>
            </a:r>
            <a:br>
              <a:rPr lang="en-US" dirty="0"/>
            </a:br>
            <a:r>
              <a:rPr lang="en-US" dirty="0"/>
              <a:t>c) They only affect financial planning</a:t>
            </a:r>
            <a:br>
              <a:rPr lang="en-US" dirty="0"/>
            </a:br>
            <a:r>
              <a:rPr lang="en-US" dirty="0"/>
              <a:t>d) They replace the need for ITIL practices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997D4-562D-4730-AC63-370945DDA3E2}"/>
              </a:ext>
            </a:extLst>
          </p:cNvPr>
          <p:cNvSpPr txBox="1"/>
          <p:nvPr/>
        </p:nvSpPr>
        <p:spPr>
          <a:xfrm>
            <a:off x="6093760" y="5405282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They constrain or influence how resources are configured and services are delivered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2752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C96B5-F2A9-4B95-B9CF-6A537886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CB0E-ED97-48E7-85AA-B48FEE66E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overall key message of the four dimensions of service management?</a:t>
            </a:r>
            <a:br>
              <a:rPr lang="en-US" dirty="0"/>
            </a:br>
            <a:r>
              <a:rPr lang="en-US" dirty="0"/>
              <a:t>a) Focus only on technology for service management</a:t>
            </a:r>
            <a:br>
              <a:rPr lang="en-US" dirty="0"/>
            </a:br>
            <a:r>
              <a:rPr lang="en-US" dirty="0"/>
              <a:t>b) Ensure a balanced, holistic approach across all dimensions to create value efficiently </a:t>
            </a:r>
            <a:br>
              <a:rPr lang="en-US" dirty="0"/>
            </a:br>
            <a:r>
              <a:rPr lang="en-US" dirty="0"/>
              <a:t>c) Avoid partnerships with suppliers</a:t>
            </a:r>
            <a:br>
              <a:rPr lang="en-US" dirty="0"/>
            </a:br>
            <a:r>
              <a:rPr lang="en-US" dirty="0"/>
              <a:t>d) Automate all processes regardless of context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CB7EF-2831-473A-B812-3471E706992E}"/>
              </a:ext>
            </a:extLst>
          </p:cNvPr>
          <p:cNvSpPr txBox="1"/>
          <p:nvPr/>
        </p:nvSpPr>
        <p:spPr>
          <a:xfrm>
            <a:off x="5362015" y="5257364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b) Ensure a balanced, holistic approach across all dimensions to create value efficiently ✅</a:t>
            </a:r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3865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2452</Words>
  <Application>Microsoft Office PowerPoint</Application>
  <PresentationFormat>Widescreen</PresentationFormat>
  <Paragraphs>137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ITIT MCQ QUESTIONS</vt:lpstr>
      <vt:lpstr>Chapter 1: Introduction &amp; ITIL 4 (15 MCQs)</vt:lpstr>
      <vt:lpstr>2</vt:lpstr>
      <vt:lpstr>3</vt:lpstr>
      <vt:lpstr>4</vt:lpstr>
      <vt:lpstr>5</vt:lpstr>
      <vt:lpstr>6</vt:lpstr>
      <vt:lpstr>7</vt:lpstr>
      <vt:lpstr>8</vt:lpstr>
      <vt:lpstr>9</vt:lpstr>
      <vt:lpstr>10</vt:lpstr>
      <vt:lpstr>11</vt:lpstr>
      <vt:lpstr>12</vt:lpstr>
      <vt:lpstr>13</vt:lpstr>
      <vt:lpstr>14</vt:lpstr>
      <vt:lpstr>15</vt:lpstr>
      <vt:lpstr>Chapter 2: Key Concepts of Service Management (15 MCQs)</vt:lpstr>
      <vt:lpstr>2</vt:lpstr>
      <vt:lpstr>3</vt:lpstr>
      <vt:lpstr>4</vt:lpstr>
      <vt:lpstr>5</vt:lpstr>
      <vt:lpstr>6</vt:lpstr>
      <vt:lpstr>7</vt:lpstr>
      <vt:lpstr>8</vt:lpstr>
      <vt:lpstr>9</vt:lpstr>
      <vt:lpstr>10</vt:lpstr>
      <vt:lpstr>11</vt:lpstr>
      <vt:lpstr>12</vt:lpstr>
      <vt:lpstr>13</vt:lpstr>
      <vt:lpstr>14</vt:lpstr>
      <vt:lpstr>15</vt:lpstr>
      <vt:lpstr>Chapter 3: The Four Dimensions of Service Management (15 MCQs)</vt:lpstr>
      <vt:lpstr>2</vt:lpstr>
      <vt:lpstr>3</vt:lpstr>
      <vt:lpstr>4</vt:lpstr>
      <vt:lpstr>5</vt:lpstr>
      <vt:lpstr>6</vt:lpstr>
      <vt:lpstr>7</vt:lpstr>
      <vt:lpstr>8</vt:lpstr>
      <vt:lpstr>9</vt:lpstr>
      <vt:lpstr>10</vt:lpstr>
      <vt:lpstr>11</vt:lpstr>
      <vt:lpstr>12</vt:lpstr>
      <vt:lpstr>13</vt:lpstr>
      <vt:lpstr>14</vt:lpstr>
      <vt:lpstr>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ITIT MCQ QUESTIONS</dc:title>
  <dc:creator>pvgit</dc:creator>
  <cp:lastModifiedBy>pvgit</cp:lastModifiedBy>
  <cp:revision>2</cp:revision>
  <dcterms:created xsi:type="dcterms:W3CDTF">2025-11-27T05:26:00Z</dcterms:created>
  <dcterms:modified xsi:type="dcterms:W3CDTF">2025-11-27T05:27:45Z</dcterms:modified>
</cp:coreProperties>
</file>