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12192000" cy="6858000"/>
  <p:embeddedFontLst>
    <p:embeddedFont>
      <p:font typeface="Cambria" panose="02040503050406030204" pitchFamily="18" charset="0"/>
      <p:regular r:id="rId44"/>
      <p:bold r:id="rId45"/>
      <p:italic r:id="rId46"/>
      <p:boldItalic r:id="rId47"/>
    </p:embeddedFont>
    <p:embeddedFont>
      <p:font typeface="Quattrocento Sans" panose="020B0502050000020003" pitchFamily="34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iVgi7w5CG929hUSgTBjFImX2JX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BA3099D-77C6-430F-AAB9-2D9F2CF3D637}">
  <a:tblStyle styleId="{8BA3099D-77C6-430F-AAB9-2D9F2CF3D63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BA736BE-930A-432B-A9C0-869C53C94075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FF3E9"/>
          </a:solidFill>
        </a:fill>
      </a:tcStyle>
    </a:wholeTbl>
    <a:band1H>
      <a:tcTxStyle/>
      <a:tcStyle>
        <a:tcBdr/>
        <a:fill>
          <a:solidFill>
            <a:srgbClr val="DEE7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EE7D0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FF3E9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FF3E9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5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bb32dd631_0_1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g3abb32dd63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abb32dd631_0_2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g3abb32dd63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abb32dd631_0_3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g3abb32dd631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 txBox="1"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>
                <a:solidFill>
                  <a:srgbClr val="C84B24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0"/>
          <p:cNvSpPr txBox="1">
            <a:spLocks noGrp="1"/>
          </p:cNvSpPr>
          <p:nvPr>
            <p:ph type="body" idx="1"/>
          </p:nvPr>
        </p:nvSpPr>
        <p:spPr>
          <a:xfrm>
            <a:off x="1731010" y="2270505"/>
            <a:ext cx="8729980" cy="25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1"/>
          <p:cNvSpPr txBox="1"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>
                <a:solidFill>
                  <a:srgbClr val="C84B24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2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>
                <a:solidFill>
                  <a:srgbClr val="C84B24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2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4984" y="432816"/>
            <a:ext cx="3459183" cy="6123432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3"/>
          <p:cNvSpPr/>
          <p:nvPr/>
        </p:nvSpPr>
        <p:spPr>
          <a:xfrm>
            <a:off x="2934462" y="2177033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 h="120000" extrusionOk="0">
                <a:moveTo>
                  <a:pt x="0" y="0"/>
                </a:moveTo>
                <a:lnTo>
                  <a:pt x="8770619" y="0"/>
                </a:lnTo>
              </a:path>
            </a:pathLst>
          </a:custGeom>
          <a:noFill/>
          <a:ln w="38100" cap="flat" cmpd="sng">
            <a:solidFill>
              <a:srgbClr val="79A8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5" name="Google Shape;35;p43"/>
          <p:cNvSpPr/>
          <p:nvPr/>
        </p:nvSpPr>
        <p:spPr>
          <a:xfrm>
            <a:off x="2944368" y="2456687"/>
            <a:ext cx="3077845" cy="1516380"/>
          </a:xfrm>
          <a:custGeom>
            <a:avLst/>
            <a:gdLst/>
            <a:ahLst/>
            <a:cxnLst/>
            <a:rect l="l" t="t" r="r" b="b"/>
            <a:pathLst>
              <a:path w="3077845" h="1516379" extrusionOk="0">
                <a:moveTo>
                  <a:pt x="3077845" y="757428"/>
                </a:moveTo>
                <a:lnTo>
                  <a:pt x="3066948" y="751078"/>
                </a:lnTo>
                <a:lnTo>
                  <a:pt x="2989199" y="705739"/>
                </a:lnTo>
                <a:lnTo>
                  <a:pt x="2985262" y="706755"/>
                </a:lnTo>
                <a:lnTo>
                  <a:pt x="2981706" y="712851"/>
                </a:lnTo>
                <a:lnTo>
                  <a:pt x="2982722" y="716661"/>
                </a:lnTo>
                <a:lnTo>
                  <a:pt x="3041700" y="751078"/>
                </a:lnTo>
                <a:lnTo>
                  <a:pt x="2528316" y="751078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lnTo>
                  <a:pt x="2528316" y="1516380"/>
                </a:lnTo>
                <a:lnTo>
                  <a:pt x="2528316" y="763778"/>
                </a:lnTo>
                <a:lnTo>
                  <a:pt x="3041700" y="763778"/>
                </a:lnTo>
                <a:lnTo>
                  <a:pt x="2982722" y="798195"/>
                </a:lnTo>
                <a:lnTo>
                  <a:pt x="2981706" y="802005"/>
                </a:lnTo>
                <a:lnTo>
                  <a:pt x="2985262" y="808101"/>
                </a:lnTo>
                <a:lnTo>
                  <a:pt x="2989199" y="809117"/>
                </a:lnTo>
                <a:lnTo>
                  <a:pt x="3066948" y="763778"/>
                </a:lnTo>
                <a:lnTo>
                  <a:pt x="3077845" y="757428"/>
                </a:lnTo>
                <a:close/>
              </a:path>
            </a:pathLst>
          </a:custGeom>
          <a:solidFill>
            <a:srgbClr val="79A8A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6" name="Google Shape;36;p43"/>
          <p:cNvSpPr/>
          <p:nvPr/>
        </p:nvSpPr>
        <p:spPr>
          <a:xfrm>
            <a:off x="2944368" y="2456688"/>
            <a:ext cx="2528570" cy="1516380"/>
          </a:xfrm>
          <a:custGeom>
            <a:avLst/>
            <a:gdLst/>
            <a:ahLst/>
            <a:cxnLst/>
            <a:rect l="l" t="t" r="r" b="b"/>
            <a:pathLst>
              <a:path w="2528570" h="1516379" extrusionOk="0">
                <a:moveTo>
                  <a:pt x="0" y="1516380"/>
                </a:moveTo>
                <a:lnTo>
                  <a:pt x="2528316" y="1516380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noFill/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7" name="Google Shape;37;p43"/>
          <p:cNvSpPr txBox="1"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>
                <a:solidFill>
                  <a:srgbClr val="C84B24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3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3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C84B24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9"/>
          <p:cNvSpPr txBox="1">
            <a:spLocks noGrp="1"/>
          </p:cNvSpPr>
          <p:nvPr>
            <p:ph type="body" idx="1"/>
          </p:nvPr>
        </p:nvSpPr>
        <p:spPr>
          <a:xfrm>
            <a:off x="1731010" y="2270505"/>
            <a:ext cx="8729980" cy="25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9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3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39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gi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" descr="$PPTXTitle"/>
          <p:cNvSpPr txBox="1">
            <a:spLocks noGrp="1"/>
          </p:cNvSpPr>
          <p:nvPr>
            <p:ph type="title"/>
          </p:nvPr>
        </p:nvSpPr>
        <p:spPr>
          <a:xfrm>
            <a:off x="1950528" y="1362809"/>
            <a:ext cx="8546465" cy="2103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5080" lvl="0" indent="2650490" algn="l" rtl="0">
              <a:lnSpc>
                <a:spcPct val="1261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Introduction to AI</a:t>
            </a:r>
            <a:br>
              <a:rPr lang="en-US" sz="4400" b="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4400" b="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                   </a:t>
            </a:r>
            <a:r>
              <a:rPr lang="en-US" sz="3600" b="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Environment types</a:t>
            </a:r>
            <a:br>
              <a:rPr lang="en-US" sz="4400" b="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4400" b="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                        </a:t>
            </a:r>
            <a:r>
              <a:rPr lang="en-US" sz="3200" b="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SY B.Sc. (CS)</a:t>
            </a:r>
            <a:endParaRPr sz="4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4733290" y="3920997"/>
            <a:ext cx="2729865" cy="274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Semester IV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5410961" y="3766565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 h="120000" extrusionOk="0">
                <a:moveTo>
                  <a:pt x="0" y="0"/>
                </a:moveTo>
                <a:lnTo>
                  <a:pt x="1371599" y="0"/>
                </a:lnTo>
              </a:path>
            </a:pathLst>
          </a:custGeom>
          <a:noFill/>
          <a:ln w="38100" cap="flat" cmpd="sng">
            <a:solidFill>
              <a:srgbClr val="00A4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5" name="Google Shape;55;p1"/>
          <p:cNvSpPr txBox="1"/>
          <p:nvPr/>
        </p:nvSpPr>
        <p:spPr>
          <a:xfrm>
            <a:off x="545388" y="6519164"/>
            <a:ext cx="110489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DFCF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6" name="Google Shape;56;p1" descr="$PPTXTitle"/>
          <p:cNvSpPr txBox="1"/>
          <p:nvPr/>
        </p:nvSpPr>
        <p:spPr>
          <a:xfrm>
            <a:off x="3189922" y="5105400"/>
            <a:ext cx="8546465" cy="132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5080" lvl="0" indent="2650490" algn="r" rtl="0">
              <a:lnSpc>
                <a:spcPct val="34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             Poornima .N</a:t>
            </a:r>
            <a:endParaRPr dirty="0"/>
          </a:p>
          <a:p>
            <a:pPr marL="12700" marR="5080" lvl="0" indent="2650490" algn="r" rtl="0">
              <a:lnSpc>
                <a:spcPct val="34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Assistant Professor, Department of IT/CS</a:t>
            </a:r>
            <a:endParaRPr sz="1600" b="1" i="0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2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62" name="Google Shape;62;p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63;p2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A6A6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4" name="Google Shape;64;p2"/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Deterministic</a:t>
            </a:r>
            <a:endParaRPr/>
          </a:p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Stochastic</a:t>
            </a:r>
            <a:endParaRPr/>
          </a:p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Static</a:t>
            </a:r>
            <a:endParaRPr/>
          </a:p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Dynamic</a:t>
            </a:r>
            <a:endParaRPr/>
          </a:p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Observable</a:t>
            </a:r>
            <a:endParaRPr/>
          </a:p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partially observable</a:t>
            </a:r>
            <a:endParaRPr/>
          </a:p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Single</a:t>
            </a:r>
            <a:endParaRPr/>
          </a:p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multi-agent.</a:t>
            </a:r>
            <a:endParaRPr sz="6000"/>
          </a:p>
        </p:txBody>
      </p:sp>
      <p:sp>
        <p:nvSpPr>
          <p:cNvPr id="65" name="Google Shape;65;p2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10591039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	</a:t>
            </a:r>
            <a:r>
              <a:rPr lang="en-US" sz="4400"/>
              <a:t> Topics:</a:t>
            </a:r>
            <a:endParaRPr sz="4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7924800" y="4495805"/>
            <a:ext cx="4219702" cy="2318762"/>
          </a:xfrm>
          <a:prstGeom prst="cloud">
            <a:avLst/>
          </a:prstGeom>
          <a:solidFill>
            <a:schemeClr val="accent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8382000" y="4791443"/>
            <a:ext cx="3459183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"If you are playing a game like PUBG or Free Fire — is the environment fully predictable? Can you always know what the enemy will do next?"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73" name="Google Shape;73;p3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74" name="Google Shape;74;p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" name="Google Shape;75;p3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76" name="Google Shape;76;p3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3	</a:t>
            </a:r>
            <a:r>
              <a:rPr lang="en-US" sz="4400"/>
              <a:t>What is Task Environment?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2934462" y="2286000"/>
            <a:ext cx="8448040" cy="1902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A </a:t>
            </a:r>
            <a:r>
              <a:rPr lang="en-US" sz="2800" b="1"/>
              <a:t>task environment</a:t>
            </a:r>
            <a:r>
              <a:rPr lang="en-US" sz="2800"/>
              <a:t> is everything around an agent that affects how it works. It defines the problem the agent needs to solve and the conditions in which it must operate.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83" name="Google Shape;83;p4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84" name="Google Shape;84;p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p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86" name="Google Shape;86;p4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4	</a:t>
            </a:r>
            <a:r>
              <a:rPr lang="en-US" sz="4400"/>
              <a:t>PEAS: Task Environment Specification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87" name="Google Shape;87;p4"/>
          <p:cNvGraphicFramePr/>
          <p:nvPr/>
        </p:nvGraphicFramePr>
        <p:xfrm>
          <a:off x="2667000" y="2380222"/>
          <a:ext cx="8534400" cy="3844490"/>
        </p:xfrm>
        <a:graphic>
          <a:graphicData uri="http://schemas.openxmlformats.org/drawingml/2006/table">
            <a:tbl>
              <a:tblPr>
                <a:noFill/>
                <a:tableStyleId>{8BA3099D-77C6-430F-AAB9-2D9F2CF3D637}</a:tableStyleId>
              </a:tblPr>
              <a:tblGrid>
                <a:gridCol w="853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3600"/>
                        <a:buFont typeface="Calibri"/>
                        <a:buNone/>
                      </a:pPr>
                      <a:r>
                        <a:rPr lang="en-US" sz="3600" b="1" u="none" strike="noStrike" cap="none"/>
                        <a:t>PEAS</a:t>
                      </a:r>
                      <a:r>
                        <a:rPr lang="en-US" sz="3600" u="none" strike="noStrike" cap="none"/>
                        <a:t> stands for:</a:t>
                      </a:r>
                      <a:endParaRPr/>
                    </a:p>
                  </a:txBody>
                  <a:tcPr marL="72200" marR="72200" marT="36100" marB="361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* </a:t>
                      </a:r>
                      <a:r>
                        <a:rPr lang="en-US" sz="1800" b="1" u="none" strike="noStrike" cap="none"/>
                        <a:t>P</a:t>
                      </a:r>
                      <a:r>
                        <a:rPr lang="en-US" sz="1800" u="none" strike="noStrike" cap="none"/>
                        <a:t>erformance Measure: Criteria for success (e.g., getting to destination, safety).</a:t>
                      </a:r>
                      <a:endParaRPr/>
                    </a:p>
                  </a:txBody>
                  <a:tcPr marL="72200" marR="72200" marT="36100" marB="36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7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* </a:t>
                      </a:r>
                      <a:r>
                        <a:rPr lang="en-US" sz="1800" b="1" u="none" strike="noStrike" cap="none"/>
                        <a:t>E</a:t>
                      </a:r>
                      <a:r>
                        <a:rPr lang="en-US" sz="1800" u="none" strike="noStrike" cap="none"/>
                        <a:t>nvironment: The world the agent operates in (e.g., roads, traffic, passengers).</a:t>
                      </a:r>
                      <a:endParaRPr/>
                    </a:p>
                  </a:txBody>
                  <a:tcPr marL="72200" marR="72200" marT="36100" marB="36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7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* </a:t>
                      </a:r>
                      <a:r>
                        <a:rPr lang="en-US" sz="1800" b="1" u="none" strike="noStrike" cap="none"/>
                        <a:t>A</a:t>
                      </a:r>
                      <a:r>
                        <a:rPr lang="en-US" sz="1800" u="none" strike="noStrike" cap="none"/>
                        <a:t>ctuators: The mechanisms for performing actions (e.g., accelerator, steering, display).</a:t>
                      </a:r>
                      <a:endParaRPr/>
                    </a:p>
                  </a:txBody>
                  <a:tcPr marL="72200" marR="72200" marT="36100" marB="36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9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* </a:t>
                      </a:r>
                      <a:r>
                        <a:rPr lang="en-US" sz="1800" b="1" u="none" strike="noStrike" cap="none"/>
                        <a:t>S</a:t>
                      </a:r>
                      <a:r>
                        <a:rPr lang="en-US" sz="1800" u="none" strike="noStrike" cap="none"/>
                        <a:t>ensors: The inputs that perceive the environment (e.g., camera, GPS, speedometer).</a:t>
                      </a:r>
                      <a:endParaRPr/>
                    </a:p>
                  </a:txBody>
                  <a:tcPr marL="72200" marR="72200" marT="36100" marB="361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93" name="Google Shape;93;p5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94" name="Google Shape;94;p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96" name="Google Shape;96;p5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5	</a:t>
            </a:r>
            <a:r>
              <a:rPr lang="en-US" sz="4400"/>
              <a:t>Activity 1: Defining PEAS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2934462" y="2286000"/>
            <a:ext cx="8448040" cy="104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Task: Define the </a:t>
            </a:r>
            <a:r>
              <a:rPr lang="en-US" sz="2800" b="1"/>
              <a:t>PEAS</a:t>
            </a:r>
            <a:r>
              <a:rPr lang="en-US" sz="2800"/>
              <a:t> for a different simple agent, like a </a:t>
            </a:r>
            <a:r>
              <a:rPr lang="en-US" sz="2800" b="1"/>
              <a:t>Spam Email Filter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03" name="Google Shape;103;p6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104" name="Google Shape;104;p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6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06" name="Google Shape;106;p6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6	</a:t>
            </a:r>
            <a:r>
              <a:rPr lang="en-US" sz="4400"/>
              <a:t>Properties of Task Environment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2934462" y="2286000"/>
            <a:ext cx="8448040" cy="2764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Task environments can be understood based on different properties.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These properties help us decide what kind of agent is needed and how it should behave in a particular situation.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7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113" name="Google Shape;113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7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15" name="Google Shape;115;p7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7	</a:t>
            </a:r>
            <a:r>
              <a:rPr lang="en-US" sz="4400"/>
              <a:t> 1️⃣ Observability: </a:t>
            </a:r>
            <a:br>
              <a:rPr lang="en-US" sz="4400"/>
            </a:br>
            <a:r>
              <a:rPr lang="en-US" sz="4400"/>
              <a:t>          State Knowledge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2514600" y="2514600"/>
            <a:ext cx="10134600" cy="60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How much of the world can I see?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8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122" name="Google Shape;122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8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24" name="Google Shape;124;p8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8	</a:t>
            </a:r>
            <a:r>
              <a:rPr lang="en-US" sz="4400"/>
              <a:t> 1️⃣ A) Fully Observable: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5" name="Google Shape;125;p8"/>
          <p:cNvSpPr txBox="1"/>
          <p:nvPr/>
        </p:nvSpPr>
        <p:spPr>
          <a:xfrm>
            <a:off x="2514600" y="2514600"/>
            <a:ext cx="10134600" cy="1471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agent's sensors give it access to the </a:t>
            </a:r>
            <a:r>
              <a:rPr lang="en-US" sz="2800" b="1"/>
              <a:t>complete, relevant state</a:t>
            </a:r>
            <a:r>
              <a:rPr lang="en-US" sz="2800"/>
              <a:t> of the environment.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agent </a:t>
            </a:r>
            <a:r>
              <a:rPr lang="en-US" sz="2800" b="1"/>
              <a:t>does not need to maintain memory</a:t>
            </a:r>
            <a:r>
              <a:rPr lang="en-US" sz="2800"/>
              <a:t>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9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131" name="Google Shape;131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" name="Google Shape;132;p9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33" name="Google Shape;133;p9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9	</a:t>
            </a:r>
            <a:r>
              <a:rPr lang="en-US" sz="4400"/>
              <a:t> 1️⃣ B) Partially Observable: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2514600" y="2514600"/>
            <a:ext cx="10134600" cy="1902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Parts of the state are missing, hidden, or sensors are inaccurate/noisy.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agent </a:t>
            </a:r>
            <a:r>
              <a:rPr lang="en-US" sz="2800" b="1"/>
              <a:t>must maintain internal state/memory</a:t>
            </a:r>
            <a:r>
              <a:rPr lang="en-US" sz="2800"/>
              <a:t> to infer the hidden parts of the world.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40" name="Google Shape;140;p10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141" name="Google Shape;141;p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0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43" name="Google Shape;143;p10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10	</a:t>
            </a:r>
            <a:r>
              <a:rPr lang="en-US" sz="4400"/>
              <a:t>Activity 2: Observability Check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4" name="Google Shape;144;p10"/>
          <p:cNvSpPr txBox="1"/>
          <p:nvPr/>
        </p:nvSpPr>
        <p:spPr>
          <a:xfrm>
            <a:off x="2934462" y="2286000"/>
            <a:ext cx="8448040" cy="2764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/>
              <a:t>Task:</a:t>
            </a:r>
            <a:r>
              <a:rPr lang="en-US" sz="2800"/>
              <a:t> Which is </a:t>
            </a:r>
            <a:r>
              <a:rPr lang="en-US" sz="2800" b="1"/>
              <a:t>Partially Observable</a:t>
            </a:r>
            <a:r>
              <a:rPr lang="en-US" sz="2800"/>
              <a:t> and why: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An agent checking if a chess move is legal (all pieces visible).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An agent playing the card game </a:t>
            </a:r>
            <a:r>
              <a:rPr lang="en-US" sz="28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Poker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(opponents' hands are hidden).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50" name="Google Shape;150;p11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151" name="Google Shape;151;p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1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53" name="Google Shape;153;p11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11	</a:t>
            </a:r>
            <a:r>
              <a:rPr lang="en-US" sz="4400"/>
              <a:t>2️⃣ Agent Type: Interaction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4" name="Google Shape;154;p11"/>
          <p:cNvSpPr txBox="1"/>
          <p:nvPr/>
        </p:nvSpPr>
        <p:spPr>
          <a:xfrm>
            <a:off x="1905000" y="2053477"/>
            <a:ext cx="10134600" cy="6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Am I alone, or are there other intelligent players?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60" name="Google Shape;160;p12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161" name="Google Shape;161;p1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12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63" name="Google Shape;163;p12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12	</a:t>
            </a:r>
            <a:r>
              <a:rPr lang="en-US" sz="4400"/>
              <a:t> 2️⃣ A) Single Agent: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4" name="Google Shape;164;p12"/>
          <p:cNvSpPr txBox="1"/>
          <p:nvPr/>
        </p:nvSpPr>
        <p:spPr>
          <a:xfrm>
            <a:off x="1905000" y="2053477"/>
            <a:ext cx="10134600" cy="104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agent operates alone; other entities are treated as </a:t>
            </a:r>
            <a:r>
              <a:rPr lang="en-US" sz="2800" b="1"/>
              <a:t>passive objects</a:t>
            </a:r>
            <a:r>
              <a:rPr lang="en-US" sz="2800"/>
              <a:t> (e.g., leaves blowing in the wind).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70" name="Google Shape;170;p13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171" name="Google Shape;171;p1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3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73" name="Google Shape;173;p13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13	</a:t>
            </a:r>
            <a:r>
              <a:rPr lang="en-US" sz="4400"/>
              <a:t> 2️⃣ B) Multi-agent: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4" name="Google Shape;174;p13"/>
          <p:cNvSpPr txBox="1"/>
          <p:nvPr/>
        </p:nvSpPr>
        <p:spPr>
          <a:xfrm>
            <a:off x="1905000" y="2053477"/>
            <a:ext cx="10134600" cy="2764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Other entities are agents who are </a:t>
            </a:r>
            <a:r>
              <a:rPr lang="en-US" sz="2800" b="1"/>
              <a:t>maximizing their own performance measure</a:t>
            </a:r>
            <a:r>
              <a:rPr lang="en-US" sz="2800"/>
              <a:t>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Requires reasoning about other agents' goals, which can be:</a:t>
            </a: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/>
              <a:t>Competitive</a:t>
            </a:r>
            <a:r>
              <a:rPr lang="en-US" sz="2800"/>
              <a:t> (e.g., minimizing your score, like Chess).</a:t>
            </a:r>
            <a:endParaRPr/>
          </a:p>
          <a:p>
            <a:pPr marL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/>
              <a:t>Cooperative</a:t>
            </a:r>
            <a:r>
              <a:rPr lang="en-US" sz="2800"/>
              <a:t> (e.g., shared goal, like working on an assembly line).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80" name="Google Shape;180;p14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181" name="Google Shape;181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1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83" name="Google Shape;183;p14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14	</a:t>
            </a:r>
            <a:r>
              <a:rPr lang="en-US" sz="4400"/>
              <a:t>Activity 3: Agent Type Identification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4" name="Google Shape;184;p14"/>
          <p:cNvSpPr txBox="1"/>
          <p:nvPr/>
        </p:nvSpPr>
        <p:spPr>
          <a:xfrm>
            <a:off x="2934462" y="2286000"/>
            <a:ext cx="8448040" cy="2764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/>
              <a:t>Task:</a:t>
            </a:r>
            <a:r>
              <a:rPr lang="en-US" sz="2800"/>
              <a:t> Ask the class to categorize the following as Single, Competitive Multi-agent, or Cooperative Multi-agent: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1. A medical diagnosis system.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2. An automated stock trading system.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3. A team of robotic search-and-rescue dogs.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90" name="Google Shape;190;p15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191" name="Google Shape;191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" name="Google Shape;192;p1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93" name="Google Shape;193;p15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8457439" cy="1367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15	</a:t>
            </a:r>
            <a:r>
              <a:rPr lang="en-US" sz="4400"/>
              <a:t> 3️⃣ Predictability: Outcome Certainty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3095752" y="2097688"/>
            <a:ext cx="8448040" cy="60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If I take an action, do I always get the same result?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00" name="Google Shape;200;p16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201" name="Google Shape;201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16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03" name="Google Shape;203;p16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8457439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16	</a:t>
            </a:r>
            <a:r>
              <a:rPr lang="en-US" sz="4400"/>
              <a:t> 3️⃣ A) Deterministic: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3095752" y="2097688"/>
            <a:ext cx="8448040" cy="1902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next state is </a:t>
            </a:r>
            <a:r>
              <a:rPr lang="en-US" sz="2800" b="1"/>
              <a:t>completely determined</a:t>
            </a:r>
            <a:r>
              <a:rPr lang="en-US" sz="2800"/>
              <a:t> by the current state and the agent's action.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In a fully observable environment, there is no uncertainty.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10" name="Google Shape;210;p17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211" name="Google Shape;211;p1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" name="Google Shape;212;p17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13" name="Google Shape;213;p17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8457439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17	</a:t>
            </a:r>
            <a:r>
              <a:rPr lang="en-US" sz="4400"/>
              <a:t> 3️⃣ B) Stochastic: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4" name="Google Shape;214;p17"/>
          <p:cNvSpPr txBox="1"/>
          <p:nvPr/>
        </p:nvSpPr>
        <p:spPr>
          <a:xfrm>
            <a:off x="3095752" y="2097688"/>
            <a:ext cx="8448040" cy="2764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environment's outcomes are </a:t>
            </a:r>
            <a:r>
              <a:rPr lang="en-US" sz="2800" b="1"/>
              <a:t>not fully predictable</a:t>
            </a:r>
            <a:r>
              <a:rPr lang="en-US" sz="2800"/>
              <a:t> (i.e., random or probabilistic).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Most real-world situations are treated as stochastic due to hidden complexity (partial observability).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/>
              <a:t>Example:</a:t>
            </a:r>
            <a:r>
              <a:rPr lang="en-US" sz="2800"/>
              <a:t> </a:t>
            </a:r>
            <a:r>
              <a:rPr lang="en-US" sz="2800" b="1"/>
              <a:t>Traffic</a:t>
            </a:r>
            <a:r>
              <a:rPr lang="en-US" sz="2800"/>
              <a:t> is stochastic because drivers' behavior is unpredictable.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20" name="Google Shape;220;p18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221" name="Google Shape;221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" name="Google Shape;222;p18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23" name="Google Shape;223;p18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18	</a:t>
            </a:r>
            <a:r>
              <a:rPr lang="en-US" sz="4400"/>
              <a:t>Activity 4: Determinism Challenge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2934462" y="2286000"/>
            <a:ext cx="8448040" cy="233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Task: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"A robot pushes a block on a smooth, clean floor. Is this Deterministic or Stochastic?"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Follow-up:</a:t>
            </a: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"What if the floor is dusty and the block has uneven edges?"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30" name="Google Shape;230;p19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231" name="Google Shape;231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" name="Google Shape;232;p19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33" name="Google Shape;233;p19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829039" cy="1367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19	</a:t>
            </a:r>
            <a:r>
              <a:rPr lang="en-US" sz="4400"/>
              <a:t> 4️⃣ Dependence: Consequences of Action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2934462" y="2286000"/>
            <a:ext cx="8448040" cy="60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Do my past actions matter?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40" name="Google Shape;240;p20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241" name="Google Shape;241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0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43" name="Google Shape;243;p20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829039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20	</a:t>
            </a:r>
            <a:r>
              <a:rPr lang="en-US" sz="4400"/>
              <a:t> 4️⃣ A) Episodic: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2934462" y="2286000"/>
            <a:ext cx="8448040" cy="233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agent's experience is divided into </a:t>
            </a:r>
            <a:r>
              <a:rPr lang="en-US" sz="2800" b="1"/>
              <a:t>atomic episodes</a:t>
            </a:r>
            <a:r>
              <a:rPr lang="en-US" sz="2800"/>
              <a:t>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action taken in one episode </a:t>
            </a:r>
            <a:r>
              <a:rPr lang="en-US" sz="2800" b="1"/>
              <a:t>does not affect</a:t>
            </a:r>
            <a:r>
              <a:rPr lang="en-US" sz="2800"/>
              <a:t> future episodes.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Agent </a:t>
            </a:r>
            <a:r>
              <a:rPr lang="en-US" sz="2800" b="1"/>
              <a:t>does not need to plan ahead</a:t>
            </a:r>
            <a:endParaRPr sz="2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50" name="Google Shape;250;p21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251" name="Google Shape;251;p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21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53" name="Google Shape;253;p21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829039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21	</a:t>
            </a:r>
            <a:r>
              <a:rPr lang="en-US" sz="4400"/>
              <a:t> 4️⃣ B) Sequential: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2934462" y="2286000"/>
            <a:ext cx="8448040" cy="233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current decision </a:t>
            </a:r>
            <a:r>
              <a:rPr lang="en-US" sz="2800" b="1"/>
              <a:t>affects all future states and rewards</a:t>
            </a:r>
            <a:r>
              <a:rPr lang="en-US" sz="2800"/>
              <a:t> (long-term consequences).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Agent </a:t>
            </a:r>
            <a:r>
              <a:rPr lang="en-US" sz="2800" b="1"/>
              <a:t>must use planning</a:t>
            </a:r>
            <a:r>
              <a:rPr lang="en-US" sz="2800"/>
              <a:t> and foresight.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/>
              <a:t>Example:</a:t>
            </a:r>
            <a:r>
              <a:rPr lang="en-US" sz="2800"/>
              <a:t> </a:t>
            </a:r>
            <a:r>
              <a:rPr lang="en-US" sz="2800" b="1"/>
              <a:t>Taxi Driving</a:t>
            </a:r>
            <a:r>
              <a:rPr lang="en-US" sz="2800"/>
              <a:t> is sequential; one wrong turn can lead to long-term delays.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60" name="Google Shape;260;p22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261" name="Google Shape;261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" name="Google Shape;262;p22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63" name="Google Shape;263;p22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22        </a:t>
            </a:r>
            <a:r>
              <a:rPr lang="en-US" sz="4400"/>
              <a:t>Activity 5: Sequential Thinking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2934462" y="2286000"/>
            <a:ext cx="8448040" cy="4056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/>
              <a:t>Task:</a:t>
            </a:r>
            <a:r>
              <a:rPr lang="en-US" sz="2800"/>
              <a:t> "An agent deciding which advertisement to display on a webpage.“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If the agent gets paid per click on the current page, is it </a:t>
            </a:r>
            <a:r>
              <a:rPr lang="en-US" sz="2800" b="1"/>
              <a:t>Episodic</a:t>
            </a:r>
            <a:r>
              <a:rPr lang="en-US" sz="2800"/>
              <a:t> or </a:t>
            </a:r>
            <a:r>
              <a:rPr lang="en-US" sz="2800" b="1"/>
              <a:t>Sequential</a:t>
            </a:r>
            <a:r>
              <a:rPr lang="en-US" sz="2800"/>
              <a:t>?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If the agent is trying to build a user profile over a year to maximize future ad revenue, is it </a:t>
            </a:r>
            <a:r>
              <a:rPr lang="en-US" sz="2800" b="1"/>
              <a:t>Episodic</a:t>
            </a:r>
            <a:r>
              <a:rPr lang="en-US" sz="2800"/>
              <a:t> or </a:t>
            </a:r>
            <a:r>
              <a:rPr lang="en-US" sz="2800" b="1"/>
              <a:t>Sequential?</a:t>
            </a:r>
            <a:endParaRPr sz="2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70" name="Google Shape;270;p23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271" name="Google Shape;271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" name="Google Shape;272;p23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73" name="Google Shape;273;p23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829039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23	</a:t>
            </a:r>
            <a:r>
              <a:rPr lang="en-US" sz="4400"/>
              <a:t> 5️⃣ Change Rate: Time Pressure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2934462" y="2286000"/>
            <a:ext cx="8448040" cy="60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Does the world change while I think?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80" name="Google Shape;280;p24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281" name="Google Shape;281;p2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" name="Google Shape;282;p2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83" name="Google Shape;283;p24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829039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24	</a:t>
            </a:r>
            <a:r>
              <a:rPr lang="en-US" sz="4400"/>
              <a:t> 5️⃣ A) Static: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4" name="Google Shape;284;p24"/>
          <p:cNvSpPr txBox="1"/>
          <p:nvPr/>
        </p:nvSpPr>
        <p:spPr>
          <a:xfrm>
            <a:off x="2934462" y="2286000"/>
            <a:ext cx="8448040" cy="1902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environment </a:t>
            </a:r>
            <a:r>
              <a:rPr lang="en-US" sz="2800" b="1"/>
              <a:t>does not change</a:t>
            </a:r>
            <a:r>
              <a:rPr lang="en-US" sz="2800"/>
              <a:t> while the agent is deliberating.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agent can take its time to compute the best move.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90" name="Google Shape;290;p25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291" name="Google Shape;291;p2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" name="Google Shape;292;p2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93" name="Google Shape;293;p25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829039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25	</a:t>
            </a:r>
            <a:r>
              <a:rPr lang="en-US" sz="4400"/>
              <a:t> 5️⃣ B) Dynamic: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4" name="Google Shape;294;p25"/>
          <p:cNvSpPr txBox="1"/>
          <p:nvPr/>
        </p:nvSpPr>
        <p:spPr>
          <a:xfrm>
            <a:off x="2934462" y="2286000"/>
            <a:ext cx="8448040" cy="233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environment </a:t>
            </a:r>
            <a:r>
              <a:rPr lang="en-US" sz="2800" b="1"/>
              <a:t>continuously changes</a:t>
            </a:r>
            <a:r>
              <a:rPr lang="en-US" sz="2800"/>
              <a:t> while the agent is deliberating.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Requires real-time, fast decision-making.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/>
              <a:t>Example:</a:t>
            </a:r>
            <a:r>
              <a:rPr lang="en-US" sz="2800"/>
              <a:t> </a:t>
            </a:r>
            <a:r>
              <a:rPr lang="en-US" sz="2800" b="1"/>
              <a:t>Taxi Driving</a:t>
            </a:r>
            <a:r>
              <a:rPr lang="en-US" sz="2800"/>
              <a:t> is dynamic; the agent must react to moving traffic.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300" name="Google Shape;300;p26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301" name="Google Shape;301;p2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2" name="Google Shape;302;p26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03" name="Google Shape;303;p26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829039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26	</a:t>
            </a:r>
            <a:r>
              <a:rPr lang="en-US" sz="4400"/>
              <a:t> 5️⃣ C) Semi-Dynamic: 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04" name="Google Shape;304;p26"/>
          <p:cNvSpPr txBox="1"/>
          <p:nvPr/>
        </p:nvSpPr>
        <p:spPr>
          <a:xfrm>
            <a:off x="2934462" y="2286000"/>
            <a:ext cx="8448040" cy="104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Environment is static, but the agent's </a:t>
            </a:r>
            <a:r>
              <a:rPr lang="en-US" sz="2800" i="1"/>
              <a:t>performance score</a:t>
            </a:r>
            <a:r>
              <a:rPr lang="en-US" sz="2800"/>
              <a:t> changes with time (e.g., Chess with a timer).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310" name="Google Shape;310;p27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311" name="Google Shape;311;p2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" name="Google Shape;312;p27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13" name="Google Shape;313;p27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27        </a:t>
            </a:r>
            <a:r>
              <a:rPr lang="en-US" sz="4400"/>
              <a:t>Activity 6: Dynamic Scenarios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14" name="Google Shape;314;p27"/>
          <p:cNvSpPr txBox="1"/>
          <p:nvPr/>
        </p:nvSpPr>
        <p:spPr>
          <a:xfrm>
            <a:off x="2934462" y="2286000"/>
            <a:ext cx="8448040" cy="60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/>
              <a:t>Task:</a:t>
            </a:r>
            <a:r>
              <a:rPr lang="en-US" sz="2800"/>
              <a:t> “Is it Static or Dynamic?</a:t>
            </a:r>
            <a:endParaRPr/>
          </a:p>
        </p:txBody>
      </p:sp>
      <p:pic>
        <p:nvPicPr>
          <p:cNvPr id="315" name="Google Shape;315;p27" descr="Old School Video Games GIF - Old School Video Games Pac Man - Discover &amp;  Share GIF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29721" y="2895782"/>
            <a:ext cx="7007226" cy="3939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8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321" name="Google Shape;321;p28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322" name="Google Shape;322;p2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8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24" name="Google Shape;324;p28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829039" cy="1367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28	</a:t>
            </a:r>
            <a:r>
              <a:rPr lang="en-US" sz="4400"/>
              <a:t> 6️⃣ Structure: Data Representation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25" name="Google Shape;325;p28"/>
          <p:cNvSpPr txBox="1"/>
          <p:nvPr/>
        </p:nvSpPr>
        <p:spPr>
          <a:xfrm>
            <a:off x="2934462" y="2286000"/>
            <a:ext cx="8448000" cy="10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Is the world made of countable steps or smooth values?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9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331" name="Google Shape;331;p29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332" name="Google Shape;332;p2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3" name="Google Shape;333;p29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34" name="Google Shape;334;p29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829039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29	</a:t>
            </a:r>
            <a:r>
              <a:rPr lang="en-US" sz="4400"/>
              <a:t> 6️⃣ A) Discrete: 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35" name="Google Shape;335;p29"/>
          <p:cNvSpPr txBox="1"/>
          <p:nvPr/>
        </p:nvSpPr>
        <p:spPr>
          <a:xfrm>
            <a:off x="2934462" y="2286000"/>
            <a:ext cx="8448040" cy="1902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state, time, percepts, and actions have a </a:t>
            </a:r>
            <a:r>
              <a:rPr lang="en-US" sz="2800" b="1"/>
              <a:t>finite, countable number of distinct values</a:t>
            </a:r>
            <a:r>
              <a:rPr lang="en-US" sz="2800"/>
              <a:t>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/>
              <a:t>Example:</a:t>
            </a:r>
            <a:r>
              <a:rPr lang="en-US" sz="2800"/>
              <a:t> The number of moves on a Chess board.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 with time (e.g., Chess with a timer).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341" name="Google Shape;341;p30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342" name="Google Shape;342;p3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3" name="Google Shape;343;p30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44" name="Google Shape;344;p30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829039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30	</a:t>
            </a:r>
            <a:r>
              <a:rPr lang="en-US" sz="4400"/>
              <a:t> 6️⃣ B) Continuous: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45" name="Google Shape;345;p30"/>
          <p:cNvSpPr txBox="1"/>
          <p:nvPr/>
        </p:nvSpPr>
        <p:spPr>
          <a:xfrm>
            <a:off x="2934462" y="2286000"/>
            <a:ext cx="8448040" cy="1902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Values sweep through a </a:t>
            </a:r>
            <a:r>
              <a:rPr lang="en-US" sz="2800" b="1"/>
              <a:t>range of continuous values</a:t>
            </a:r>
            <a:r>
              <a:rPr lang="en-US" sz="2800"/>
              <a:t> (e.g., fractions, real numbers).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/>
              <a:t>Example:</a:t>
            </a:r>
            <a:r>
              <a:rPr lang="en-US" sz="2800"/>
              <a:t> </a:t>
            </a:r>
            <a:r>
              <a:rPr lang="en-US" sz="2800" b="1"/>
              <a:t>Taxi speed</a:t>
            </a:r>
            <a:r>
              <a:rPr lang="en-US" sz="2800"/>
              <a:t> (any value between 0 and top speed), </a:t>
            </a:r>
            <a:r>
              <a:rPr lang="en-US" sz="2800" b="1"/>
              <a:t>steering angle</a:t>
            </a:r>
            <a:r>
              <a:rPr lang="en-US" sz="2800"/>
              <a:t>, and </a:t>
            </a:r>
            <a:r>
              <a:rPr lang="en-US" sz="2800" b="1"/>
              <a:t>time</a:t>
            </a:r>
            <a:r>
              <a:rPr lang="en-US" sz="2800"/>
              <a:t>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351" name="Google Shape;351;p31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352" name="Google Shape;352;p3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31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54" name="Google Shape;354;p31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31        </a:t>
            </a:r>
            <a:r>
              <a:rPr lang="en-US" sz="4400"/>
              <a:t>Activity 7: Identifying Continuous Variables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55" name="Google Shape;355;p31"/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/>
              <a:t>Task: </a:t>
            </a:r>
            <a:r>
              <a:rPr lang="en-US" sz="2800"/>
              <a:t>Classify the following five variables from the taxi environment as </a:t>
            </a:r>
            <a:r>
              <a:rPr lang="en-US" sz="2800" b="1"/>
              <a:t>Discrete </a:t>
            </a:r>
            <a:r>
              <a:rPr lang="en-US" sz="2800"/>
              <a:t>or </a:t>
            </a:r>
            <a:r>
              <a:rPr lang="en-US" sz="2800" b="1"/>
              <a:t>Continuous</a:t>
            </a:r>
            <a:r>
              <a:rPr lang="en-US" sz="2800"/>
              <a:t>, and briefly justify one answer: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/>
              <a:t>1. Number of lanes</a:t>
            </a:r>
            <a:r>
              <a:rPr lang="en-US" sz="2800"/>
              <a:t> on the road.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/>
              <a:t>2. GPS coordinates</a:t>
            </a:r>
            <a:r>
              <a:rPr lang="en-US" sz="2800"/>
              <a:t> (Latitude/Longitude).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/>
              <a:t>3. Fuel level</a:t>
            </a:r>
            <a:r>
              <a:rPr lang="en-US" sz="2800"/>
              <a:t> (measured by a sensor).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/>
              <a:t>4. Traffic light state</a:t>
            </a:r>
            <a:r>
              <a:rPr lang="en-US" sz="2800"/>
              <a:t> (Red, Yellow, Green).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/>
              <a:t>5. Steering wheel angle.</a:t>
            </a:r>
            <a:r>
              <a:rPr lang="en-US" sz="2800"/>
              <a:t>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361" name="Google Shape;361;p32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362" name="Google Shape;362;p3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3" name="Google Shape;363;p32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64" name="Google Shape;364;p32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829039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32	</a:t>
            </a:r>
            <a:r>
              <a:rPr lang="en-US" sz="4400"/>
              <a:t> 7️⃣ Knowledge: Known Rules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65" name="Google Shape;365;p32"/>
          <p:cNvSpPr txBox="1"/>
          <p:nvPr/>
        </p:nvSpPr>
        <p:spPr>
          <a:xfrm>
            <a:off x="2934462" y="2286000"/>
            <a:ext cx="8448000" cy="6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Do I know the rules of the world?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371" name="Google Shape;371;p33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372" name="Google Shape;372;p3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3" name="Google Shape;373;p33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74" name="Google Shape;374;p33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828900" cy="13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33	</a:t>
            </a:r>
            <a:r>
              <a:rPr lang="en-US" sz="4400"/>
              <a:t> 7️⃣ A) Known Environment:</a:t>
            </a:r>
            <a:br>
              <a:rPr lang="en-US" sz="4400"/>
            </a:b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75" name="Google Shape;375;p33"/>
          <p:cNvSpPr txBox="1"/>
          <p:nvPr/>
        </p:nvSpPr>
        <p:spPr>
          <a:xfrm>
            <a:off x="2934462" y="2286000"/>
            <a:ext cx="8448040" cy="104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outcomes or outcome probabilities for all actions are </a:t>
            </a:r>
            <a:r>
              <a:rPr lang="en-US" sz="2800" b="1"/>
              <a:t>given</a:t>
            </a:r>
            <a:r>
              <a:rPr lang="en-US" sz="2800"/>
              <a:t> (the "laws of physics" are known).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381" name="Google Shape;381;p34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382" name="Google Shape;382;p3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3" name="Google Shape;383;p3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84" name="Google Shape;384;p34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829039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34	</a:t>
            </a:r>
            <a:r>
              <a:rPr lang="en-US" sz="4400"/>
              <a:t> 7️⃣ B) Unknown Environment: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85" name="Google Shape;385;p34"/>
          <p:cNvSpPr txBox="1"/>
          <p:nvPr/>
        </p:nvSpPr>
        <p:spPr>
          <a:xfrm>
            <a:off x="2934462" y="2286000"/>
            <a:ext cx="8448040" cy="104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agent </a:t>
            </a:r>
            <a:r>
              <a:rPr lang="en-US" sz="2800" b="1"/>
              <a:t>does not know</a:t>
            </a:r>
            <a:r>
              <a:rPr lang="en-US" sz="2800"/>
              <a:t> the rules and must </a:t>
            </a:r>
            <a:r>
              <a:rPr lang="en-US" sz="2800" b="1"/>
              <a:t>learn</a:t>
            </a:r>
            <a:r>
              <a:rPr lang="en-US" sz="2800"/>
              <a:t> them through exploration and trial-and-error.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5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391" name="Google Shape;391;p35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392" name="Google Shape;392;p3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3" name="Google Shape;393;p3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94" name="Google Shape;394;p35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35        </a:t>
            </a:r>
            <a:r>
              <a:rPr lang="en-US" sz="4400"/>
              <a:t>Activity 8: Knowledge vs. Observability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95" name="Google Shape;395;p35"/>
          <p:cNvSpPr txBox="1"/>
          <p:nvPr/>
        </p:nvSpPr>
        <p:spPr>
          <a:xfrm>
            <a:off x="2934462" y="2286000"/>
            <a:ext cx="8448040" cy="233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/>
              <a:t>Task:</a:t>
            </a:r>
            <a:r>
              <a:rPr lang="en-US" sz="2800"/>
              <a:t> Distinguish between two scenarios: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1. I know the rules of Blackjack, but I don't know the next card.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2. I just started a new mobile game and don't know what the buttons do.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abb32dd631_0_1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401" name="Google Shape;401;g3abb32dd631_0_13"/>
          <p:cNvGrpSpPr/>
          <p:nvPr/>
        </p:nvGrpSpPr>
        <p:grpSpPr>
          <a:xfrm>
            <a:off x="424984" y="432816"/>
            <a:ext cx="11280098" cy="6123430"/>
            <a:chOff x="424984" y="432816"/>
            <a:chExt cx="11280098" cy="6123430"/>
          </a:xfrm>
        </p:grpSpPr>
        <p:pic>
          <p:nvPicPr>
            <p:cNvPr id="402" name="Google Shape;402;g3abb32dd631_0_1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2" cy="61234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3" name="Google Shape;403;g3abb32dd631_0_13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04" name="Google Shape;404;g3abb32dd631_0_13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099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dirty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36        </a:t>
            </a:r>
            <a:r>
              <a:rPr lang="en-US" sz="19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🚗 </a:t>
            </a:r>
            <a:r>
              <a:rPr lang="en-US" sz="1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1: Alien lands in Traffic World (same as a self-driving car)</a:t>
            </a:r>
            <a:endParaRPr sz="52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05" name="Google Shape;405;g3abb32dd631_0_13"/>
          <p:cNvSpPr txBox="1"/>
          <p:nvPr/>
        </p:nvSpPr>
        <p:spPr>
          <a:xfrm>
            <a:off x="2966962" y="2156000"/>
            <a:ext cx="8448000" cy="4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1️⃣ </a:t>
            </a:r>
            <a:r>
              <a:rPr lang="en-US" b="1">
                <a:solidFill>
                  <a:schemeClr val="dk1"/>
                </a:solidFill>
              </a:rPr>
              <a:t>Observability</a:t>
            </a:r>
            <a:br>
              <a:rPr lang="en-US" b="1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“Can I see everything?”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No → </a:t>
            </a:r>
            <a:r>
              <a:rPr lang="en-US" i="1">
                <a:solidFill>
                  <a:schemeClr val="dk1"/>
                </a:solidFill>
              </a:rPr>
              <a:t>Partially Observable</a:t>
            </a:r>
            <a:r>
              <a:rPr lang="en-US">
                <a:solidFill>
                  <a:schemeClr val="dk1"/>
                </a:solidFill>
              </a:rPr>
              <a:t> (blind spots, weather)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2️⃣ </a:t>
            </a:r>
            <a:r>
              <a:rPr lang="en-US" b="1">
                <a:solidFill>
                  <a:schemeClr val="dk1"/>
                </a:solidFill>
              </a:rPr>
              <a:t>Agent Type</a:t>
            </a:r>
            <a:br>
              <a:rPr lang="en-US" b="1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“Are there other intelligent agents?”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Yes → </a:t>
            </a:r>
            <a:r>
              <a:rPr lang="en-US" i="1">
                <a:solidFill>
                  <a:schemeClr val="dk1"/>
                </a:solidFill>
              </a:rPr>
              <a:t>Multi-agent</a:t>
            </a:r>
            <a:r>
              <a:rPr lang="en-US">
                <a:solidFill>
                  <a:schemeClr val="dk1"/>
                </a:solidFill>
              </a:rPr>
              <a:t> (drivers, pedestrians)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3️⃣ </a:t>
            </a:r>
            <a:r>
              <a:rPr lang="en-US" b="1">
                <a:solidFill>
                  <a:schemeClr val="dk1"/>
                </a:solidFill>
              </a:rPr>
              <a:t>Predictability</a:t>
            </a:r>
            <a:br>
              <a:rPr lang="en-US" b="1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“If I brake, will the outcome be certain?”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No → </a:t>
            </a:r>
            <a:r>
              <a:rPr lang="en-US" i="1">
                <a:solidFill>
                  <a:schemeClr val="dk1"/>
                </a:solidFill>
              </a:rPr>
              <a:t>Stochastic</a:t>
            </a:r>
            <a:r>
              <a:rPr lang="en-US">
                <a:solidFill>
                  <a:schemeClr val="dk1"/>
                </a:solidFill>
              </a:rPr>
              <a:t> (road conditions, human behavior)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4️⃣ </a:t>
            </a:r>
            <a:r>
              <a:rPr lang="en-US" b="1">
                <a:solidFill>
                  <a:schemeClr val="dk1"/>
                </a:solidFill>
              </a:rPr>
              <a:t>Dependence</a:t>
            </a:r>
            <a:br>
              <a:rPr lang="en-US" b="1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“Does what I do now affect later?”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Yes → </a:t>
            </a:r>
            <a:r>
              <a:rPr lang="en-US" i="1">
                <a:solidFill>
                  <a:schemeClr val="dk1"/>
                </a:solidFill>
              </a:rPr>
              <a:t>Sequential</a:t>
            </a:r>
            <a:endParaRPr sz="3100" b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abb32dd631_0_2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411" name="Google Shape;411;g3abb32dd631_0_24"/>
          <p:cNvGrpSpPr/>
          <p:nvPr/>
        </p:nvGrpSpPr>
        <p:grpSpPr>
          <a:xfrm>
            <a:off x="424984" y="432816"/>
            <a:ext cx="11280098" cy="6123430"/>
            <a:chOff x="424984" y="432816"/>
            <a:chExt cx="11280098" cy="6123430"/>
          </a:xfrm>
        </p:grpSpPr>
        <p:pic>
          <p:nvPicPr>
            <p:cNvPr id="412" name="Google Shape;412;g3abb32dd631_0_2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2" cy="61234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g3abb32dd631_0_2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14" name="Google Shape;414;g3abb32dd631_0_24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099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dirty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37        </a:t>
            </a:r>
            <a:r>
              <a:rPr lang="en-US" sz="19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🚗 </a:t>
            </a:r>
            <a:r>
              <a:rPr lang="en-US" sz="1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1: Alien lands in Traffic World (same as a self-driving car)</a:t>
            </a:r>
            <a:endParaRPr sz="52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15" name="Google Shape;415;g3abb32dd631_0_24"/>
          <p:cNvSpPr txBox="1"/>
          <p:nvPr/>
        </p:nvSpPr>
        <p:spPr>
          <a:xfrm>
            <a:off x="2966962" y="2156000"/>
            <a:ext cx="8448000" cy="25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chemeClr val="dk1"/>
                </a:solidFill>
              </a:rPr>
              <a:t>6️⃣ </a:t>
            </a:r>
            <a:r>
              <a:rPr lang="en-US" sz="1600" b="1">
                <a:solidFill>
                  <a:schemeClr val="dk1"/>
                </a:solidFill>
              </a:rPr>
              <a:t>Structure</a:t>
            </a:r>
            <a:br>
              <a:rPr lang="en-US" sz="1600" b="1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“Is everything smooth or step-based?”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Smooth actions → </a:t>
            </a:r>
            <a:r>
              <a:rPr lang="en-US" sz="1600" i="1">
                <a:solidFill>
                  <a:schemeClr val="dk1"/>
                </a:solidFill>
              </a:rPr>
              <a:t>Continuous</a:t>
            </a:r>
            <a:endParaRPr sz="1600"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chemeClr val="dk1"/>
                </a:solidFill>
              </a:rPr>
              <a:t>7️⃣ </a:t>
            </a:r>
            <a:r>
              <a:rPr lang="en-US" sz="1600" b="1">
                <a:solidFill>
                  <a:schemeClr val="dk1"/>
                </a:solidFill>
              </a:rPr>
              <a:t>Knowledge</a:t>
            </a:r>
            <a:br>
              <a:rPr lang="en-US" sz="1600" b="1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“Do I know all rules?”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Mostly yes → </a:t>
            </a:r>
            <a:r>
              <a:rPr lang="en-US" sz="1600" i="1">
                <a:solidFill>
                  <a:schemeClr val="dk1"/>
                </a:solidFill>
              </a:rPr>
              <a:t>Known</a:t>
            </a:r>
            <a:r>
              <a:rPr lang="en-US" sz="1600">
                <a:solidFill>
                  <a:schemeClr val="dk1"/>
                </a:solidFill>
              </a:rPr>
              <a:t>,</a:t>
            </a:r>
            <a:br>
              <a:rPr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but not everything is predictable (still useful to explain)</a:t>
            </a:r>
            <a:endParaRPr sz="3300"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abb32dd631_0_3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421" name="Google Shape;421;g3abb32dd631_0_33"/>
          <p:cNvGrpSpPr/>
          <p:nvPr/>
        </p:nvGrpSpPr>
        <p:grpSpPr>
          <a:xfrm>
            <a:off x="424984" y="432816"/>
            <a:ext cx="11280098" cy="6123430"/>
            <a:chOff x="424984" y="432816"/>
            <a:chExt cx="11280098" cy="6123430"/>
          </a:xfrm>
        </p:grpSpPr>
        <p:pic>
          <p:nvPicPr>
            <p:cNvPr id="422" name="Google Shape;422;g3abb32dd631_0_3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2" cy="61234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3" name="Google Shape;423;g3abb32dd631_0_33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24" name="Google Shape;424;g3abb32dd631_0_33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099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dirty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38        </a:t>
            </a:r>
            <a:r>
              <a:rPr lang="en-US" sz="21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📦 </a:t>
            </a:r>
            <a:r>
              <a:rPr lang="en-US" sz="2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2: Alien delivers packages (Delivery Robot)</a:t>
            </a:r>
            <a:endParaRPr sz="62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25" name="Google Shape;425;g3abb32dd631_0_33"/>
          <p:cNvSpPr txBox="1"/>
          <p:nvPr/>
        </p:nvSpPr>
        <p:spPr>
          <a:xfrm>
            <a:off x="3319016" y="1093809"/>
            <a:ext cx="8448000" cy="56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715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</a:rPr>
              <a:t>1️⃣ Fully observable or not?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 dirty="0">
                <a:solidFill>
                  <a:schemeClr val="dk1"/>
                </a:solidFill>
              </a:rPr>
              <a:t>Partially observable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</a:rPr>
              <a:t>2️⃣ Single-agent or multi-agent?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 dirty="0">
                <a:solidFill>
                  <a:schemeClr val="dk1"/>
                </a:solidFill>
              </a:rPr>
              <a:t>Multi-agent (pedestrians, vehicles)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</a:rPr>
              <a:t>3️⃣ Deterministic or stochastic?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 dirty="0">
                <a:solidFill>
                  <a:schemeClr val="dk1"/>
                </a:solidFill>
              </a:rPr>
              <a:t>Stochastic (weather, obstacles)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</a:rPr>
              <a:t>4️⃣ Episodic or sequential?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 dirty="0">
                <a:solidFill>
                  <a:schemeClr val="dk1"/>
                </a:solidFill>
              </a:rPr>
              <a:t>Sequential (path planning)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</a:rPr>
              <a:t>5️⃣ Static or dynamic?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 dirty="0">
                <a:solidFill>
                  <a:schemeClr val="dk1"/>
                </a:solidFill>
              </a:rPr>
              <a:t>Dynamic (moving people)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</a:rPr>
              <a:t>6️⃣ Discrete or continuous?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 dirty="0">
                <a:solidFill>
                  <a:schemeClr val="dk1"/>
                </a:solidFill>
              </a:rPr>
              <a:t>Continuous (movement)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</a:rPr>
              <a:t>7️⃣ Known or unknown rules?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 dirty="0">
                <a:solidFill>
                  <a:schemeClr val="dk1"/>
                </a:solidFill>
              </a:rPr>
              <a:t>Mixed: map known, obstacles unknown → </a:t>
            </a:r>
            <a:r>
              <a:rPr lang="en-US" sz="1300" i="1" dirty="0">
                <a:solidFill>
                  <a:schemeClr val="dk1"/>
                </a:solidFill>
              </a:rPr>
              <a:t>Partially Known</a:t>
            </a:r>
            <a:br>
              <a:rPr lang="en-US" sz="1300" i="1" dirty="0">
                <a:solidFill>
                  <a:schemeClr val="dk1"/>
                </a:solidFill>
              </a:rPr>
            </a:br>
            <a:r>
              <a:rPr lang="en-US" sz="1300" dirty="0">
                <a:solidFill>
                  <a:schemeClr val="dk1"/>
                </a:solidFill>
              </a:rPr>
              <a:t>➡ </a:t>
            </a:r>
            <a:r>
              <a:rPr lang="en-US" sz="1300" b="1" dirty="0">
                <a:solidFill>
                  <a:schemeClr val="dk1"/>
                </a:solidFill>
              </a:rPr>
              <a:t>Again: all 7 properties describe one environment.</a:t>
            </a:r>
            <a:endParaRPr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431" name="Google Shape;431;p36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32" name="Google Shape;432;p3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34" name="Google Shape;434;p36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8457439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dirty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39	</a:t>
            </a:r>
            <a:r>
              <a:rPr lang="en-US" sz="4400" dirty="0"/>
              <a:t> Summary</a:t>
            </a:r>
            <a:endParaRPr sz="4400" dirty="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435" name="Google Shape;435;p36"/>
          <p:cNvGraphicFramePr/>
          <p:nvPr/>
        </p:nvGraphicFramePr>
        <p:xfrm>
          <a:off x="2514600" y="2286009"/>
          <a:ext cx="8639475" cy="4355350"/>
        </p:xfrm>
        <a:graphic>
          <a:graphicData uri="http://schemas.openxmlformats.org/drawingml/2006/table">
            <a:tbl>
              <a:tblPr>
                <a:noFill/>
                <a:tableStyleId>{3BA736BE-930A-432B-A9C0-869C53C94075}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4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1F1F1F"/>
                          </a:solidFill>
                        </a:rPr>
                        <a:t>Property</a:t>
                      </a:r>
                      <a:endParaRPr sz="2000" u="none" strike="noStrike" cap="non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075" marR="39075" marT="26050" marB="26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1F1F1F"/>
                          </a:solidFill>
                        </a:rPr>
                        <a:t>Classification</a:t>
                      </a:r>
                      <a:endParaRPr sz="2000" u="none" strike="noStrike" cap="non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075" marR="39075" marT="26050" marB="26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1F1F1F"/>
                          </a:solidFill>
                        </a:rPr>
                        <a:t>Reason (Why?)</a:t>
                      </a:r>
                      <a:endParaRPr sz="2000" u="none" strike="noStrike" cap="non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075" marR="39075" marT="26050" marB="26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4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1F1F1F"/>
                          </a:solidFill>
                        </a:rPr>
                        <a:t>Observability</a:t>
                      </a:r>
                      <a:endParaRPr sz="1800" u="none" strike="noStrike" cap="non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075" marR="39075" marT="26050" marB="26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1F1F1F"/>
                          </a:solidFill>
                        </a:rPr>
                        <a:t>Partially Observable</a:t>
                      </a:r>
                      <a:endParaRPr sz="1800" u="none" strike="noStrike" cap="non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075" marR="39075" marT="26050" marB="26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1F1F1F"/>
                          </a:solidFill>
                        </a:rPr>
                        <a:t>Cannot see driver intentions or far-ahead traffic.</a:t>
                      </a:r>
                      <a:endParaRPr sz="1800" u="none" strike="noStrike" cap="non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075" marR="39075" marT="26050" marB="26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1F1F1F"/>
                          </a:solidFill>
                        </a:rPr>
                        <a:t>Agent Type</a:t>
                      </a:r>
                      <a:endParaRPr sz="1800" u="none" strike="noStrike" cap="non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075" marR="39075" marT="26050" marB="26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1F1F1F"/>
                          </a:solidFill>
                        </a:rPr>
                        <a:t>Multi-agent</a:t>
                      </a:r>
                      <a:endParaRPr sz="1800" u="none" strike="noStrike" cap="non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075" marR="39075" marT="26050" marB="26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1F1F1F"/>
                          </a:solidFill>
                        </a:rPr>
                        <a:t>Other drivers maximize their goals; requires interaction.</a:t>
                      </a:r>
                      <a:endParaRPr sz="1800" u="none" strike="noStrike" cap="non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075" marR="39075" marT="26050" marB="26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1F1F1F"/>
                          </a:solidFill>
                        </a:rPr>
                        <a:t>Predictability</a:t>
                      </a:r>
                      <a:endParaRPr sz="1800" u="none" strike="noStrike" cap="non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075" marR="39075" marT="26050" marB="26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1F1F1F"/>
                          </a:solidFill>
                        </a:rPr>
                        <a:t>Stochastic</a:t>
                      </a:r>
                      <a:endParaRPr sz="1800" u="none" strike="noStrike" cap="non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075" marR="39075" marT="26050" marB="26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1F1F1F"/>
                          </a:solidFill>
                        </a:rPr>
                        <a:t>Unpredictable traffic, weather, and mechanical failures.</a:t>
                      </a:r>
                      <a:endParaRPr sz="1800" u="none" strike="noStrike" cap="non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075" marR="39075" marT="26050" marB="26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1F1F1F"/>
                          </a:solidFill>
                        </a:rPr>
                        <a:t>Dependence</a:t>
                      </a:r>
                      <a:endParaRPr sz="1800" u="none" strike="noStrike" cap="non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075" marR="39075" marT="26050" marB="26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1F1F1F"/>
                          </a:solidFill>
                        </a:rPr>
                        <a:t>Sequential</a:t>
                      </a:r>
                      <a:endParaRPr sz="1800" u="none" strike="noStrike" cap="non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075" marR="39075" marT="26050" marB="26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1F1F1F"/>
                          </a:solidFill>
                        </a:rPr>
                        <a:t>Short-term turn decisions affect the entire trip plan.</a:t>
                      </a:r>
                      <a:endParaRPr sz="1800" u="none" strike="noStrike" cap="non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075" marR="39075" marT="26050" marB="260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4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1F1F1F"/>
                          </a:solidFill>
                        </a:rPr>
                        <a:t>Change Rate</a:t>
                      </a:r>
                      <a:endParaRPr sz="1800" u="none" strike="noStrike" cap="non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075" marR="39075" marT="26050" marB="26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1F1F1F"/>
                          </a:solidFill>
                        </a:rPr>
                        <a:t>Dynamic</a:t>
                      </a:r>
                      <a:endParaRPr sz="1800" u="none" strike="noStrike" cap="non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075" marR="39075" marT="26050" marB="26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1F1F1F"/>
                          </a:solidFill>
                        </a:rPr>
                        <a:t>The environment (traffic) changes while the agent decides.</a:t>
                      </a:r>
                      <a:endParaRPr sz="1800" u="none" strike="noStrike" cap="non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075" marR="39075" marT="26050" marB="260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1F1F1F"/>
                          </a:solidFill>
                        </a:rPr>
                        <a:t>Structure</a:t>
                      </a:r>
                      <a:endParaRPr sz="1800" u="none" strike="noStrike" cap="non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075" marR="39075" marT="26050" marB="26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1F1F1F"/>
                          </a:solidFill>
                        </a:rPr>
                        <a:t>Continuous</a:t>
                      </a:r>
                      <a:endParaRPr sz="1800" u="none" strike="noStrike" cap="non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075" marR="39075" marT="26050" marB="26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1F1F1F"/>
                          </a:solidFill>
                        </a:rPr>
                        <a:t>Speed, location, and time are continuous variables.</a:t>
                      </a:r>
                      <a:endParaRPr sz="1800" u="none" strike="noStrike" cap="non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075" marR="39075" marT="26050" marB="260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4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1F1F1F"/>
                          </a:solidFill>
                        </a:rPr>
                        <a:t>Complexity</a:t>
                      </a:r>
                      <a:endParaRPr sz="1800" u="none" strike="noStrike" cap="non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075" marR="39075" marT="26050" marB="26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1F1F1F"/>
                          </a:solidFill>
                        </a:rPr>
                        <a:t>High</a:t>
                      </a:r>
                      <a:endParaRPr sz="1800" u="none" strike="noStrike" cap="non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075" marR="39075" marT="26050" marB="26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1F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solidFill>
                            <a:srgbClr val="1F1F1F"/>
                          </a:solidFill>
                        </a:rPr>
                        <a:t>Requires sophisticated planning, probability, and real-time control.</a:t>
                      </a:r>
                      <a:endParaRPr sz="1800" u="none" strike="noStrike" cap="non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075" marR="39075" marT="26050" marB="2605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7"/>
          <p:cNvSpPr/>
          <p:nvPr/>
        </p:nvSpPr>
        <p:spPr>
          <a:xfrm>
            <a:off x="0" y="0"/>
            <a:ext cx="12192000" cy="75438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441" name="Google Shape;441;p37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42" name="Google Shape;442;p3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3" name="Google Shape;443;p37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 h="120000" extrusionOk="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noFill/>
            <a:ln w="38100" cap="flat" cmpd="sng">
              <a:solidFill>
                <a:srgbClr val="79A8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44" name="Google Shape;444;p37" descr="$PPTXTitle"/>
          <p:cNvSpPr txBox="1">
            <a:spLocks noGrp="1"/>
          </p:cNvSpPr>
          <p:nvPr>
            <p:ph type="title"/>
          </p:nvPr>
        </p:nvSpPr>
        <p:spPr>
          <a:xfrm>
            <a:off x="3012694" y="989202"/>
            <a:ext cx="7502906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Next Class Preview</a:t>
            </a:r>
            <a:endParaRPr sz="44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445" name="Google Shape;445;p37"/>
          <p:cNvGrpSpPr/>
          <p:nvPr/>
        </p:nvGrpSpPr>
        <p:grpSpPr>
          <a:xfrm>
            <a:off x="2886584" y="2442972"/>
            <a:ext cx="8817736" cy="3642487"/>
            <a:chOff x="2886584" y="2442972"/>
            <a:chExt cx="8817736" cy="3642487"/>
          </a:xfrm>
        </p:grpSpPr>
        <p:sp>
          <p:nvSpPr>
            <p:cNvPr id="446" name="Google Shape;446;p37"/>
            <p:cNvSpPr/>
            <p:nvPr/>
          </p:nvSpPr>
          <p:spPr>
            <a:xfrm>
              <a:off x="2933700" y="2442972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 extrusionOk="0">
                  <a:moveTo>
                    <a:pt x="0" y="91948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4"/>
                  </a:lnTo>
                  <a:lnTo>
                    <a:pt x="8763396" y="56149"/>
                  </a:lnTo>
                  <a:lnTo>
                    <a:pt x="8770620" y="91948"/>
                  </a:lnTo>
                  <a:lnTo>
                    <a:pt x="8770620" y="459739"/>
                  </a:lnTo>
                  <a:lnTo>
                    <a:pt x="8763396" y="495538"/>
                  </a:lnTo>
                  <a:lnTo>
                    <a:pt x="8743696" y="524763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3"/>
                  </a:lnTo>
                  <a:lnTo>
                    <a:pt x="7223" y="495538"/>
                  </a:lnTo>
                  <a:lnTo>
                    <a:pt x="0" y="459739"/>
                  </a:lnTo>
                  <a:lnTo>
                    <a:pt x="0" y="91948"/>
                  </a:lnTo>
                  <a:close/>
                </a:path>
              </a:pathLst>
            </a:custGeom>
            <a:noFill/>
            <a:ln w="126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7" name="Google Shape;447;p37"/>
            <p:cNvSpPr/>
            <p:nvPr/>
          </p:nvSpPr>
          <p:spPr>
            <a:xfrm>
              <a:off x="2886584" y="3030011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 extrusionOk="0">
                  <a:moveTo>
                    <a:pt x="8678672" y="0"/>
                  </a:moveTo>
                  <a:lnTo>
                    <a:pt x="91948" y="0"/>
                  </a:lnTo>
                  <a:lnTo>
                    <a:pt x="56149" y="7223"/>
                  </a:lnTo>
                  <a:lnTo>
                    <a:pt x="26924" y="26924"/>
                  </a:lnTo>
                  <a:lnTo>
                    <a:pt x="7223" y="56149"/>
                  </a:lnTo>
                  <a:lnTo>
                    <a:pt x="0" y="91948"/>
                  </a:lnTo>
                  <a:lnTo>
                    <a:pt x="0" y="459739"/>
                  </a:lnTo>
                  <a:lnTo>
                    <a:pt x="7223" y="495538"/>
                  </a:lnTo>
                  <a:lnTo>
                    <a:pt x="26924" y="524763"/>
                  </a:lnTo>
                  <a:lnTo>
                    <a:pt x="56149" y="544464"/>
                  </a:lnTo>
                  <a:lnTo>
                    <a:pt x="91948" y="551688"/>
                  </a:lnTo>
                  <a:lnTo>
                    <a:pt x="8678672" y="551688"/>
                  </a:lnTo>
                  <a:lnTo>
                    <a:pt x="8714470" y="544464"/>
                  </a:lnTo>
                  <a:lnTo>
                    <a:pt x="8743696" y="524764"/>
                  </a:lnTo>
                  <a:lnTo>
                    <a:pt x="8763396" y="495538"/>
                  </a:lnTo>
                  <a:lnTo>
                    <a:pt x="8770620" y="459739"/>
                  </a:lnTo>
                  <a:lnTo>
                    <a:pt x="8770620" y="91948"/>
                  </a:lnTo>
                  <a:lnTo>
                    <a:pt x="8763396" y="56149"/>
                  </a:lnTo>
                  <a:lnTo>
                    <a:pt x="8743696" y="26924"/>
                  </a:lnTo>
                  <a:lnTo>
                    <a:pt x="8714470" y="7223"/>
                  </a:lnTo>
                  <a:lnTo>
                    <a:pt x="8678672" y="0"/>
                  </a:lnTo>
                  <a:close/>
                </a:path>
              </a:pathLst>
            </a:custGeom>
            <a:solidFill>
              <a:srgbClr val="79A8A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8" name="Google Shape;448;p37"/>
            <p:cNvSpPr/>
            <p:nvPr/>
          </p:nvSpPr>
          <p:spPr>
            <a:xfrm>
              <a:off x="2933700" y="3061716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 extrusionOk="0">
                  <a:moveTo>
                    <a:pt x="0" y="91948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4"/>
                  </a:lnTo>
                  <a:lnTo>
                    <a:pt x="8763396" y="56149"/>
                  </a:lnTo>
                  <a:lnTo>
                    <a:pt x="8770620" y="91948"/>
                  </a:lnTo>
                  <a:lnTo>
                    <a:pt x="8770620" y="459739"/>
                  </a:lnTo>
                  <a:lnTo>
                    <a:pt x="8763396" y="495538"/>
                  </a:lnTo>
                  <a:lnTo>
                    <a:pt x="8743696" y="524764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3"/>
                  </a:lnTo>
                  <a:lnTo>
                    <a:pt x="7223" y="495538"/>
                  </a:lnTo>
                  <a:lnTo>
                    <a:pt x="0" y="459739"/>
                  </a:lnTo>
                  <a:lnTo>
                    <a:pt x="0" y="91948"/>
                  </a:lnTo>
                  <a:close/>
                </a:path>
              </a:pathLst>
            </a:custGeom>
            <a:noFill/>
            <a:ln w="126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9" name="Google Shape;449;p37"/>
            <p:cNvSpPr/>
            <p:nvPr/>
          </p:nvSpPr>
          <p:spPr>
            <a:xfrm>
              <a:off x="2933700" y="3678936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 extrusionOk="0">
                  <a:moveTo>
                    <a:pt x="0" y="91947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3"/>
                  </a:lnTo>
                  <a:lnTo>
                    <a:pt x="8763396" y="56149"/>
                  </a:lnTo>
                  <a:lnTo>
                    <a:pt x="8770620" y="91947"/>
                  </a:lnTo>
                  <a:lnTo>
                    <a:pt x="8770620" y="459739"/>
                  </a:lnTo>
                  <a:lnTo>
                    <a:pt x="8763396" y="495538"/>
                  </a:lnTo>
                  <a:lnTo>
                    <a:pt x="8743696" y="524763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3"/>
                  </a:lnTo>
                  <a:lnTo>
                    <a:pt x="7223" y="495538"/>
                  </a:lnTo>
                  <a:lnTo>
                    <a:pt x="0" y="459739"/>
                  </a:lnTo>
                  <a:lnTo>
                    <a:pt x="0" y="91947"/>
                  </a:lnTo>
                  <a:close/>
                </a:path>
              </a:pathLst>
            </a:custGeom>
            <a:noFill/>
            <a:ln w="126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0" name="Google Shape;450;p37"/>
            <p:cNvSpPr/>
            <p:nvPr/>
          </p:nvSpPr>
          <p:spPr>
            <a:xfrm>
              <a:off x="2933700" y="4297679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 extrusionOk="0">
                  <a:moveTo>
                    <a:pt x="0" y="91948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4"/>
                  </a:lnTo>
                  <a:lnTo>
                    <a:pt x="8763396" y="56149"/>
                  </a:lnTo>
                  <a:lnTo>
                    <a:pt x="8770620" y="91948"/>
                  </a:lnTo>
                  <a:lnTo>
                    <a:pt x="8770620" y="459740"/>
                  </a:lnTo>
                  <a:lnTo>
                    <a:pt x="8763396" y="495538"/>
                  </a:lnTo>
                  <a:lnTo>
                    <a:pt x="8743696" y="524764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4"/>
                  </a:lnTo>
                  <a:lnTo>
                    <a:pt x="7223" y="495538"/>
                  </a:lnTo>
                  <a:lnTo>
                    <a:pt x="0" y="459740"/>
                  </a:lnTo>
                  <a:lnTo>
                    <a:pt x="0" y="91948"/>
                  </a:lnTo>
                  <a:close/>
                </a:path>
              </a:pathLst>
            </a:custGeom>
            <a:noFill/>
            <a:ln w="126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1" name="Google Shape;451;p37"/>
            <p:cNvSpPr/>
            <p:nvPr/>
          </p:nvSpPr>
          <p:spPr>
            <a:xfrm>
              <a:off x="2933700" y="4914900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 extrusionOk="0">
                  <a:moveTo>
                    <a:pt x="0" y="91948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4"/>
                  </a:lnTo>
                  <a:lnTo>
                    <a:pt x="8763396" y="56149"/>
                  </a:lnTo>
                  <a:lnTo>
                    <a:pt x="8770620" y="91948"/>
                  </a:lnTo>
                  <a:lnTo>
                    <a:pt x="8770620" y="459740"/>
                  </a:lnTo>
                  <a:lnTo>
                    <a:pt x="8763396" y="495538"/>
                  </a:lnTo>
                  <a:lnTo>
                    <a:pt x="8743696" y="524763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4"/>
                  </a:lnTo>
                  <a:lnTo>
                    <a:pt x="7223" y="495538"/>
                  </a:lnTo>
                  <a:lnTo>
                    <a:pt x="0" y="459740"/>
                  </a:lnTo>
                  <a:lnTo>
                    <a:pt x="0" y="91948"/>
                  </a:lnTo>
                  <a:close/>
                </a:path>
              </a:pathLst>
            </a:custGeom>
            <a:noFill/>
            <a:ln w="126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2" name="Google Shape;452;p37"/>
            <p:cNvSpPr/>
            <p:nvPr/>
          </p:nvSpPr>
          <p:spPr>
            <a:xfrm>
              <a:off x="2933700" y="5533644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 extrusionOk="0">
                  <a:moveTo>
                    <a:pt x="0" y="91947"/>
                  </a:moveTo>
                  <a:lnTo>
                    <a:pt x="7223" y="56149"/>
                  </a:lnTo>
                  <a:lnTo>
                    <a:pt x="26924" y="26923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3"/>
                  </a:lnTo>
                  <a:lnTo>
                    <a:pt x="8763396" y="56149"/>
                  </a:lnTo>
                  <a:lnTo>
                    <a:pt x="8770620" y="91947"/>
                  </a:lnTo>
                  <a:lnTo>
                    <a:pt x="8770620" y="459739"/>
                  </a:lnTo>
                  <a:lnTo>
                    <a:pt x="8763396" y="495532"/>
                  </a:lnTo>
                  <a:lnTo>
                    <a:pt x="8743696" y="524759"/>
                  </a:lnTo>
                  <a:lnTo>
                    <a:pt x="8714470" y="544463"/>
                  </a:lnTo>
                  <a:lnTo>
                    <a:pt x="8678672" y="551687"/>
                  </a:lnTo>
                  <a:lnTo>
                    <a:pt x="91948" y="551687"/>
                  </a:lnTo>
                  <a:lnTo>
                    <a:pt x="56149" y="544463"/>
                  </a:lnTo>
                  <a:lnTo>
                    <a:pt x="26924" y="524759"/>
                  </a:lnTo>
                  <a:lnTo>
                    <a:pt x="7223" y="495532"/>
                  </a:lnTo>
                  <a:lnTo>
                    <a:pt x="0" y="459739"/>
                  </a:lnTo>
                  <a:lnTo>
                    <a:pt x="0" y="91947"/>
                  </a:lnTo>
                  <a:close/>
                </a:path>
              </a:pathLst>
            </a:custGeom>
            <a:noFill/>
            <a:ln w="126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53" name="Google Shape;453;p37" descr="$PPTXTitle"/>
          <p:cNvSpPr txBox="1"/>
          <p:nvPr/>
        </p:nvSpPr>
        <p:spPr>
          <a:xfrm>
            <a:off x="1981961" y="589229"/>
            <a:ext cx="685039" cy="690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464A56"/>
                </a:solidFill>
                <a:latin typeface="Cambria"/>
                <a:ea typeface="Cambria"/>
                <a:cs typeface="Cambria"/>
                <a:sym typeface="Cambria"/>
              </a:rPr>
              <a:t>40</a:t>
            </a:r>
            <a:endParaRPr sz="4400" b="1" i="0" dirty="0">
              <a:solidFill>
                <a:srgbClr val="C84B24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54" name="Google Shape;454;p37"/>
          <p:cNvSpPr/>
          <p:nvPr/>
        </p:nvSpPr>
        <p:spPr>
          <a:xfrm>
            <a:off x="2886584" y="3705858"/>
            <a:ext cx="8770620" cy="551815"/>
          </a:xfrm>
          <a:custGeom>
            <a:avLst/>
            <a:gdLst/>
            <a:ahLst/>
            <a:cxnLst/>
            <a:rect l="l" t="t" r="r" b="b"/>
            <a:pathLst>
              <a:path w="8770620" h="551814" extrusionOk="0">
                <a:moveTo>
                  <a:pt x="8678672" y="0"/>
                </a:moveTo>
                <a:lnTo>
                  <a:pt x="91948" y="0"/>
                </a:lnTo>
                <a:lnTo>
                  <a:pt x="56149" y="7223"/>
                </a:lnTo>
                <a:lnTo>
                  <a:pt x="26924" y="26924"/>
                </a:lnTo>
                <a:lnTo>
                  <a:pt x="7223" y="56149"/>
                </a:lnTo>
                <a:lnTo>
                  <a:pt x="0" y="91948"/>
                </a:lnTo>
                <a:lnTo>
                  <a:pt x="0" y="459739"/>
                </a:lnTo>
                <a:lnTo>
                  <a:pt x="7223" y="495538"/>
                </a:lnTo>
                <a:lnTo>
                  <a:pt x="26924" y="524763"/>
                </a:lnTo>
                <a:lnTo>
                  <a:pt x="56149" y="544464"/>
                </a:lnTo>
                <a:lnTo>
                  <a:pt x="91948" y="551688"/>
                </a:lnTo>
                <a:lnTo>
                  <a:pt x="8678672" y="551688"/>
                </a:lnTo>
                <a:lnTo>
                  <a:pt x="8714470" y="544464"/>
                </a:lnTo>
                <a:lnTo>
                  <a:pt x="8743696" y="524764"/>
                </a:lnTo>
                <a:lnTo>
                  <a:pt x="8763396" y="495538"/>
                </a:lnTo>
                <a:lnTo>
                  <a:pt x="8770620" y="459739"/>
                </a:lnTo>
                <a:lnTo>
                  <a:pt x="8770620" y="91948"/>
                </a:lnTo>
                <a:lnTo>
                  <a:pt x="8763396" y="56149"/>
                </a:lnTo>
                <a:lnTo>
                  <a:pt x="8743696" y="26924"/>
                </a:lnTo>
                <a:lnTo>
                  <a:pt x="8714470" y="7223"/>
                </a:lnTo>
                <a:lnTo>
                  <a:pt x="8678672" y="0"/>
                </a:lnTo>
                <a:close/>
              </a:path>
            </a:pathLst>
          </a:custGeom>
          <a:solidFill>
            <a:srgbClr val="79A8A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55" name="Google Shape;455;p37"/>
          <p:cNvSpPr/>
          <p:nvPr/>
        </p:nvSpPr>
        <p:spPr>
          <a:xfrm>
            <a:off x="2886584" y="4394115"/>
            <a:ext cx="8770620" cy="551815"/>
          </a:xfrm>
          <a:custGeom>
            <a:avLst/>
            <a:gdLst/>
            <a:ahLst/>
            <a:cxnLst/>
            <a:rect l="l" t="t" r="r" b="b"/>
            <a:pathLst>
              <a:path w="8770620" h="551814" extrusionOk="0">
                <a:moveTo>
                  <a:pt x="8678672" y="0"/>
                </a:moveTo>
                <a:lnTo>
                  <a:pt x="91948" y="0"/>
                </a:lnTo>
                <a:lnTo>
                  <a:pt x="56149" y="7223"/>
                </a:lnTo>
                <a:lnTo>
                  <a:pt x="26924" y="26924"/>
                </a:lnTo>
                <a:lnTo>
                  <a:pt x="7223" y="56149"/>
                </a:lnTo>
                <a:lnTo>
                  <a:pt x="0" y="91948"/>
                </a:lnTo>
                <a:lnTo>
                  <a:pt x="0" y="459739"/>
                </a:lnTo>
                <a:lnTo>
                  <a:pt x="7223" y="495538"/>
                </a:lnTo>
                <a:lnTo>
                  <a:pt x="26924" y="524763"/>
                </a:lnTo>
                <a:lnTo>
                  <a:pt x="56149" y="544464"/>
                </a:lnTo>
                <a:lnTo>
                  <a:pt x="91948" y="551688"/>
                </a:lnTo>
                <a:lnTo>
                  <a:pt x="8678672" y="551688"/>
                </a:lnTo>
                <a:lnTo>
                  <a:pt x="8714470" y="544464"/>
                </a:lnTo>
                <a:lnTo>
                  <a:pt x="8743696" y="524764"/>
                </a:lnTo>
                <a:lnTo>
                  <a:pt x="8763396" y="495538"/>
                </a:lnTo>
                <a:lnTo>
                  <a:pt x="8770620" y="459739"/>
                </a:lnTo>
                <a:lnTo>
                  <a:pt x="8770620" y="91948"/>
                </a:lnTo>
                <a:lnTo>
                  <a:pt x="8763396" y="56149"/>
                </a:lnTo>
                <a:lnTo>
                  <a:pt x="8743696" y="26924"/>
                </a:lnTo>
                <a:lnTo>
                  <a:pt x="8714470" y="7223"/>
                </a:lnTo>
                <a:lnTo>
                  <a:pt x="8678672" y="0"/>
                </a:lnTo>
                <a:close/>
              </a:path>
            </a:pathLst>
          </a:custGeom>
          <a:solidFill>
            <a:srgbClr val="79A8A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56" name="Google Shape;456;p37"/>
          <p:cNvSpPr txBox="1"/>
          <p:nvPr/>
        </p:nvSpPr>
        <p:spPr>
          <a:xfrm>
            <a:off x="3219450" y="3060359"/>
            <a:ext cx="5958840" cy="2293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problem‐state &amp; state‐space, </a:t>
            </a:r>
            <a:endParaRPr/>
          </a:p>
          <a:p>
            <a:pPr marL="12700" lvl="0" indent="0" algn="l" rtl="0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endParaRPr sz="2400"/>
          </a:p>
          <a:p>
            <a:pPr marL="12700" lvl="0" indent="0" algn="l" rtl="0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/>
              <a:t>problem formulation</a:t>
            </a:r>
            <a:endParaRPr/>
          </a:p>
          <a:p>
            <a:pPr marL="12700" lvl="0" indent="0" algn="l" rtl="0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endParaRPr sz="2400"/>
          </a:p>
          <a:p>
            <a:pPr marL="12700" lvl="0" indent="0" algn="l" rtl="0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/>
              <a:t>Well-defined problem</a:t>
            </a:r>
            <a:endParaRPr sz="3200"/>
          </a:p>
          <a:p>
            <a:pPr marL="12700" lvl="0" indent="0" algn="l" rtl="0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1" name="Google Shape;461;p38"/>
          <p:cNvGrpSpPr/>
          <p:nvPr/>
        </p:nvGrpSpPr>
        <p:grpSpPr>
          <a:xfrm>
            <a:off x="9972" y="-2359"/>
            <a:ext cx="12182027" cy="6501548"/>
            <a:chOff x="9972" y="-2359"/>
            <a:chExt cx="12182027" cy="6501548"/>
          </a:xfrm>
        </p:grpSpPr>
        <p:sp>
          <p:nvSpPr>
            <p:cNvPr id="462" name="Google Shape;462;p38"/>
            <p:cNvSpPr/>
            <p:nvPr/>
          </p:nvSpPr>
          <p:spPr>
            <a:xfrm>
              <a:off x="623876" y="-2359"/>
              <a:ext cx="4548505" cy="3168650"/>
            </a:xfrm>
            <a:custGeom>
              <a:avLst/>
              <a:gdLst/>
              <a:ahLst/>
              <a:cxnLst/>
              <a:rect l="l" t="t" r="r" b="b"/>
              <a:pathLst>
                <a:path w="4548505" h="3168650" extrusionOk="0">
                  <a:moveTo>
                    <a:pt x="1256288" y="0"/>
                  </a:moveTo>
                  <a:lnTo>
                    <a:pt x="0" y="0"/>
                  </a:lnTo>
                  <a:lnTo>
                    <a:pt x="3293242" y="3168630"/>
                  </a:lnTo>
                  <a:lnTo>
                    <a:pt x="4548038" y="3168630"/>
                  </a:lnTo>
                  <a:lnTo>
                    <a:pt x="3674989" y="2327497"/>
                  </a:lnTo>
                  <a:lnTo>
                    <a:pt x="1256288" y="0"/>
                  </a:lnTo>
                  <a:close/>
                </a:path>
              </a:pathLst>
            </a:custGeom>
            <a:solidFill>
              <a:srgbClr val="79797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463" name="Google Shape;463;p3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26691" y="0"/>
              <a:ext cx="10465308" cy="35112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4" name="Google Shape;464;p38"/>
            <p:cNvSpPr/>
            <p:nvPr/>
          </p:nvSpPr>
          <p:spPr>
            <a:xfrm>
              <a:off x="3788097" y="2242136"/>
              <a:ext cx="1691005" cy="1092200"/>
            </a:xfrm>
            <a:custGeom>
              <a:avLst/>
              <a:gdLst/>
              <a:ahLst/>
              <a:cxnLst/>
              <a:rect l="l" t="t" r="r" b="b"/>
              <a:pathLst>
                <a:path w="1691004" h="1092200" extrusionOk="0">
                  <a:moveTo>
                    <a:pt x="554199" y="0"/>
                  </a:moveTo>
                  <a:lnTo>
                    <a:pt x="0" y="0"/>
                  </a:lnTo>
                  <a:lnTo>
                    <a:pt x="1136342" y="1091875"/>
                  </a:lnTo>
                  <a:lnTo>
                    <a:pt x="1690541" y="1091875"/>
                  </a:lnTo>
                  <a:lnTo>
                    <a:pt x="1471838" y="882606"/>
                  </a:lnTo>
                  <a:lnTo>
                    <a:pt x="554199" y="0"/>
                  </a:lnTo>
                  <a:close/>
                </a:path>
              </a:pathLst>
            </a:custGeom>
            <a:solidFill>
              <a:srgbClr val="99D9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65" name="Google Shape;465;p38"/>
            <p:cNvSpPr/>
            <p:nvPr/>
          </p:nvSpPr>
          <p:spPr>
            <a:xfrm>
              <a:off x="9972" y="2972399"/>
              <a:ext cx="3660775" cy="3526790"/>
            </a:xfrm>
            <a:custGeom>
              <a:avLst/>
              <a:gdLst/>
              <a:ahLst/>
              <a:cxnLst/>
              <a:rect l="l" t="t" r="r" b="b"/>
              <a:pathLst>
                <a:path w="3660775" h="3526790" extrusionOk="0">
                  <a:moveTo>
                    <a:pt x="0" y="0"/>
                  </a:moveTo>
                  <a:lnTo>
                    <a:pt x="0" y="477832"/>
                  </a:lnTo>
                  <a:lnTo>
                    <a:pt x="3163571" y="3526622"/>
                  </a:lnTo>
                  <a:lnTo>
                    <a:pt x="3660562" y="3526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54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66" name="Google Shape;466;p38"/>
            <p:cNvSpPr/>
            <p:nvPr/>
          </p:nvSpPr>
          <p:spPr>
            <a:xfrm>
              <a:off x="11841" y="2320818"/>
              <a:ext cx="2994025" cy="2885440"/>
            </a:xfrm>
            <a:custGeom>
              <a:avLst/>
              <a:gdLst/>
              <a:ahLst/>
              <a:cxnLst/>
              <a:rect l="l" t="t" r="r" b="b"/>
              <a:pathLst>
                <a:path w="2994025" h="2885440" extrusionOk="0">
                  <a:moveTo>
                    <a:pt x="0" y="0"/>
                  </a:moveTo>
                  <a:lnTo>
                    <a:pt x="0" y="458147"/>
                  </a:lnTo>
                  <a:lnTo>
                    <a:pt x="2519204" y="2885259"/>
                  </a:lnTo>
                  <a:lnTo>
                    <a:pt x="2993958" y="2885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B07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67" name="Google Shape;467;p38" descr="$PPTXTitle"/>
          <p:cNvSpPr txBox="1">
            <a:spLocks noGrp="1"/>
          </p:cNvSpPr>
          <p:nvPr>
            <p:ph type="title"/>
          </p:nvPr>
        </p:nvSpPr>
        <p:spPr>
          <a:xfrm>
            <a:off x="8130667" y="1879549"/>
            <a:ext cx="3354704" cy="144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252525"/>
                </a:solidFill>
              </a:rPr>
              <a:t>Thank you…</a:t>
            </a:r>
            <a:br>
              <a:rPr lang="en-US" sz="4500">
                <a:solidFill>
                  <a:srgbClr val="252525"/>
                </a:solidFill>
              </a:rPr>
            </a:br>
            <a:endParaRPr sz="4500"/>
          </a:p>
        </p:txBody>
      </p:sp>
      <p:sp>
        <p:nvSpPr>
          <p:cNvPr id="468" name="Google Shape;468;p38"/>
          <p:cNvSpPr txBox="1"/>
          <p:nvPr/>
        </p:nvSpPr>
        <p:spPr>
          <a:xfrm>
            <a:off x="4883373" y="4343400"/>
            <a:ext cx="609600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"If a problem has no clear goal and no rules — can we solve it?</a:t>
            </a:r>
            <a:br>
              <a:rPr lang="en-US" sz="2400"/>
            </a:br>
            <a:r>
              <a:rPr lang="en-US" sz="2400"/>
              <a:t>Like playing a game without knowing how to win?"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C4D2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1719</Words>
  <Application>Microsoft Office PowerPoint</Application>
  <PresentationFormat>Widescreen</PresentationFormat>
  <Paragraphs>187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Cambria</vt:lpstr>
      <vt:lpstr>Calibri</vt:lpstr>
      <vt:lpstr>Arial</vt:lpstr>
      <vt:lpstr>Quattrocento Sans</vt:lpstr>
      <vt:lpstr>Office Theme</vt:lpstr>
      <vt:lpstr>Introduction to AI                     Environment types                          SY B.Sc. (CS)</vt:lpstr>
      <vt:lpstr>2  Topics:</vt:lpstr>
      <vt:lpstr>3 What is Task Environment?</vt:lpstr>
      <vt:lpstr>4 PEAS: Task Environment Specification</vt:lpstr>
      <vt:lpstr>5 Activity 1: Defining PEAS</vt:lpstr>
      <vt:lpstr>6 Properties of Task Environment</vt:lpstr>
      <vt:lpstr>7  1️⃣ Observability:            State Knowledge</vt:lpstr>
      <vt:lpstr>8  1️⃣ A) Fully Observable:</vt:lpstr>
      <vt:lpstr>9  1️⃣ B) Partially Observable:</vt:lpstr>
      <vt:lpstr>10 Activity 2: Observability Check</vt:lpstr>
      <vt:lpstr>11 2️⃣ Agent Type: Interaction</vt:lpstr>
      <vt:lpstr>12  2️⃣ A) Single Agent:</vt:lpstr>
      <vt:lpstr>13  2️⃣ B) Multi-agent:</vt:lpstr>
      <vt:lpstr>14 Activity 3: Agent Type Identification</vt:lpstr>
      <vt:lpstr>15  3️⃣ Predictability: Outcome Certainty</vt:lpstr>
      <vt:lpstr>16  3️⃣ A) Deterministic:</vt:lpstr>
      <vt:lpstr>17  3️⃣ B) Stochastic:</vt:lpstr>
      <vt:lpstr>18 Activity 4: Determinism Challenge</vt:lpstr>
      <vt:lpstr>19  4️⃣ Dependence: Consequences of Action</vt:lpstr>
      <vt:lpstr>20  4️⃣ A) Episodic:</vt:lpstr>
      <vt:lpstr>21  4️⃣ B) Sequential:</vt:lpstr>
      <vt:lpstr>22        Activity 5: Sequential Thinking</vt:lpstr>
      <vt:lpstr>23  5️⃣ Change Rate: Time Pressure</vt:lpstr>
      <vt:lpstr>24  5️⃣ A) Static:</vt:lpstr>
      <vt:lpstr>25  5️⃣ B) Dynamic:</vt:lpstr>
      <vt:lpstr>26  5️⃣ C) Semi-Dynamic: </vt:lpstr>
      <vt:lpstr>27        Activity 6: Dynamic Scenarios</vt:lpstr>
      <vt:lpstr>28  6️⃣ Structure: Data Representation</vt:lpstr>
      <vt:lpstr>29  6️⃣ A) Discrete: </vt:lpstr>
      <vt:lpstr>30  6️⃣ B) Continuous:</vt:lpstr>
      <vt:lpstr>31        Activity 7: Identifying Continuous Variables</vt:lpstr>
      <vt:lpstr>32  7️⃣ Knowledge: Known Rules</vt:lpstr>
      <vt:lpstr>33  7️⃣ A) Known Environment: </vt:lpstr>
      <vt:lpstr>34  7️⃣ B) Unknown Environment:</vt:lpstr>
      <vt:lpstr>35        Activity 8: Knowledge vs. Observability</vt:lpstr>
      <vt:lpstr>36        🚗 Example 1: Alien lands in Traffic World (same as a self-driving car)</vt:lpstr>
      <vt:lpstr>37        🚗 Example 1: Alien lands in Traffic World (same as a self-driving car)</vt:lpstr>
      <vt:lpstr>38        📦 Example 2: Alien delivers packages (Delivery Robot)</vt:lpstr>
      <vt:lpstr>39  Summary</vt:lpstr>
      <vt:lpstr>Next Class Preview</vt:lpstr>
      <vt:lpstr>Thank you…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Pushpa Mahapatro</dc:creator>
  <cp:lastModifiedBy>poornimanadar1234@gmail.com</cp:lastModifiedBy>
  <cp:revision>2</cp:revision>
  <dcterms:created xsi:type="dcterms:W3CDTF">2025-11-04T17:06:10Z</dcterms:created>
  <dcterms:modified xsi:type="dcterms:W3CDTF">2025-12-01T09:48:33Z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for Microsoft 365</vt:lpwstr>
  </property>
</Properties>
</file>