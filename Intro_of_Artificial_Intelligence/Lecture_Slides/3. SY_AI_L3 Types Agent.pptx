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4" r:id="rId4"/>
    <p:sldId id="289" r:id="rId5"/>
    <p:sldId id="275" r:id="rId6"/>
    <p:sldId id="297" r:id="rId7"/>
    <p:sldId id="285" r:id="rId8"/>
    <p:sldId id="277" r:id="rId9"/>
    <p:sldId id="298" r:id="rId10"/>
    <p:sldId id="293" r:id="rId11"/>
    <p:sldId id="302" r:id="rId12"/>
    <p:sldId id="303" r:id="rId13"/>
    <p:sldId id="278" r:id="rId14"/>
    <p:sldId id="300" r:id="rId15"/>
    <p:sldId id="294" r:id="rId16"/>
    <p:sldId id="304" r:id="rId17"/>
    <p:sldId id="276" r:id="rId18"/>
    <p:sldId id="299" r:id="rId19"/>
    <p:sldId id="286" r:id="rId20"/>
    <p:sldId id="305" r:id="rId21"/>
    <p:sldId id="306" r:id="rId22"/>
    <p:sldId id="279" r:id="rId23"/>
    <p:sldId id="301" r:id="rId24"/>
    <p:sldId id="296" r:id="rId25"/>
    <p:sldId id="288" r:id="rId26"/>
    <p:sldId id="307" r:id="rId27"/>
    <p:sldId id="295" r:id="rId28"/>
    <p:sldId id="292" r:id="rId29"/>
    <p:sldId id="308" r:id="rId30"/>
    <p:sldId id="261" r:id="rId31"/>
    <p:sldId id="269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89" autoAdjust="0"/>
  </p:normalViewPr>
  <p:slideViewPr>
    <p:cSldViewPr>
      <p:cViewPr varScale="1">
        <p:scale>
          <a:sx n="69" d="100"/>
          <a:sy n="69" d="100"/>
        </p:scale>
        <p:origin x="558" y="7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87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976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633F9A-79D0-FF47-20DA-3DAB50C9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45E0AB1-A369-D915-F8A2-97D79021C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FC16683-D724-D636-C2A9-B3E9A9F9C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EE3A09-1249-4105-0C1A-3CA1507C9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6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728" y="1629494"/>
            <a:ext cx="854646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Introduction to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</a:t>
            </a:r>
            <a:r>
              <a:rPr lang="en-IN" sz="3600" b="0" spc="150" dirty="0">
                <a:solidFill>
                  <a:srgbClr val="FFFFFF"/>
                </a:solidFill>
                <a:latin typeface="Cambria"/>
                <a:cs typeface="Cambria"/>
              </a:rPr>
              <a:t>Types of Agents</a:t>
            </a: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/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xmlns="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467243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Simple Reflex Agent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Model-Based Reflex Agent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Goal-Based Agent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Utility-Based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Learning Agent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4400"/>
              <a:t>Characteristics of Intelligent agents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44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Topics: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xmlns="" id="{7B5A43BA-53F1-CB90-8BA1-382DCDF9CBE3}"/>
              </a:ext>
            </a:extLst>
          </p:cNvPr>
          <p:cNvSpPr/>
          <p:nvPr/>
        </p:nvSpPr>
        <p:spPr>
          <a:xfrm>
            <a:off x="8610600" y="4680967"/>
            <a:ext cx="3533902" cy="21336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6D5FE6B-70C8-15A5-A005-DA99561152E8}"/>
              </a:ext>
            </a:extLst>
          </p:cNvPr>
          <p:cNvSpPr txBox="1"/>
          <p:nvPr/>
        </p:nvSpPr>
        <p:spPr>
          <a:xfrm>
            <a:off x="8715884" y="5147602"/>
            <a:ext cx="34591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Do you know how machines take smart decisions just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like humans? Let’s see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how!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D9B11A-0092-9925-1523-D35E640A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93A27F6-EAEA-7D4B-175A-FA05BFB68D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5F6D9B3A-2554-6A80-1BE4-F445A2C58F2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81F2A973-E675-B134-F26D-077D4BCF7A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C6D26561-3C41-417D-A560-D0512766BE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94AD302E-3308-0F6F-CAA7-E3A2F0184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Agent Function vs Agent Program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xmlns="" id="{C26504B5-8C8D-5B6C-584E-424F032E2615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Function: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mapping from all percepts to all possible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Program: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code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runs on the architecture and uses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percept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Function: “If you’ve seen dirt in the last two moves, return there.”</a:t>
            </a:r>
          </a:p>
          <a:p>
            <a:r>
              <a:rPr lang="en-US" sz="2800" dirty="0"/>
              <a:t>Program: Keeps memory to recall past percepts.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433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B06029-053D-EE6E-E27A-8154C6A9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3A2824A-A232-2841-F35A-952939804A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4652F834-8F53-496A-170C-1F56376867A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6FCE8AE8-382E-8991-0556-6CDC41633FA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112B0220-146E-55DB-2500-EAD51A48233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146" name="Picture 2" descr="Agents in AI - GeeksforGeeks">
            <a:extLst>
              <a:ext uri="{FF2B5EF4-FFF2-40B4-BE49-F238E27FC236}">
                <a16:creationId xmlns:a16="http://schemas.microsoft.com/office/drawing/2014/main" xmlns="" id="{3C7847B7-CE6C-052B-1F69-6538C665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1"/>
            <a:ext cx="11963399" cy="697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22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EE2E50-8CC7-E82A-44BD-6A0EEC6D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7631E0D6-21F2-615E-16DD-A389608036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FFF4DC99-1937-40C7-7298-006A48E46EB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B3F4E437-737F-61F4-1962-2660C6EBAD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4C109943-DE14-AB7F-E888-E2DDCB619BF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331F0653-14D0-001C-0D7C-D87676174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Simple Reflex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xmlns="" id="{A3A882EE-7DB1-639D-A7DC-723C322ABFF1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Works on </a:t>
            </a:r>
            <a:r>
              <a:rPr lang="en-US" sz="2800" b="1" dirty="0"/>
              <a:t>current percept only.</a:t>
            </a:r>
            <a:endParaRPr lang="en-US" sz="2800" dirty="0"/>
          </a:p>
          <a:p>
            <a:r>
              <a:rPr lang="en-US" sz="2800" dirty="0"/>
              <a:t>Uses </a:t>
            </a:r>
            <a:r>
              <a:rPr lang="en-US" sz="2800" b="1" dirty="0"/>
              <a:t>condition–action rules.</a:t>
            </a:r>
            <a:endParaRPr lang="en-US" sz="2800" dirty="0"/>
          </a:p>
          <a:p>
            <a:r>
              <a:rPr lang="en-US" sz="2800" dirty="0"/>
              <a:t>Doesn’t consider history or future.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“If dirt → then clean.” (Vacuum robot)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Formula:</a:t>
            </a:r>
          </a:p>
          <a:p>
            <a:r>
              <a:rPr lang="en-US" sz="2800" dirty="0"/>
              <a:t>if &lt;condition&gt; then &lt;action&gt;</a:t>
            </a:r>
          </a:p>
        </p:txBody>
      </p:sp>
    </p:spTree>
    <p:extLst>
      <p:ext uri="{BB962C8B-B14F-4D97-AF65-F5344CB8AC3E}">
        <p14:creationId xmlns:p14="http://schemas.microsoft.com/office/powerpoint/2010/main" val="342065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D2CD86E-D394-DC49-8829-87FCB04E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6532"/>
            <a:ext cx="10645183" cy="622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2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DCFA40-CEC9-DB3C-B6EE-4D69F748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009E54A4-E4B6-B1F8-136C-6B97C97040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E7AF5CEC-63D6-9755-2BAF-06F44240C84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892C0CE0-6A10-025F-930E-2C33191870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084FEE03-F289-7001-C3FA-E8A14FD39FF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B50646AA-FD20-C4F9-D922-8A276572F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1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xmlns="" id="{25BE946C-D80B-3A6D-9229-EF97EF8B71FF}"/>
              </a:ext>
            </a:extLst>
          </p:cNvPr>
          <p:cNvSpPr txBox="1"/>
          <p:nvPr/>
        </p:nvSpPr>
        <p:spPr>
          <a:xfrm>
            <a:off x="3095752" y="2097688"/>
            <a:ext cx="8448040" cy="534954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traffic light is red</a:t>
            </a:r>
            <a:r>
              <a:rPr lang="en-IN" sz="2800" dirty="0"/>
              <a:t> → ________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phone battery is low</a:t>
            </a:r>
            <a:r>
              <a:rPr lang="en-IN" sz="2800" dirty="0"/>
              <a:t> → ________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800" dirty="0"/>
              <a:t>If camera detects fire → ________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motion detected for 10 mins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temperature keeps rising → ________</a:t>
            </a:r>
          </a:p>
          <a:p>
            <a:r>
              <a:rPr lang="en-US" sz="2800" dirty="0"/>
              <a:t>If my teacher looks at me → ________</a:t>
            </a:r>
          </a:p>
          <a:p>
            <a:r>
              <a:rPr lang="en-US" sz="2800" dirty="0"/>
              <a:t>If my friend sends meme → ________</a:t>
            </a:r>
          </a:p>
          <a:p>
            <a:r>
              <a:rPr lang="en-US" sz="2800" dirty="0"/>
              <a:t>If Wi-Fi disconnects → ________</a:t>
            </a:r>
          </a:p>
          <a:p>
            <a:r>
              <a:rPr lang="en-US" sz="2800" dirty="0"/>
              <a:t>If class ends → ________</a:t>
            </a:r>
          </a:p>
          <a:p>
            <a:r>
              <a:rPr lang="en-US" sz="2800" dirty="0"/>
              <a:t>If it’s Sunday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15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8EC554-7967-B2C6-DB49-FF440FC6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082A92C-0351-A5C0-93B5-A708682EC3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71A2BBCD-8112-0610-9F64-290C5AAC1AD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957EF446-FAD5-B3D0-453F-EE92A137BC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5E7E3C0A-8CB3-71D8-808F-36AF00B4BA4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05A64892-11EC-6934-4B54-8CD5AD591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Model-Based Reflex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xmlns="" id="{AFB4F4BC-610D-B805-884F-EA298604E1BC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Has an </a:t>
            </a:r>
            <a:r>
              <a:rPr lang="en-US" sz="2800" b="1" dirty="0"/>
              <a:t>internal model</a:t>
            </a:r>
            <a:r>
              <a:rPr lang="en-US" sz="2800" dirty="0"/>
              <a:t> of the world.</a:t>
            </a:r>
          </a:p>
          <a:p>
            <a:r>
              <a:rPr lang="en-US" sz="2800" dirty="0"/>
              <a:t>Remembers what happened before (percept history).</a:t>
            </a:r>
          </a:p>
          <a:p>
            <a:r>
              <a:rPr lang="en-US" sz="2800" dirty="0"/>
              <a:t>Handles </a:t>
            </a:r>
            <a:r>
              <a:rPr lang="en-US" sz="2800" b="1" dirty="0"/>
              <a:t>partial observability.</a:t>
            </a:r>
          </a:p>
          <a:p>
            <a:r>
              <a:rPr lang="en-US" sz="2800" dirty="0"/>
              <a:t>Old state + current percept + model of world.</a:t>
            </a:r>
          </a:p>
          <a:p>
            <a:endParaRPr lang="en-US" sz="2800" dirty="0"/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Self-driving car remembers the position of cars it cannot currently see.</a:t>
            </a:r>
          </a:p>
        </p:txBody>
      </p:sp>
    </p:spTree>
    <p:extLst>
      <p:ext uri="{BB962C8B-B14F-4D97-AF65-F5344CB8AC3E}">
        <p14:creationId xmlns:p14="http://schemas.microsoft.com/office/powerpoint/2010/main" val="41586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B7A599-1C58-913B-226F-003B1BC3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3AF40AF-50F4-72B3-3EFB-191BB231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1121870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79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FF0DD1-AE60-B2F9-5FA9-002B8FE2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C54B1DA8-E2A0-2793-D3E1-13B02B0050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3C071FA7-C717-10C1-2719-B4F4FB7907E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0D709E54-ABB4-C8FB-60D0-7C59B53765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81F324A1-12EC-EBDF-5D52-9B1F6BDAF9C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304CDEE2-3739-23E4-32DF-CA59F2E1E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10599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2.a</a:t>
            </a:r>
            <a:br>
              <a:rPr lang="en-IN" sz="4400" dirty="0"/>
            </a:br>
            <a:r>
              <a:rPr lang="en-IN" sz="2400" dirty="0"/>
              <a:t>What will your mind says when I say the word car?</a:t>
            </a:r>
            <a:endParaRPr sz="4400" dirty="0">
              <a:latin typeface="Cambria"/>
              <a:cs typeface="Cambria"/>
            </a:endParaRPr>
          </a:p>
        </p:txBody>
      </p:sp>
      <p:pic>
        <p:nvPicPr>
          <p:cNvPr id="4098" name="Picture 2" descr="Cars Moving Slowly Traffic Jam On">
            <a:extLst>
              <a:ext uri="{FF2B5EF4-FFF2-40B4-BE49-F238E27FC236}">
                <a16:creationId xmlns:a16="http://schemas.microsoft.com/office/drawing/2014/main" xmlns="" id="{8ABB1483-F2D9-3DE5-3096-03AED7B19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54228"/>
            <a:ext cx="7696199" cy="433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689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F718B6-F615-A299-BB35-8632203C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184C2902-A70E-34BF-58EE-394E7AF23A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E7242B78-D997-954A-1ADF-2A8F9AC83F9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12A10B92-F2BA-488B-45D7-80D9375EB9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35604448-F222-5ED2-A85A-E49EDDFB93E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FEBE1AF8-0B48-AFB5-7E97-48FE6BD96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2 examples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97AB207C-6F55-2643-76A0-6BA27BEBB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51659"/>
              </p:ext>
            </p:extLst>
          </p:nvPr>
        </p:nvGraphicFramePr>
        <p:xfrm>
          <a:off x="2096331" y="2270142"/>
          <a:ext cx="8228696" cy="42861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114348">
                  <a:extLst>
                    <a:ext uri="{9D8B030D-6E8A-4147-A177-3AD203B41FA5}">
                      <a16:colId xmlns:a16="http://schemas.microsoft.com/office/drawing/2014/main" xmlns="" val="1837153236"/>
                    </a:ext>
                  </a:extLst>
                </a:gridCol>
                <a:gridCol w="4114348">
                  <a:extLst>
                    <a:ext uri="{9D8B030D-6E8A-4147-A177-3AD203B41FA5}">
                      <a16:colId xmlns:a16="http://schemas.microsoft.com/office/drawing/2014/main" xmlns="" val="1462458104"/>
                    </a:ext>
                  </a:extLst>
                </a:gridCol>
              </a:tblGrid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Percept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Model-Based Reflex Action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1358366673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Traffic light is red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Stop if approaching intersection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3900857845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Phone battery is low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/>
                        <a:t>Charge or save battery depending on usage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3313636306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Camera detects fire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/>
                        <a:t>Raise alarm if not already raised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28325990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/>
                        <a:t>No motion detected for 10 mins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/>
                        <a:t>Turn off lights if room was occupied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2912608682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Temperature keeps rising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/>
                        <a:t>Turn on AC if people are present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3824555074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/>
                        <a:t>My teacher looks at me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Sit properly if slouching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1190243212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Friend sends meme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Check phone if free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722084363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Wi-Fi disconnects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Reconnect if needed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1953167788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Class ends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/>
                        <a:t>Leave if next class allows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2385869040"/>
                  </a:ext>
                </a:extLst>
              </a:tr>
              <a:tr h="3896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/>
                        <a:t>It’s Sunday</a:t>
                      </a:r>
                    </a:p>
                  </a:txBody>
                  <a:tcPr marL="57439" marR="57439" marT="28719" marB="287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/>
                        <a:t>Sleep or study depending on pending work</a:t>
                      </a:r>
                    </a:p>
                  </a:txBody>
                  <a:tcPr marL="57439" marR="57439" marT="28719" marB="28719" anchor="ctr"/>
                </a:tc>
                <a:extLst>
                  <a:ext uri="{0D108BD9-81ED-4DB2-BD59-A6C34878D82A}">
                    <a16:rowId xmlns:a16="http://schemas.microsoft.com/office/drawing/2014/main" xmlns="" val="4283020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415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EBAFBF-CAAF-F592-2C15-8CFD17062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4460FCDC-B692-A50E-EC66-747F0470D4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627B5A4D-AD46-D141-AB6A-9E1A7A2F441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224F0ECC-AA0A-7224-4D2E-4F740840EE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22E5A368-2ED5-2257-AF7D-EC451B2843B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43071884-2062-1B9E-C620-DDFEF3ABC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2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93BF4B5C-8AD8-8211-28FE-F08E00B1D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65160"/>
              </p:ext>
            </p:extLst>
          </p:nvPr>
        </p:nvGraphicFramePr>
        <p:xfrm>
          <a:off x="2744304" y="2257745"/>
          <a:ext cx="8685696" cy="401102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342848">
                  <a:extLst>
                    <a:ext uri="{9D8B030D-6E8A-4147-A177-3AD203B41FA5}">
                      <a16:colId xmlns:a16="http://schemas.microsoft.com/office/drawing/2014/main" xmlns="" val="144619588"/>
                    </a:ext>
                  </a:extLst>
                </a:gridCol>
                <a:gridCol w="4342848">
                  <a:extLst>
                    <a:ext uri="{9D8B030D-6E8A-4147-A177-3AD203B41FA5}">
                      <a16:colId xmlns:a16="http://schemas.microsoft.com/office/drawing/2014/main" xmlns="" val="3260848581"/>
                    </a:ext>
                  </a:extLst>
                </a:gridCol>
              </a:tblGrid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Situation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State/History to consider</a:t>
                      </a:r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209090128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Laptop overheating?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Is a long task running?</a:t>
                      </a:r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469046700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It starts raining?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________</a:t>
                      </a:r>
                      <a:endParaRPr lang="en-US" sz="1800" dirty="0"/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2814912643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Room is dark?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Is anyone sleeping?</a:t>
                      </a:r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1016434990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Doorbell rings?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________</a:t>
                      </a:r>
                      <a:endParaRPr lang="en-IN" sz="1800" dirty="0"/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2346545160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Pet is meowing?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Was it just fed or played with?</a:t>
                      </a:r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368839057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Washing machine done?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Is someone using the laundry area?</a:t>
                      </a:r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2595875186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TV is on but no one watching?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________</a:t>
                      </a:r>
                      <a:endParaRPr lang="en-US" sz="1800" dirty="0"/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3106559027"/>
                  </a:ext>
                </a:extLst>
              </a:tr>
              <a:tr h="445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Garden plants look dry?</a:t>
                      </a:r>
                    </a:p>
                  </a:txBody>
                  <a:tcPr marL="70203" marR="70203" marT="35101" marB="351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________</a:t>
                      </a:r>
                      <a:endParaRPr lang="en-IN" sz="1800" dirty="0"/>
                    </a:p>
                  </a:txBody>
                  <a:tcPr marL="70203" marR="70203" marT="35101" marB="35101" anchor="ctr"/>
                </a:tc>
                <a:extLst>
                  <a:ext uri="{0D108BD9-81ED-4DB2-BD59-A6C34878D82A}">
                    <a16:rowId xmlns:a16="http://schemas.microsoft.com/office/drawing/2014/main" xmlns="" val="123327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888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8E29B1-AE87-09A7-5241-AEED272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059B49CD-C1F7-4BF1-91CA-C14C14FF6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64AA4BEE-A219-DBE3-D461-78341F79AA1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5BC6E940-1607-FB9B-4E85-422E456B65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2BA3024E-BDD9-D293-57DE-F8B948B828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AB3EDCA0-ED36-AF8E-35E2-00982C2C0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</a:t>
            </a:r>
            <a:r>
              <a:rPr lang="en-IN" sz="4400" dirty="0"/>
              <a:t>Goal-Based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xmlns="" id="{5B953476-4947-34B7-BA57-7A65FE59BBFB}"/>
              </a:ext>
            </a:extLst>
          </p:cNvPr>
          <p:cNvSpPr txBox="1"/>
          <p:nvPr/>
        </p:nvSpPr>
        <p:spPr>
          <a:xfrm>
            <a:off x="2934462" y="2286000"/>
            <a:ext cx="8448040" cy="325666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Decides action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goals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(desired outcome).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model of world + reasoning +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flexible than reflex agents.</a:t>
            </a:r>
          </a:p>
        </p:txBody>
      </p:sp>
    </p:spTree>
    <p:extLst>
      <p:ext uri="{BB962C8B-B14F-4D97-AF65-F5344CB8AC3E}">
        <p14:creationId xmlns:p14="http://schemas.microsoft.com/office/powerpoint/2010/main" val="361476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1C2A3B-E5F6-9C02-5E64-B585E451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1D679F54-0888-05B6-B41D-DF1BA2255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49" y="304800"/>
            <a:ext cx="11950080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125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lobal Routing &amp; Optimized Route Planning - Google Maps Platform">
            <a:extLst>
              <a:ext uri="{FF2B5EF4-FFF2-40B4-BE49-F238E27FC236}">
                <a16:creationId xmlns:a16="http://schemas.microsoft.com/office/drawing/2014/main" xmlns="" id="{3B99FAA4-F203-EB2D-0F1E-141AAB4CA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0"/>
            <a:ext cx="7875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79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6F7C86-7B71-EEC3-CDA0-DEA0A6BD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68F3AB52-845A-8BB2-B2EB-4793429BCC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1A7843EC-E90B-C0BD-1CF7-8C4F43AA0C2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88112073-E014-4441-3EAA-9B96026D201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EF291095-99D6-6EA4-3A4A-DB07CBA7BA6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55478D19-1013-80A3-B777-A43C0952A0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xmlns="" id="{0C11044B-D2F7-2DAF-E02C-DD79BC5B7163}"/>
              </a:ext>
            </a:extLst>
          </p:cNvPr>
          <p:cNvSpPr txBox="1"/>
          <p:nvPr/>
        </p:nvSpPr>
        <p:spPr>
          <a:xfrm>
            <a:off x="3095752" y="2097688"/>
            <a:ext cx="8448040" cy="356443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Reach school on time → If it starts raining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Finish homework before dinner → If the internet goes down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Stay healthy → If the fridge has only snacks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Save phone battery → If a video is playing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Keep room clean → If the floor is messy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Water plants without wasting water → If it’s raining outside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Attend online lecture → If Wi-Fi is slow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Avoid traffic → If the main road is jammed → ________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Watch favorite show → If someone else is using TV → ________</a:t>
            </a:r>
          </a:p>
        </p:txBody>
      </p:sp>
    </p:spTree>
    <p:extLst>
      <p:ext uri="{BB962C8B-B14F-4D97-AF65-F5344CB8AC3E}">
        <p14:creationId xmlns:p14="http://schemas.microsoft.com/office/powerpoint/2010/main" val="2124567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1558FF-4276-0F1E-5504-CE3DDFDC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FEA798C1-F2BE-E8FB-1EF9-CEADC4F37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AFA2D211-52B4-9D38-62EB-C127A1C364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3F75F331-738C-CDE8-55D2-0CE5E059FC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7ECE4F03-8CA7-0A01-C2F2-88F33DE051D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92035F9D-310D-0353-657F-D4F3E3CE3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Utility-Based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FCAA4F1-B30D-29DB-999E-5F0282C13402}"/>
              </a:ext>
            </a:extLst>
          </p:cNvPr>
          <p:cNvSpPr txBox="1"/>
          <p:nvPr/>
        </p:nvSpPr>
        <p:spPr>
          <a:xfrm>
            <a:off x="3047999" y="2551837"/>
            <a:ext cx="86570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Tries to </a:t>
            </a:r>
            <a:r>
              <a:rPr lang="en-US" sz="2800" b="1" dirty="0"/>
              <a:t>maximize happiness / performance / safety.</a:t>
            </a:r>
            <a:endParaRPr lang="en-US" sz="2800" dirty="0"/>
          </a:p>
          <a:p>
            <a:r>
              <a:rPr lang="en-US" sz="2800" dirty="0"/>
              <a:t>Handles conflicting goals (speed vs safety).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Delivery drone choosing </a:t>
            </a:r>
            <a:r>
              <a:rPr lang="en-US" sz="2800" i="1" dirty="0"/>
              <a:t>fastest but safest</a:t>
            </a:r>
            <a:r>
              <a:rPr lang="en-US" sz="2800" dirty="0"/>
              <a:t> route.</a:t>
            </a:r>
          </a:p>
        </p:txBody>
      </p:sp>
    </p:spTree>
    <p:extLst>
      <p:ext uri="{BB962C8B-B14F-4D97-AF65-F5344CB8AC3E}">
        <p14:creationId xmlns:p14="http://schemas.microsoft.com/office/powerpoint/2010/main" val="2156774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AB5379-398B-32C6-3849-281A1876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6F5926A-1FE2-DD43-32E9-FBFA92FB5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2675"/>
            <a:ext cx="9981483" cy="599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19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8B6976-6A61-6E96-B21D-6E665CDF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E15D9213-E737-F1A2-2B20-87E64EC271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F881CD83-3B7A-09A9-3E4E-2E81CCC5062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925BA68B-264B-EFD1-70EC-27BC20AAA07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871F9F07-7C28-9206-8900-1B06BD9A71D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7B6ADDF6-C7E8-D06C-0D3F-D8DFB74F6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0F194EC1-ABFF-ED1D-FF4D-C59E69726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234945"/>
              </p:ext>
            </p:extLst>
          </p:nvPr>
        </p:nvGraphicFramePr>
        <p:xfrm>
          <a:off x="1730376" y="2665094"/>
          <a:ext cx="9547224" cy="3507105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386806">
                  <a:extLst>
                    <a:ext uri="{9D8B030D-6E8A-4147-A177-3AD203B41FA5}">
                      <a16:colId xmlns:a16="http://schemas.microsoft.com/office/drawing/2014/main" xmlns="" val="3241742679"/>
                    </a:ext>
                  </a:extLst>
                </a:gridCol>
                <a:gridCol w="2386806">
                  <a:extLst>
                    <a:ext uri="{9D8B030D-6E8A-4147-A177-3AD203B41FA5}">
                      <a16:colId xmlns:a16="http://schemas.microsoft.com/office/drawing/2014/main" xmlns="" val="566689454"/>
                    </a:ext>
                  </a:extLst>
                </a:gridCol>
                <a:gridCol w="2386806">
                  <a:extLst>
                    <a:ext uri="{9D8B030D-6E8A-4147-A177-3AD203B41FA5}">
                      <a16:colId xmlns:a16="http://schemas.microsoft.com/office/drawing/2014/main" xmlns="" val="588800857"/>
                    </a:ext>
                  </a:extLst>
                </a:gridCol>
                <a:gridCol w="2386806">
                  <a:extLst>
                    <a:ext uri="{9D8B030D-6E8A-4147-A177-3AD203B41FA5}">
                      <a16:colId xmlns:a16="http://schemas.microsoft.com/office/drawing/2014/main" xmlns="" val="677689401"/>
                    </a:ext>
                  </a:extLst>
                </a:gridCol>
              </a:tblGrid>
              <a:tr h="129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Route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Utility (Choose the best)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11322046"/>
                  </a:ext>
                </a:extLst>
              </a:tr>
              <a:tr h="738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Risky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23338121"/>
                  </a:ext>
                </a:extLst>
              </a:tr>
              <a:tr h="738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426076099"/>
                  </a:ext>
                </a:extLst>
              </a:tr>
              <a:tr h="738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12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122339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BD81917-9371-572D-0971-D2D9B9CCC286}"/>
              </a:ext>
            </a:extLst>
          </p:cNvPr>
          <p:cNvSpPr txBox="1"/>
          <p:nvPr/>
        </p:nvSpPr>
        <p:spPr>
          <a:xfrm>
            <a:off x="3352800" y="125656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need to go somewhere. You have three route options: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693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21D402-6AA2-2C46-2C6F-42169DAF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169C9568-74DB-6173-9027-3A91A3E087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189E38F8-5AF5-C46C-476A-A24058EF030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56F0EBB6-AB7F-12D3-534A-F4881F6E36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8F01E95E-A316-B75F-83F8-81E9E376F1A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1C091004-5189-99B5-516A-D372EBEF0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A9295115-CB8E-B12E-546D-E07E63C33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014031"/>
              </p:ext>
            </p:extLst>
          </p:nvPr>
        </p:nvGraphicFramePr>
        <p:xfrm>
          <a:off x="1730374" y="2527934"/>
          <a:ext cx="9775825" cy="3491851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55165">
                  <a:extLst>
                    <a:ext uri="{9D8B030D-6E8A-4147-A177-3AD203B41FA5}">
                      <a16:colId xmlns:a16="http://schemas.microsoft.com/office/drawing/2014/main" xmlns="" val="1798689988"/>
                    </a:ext>
                  </a:extLst>
                </a:gridCol>
                <a:gridCol w="1955165">
                  <a:extLst>
                    <a:ext uri="{9D8B030D-6E8A-4147-A177-3AD203B41FA5}">
                      <a16:colId xmlns:a16="http://schemas.microsoft.com/office/drawing/2014/main" xmlns="" val="1740186141"/>
                    </a:ext>
                  </a:extLst>
                </a:gridCol>
                <a:gridCol w="1955165">
                  <a:extLst>
                    <a:ext uri="{9D8B030D-6E8A-4147-A177-3AD203B41FA5}">
                      <a16:colId xmlns:a16="http://schemas.microsoft.com/office/drawing/2014/main" xmlns="" val="3156673860"/>
                    </a:ext>
                  </a:extLst>
                </a:gridCol>
                <a:gridCol w="1955165">
                  <a:extLst>
                    <a:ext uri="{9D8B030D-6E8A-4147-A177-3AD203B41FA5}">
                      <a16:colId xmlns:a16="http://schemas.microsoft.com/office/drawing/2014/main" xmlns="" val="1091610571"/>
                    </a:ext>
                  </a:extLst>
                </a:gridCol>
                <a:gridCol w="1955165">
                  <a:extLst>
                    <a:ext uri="{9D8B030D-6E8A-4147-A177-3AD203B41FA5}">
                      <a16:colId xmlns:a16="http://schemas.microsoft.com/office/drawing/2014/main" xmlns="" val="1578610999"/>
                    </a:ext>
                  </a:extLst>
                </a:gridCol>
              </a:tblGrid>
              <a:tr h="1587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Genre You Like (1–10)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Friends’ Preference (1–10)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Length (hr)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Utility (Fill 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31451799"/>
                  </a:ext>
                </a:extLst>
              </a:tr>
              <a:tr h="634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Movie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82693447"/>
                  </a:ext>
                </a:extLst>
              </a:tr>
              <a:tr h="634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Movie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60519004"/>
                  </a:ext>
                </a:extLst>
              </a:tr>
              <a:tr h="634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Movie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92292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D4F456D-F389-6C6F-5A57-255AF70E23BE}"/>
              </a:ext>
            </a:extLst>
          </p:cNvPr>
          <p:cNvSpPr txBox="1"/>
          <p:nvPr/>
        </p:nvSpPr>
        <p:spPr>
          <a:xfrm>
            <a:off x="3048000" y="12515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Movie Night (Utility-Based Agent)</a:t>
            </a:r>
          </a:p>
        </p:txBody>
      </p:sp>
    </p:spTree>
    <p:extLst>
      <p:ext uri="{BB962C8B-B14F-4D97-AF65-F5344CB8AC3E}">
        <p14:creationId xmlns:p14="http://schemas.microsoft.com/office/powerpoint/2010/main" val="4254355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01ECF8-2BFB-C71F-9362-73E7C1B0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942BF6D-0A26-9ADB-F7A5-4E11807003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1A686FCC-3A0D-5291-AF95-32B35175E0E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7B977801-1283-315A-BA56-5D6C405A82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CCD91FED-5C04-C9C8-FC01-59B29AC17A2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C2BF9B0D-BE43-30DA-E31D-1DD941851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65F511E-F5DC-E638-27CA-6C8929E79808}"/>
              </a:ext>
            </a:extLst>
          </p:cNvPr>
          <p:cNvSpPr txBox="1"/>
          <p:nvPr/>
        </p:nvSpPr>
        <p:spPr>
          <a:xfrm>
            <a:off x="3048000" y="12515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Lunch Choice (Utility-Based Agent)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43125A35-F113-F5FB-1C78-84B97273A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78161"/>
              </p:ext>
            </p:extLst>
          </p:nvPr>
        </p:nvGraphicFramePr>
        <p:xfrm>
          <a:off x="1730374" y="2802254"/>
          <a:ext cx="9547225" cy="346651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909445">
                  <a:extLst>
                    <a:ext uri="{9D8B030D-6E8A-4147-A177-3AD203B41FA5}">
                      <a16:colId xmlns:a16="http://schemas.microsoft.com/office/drawing/2014/main" xmlns="" val="1817908843"/>
                    </a:ext>
                  </a:extLst>
                </a:gridCol>
                <a:gridCol w="1909445">
                  <a:extLst>
                    <a:ext uri="{9D8B030D-6E8A-4147-A177-3AD203B41FA5}">
                      <a16:colId xmlns:a16="http://schemas.microsoft.com/office/drawing/2014/main" xmlns="" val="775925974"/>
                    </a:ext>
                  </a:extLst>
                </a:gridCol>
                <a:gridCol w="1909445">
                  <a:extLst>
                    <a:ext uri="{9D8B030D-6E8A-4147-A177-3AD203B41FA5}">
                      <a16:colId xmlns:a16="http://schemas.microsoft.com/office/drawing/2014/main" xmlns="" val="3901745128"/>
                    </a:ext>
                  </a:extLst>
                </a:gridCol>
                <a:gridCol w="1909445">
                  <a:extLst>
                    <a:ext uri="{9D8B030D-6E8A-4147-A177-3AD203B41FA5}">
                      <a16:colId xmlns:a16="http://schemas.microsoft.com/office/drawing/2014/main" xmlns="" val="1390880938"/>
                    </a:ext>
                  </a:extLst>
                </a:gridCol>
                <a:gridCol w="1909445">
                  <a:extLst>
                    <a:ext uri="{9D8B030D-6E8A-4147-A177-3AD203B41FA5}">
                      <a16:colId xmlns:a16="http://schemas.microsoft.com/office/drawing/2014/main" xmlns="" val="628871461"/>
                    </a:ext>
                  </a:extLst>
                </a:gridCol>
              </a:tblGrid>
              <a:tr h="866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Taste (1–10)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(1–10)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(1–10)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Utility (Fill 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82084645"/>
                  </a:ext>
                </a:extLst>
              </a:tr>
              <a:tr h="866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Pizza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86213127"/>
                  </a:ext>
                </a:extLst>
              </a:tr>
              <a:tr h="866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30223048"/>
                  </a:ext>
                </a:extLst>
              </a:tr>
              <a:tr h="866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Sandwich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54997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985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FF6E38-76B4-D5E7-3533-F627F98C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089F86E4-CCE6-CBE8-853F-9B3F658CD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6A88E04E-7427-6832-20DF-7EBF0D6295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667F5430-5226-A0CA-ACED-212F5E5262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2B4E9635-4B57-16C5-D286-16CDC3636E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EC358D6F-5733-CBF0-6F69-FC6CBCE01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Learning Agent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88F3908-3B1C-539D-CF3A-4AD06679C3EC}"/>
              </a:ext>
            </a:extLst>
          </p:cNvPr>
          <p:cNvSpPr txBox="1"/>
          <p:nvPr/>
        </p:nvSpPr>
        <p:spPr>
          <a:xfrm>
            <a:off x="3048000" y="2177033"/>
            <a:ext cx="8077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Learning agent </a:t>
            </a:r>
            <a:r>
              <a:rPr lang="en-US" sz="2400" b="1" dirty="0"/>
              <a:t>improves its performance over time using feedback</a:t>
            </a:r>
            <a:r>
              <a:rPr 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A </a:t>
            </a:r>
            <a:r>
              <a:rPr lang="en-US" sz="2400" b="1" dirty="0"/>
              <a:t>learning agent</a:t>
            </a:r>
            <a:r>
              <a:rPr lang="en-US" sz="2400" dirty="0"/>
              <a:t> can </a:t>
            </a:r>
            <a:r>
              <a:rPr lang="en-US" sz="2400" b="1" dirty="0"/>
              <a:t>improve with experience.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It has </a:t>
            </a:r>
            <a:r>
              <a:rPr lang="en-US" sz="2400" b="1" dirty="0"/>
              <a:t>4 components: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092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585F4A-7D63-C6B4-F2FA-827FEFC5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aw the block diagram of the learning agent and explain its ...">
            <a:extLst>
              <a:ext uri="{FF2B5EF4-FFF2-40B4-BE49-F238E27FC236}">
                <a16:creationId xmlns:a16="http://schemas.microsoft.com/office/drawing/2014/main" xmlns="" id="{81AF22EA-D394-11F9-4EE6-3E3EEC75C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" y="76200"/>
            <a:ext cx="11742420" cy="661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709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AE9143A5-4D8E-4070-77AB-1994D7899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322516"/>
              </p:ext>
            </p:extLst>
          </p:nvPr>
        </p:nvGraphicFramePr>
        <p:xfrm>
          <a:off x="1447800" y="1371600"/>
          <a:ext cx="9928227" cy="43510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09409">
                  <a:extLst>
                    <a:ext uri="{9D8B030D-6E8A-4147-A177-3AD203B41FA5}">
                      <a16:colId xmlns:a16="http://schemas.microsoft.com/office/drawing/2014/main" xmlns="" val="3381498718"/>
                    </a:ext>
                  </a:extLst>
                </a:gridCol>
                <a:gridCol w="3309409">
                  <a:extLst>
                    <a:ext uri="{9D8B030D-6E8A-4147-A177-3AD203B41FA5}">
                      <a16:colId xmlns:a16="http://schemas.microsoft.com/office/drawing/2014/main" xmlns="" val="957407997"/>
                    </a:ext>
                  </a:extLst>
                </a:gridCol>
                <a:gridCol w="3309409">
                  <a:extLst>
                    <a:ext uri="{9D8B030D-6E8A-4147-A177-3AD203B41FA5}">
                      <a16:colId xmlns:a16="http://schemas.microsoft.com/office/drawing/2014/main" xmlns="" val="1219728279"/>
                    </a:ext>
                  </a:extLst>
                </a:gridCol>
              </a:tblGrid>
              <a:tr h="859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94335241"/>
                  </a:ext>
                </a:extLst>
              </a:tr>
              <a:tr h="859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Learning Element</a:t>
                      </a:r>
                    </a:p>
                    <a:p>
                      <a:pPr>
                        <a:buNone/>
                      </a:pPr>
                      <a:r>
                        <a:rPr lang="en-IN" sz="1800" i="1" dirty="0"/>
                        <a:t>(when to use what?)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Improves </a:t>
                      </a:r>
                      <a:r>
                        <a:rPr lang="en-IN" sz="1800" dirty="0" err="1"/>
                        <a:t>behavior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Learns smoother braking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11488570"/>
                  </a:ext>
                </a:extLst>
              </a:tr>
              <a:tr h="859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Performance Element</a:t>
                      </a:r>
                    </a:p>
                    <a:p>
                      <a:pPr>
                        <a:buNone/>
                      </a:pPr>
                      <a:r>
                        <a:rPr lang="en-IN" sz="1800" i="1" dirty="0"/>
                        <a:t>(How to do everything?)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Acts in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Drives car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59797090"/>
                  </a:ext>
                </a:extLst>
              </a:tr>
              <a:tr h="859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Critic</a:t>
                      </a:r>
                    </a:p>
                    <a:p>
                      <a:pPr>
                        <a:buNone/>
                      </a:pPr>
                      <a:r>
                        <a:rPr lang="en-IN" sz="1800" i="1" dirty="0"/>
                        <a:t>(Take input of the env and give feedback)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Gives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Scores driving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7066680"/>
                  </a:ext>
                </a:extLst>
              </a:tr>
              <a:tr h="859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Problem Generator</a:t>
                      </a:r>
                    </a:p>
                    <a:p>
                      <a:pPr>
                        <a:buNone/>
                      </a:pPr>
                      <a:r>
                        <a:rPr lang="en-IN" sz="1800" i="1" dirty="0"/>
                        <a:t>(Try new things)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Encourages exploration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Tries new route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16846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442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ECDE98-C54E-5E5F-F183-2ECB03A9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95CCF62-7FE7-7FD0-421C-1EEA506EF5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9A398BAE-E9DB-5DF4-F07C-BD632A898F7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418622C8-8EAA-CAFA-2349-2EB482CE291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2DF40F4A-733D-D32B-8ED4-21E1AB11F7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2F707E5C-0652-742E-52D2-5ABF491AB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F393008-ECA4-74A1-2B2E-6132E023CC48}"/>
              </a:ext>
            </a:extLst>
          </p:cNvPr>
          <p:cNvSpPr txBox="1"/>
          <p:nvPr/>
        </p:nvSpPr>
        <p:spPr>
          <a:xfrm>
            <a:off x="3162679" y="1222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Scenario:</a:t>
            </a:r>
            <a:r>
              <a:rPr lang="en-US" dirty="0"/>
              <a:t> The agent has to guess a number between 1 and 10.</a:t>
            </a:r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83342FCB-5A56-59F0-644D-31DFA21B9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22185"/>
              </p:ext>
            </p:extLst>
          </p:nvPr>
        </p:nvGraphicFramePr>
        <p:xfrm>
          <a:off x="1786676" y="2255974"/>
          <a:ext cx="9643324" cy="34590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410831">
                  <a:extLst>
                    <a:ext uri="{9D8B030D-6E8A-4147-A177-3AD203B41FA5}">
                      <a16:colId xmlns:a16="http://schemas.microsoft.com/office/drawing/2014/main" xmlns="" val="4119591997"/>
                    </a:ext>
                  </a:extLst>
                </a:gridCol>
                <a:gridCol w="2410831">
                  <a:extLst>
                    <a:ext uri="{9D8B030D-6E8A-4147-A177-3AD203B41FA5}">
                      <a16:colId xmlns:a16="http://schemas.microsoft.com/office/drawing/2014/main" xmlns="" val="424633363"/>
                    </a:ext>
                  </a:extLst>
                </a:gridCol>
                <a:gridCol w="2410831">
                  <a:extLst>
                    <a:ext uri="{9D8B030D-6E8A-4147-A177-3AD203B41FA5}">
                      <a16:colId xmlns:a16="http://schemas.microsoft.com/office/drawing/2014/main" xmlns="" val="1714047382"/>
                    </a:ext>
                  </a:extLst>
                </a:gridCol>
                <a:gridCol w="2410831">
                  <a:extLst>
                    <a:ext uri="{9D8B030D-6E8A-4147-A177-3AD203B41FA5}">
                      <a16:colId xmlns:a16="http://schemas.microsoft.com/office/drawing/2014/main" xmlns="" val="1871718286"/>
                    </a:ext>
                  </a:extLst>
                </a:gridCol>
              </a:tblGrid>
              <a:tr h="864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Step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Agent Action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Feedback from Environment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How Agent Learns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3645510879"/>
                  </a:ext>
                </a:extLst>
              </a:tr>
              <a:tr h="864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Guesses 3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“Too low”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Adjust next guess higher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78470443"/>
                  </a:ext>
                </a:extLst>
              </a:tr>
              <a:tr h="864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Guesses 7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“Too high”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Adjust next guess lower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1376060219"/>
                  </a:ext>
                </a:extLst>
              </a:tr>
              <a:tr h="864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Guesses 5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“Correct”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Remember correct number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429003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77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461BD8-6982-54DF-4DDF-D1078203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BF898C4C-9658-2EA5-A7A6-F9F5D33E2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C6D455FD-FBAF-5919-36D6-D6C2753BBDB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4218D244-3638-5B31-01A4-95854D418B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BB6FB383-26B1-4D17-9ECE-FDD9F7EDBF2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0B2943B8-1D3D-33CF-BCD4-99A3BAC25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Activity 3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7D6676A-960D-0B15-D964-BFCDD17CCD2C}"/>
              </a:ext>
            </a:extLst>
          </p:cNvPr>
          <p:cNvSpPr txBox="1"/>
          <p:nvPr/>
        </p:nvSpPr>
        <p:spPr>
          <a:xfrm>
            <a:off x="3162679" y="12227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Scenario:</a:t>
            </a:r>
            <a:r>
              <a:rPr lang="en-US" dirty="0"/>
              <a:t> </a:t>
            </a:r>
            <a:r>
              <a:rPr lang="en-IN" dirty="0"/>
              <a:t>Self-Driving Car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61250A0E-085E-5240-E4A7-9319FEF8F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500470"/>
              </p:ext>
            </p:extLst>
          </p:nvPr>
        </p:nvGraphicFramePr>
        <p:xfrm>
          <a:off x="2438400" y="2489262"/>
          <a:ext cx="8839200" cy="360673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xmlns="" val="400746294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xmlns="" val="4267502237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xmlns="" val="128908567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xmlns="" val="2348281379"/>
                    </a:ext>
                  </a:extLst>
                </a:gridCol>
              </a:tblGrid>
              <a:tr h="464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Situation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Agent Action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Feedback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Learning Update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1430237360"/>
                  </a:ext>
                </a:extLst>
              </a:tr>
              <a:tr h="1163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Approaching red light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Stop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Success / Safe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Reinforce stop behavior at red lights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1455758954"/>
                  </a:ext>
                </a:extLst>
              </a:tr>
              <a:tr h="1163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Car in front slows down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Brake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Safe distance maintained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Reinforce maintaining safe distance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3632351426"/>
                  </a:ext>
                </a:extLst>
              </a:tr>
              <a:tr h="814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Obstacle on road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Turn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Avoid collision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Reinforce obstacle avoidance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xmlns="" val="3639552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173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0526E6-1AF9-D009-8DFF-DB7F4F31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ACE2BEA-C7AB-6E90-0091-1230B1C07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6200"/>
            <a:ext cx="1069848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01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BF148F25-6CE4-426B-8FB0-8172BFA93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27125"/>
              </p:ext>
            </p:extLst>
          </p:nvPr>
        </p:nvGraphicFramePr>
        <p:xfrm>
          <a:off x="838200" y="152400"/>
          <a:ext cx="10591800" cy="6553199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647950">
                  <a:extLst>
                    <a:ext uri="{9D8B030D-6E8A-4147-A177-3AD203B41FA5}">
                      <a16:colId xmlns:a16="http://schemas.microsoft.com/office/drawing/2014/main" xmlns="" val="308341769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xmlns="" val="2181274900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xmlns="" val="2396666183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xmlns="" val="3947539821"/>
                    </a:ext>
                  </a:extLst>
                </a:gridCol>
              </a:tblGrid>
              <a:tr h="554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Type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Main Idea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Memory / Model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Example</a:t>
                      </a:r>
                    </a:p>
                  </a:txBody>
                  <a:tcPr marL="53772" marR="53772" marT="26886" marB="26886" anchor="ctr"/>
                </a:tc>
                <a:extLst>
                  <a:ext uri="{0D108BD9-81ED-4DB2-BD59-A6C34878D82A}">
                    <a16:rowId xmlns:a16="http://schemas.microsoft.com/office/drawing/2014/main" xmlns="" val="3820920973"/>
                  </a:ext>
                </a:extLst>
              </a:tr>
              <a:tr h="1814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1. Simple Reflex Agent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Acts only on current percept using condition–action rules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❌ No memory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Vacuum cleaner → “If dirt → suck”</a:t>
                      </a:r>
                    </a:p>
                  </a:txBody>
                  <a:tcPr marL="53772" marR="53772" marT="26886" marB="26886" anchor="ctr"/>
                </a:tc>
                <a:extLst>
                  <a:ext uri="{0D108BD9-81ED-4DB2-BD59-A6C34878D82A}">
                    <a16:rowId xmlns:a16="http://schemas.microsoft.com/office/drawing/2014/main" xmlns="" val="2349151918"/>
                  </a:ext>
                </a:extLst>
              </a:tr>
              <a:tr h="1814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2. Model-Based Reflex Agent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Keeps an internal state (model of the world) to handle partial observability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✅ Has model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Self-driving car tracking unseen cars</a:t>
                      </a:r>
                    </a:p>
                  </a:txBody>
                  <a:tcPr marL="53772" marR="53772" marT="26886" marB="26886" anchor="ctr"/>
                </a:tc>
                <a:extLst>
                  <a:ext uri="{0D108BD9-81ED-4DB2-BD59-A6C34878D82A}">
                    <a16:rowId xmlns:a16="http://schemas.microsoft.com/office/drawing/2014/main" xmlns="" val="596456606"/>
                  </a:ext>
                </a:extLst>
              </a:tr>
              <a:tr h="974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3. Goal-Based Agent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Chooses actions to achieve goals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✅ Uses goals + model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Taxi choosing route to destination</a:t>
                      </a:r>
                    </a:p>
                  </a:txBody>
                  <a:tcPr marL="53772" marR="53772" marT="26886" marB="26886" anchor="ctr"/>
                </a:tc>
                <a:extLst>
                  <a:ext uri="{0D108BD9-81ED-4DB2-BD59-A6C34878D82A}">
                    <a16:rowId xmlns:a16="http://schemas.microsoft.com/office/drawing/2014/main" xmlns="" val="3061963848"/>
                  </a:ext>
                </a:extLst>
              </a:tr>
              <a:tr h="1394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4. Utility-Based Agent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Chooses actions that maximize happiness (utility)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✅ Uses goals + utility function</a:t>
                      </a:r>
                    </a:p>
                  </a:txBody>
                  <a:tcPr marL="53772" marR="53772" marT="26886" marB="268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Taxi choosing safest and fastest route</a:t>
                      </a:r>
                    </a:p>
                  </a:txBody>
                  <a:tcPr marL="53772" marR="53772" marT="26886" marB="26886" anchor="ctr"/>
                </a:tc>
                <a:extLst>
                  <a:ext uri="{0D108BD9-81ED-4DB2-BD59-A6C34878D82A}">
                    <a16:rowId xmlns:a16="http://schemas.microsoft.com/office/drawing/2014/main" xmlns="" val="2195397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003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FF6E38-76B4-D5E7-3533-F627F98C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089F86E4-CCE6-CBE8-853F-9B3F658CD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xmlns="" id="{6A88E04E-7427-6832-20DF-7EBF0D6295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667F5430-5226-A0CA-ACED-212F5E5262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2B4E9635-4B57-16C5-D286-16CDC3636E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xmlns="" id="{EC358D6F-5733-CBF0-6F69-FC6CBCE01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 smtClean="0">
                <a:solidFill>
                  <a:srgbClr val="464A56"/>
                </a:solidFill>
                <a:latin typeface="Cambria"/>
                <a:cs typeface="Cambria"/>
              </a:rPr>
              <a:t>19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 smtClean="0"/>
              <a:t>The </a:t>
            </a:r>
            <a:r>
              <a:rPr lang="en-US" sz="4400" dirty="0"/>
              <a:t>6 Core Characteristics of Intelligent Agents</a:t>
            </a:r>
            <a:r>
              <a:rPr lang="en-IN" sz="4400" dirty="0" smtClean="0"/>
              <a:t>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88F3908-3B1C-539D-CF3A-4AD06679C3EC}"/>
              </a:ext>
            </a:extLst>
          </p:cNvPr>
          <p:cNvSpPr txBox="1"/>
          <p:nvPr/>
        </p:nvSpPr>
        <p:spPr>
          <a:xfrm>
            <a:off x="2286000" y="2177033"/>
            <a:ext cx="9601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3600" dirty="0" smtClean="0"/>
              <a:t>Rationality (Optimal Choice)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3600" dirty="0" smtClean="0"/>
              <a:t>Autonomy (Independence)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3600" dirty="0" smtClean="0"/>
              <a:t>Learning &amp; </a:t>
            </a:r>
            <a:r>
              <a:rPr lang="en-US" sz="3600" dirty="0" err="1" smtClean="0"/>
              <a:t>Adaptivity</a:t>
            </a:r>
            <a:r>
              <a:rPr lang="en-US" sz="3600" dirty="0" smtClean="0"/>
              <a:t> (Growth)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3600" dirty="0" smtClean="0"/>
              <a:t>Reactive Behavior (Immediate)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3600" dirty="0" smtClean="0"/>
              <a:t>Proactive Behavior (Goal-Driven)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3600" dirty="0" smtClean="0"/>
              <a:t>Perception &amp; Action (Eye/Sensor)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48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5438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99190" cy="6123940"/>
            <a:chOff x="424984" y="432816"/>
            <a:chExt cx="11299190" cy="6123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12694" y="989202"/>
            <a:ext cx="750290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dirty="0"/>
              <a:t>Next Class Preview</a:t>
            </a:r>
            <a:endParaRPr sz="4400" dirty="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33700" y="2442972"/>
            <a:ext cx="8770620" cy="3642487"/>
            <a:chOff x="2933700" y="2442972"/>
            <a:chExt cx="8770620" cy="3642487"/>
          </a:xfrm>
        </p:grpSpPr>
        <p:sp>
          <p:nvSpPr>
            <p:cNvPr id="9" name="object 9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3700" y="31242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3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2"/>
                  </a:lnTo>
                  <a:lnTo>
                    <a:pt x="8743696" y="524759"/>
                  </a:lnTo>
                  <a:lnTo>
                    <a:pt x="8714470" y="544463"/>
                  </a:lnTo>
                  <a:lnTo>
                    <a:pt x="8678672" y="551687"/>
                  </a:lnTo>
                  <a:lnTo>
                    <a:pt x="91948" y="551687"/>
                  </a:lnTo>
                  <a:lnTo>
                    <a:pt x="56149" y="544463"/>
                  </a:lnTo>
                  <a:lnTo>
                    <a:pt x="26924" y="524759"/>
                  </a:lnTo>
                  <a:lnTo>
                    <a:pt x="7223" y="495532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16580" y="3175359"/>
            <a:ext cx="595884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400" dirty="0"/>
              <a:t>Environment types</a:t>
            </a:r>
            <a:endParaRPr lang="en-US" sz="2400" dirty="0"/>
          </a:p>
        </p:txBody>
      </p:sp>
      <p:sp>
        <p:nvSpPr>
          <p:cNvPr id="23" name="object 32" descr="$PPTXTitle">
            <a:extLst>
              <a:ext uri="{FF2B5EF4-FFF2-40B4-BE49-F238E27FC236}">
                <a16:creationId xmlns:a16="http://schemas.microsoft.com/office/drawing/2014/main" xmlns="" id="{0F8C547D-9A03-C8F8-20EF-FE3A4C1A97B8}"/>
              </a:ext>
            </a:extLst>
          </p:cNvPr>
          <p:cNvSpPr txBox="1">
            <a:spLocks/>
          </p:cNvSpPr>
          <p:nvPr/>
        </p:nvSpPr>
        <p:spPr>
          <a:xfrm>
            <a:off x="1981961" y="589229"/>
            <a:ext cx="685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4400" b="0" spc="-50" dirty="0" smtClean="0">
                <a:solidFill>
                  <a:srgbClr val="464A56"/>
                </a:solidFill>
                <a:latin typeface="Cambria"/>
                <a:cs typeface="Cambria"/>
              </a:rPr>
              <a:t>20</a:t>
            </a:r>
            <a:endParaRPr lang="en-IN" sz="4400" dirty="0">
              <a:latin typeface="Cambria"/>
              <a:cs typeface="Cambri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1CF7113-50B1-30D1-9CEB-997C05CDEA7D}"/>
              </a:ext>
            </a:extLst>
          </p:cNvPr>
          <p:cNvSpPr txBox="1"/>
          <p:nvPr/>
        </p:nvSpPr>
        <p:spPr>
          <a:xfrm>
            <a:off x="6027420" y="446104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dirty="0"/>
              <a:t>The environment is everything an agent interacts with to achieve its goals.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144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r>
              <a:rPr lang="en-IN" sz="4500" spc="-20" dirty="0">
                <a:solidFill>
                  <a:srgbClr val="252525"/>
                </a:solidFill>
              </a:rPr>
              <a:t/>
            </a:r>
            <a:br>
              <a:rPr lang="en-IN" sz="4500" spc="-20" dirty="0">
                <a:solidFill>
                  <a:srgbClr val="252525"/>
                </a:solidFill>
              </a:rPr>
            </a:br>
            <a:endParaRPr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</TotalTime>
  <Words>1012</Words>
  <Application>Microsoft Office PowerPoint</Application>
  <PresentationFormat>Widescreen</PresentationFormat>
  <Paragraphs>266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Cambria</vt:lpstr>
      <vt:lpstr>Segoe UI</vt:lpstr>
      <vt:lpstr>Office Theme</vt:lpstr>
      <vt:lpstr>Introduction to AI                       Types of Agents                          SY B.Sc. (CS)</vt:lpstr>
      <vt:lpstr>2  Topics:</vt:lpstr>
      <vt:lpstr>3 Agent Function vs Agent Program</vt:lpstr>
      <vt:lpstr>PowerPoint Presentation</vt:lpstr>
      <vt:lpstr>4  Simple Reflex Agent</vt:lpstr>
      <vt:lpstr>PowerPoint Presentation</vt:lpstr>
      <vt:lpstr>5  Activity 1</vt:lpstr>
      <vt:lpstr>6  Model-Based Reflex Agent</vt:lpstr>
      <vt:lpstr>PowerPoint Presentation</vt:lpstr>
      <vt:lpstr>7  Activity 2.a What will your mind says when I say the word car?</vt:lpstr>
      <vt:lpstr>8  Activity 2 examples</vt:lpstr>
      <vt:lpstr>9  Activity 2</vt:lpstr>
      <vt:lpstr>10  Goal-Based Agent</vt:lpstr>
      <vt:lpstr>PowerPoint Presentation</vt:lpstr>
      <vt:lpstr>PowerPoint Presentation</vt:lpstr>
      <vt:lpstr>11  Activity 3</vt:lpstr>
      <vt:lpstr>12  Utility-Based Agent</vt:lpstr>
      <vt:lpstr>PowerPoint Presentation</vt:lpstr>
      <vt:lpstr>13  Activity 3</vt:lpstr>
      <vt:lpstr>14  Activity 3</vt:lpstr>
      <vt:lpstr>15  Activity 3</vt:lpstr>
      <vt:lpstr>16  Learning Agent</vt:lpstr>
      <vt:lpstr>PowerPoint Presentation</vt:lpstr>
      <vt:lpstr>PowerPoint Presentation</vt:lpstr>
      <vt:lpstr>17  Activity 3</vt:lpstr>
      <vt:lpstr>18  Activity 3</vt:lpstr>
      <vt:lpstr>PowerPoint Presentation</vt:lpstr>
      <vt:lpstr>PowerPoint Presentation</vt:lpstr>
      <vt:lpstr>19  The 6 Core Characteristics of Intelligent Agentst</vt:lpstr>
      <vt:lpstr>Next Class Preview</vt:lpstr>
      <vt:lpstr>Thank you…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PVGLAB155</cp:lastModifiedBy>
  <cp:revision>22</cp:revision>
  <dcterms:created xsi:type="dcterms:W3CDTF">2025-11-04T17:06:10Z</dcterms:created>
  <dcterms:modified xsi:type="dcterms:W3CDTF">2025-11-21T02:41:17Z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