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4" r:id="rId4"/>
    <p:sldId id="289" r:id="rId5"/>
    <p:sldId id="275" r:id="rId6"/>
    <p:sldId id="277" r:id="rId7"/>
    <p:sldId id="285" r:id="rId8"/>
    <p:sldId id="278" r:id="rId9"/>
    <p:sldId id="291" r:id="rId10"/>
    <p:sldId id="286" r:id="rId11"/>
    <p:sldId id="276" r:id="rId12"/>
    <p:sldId id="288" r:id="rId13"/>
    <p:sldId id="279" r:id="rId14"/>
    <p:sldId id="261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728" y="1629494"/>
            <a:ext cx="854646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Introduction to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</a:t>
            </a:r>
            <a:r>
              <a:rPr lang="en-IN" sz="3600" b="0" spc="150" dirty="0">
                <a:solidFill>
                  <a:srgbClr val="FFFFFF"/>
                </a:solidFill>
                <a:latin typeface="Cambria"/>
                <a:cs typeface="Cambria"/>
              </a:rPr>
              <a:t>Intelligent Agents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Introduction of agents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Structure of Intelligent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Characteristics of Intelligent agents</a:t>
            </a:r>
            <a:endParaRPr lang="en-US" sz="44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Topics: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B5A43BA-53F1-CB90-8BA1-382DCDF9CBE3}"/>
              </a:ext>
            </a:extLst>
          </p:cNvPr>
          <p:cNvSpPr/>
          <p:nvPr/>
        </p:nvSpPr>
        <p:spPr>
          <a:xfrm>
            <a:off x="7848600" y="4191000"/>
            <a:ext cx="3533902" cy="21336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5FE6B-70C8-15A5-A005-DA99561152E8}"/>
              </a:ext>
            </a:extLst>
          </p:cNvPr>
          <p:cNvSpPr txBox="1"/>
          <p:nvPr/>
        </p:nvSpPr>
        <p:spPr>
          <a:xfrm>
            <a:off x="8001000" y="4711664"/>
            <a:ext cx="34591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Do you know how machines take smart decisions just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like humans? Let’s see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how!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D9B11A-0092-9925-1523-D35E640A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3A27F6-EAEA-7D4B-175A-FA05BFB68D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6D9B3A-2554-6A80-1BE4-F445A2C58F2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F2A973-E675-B134-F26D-077D4BCF7A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D26561-3C41-417D-A560-D0512766BE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4AD302E-3308-0F6F-CAA7-E3A2F0184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189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What is an Agent?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26504B5-8C8D-5B6C-584E-424F032E261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anything that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perceives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its environment and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upon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→ Eyes &amp; ears (perceive), Hands &amp; legs (act).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 vacuum → Sensors (perceive), Motors (act).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= Sensors + Actuators + Intelligence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33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B06029-053D-EE6E-E27A-8154C6A9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A2824A-A232-2841-F35A-952939804A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652F834-8F53-496A-170C-1F56376867A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FCE8AE8-382E-8991-0556-6CDC41633FA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12B0220-146E-55DB-2500-EAD51A48233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146" name="Picture 2" descr="Agents in AI - GeeksforGeeks">
            <a:extLst>
              <a:ext uri="{FF2B5EF4-FFF2-40B4-BE49-F238E27FC236}">
                <a16:creationId xmlns:a16="http://schemas.microsoft.com/office/drawing/2014/main" id="{3C7847B7-CE6C-052B-1F69-6538C665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1"/>
            <a:ext cx="11963399" cy="697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22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EE2E50-8CC7-E82A-44BD-6A0EEC6D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31E0D6-21F2-615E-16DD-A389608036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FF4DC99-1937-40C7-7298-006A48E46EB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3F4E437-737F-61F4-1962-2660C6EBAD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C109943-DE14-AB7F-E888-E2DDCB619BF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31F0653-14D0-001C-0D7C-D87676174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1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3A882EE-7DB1-639D-A7DC-723C322ABFF1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List 3 agents you use daily and what they sense + what they 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800" b="1" dirty="0"/>
              <a:t>“Perceive → Act”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65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8EC554-7967-B2C6-DB49-FF440FC6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82A92C-0351-A5C0-93B5-A708682EC3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1A2BBCD-8112-0610-9F64-290C5AAC1AD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57EF446-FAD5-B3D0-453F-EE92A137BC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7E3C0A-8CB3-71D8-808F-36AF00B4BA4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5A64892-11EC-6934-4B54-8CD5AD591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Environment of an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B4F4BC-610D-B805-884F-EA298604E1BC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everything outside the agent that it interacts with.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 vacuum → your 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Self-driving car → road, traffic, weather.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function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maps what it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perceives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what it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6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DCFA40-CEC9-DB3C-B6EE-4D69F748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9E54A4-E4B6-B1F8-136C-6B97C97040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7AF5CEC-63D6-9755-2BAF-06F44240C84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92C0CE0-6A10-025F-930E-2C33191870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4FEE03-F289-7001-C3FA-E8A14FD39FF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0646AA-FD20-C4F9-D922-8A276572F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2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5BE946C-D80B-3A6D-9229-EF97EF8B71FF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Think of a student as an agent. What’s your environment in college?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15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8E29B1-AE87-09A7-5241-AEED272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9B49CD-C1F7-4BF1-91CA-C14C14FF6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4AA4BEE-A219-DBE3-D461-78341F79AA1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C6E940-1607-FB9B-4E85-422E456B65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A3024E-BDD9-D293-57DE-F8B948B828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B3EDCA0-ED36-AF8E-35E2-00982C2C0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Structure of an Intelligent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B953476-4947-34B7-BA57-7A65FE59BBFB}"/>
              </a:ext>
            </a:extLst>
          </p:cNvPr>
          <p:cNvSpPr txBox="1"/>
          <p:nvPr/>
        </p:nvSpPr>
        <p:spPr>
          <a:xfrm>
            <a:off x="2934462" y="22860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/>
              <a:t>The structure of an intelligent agent defines </a:t>
            </a:r>
            <a:r>
              <a:rPr lang="en-US" sz="4000" i="1" dirty="0"/>
              <a:t>how an agent is built internally</a:t>
            </a:r>
            <a:r>
              <a:rPr lang="en-US" sz="4000" dirty="0"/>
              <a:t> to perceive, decide, and act intelligently.</a:t>
            </a:r>
          </a:p>
        </p:txBody>
      </p:sp>
    </p:spTree>
    <p:extLst>
      <p:ext uri="{BB962C8B-B14F-4D97-AF65-F5344CB8AC3E}">
        <p14:creationId xmlns:p14="http://schemas.microsoft.com/office/powerpoint/2010/main" val="361476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8C9DD1-30DD-CF01-9875-A768B335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750290-1EB3-D6ED-AA85-0FC2943348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AA93741-BD89-D8F8-4132-72C8C6E159C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A193434-19DD-FF20-3038-A1DC179318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5FA601C-E9DF-506D-FFE3-B40F4DF57D4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194" name="Picture 2" descr="Shows a structure of an intelligent agent [8] | Download Scientific Diagram">
            <a:extLst>
              <a:ext uri="{FF2B5EF4-FFF2-40B4-BE49-F238E27FC236}">
                <a16:creationId xmlns:a16="http://schemas.microsoft.com/office/drawing/2014/main" id="{DE58660F-56C7-1EE0-6657-3B40120C4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12180009" cy="415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19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8B6976-6A61-6E96-B21D-6E665CDF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5D9213-E737-F1A2-2B20-87E64EC271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881CD83-3B7A-09A9-3E4E-2E81CCC5062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25BA68B-264B-EFD1-70EC-27BC20AAA07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71F9F07-7C28-9206-8900-1B06BD9A71D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B6ADDF6-C7E8-D06C-0D3F-D8DFB74F6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A2D28AE-4D2B-DFD0-46AE-AA5FAFC564C4}"/>
              </a:ext>
            </a:extLst>
          </p:cNvPr>
          <p:cNvSpPr txBox="1"/>
          <p:nvPr/>
        </p:nvSpPr>
        <p:spPr>
          <a:xfrm>
            <a:off x="2934462" y="2286000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Imagine you’re building a ‘smart dustbin’ that opens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sz="3600" dirty="0"/>
            </a:br>
            <a:r>
              <a:rPr lang="en-US" sz="3600" dirty="0"/>
              <a:t>– What would be its sensors?</a:t>
            </a:r>
            <a:br>
              <a:rPr lang="en-US" sz="3600" dirty="0"/>
            </a:br>
            <a:r>
              <a:rPr lang="en-US" sz="3600" dirty="0"/>
              <a:t>– What would be its actuators?</a:t>
            </a:r>
            <a:br>
              <a:rPr lang="en-US" sz="3600" dirty="0"/>
            </a:br>
            <a:r>
              <a:rPr lang="en-US" sz="3600" dirty="0"/>
              <a:t>– What would be its agent program’s job?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69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1558FF-4276-0F1E-5504-CE3DDFDC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A798C1-F2BE-E8FB-1EF9-CEADC4F37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FA2D211-52B4-9D38-62EB-C127A1C364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F75F331-738C-CDE8-55D2-0CE5E059FC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CE4F03-8CA7-0A01-C2F2-88F33DE051D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2035F9D-310D-0353-657F-D4F3E3CE3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PEAS Representation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6206BC5-7BA6-BE48-B838-53023E2D338B}"/>
              </a:ext>
            </a:extLst>
          </p:cNvPr>
          <p:cNvSpPr txBox="1"/>
          <p:nvPr/>
        </p:nvSpPr>
        <p:spPr>
          <a:xfrm>
            <a:off x="6210300" y="1041092"/>
            <a:ext cx="5867400" cy="54822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How do we describe an agent’s job?</a:t>
            </a:r>
            <a:endParaRPr lang="en-US" sz="24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AA4F1-B30D-29DB-999E-5F0282C13402}"/>
              </a:ext>
            </a:extLst>
          </p:cNvPr>
          <p:cNvSpPr txBox="1"/>
          <p:nvPr/>
        </p:nvSpPr>
        <p:spPr>
          <a:xfrm>
            <a:off x="3048000" y="2551837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Performance, Environment, Actuators, Sensors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Self-driving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Safety, time, comfort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Roads, traffic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Steering, brakes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Cameras, GPS</a:t>
            </a:r>
          </a:p>
        </p:txBody>
      </p:sp>
    </p:spTree>
    <p:extLst>
      <p:ext uri="{BB962C8B-B14F-4D97-AF65-F5344CB8AC3E}">
        <p14:creationId xmlns:p14="http://schemas.microsoft.com/office/powerpoint/2010/main" val="2156774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ECDE98-C54E-5E5F-F183-2ECB03A9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5CCF62-7FE7-7FD0-421C-1EEA506EF5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A398BAE-E9DB-5DF4-F07C-BD632A898F7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18622C8-8EAA-CAFA-2349-2EB482CE29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F40F4A-733D-D32B-8ED4-21E1AB11F7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F707E5C-0652-742E-52D2-5ABF491AB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14F07833-6546-F0F7-4BFA-EAB4B632B197}"/>
              </a:ext>
            </a:extLst>
          </p:cNvPr>
          <p:cNvSpPr txBox="1"/>
          <p:nvPr/>
        </p:nvSpPr>
        <p:spPr>
          <a:xfrm>
            <a:off x="2934462" y="2286000"/>
            <a:ext cx="8448040" cy="7328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Design a PEAS for a </a:t>
            </a:r>
            <a:r>
              <a:rPr lang="en-US" sz="3600" i="1" dirty="0"/>
              <a:t>Smart Fridge</a:t>
            </a:r>
            <a:r>
              <a:rPr lang="en-US" sz="3600" dirty="0"/>
              <a:t> 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177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FF6E38-76B4-D5E7-3533-F627F98C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9F86E4-CCE6-CBE8-853F-9B3F658CD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88E04E-7427-6832-20DF-7EBF0D6295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67F5430-5226-A0CA-ACED-212F5E5262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4E9635-4B57-16C5-D286-16CDC3636E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C358D6F-5733-CBF0-6F69-FC6CBCE01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Characteristics of Intelligent</a:t>
            </a:r>
            <a:br>
              <a:rPr lang="en-IN" sz="4400" dirty="0"/>
            </a:br>
            <a:r>
              <a:rPr lang="en-IN" sz="4400" dirty="0"/>
              <a:t>                          Agents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8F3908-3B1C-539D-CF3A-4AD06679C3EC}"/>
              </a:ext>
            </a:extLst>
          </p:cNvPr>
          <p:cNvSpPr txBox="1"/>
          <p:nvPr/>
        </p:nvSpPr>
        <p:spPr>
          <a:xfrm>
            <a:off x="3048000" y="2177033"/>
            <a:ext cx="807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Responds to changes in the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Pro-activeness: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Takes initiative to reach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Interacts with other agents or humans.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independently without continuous help.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Learns and improves with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 Orientation: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purposefully to achieve a goal.</a:t>
            </a:r>
          </a:p>
        </p:txBody>
      </p:sp>
    </p:spTree>
    <p:extLst>
      <p:ext uri="{BB962C8B-B14F-4D97-AF65-F5344CB8AC3E}">
        <p14:creationId xmlns:p14="http://schemas.microsoft.com/office/powerpoint/2010/main" val="2591092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5438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99190" cy="6123940"/>
            <a:chOff x="424984" y="432816"/>
            <a:chExt cx="11299190" cy="6123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12694" y="989202"/>
            <a:ext cx="750290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dirty="0"/>
              <a:t>Next Class Preview</a:t>
            </a:r>
            <a:endParaRPr sz="4400" dirty="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33700" y="2442972"/>
            <a:ext cx="8770620" cy="3642487"/>
            <a:chOff x="2933700" y="2442972"/>
            <a:chExt cx="8770620" cy="3642487"/>
          </a:xfrm>
        </p:grpSpPr>
        <p:sp>
          <p:nvSpPr>
            <p:cNvPr id="9" name="object 9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3700" y="31242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3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2"/>
                  </a:lnTo>
                  <a:lnTo>
                    <a:pt x="8743696" y="524759"/>
                  </a:lnTo>
                  <a:lnTo>
                    <a:pt x="8714470" y="544463"/>
                  </a:lnTo>
                  <a:lnTo>
                    <a:pt x="8678672" y="551687"/>
                  </a:lnTo>
                  <a:lnTo>
                    <a:pt x="91948" y="551687"/>
                  </a:lnTo>
                  <a:lnTo>
                    <a:pt x="56149" y="544463"/>
                  </a:lnTo>
                  <a:lnTo>
                    <a:pt x="26924" y="524759"/>
                  </a:lnTo>
                  <a:lnTo>
                    <a:pt x="7223" y="495532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16580" y="2763980"/>
            <a:ext cx="5958840" cy="764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4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dirty="0"/>
              <a:t>Types of Agents</a:t>
            </a:r>
          </a:p>
        </p:txBody>
      </p:sp>
      <p:sp>
        <p:nvSpPr>
          <p:cNvPr id="23" name="object 32" descr="$PPTXTitle">
            <a:extLst>
              <a:ext uri="{FF2B5EF4-FFF2-40B4-BE49-F238E27FC236}">
                <a16:creationId xmlns:a16="http://schemas.microsoft.com/office/drawing/2014/main" id="{0F8C547D-9A03-C8F8-20EF-FE3A4C1A97B8}"/>
              </a:ext>
            </a:extLst>
          </p:cNvPr>
          <p:cNvSpPr txBox="1">
            <a:spLocks/>
          </p:cNvSpPr>
          <p:nvPr/>
        </p:nvSpPr>
        <p:spPr>
          <a:xfrm>
            <a:off x="1981961" y="589229"/>
            <a:ext cx="685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</a:t>
            </a: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endParaRPr lang="en-IN" sz="4400" dirty="0">
              <a:latin typeface="Cambria"/>
              <a:cs typeface="Cambri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CF7113-50B1-30D1-9CEB-997C05CDEA7D}"/>
              </a:ext>
            </a:extLst>
          </p:cNvPr>
          <p:cNvSpPr txBox="1"/>
          <p:nvPr/>
        </p:nvSpPr>
        <p:spPr>
          <a:xfrm>
            <a:off x="6027420" y="446104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dirty="0"/>
              <a:t>“When a game enemy chases you perfectly, is it just lucky… or a different </a:t>
            </a:r>
            <a:r>
              <a:rPr lang="en-US" sz="2400" i="1" dirty="0"/>
              <a:t>type</a:t>
            </a:r>
            <a:r>
              <a:rPr lang="en-US" sz="2400" dirty="0"/>
              <a:t> of agent?”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144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br>
              <a:rPr lang="en-IN" sz="4500" spc="-20" dirty="0">
                <a:solidFill>
                  <a:srgbClr val="252525"/>
                </a:solidFill>
              </a:rPr>
            </a:br>
            <a:endParaRPr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</TotalTime>
  <Words>443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Segoe UI</vt:lpstr>
      <vt:lpstr>Office Theme</vt:lpstr>
      <vt:lpstr>Introduction to AI                       Intelligent Agents                          SY B.Sc. (CS)</vt:lpstr>
      <vt:lpstr>2  Topics:</vt:lpstr>
      <vt:lpstr>3 What is an Agent?</vt:lpstr>
      <vt:lpstr>PowerPoint Presentation</vt:lpstr>
      <vt:lpstr>4  Activity 1</vt:lpstr>
      <vt:lpstr>5  Environment of an Agent</vt:lpstr>
      <vt:lpstr>6  Activity 2</vt:lpstr>
      <vt:lpstr>7  Structure of an Intelligent Agent</vt:lpstr>
      <vt:lpstr>PowerPoint Presentation</vt:lpstr>
      <vt:lpstr>8  Activity 3</vt:lpstr>
      <vt:lpstr>9  PEAS Representation</vt:lpstr>
      <vt:lpstr>10  Activity 3</vt:lpstr>
      <vt:lpstr>11  Characteristics of Intelligent                           Agents</vt:lpstr>
      <vt:lpstr>Next Class Preview</vt:lpstr>
      <vt:lpstr>Thank you…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12</cp:revision>
  <dcterms:created xsi:type="dcterms:W3CDTF">2025-11-04T17:06:10Z</dcterms:created>
  <dcterms:modified xsi:type="dcterms:W3CDTF">2025-11-12T17:32:52Z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