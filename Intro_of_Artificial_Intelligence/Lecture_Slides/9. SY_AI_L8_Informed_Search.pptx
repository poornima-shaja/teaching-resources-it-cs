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339" r:id="rId4"/>
    <p:sldId id="343" r:id="rId5"/>
    <p:sldId id="312" r:id="rId6"/>
    <p:sldId id="389" r:id="rId7"/>
    <p:sldId id="390" r:id="rId8"/>
    <p:sldId id="391" r:id="rId9"/>
    <p:sldId id="342" r:id="rId10"/>
    <p:sldId id="392" r:id="rId11"/>
    <p:sldId id="393" r:id="rId12"/>
    <p:sldId id="395" r:id="rId13"/>
    <p:sldId id="394" r:id="rId14"/>
    <p:sldId id="398" r:id="rId15"/>
    <p:sldId id="399" r:id="rId16"/>
    <p:sldId id="284" r:id="rId1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94689" autoAdjust="0"/>
  </p:normalViewPr>
  <p:slideViewPr>
    <p:cSldViewPr>
      <p:cViewPr varScale="1">
        <p:scale>
          <a:sx n="90" d="100"/>
          <a:sy n="90" d="100"/>
        </p:scale>
        <p:origin x="149" y="67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96" d="100"/>
          <a:sy n="96" d="100"/>
        </p:scale>
        <p:origin x="878" y="5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650E53-DE1B-407D-A709-579CCB904A60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143FC4-0F31-4797-9FA8-1F6AE70727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3606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C84B24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C84B24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4984" y="432816"/>
            <a:ext cx="3459183" cy="6123432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2934462" y="2177033"/>
            <a:ext cx="8770620" cy="0"/>
          </a:xfrm>
          <a:custGeom>
            <a:avLst/>
            <a:gdLst/>
            <a:ahLst/>
            <a:cxnLst/>
            <a:rect l="l" t="t" r="r" b="b"/>
            <a:pathLst>
              <a:path w="8770620">
                <a:moveTo>
                  <a:pt x="0" y="0"/>
                </a:moveTo>
                <a:lnTo>
                  <a:pt x="8770619" y="0"/>
                </a:lnTo>
              </a:path>
            </a:pathLst>
          </a:custGeom>
          <a:ln w="38100">
            <a:solidFill>
              <a:srgbClr val="79A8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944368" y="2456687"/>
            <a:ext cx="3077845" cy="1516380"/>
          </a:xfrm>
          <a:custGeom>
            <a:avLst/>
            <a:gdLst/>
            <a:ahLst/>
            <a:cxnLst/>
            <a:rect l="l" t="t" r="r" b="b"/>
            <a:pathLst>
              <a:path w="3077845" h="1516379">
                <a:moveTo>
                  <a:pt x="3077845" y="757428"/>
                </a:moveTo>
                <a:lnTo>
                  <a:pt x="3066948" y="751078"/>
                </a:lnTo>
                <a:lnTo>
                  <a:pt x="2989199" y="705739"/>
                </a:lnTo>
                <a:lnTo>
                  <a:pt x="2985262" y="706755"/>
                </a:lnTo>
                <a:lnTo>
                  <a:pt x="2981706" y="712851"/>
                </a:lnTo>
                <a:lnTo>
                  <a:pt x="2982722" y="716661"/>
                </a:lnTo>
                <a:lnTo>
                  <a:pt x="3041700" y="751078"/>
                </a:lnTo>
                <a:lnTo>
                  <a:pt x="2528316" y="751078"/>
                </a:lnTo>
                <a:lnTo>
                  <a:pt x="2528316" y="0"/>
                </a:lnTo>
                <a:lnTo>
                  <a:pt x="0" y="0"/>
                </a:lnTo>
                <a:lnTo>
                  <a:pt x="0" y="1516380"/>
                </a:lnTo>
                <a:lnTo>
                  <a:pt x="2528316" y="1516380"/>
                </a:lnTo>
                <a:lnTo>
                  <a:pt x="2528316" y="763778"/>
                </a:lnTo>
                <a:lnTo>
                  <a:pt x="3041700" y="763778"/>
                </a:lnTo>
                <a:lnTo>
                  <a:pt x="2982722" y="798195"/>
                </a:lnTo>
                <a:lnTo>
                  <a:pt x="2981706" y="802005"/>
                </a:lnTo>
                <a:lnTo>
                  <a:pt x="2985262" y="808101"/>
                </a:lnTo>
                <a:lnTo>
                  <a:pt x="2989199" y="809117"/>
                </a:lnTo>
                <a:lnTo>
                  <a:pt x="3066948" y="763778"/>
                </a:lnTo>
                <a:lnTo>
                  <a:pt x="3077845" y="757428"/>
                </a:lnTo>
                <a:close/>
              </a:path>
            </a:pathLst>
          </a:custGeom>
          <a:solidFill>
            <a:srgbClr val="79A8A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2944368" y="2456688"/>
            <a:ext cx="2528570" cy="1516380"/>
          </a:xfrm>
          <a:custGeom>
            <a:avLst/>
            <a:gdLst/>
            <a:ahLst/>
            <a:cxnLst/>
            <a:rect l="l" t="t" r="r" b="b"/>
            <a:pathLst>
              <a:path w="2528570" h="1516379">
                <a:moveTo>
                  <a:pt x="0" y="1516380"/>
                </a:moveTo>
                <a:lnTo>
                  <a:pt x="2528316" y="1516380"/>
                </a:lnTo>
                <a:lnTo>
                  <a:pt x="2528316" y="0"/>
                </a:lnTo>
                <a:lnTo>
                  <a:pt x="0" y="0"/>
                </a:lnTo>
                <a:lnTo>
                  <a:pt x="0" y="151638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C84B24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C84B24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79780" y="130251"/>
            <a:ext cx="5954395" cy="124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C84B24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731010" y="2270505"/>
            <a:ext cx="8729980" cy="2527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137728" y="1507333"/>
            <a:ext cx="8546465" cy="21032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2650490">
              <a:lnSpc>
                <a:spcPts val="5550"/>
              </a:lnSpc>
            </a:pPr>
            <a:r>
              <a:rPr lang="en-IN" sz="4400" spc="150" dirty="0">
                <a:solidFill>
                  <a:srgbClr val="FFFFFF"/>
                </a:solidFill>
                <a:latin typeface="Cambria"/>
                <a:cs typeface="Cambria"/>
              </a:rPr>
              <a:t>  Introduction to AI</a:t>
            </a:r>
            <a:br>
              <a:rPr lang="en-IN" sz="4400" b="0" spc="150" dirty="0">
                <a:solidFill>
                  <a:srgbClr val="FFFFFF"/>
                </a:solidFill>
                <a:latin typeface="Cambria"/>
                <a:cs typeface="Cambria"/>
              </a:rPr>
            </a:br>
            <a:r>
              <a:rPr lang="en-IN" sz="4400" b="0" spc="150" dirty="0">
                <a:solidFill>
                  <a:srgbClr val="FFFFFF"/>
                </a:solidFill>
                <a:latin typeface="Cambria"/>
                <a:cs typeface="Cambria"/>
              </a:rPr>
              <a:t>                 </a:t>
            </a:r>
            <a:r>
              <a:rPr lang="en-US" sz="3600" b="0" spc="150" dirty="0">
                <a:solidFill>
                  <a:srgbClr val="FFFFFF"/>
                </a:solidFill>
                <a:latin typeface="Cambria"/>
                <a:cs typeface="Cambria"/>
              </a:rPr>
              <a:t>Informed Search Strategies</a:t>
            </a:r>
            <a:br>
              <a:rPr lang="en-IN" sz="4400" b="0" spc="150" dirty="0">
                <a:solidFill>
                  <a:srgbClr val="FFFFFF"/>
                </a:solidFill>
                <a:latin typeface="Cambria"/>
                <a:cs typeface="Cambria"/>
              </a:rPr>
            </a:br>
            <a:r>
              <a:rPr lang="en-IN" sz="4400" b="0" spc="150" dirty="0">
                <a:solidFill>
                  <a:srgbClr val="FFFFFF"/>
                </a:solidFill>
                <a:latin typeface="Cambria"/>
                <a:cs typeface="Cambria"/>
              </a:rPr>
              <a:t>    </a:t>
            </a:r>
            <a:r>
              <a:rPr lang="en-IN" sz="4400" b="0" spc="210" dirty="0">
                <a:solidFill>
                  <a:srgbClr val="FFFFFF"/>
                </a:solidFill>
                <a:latin typeface="Cambria"/>
                <a:cs typeface="Cambria"/>
              </a:rPr>
              <a:t>                     </a:t>
            </a:r>
            <a:r>
              <a:rPr lang="en-IN" sz="3200" b="0" spc="210" dirty="0">
                <a:solidFill>
                  <a:srgbClr val="FFFFFF"/>
                </a:solidFill>
                <a:latin typeface="Cambria"/>
                <a:cs typeface="Cambria"/>
              </a:rPr>
              <a:t>SY B.Sc. (CS)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33290" y="3920997"/>
            <a:ext cx="2729865" cy="2744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FFFFFF"/>
                </a:solidFill>
                <a:latin typeface="Calibri"/>
                <a:cs typeface="Calibri"/>
              </a:rPr>
              <a:t>Semester</a:t>
            </a:r>
            <a:r>
              <a:rPr sz="17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-2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lang="en-IN" sz="1700" spc="-25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endParaRPr sz="1700" dirty="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410961" y="3766565"/>
            <a:ext cx="1371600" cy="0"/>
          </a:xfrm>
          <a:custGeom>
            <a:avLst/>
            <a:gdLst/>
            <a:ahLst/>
            <a:cxnLst/>
            <a:rect l="l" t="t" r="r" b="b"/>
            <a:pathLst>
              <a:path w="1371600">
                <a:moveTo>
                  <a:pt x="0" y="0"/>
                </a:moveTo>
                <a:lnTo>
                  <a:pt x="1371599" y="0"/>
                </a:lnTo>
              </a:path>
            </a:pathLst>
          </a:custGeom>
          <a:ln w="38100">
            <a:solidFill>
              <a:srgbClr val="00A4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45388" y="6519164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FDFCF8"/>
                </a:solidFill>
                <a:latin typeface="Cambria"/>
                <a:cs typeface="Cambria"/>
              </a:rPr>
              <a:t>1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7" name="object 3" descr="$PPTXTitle">
            <a:extLst>
              <a:ext uri="{FF2B5EF4-FFF2-40B4-BE49-F238E27FC236}">
                <a16:creationId xmlns:a16="http://schemas.microsoft.com/office/drawing/2014/main" id="{6FAB2A22-FBB1-FA70-ED68-3643E270AE45}"/>
              </a:ext>
            </a:extLst>
          </p:cNvPr>
          <p:cNvSpPr txBox="1">
            <a:spLocks/>
          </p:cNvSpPr>
          <p:nvPr/>
        </p:nvSpPr>
        <p:spPr>
          <a:xfrm>
            <a:off x="3189922" y="5105400"/>
            <a:ext cx="8546465" cy="1326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4000" b="1" i="0">
                <a:solidFill>
                  <a:srgbClr val="C84B24"/>
                </a:solidFill>
                <a:latin typeface="Segoe UI"/>
                <a:ea typeface="+mj-ea"/>
                <a:cs typeface="Segoe UI"/>
              </a:defRPr>
            </a:lvl1pPr>
          </a:lstStyle>
          <a:p>
            <a:pPr marL="12700" marR="5080" indent="2650490" algn="r">
              <a:lnSpc>
                <a:spcPts val="5550"/>
              </a:lnSpc>
            </a:pP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                                        Poornima .N</a:t>
            </a:r>
          </a:p>
          <a:p>
            <a:pPr marL="12700" marR="5080" indent="2650490" algn="r">
              <a:lnSpc>
                <a:spcPts val="5550"/>
              </a:lnSpc>
            </a:pP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Assistant Professor, Department of IT/CS</a:t>
            </a:r>
            <a:endParaRPr lang="en-US" sz="24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934462" y="2286000"/>
            <a:ext cx="8448040" cy="3780843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3200" dirty="0"/>
              <a:t>✔ </a:t>
            </a:r>
            <a:r>
              <a:rPr lang="en-IN" sz="3200" dirty="0"/>
              <a:t>Solving problems by searching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3200" dirty="0"/>
              <a:t>✔ </a:t>
            </a:r>
            <a:r>
              <a:rPr lang="en-IN" sz="3200" dirty="0"/>
              <a:t>Performance evaluation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3200" dirty="0"/>
              <a:t>✔ </a:t>
            </a:r>
            <a:r>
              <a:rPr lang="en-IN" sz="3200" dirty="0"/>
              <a:t>time/space complexity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3200" dirty="0"/>
              <a:t>✔ </a:t>
            </a:r>
            <a:r>
              <a:rPr lang="en-IN" sz="3200" dirty="0"/>
              <a:t>completeness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3200" dirty="0"/>
              <a:t>✔ </a:t>
            </a:r>
            <a:r>
              <a:rPr lang="en-IN" sz="3200" dirty="0"/>
              <a:t>optimality 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105910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sz="4400" b="0" spc="-50" dirty="0">
                <a:solidFill>
                  <a:schemeClr val="tx1"/>
                </a:solidFill>
                <a:latin typeface="Cambria"/>
                <a:cs typeface="Cambria"/>
              </a:rPr>
              <a:t>2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Topics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sp>
        <p:nvSpPr>
          <p:cNvPr id="9" name="Cloud 8">
            <a:extLst>
              <a:ext uri="{FF2B5EF4-FFF2-40B4-BE49-F238E27FC236}">
                <a16:creationId xmlns:a16="http://schemas.microsoft.com/office/drawing/2014/main" id="{7B5A43BA-53F1-CB90-8BA1-382DCDF9CBE3}"/>
              </a:ext>
            </a:extLst>
          </p:cNvPr>
          <p:cNvSpPr/>
          <p:nvPr/>
        </p:nvSpPr>
        <p:spPr>
          <a:xfrm>
            <a:off x="7924800" y="4495805"/>
            <a:ext cx="4219702" cy="2318762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D5FE6B-70C8-15A5-A005-DA99561152E8}"/>
              </a:ext>
            </a:extLst>
          </p:cNvPr>
          <p:cNvSpPr txBox="1"/>
          <p:nvPr/>
        </p:nvSpPr>
        <p:spPr>
          <a:xfrm>
            <a:off x="8153401" y="4923652"/>
            <a:ext cx="361361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“How does a machine decide how to reach the goal only with estimation / guessed </a:t>
            </a:r>
            <a:endParaRPr lang="en-IN" sz="2400" i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0C15D-0994-879F-833B-25C04A979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2514600"/>
            <a:ext cx="10134600" cy="738664"/>
          </a:xfrm>
        </p:spPr>
        <p:txBody>
          <a:bodyPr/>
          <a:lstStyle/>
          <a:p>
            <a:pPr algn="ctr"/>
            <a:r>
              <a:rPr lang="en-IN" sz="4800" dirty="0"/>
              <a:t>Informed Search Strategies</a:t>
            </a:r>
          </a:p>
        </p:txBody>
      </p:sp>
    </p:spTree>
    <p:extLst>
      <p:ext uri="{BB962C8B-B14F-4D97-AF65-F5344CB8AC3E}">
        <p14:creationId xmlns:p14="http://schemas.microsoft.com/office/powerpoint/2010/main" val="3481596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FAD1A-2764-3965-06A5-E3E3FB0AB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3431A77-A41E-1C1D-8E34-7670DF335C9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0E702281-5F39-B31E-B011-E8C13F137F7D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91951FC8-DD60-53F3-DE89-77434169A06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82D3691-4386-B000-684C-6F4036B6297C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AAFF70A6-D38B-2249-67CA-A2BED81AEE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3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altLang="en-US" sz="4400" b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IN" sz="4400" dirty="0"/>
              <a:t>Informed Search Strategies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0417BA57-D02B-8B1D-D83E-AF23BE0334BD}"/>
              </a:ext>
            </a:extLst>
          </p:cNvPr>
          <p:cNvSpPr txBox="1"/>
          <p:nvPr/>
        </p:nvSpPr>
        <p:spPr>
          <a:xfrm>
            <a:off x="2934462" y="2286000"/>
            <a:ext cx="8448040" cy="2394886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600" dirty="0"/>
              <a:t>Uses additional knowledge to guide search toward goal</a:t>
            </a:r>
          </a:p>
          <a:p>
            <a:r>
              <a:rPr lang="en-US" sz="3600" dirty="0"/>
              <a:t>This knowledge is called heuristic information</a:t>
            </a:r>
          </a:p>
        </p:txBody>
      </p:sp>
    </p:spTree>
    <p:extLst>
      <p:ext uri="{BB962C8B-B14F-4D97-AF65-F5344CB8AC3E}">
        <p14:creationId xmlns:p14="http://schemas.microsoft.com/office/powerpoint/2010/main" val="8875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CB424-FB80-8FEA-DB88-C79D498F4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DDB4D06-0B9D-9EE8-AE01-EBBAACFDFD7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2786337C-102A-4051-55AC-1759502BC1EA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68AF3281-D20A-FE6F-9D33-40FF587F732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E7F8E362-C67A-6F39-2863-2CA0C23BEB1D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73E3F80F-C545-4912-67A9-D0590103BD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3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Heuristic Function h(n)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8D1FDE11-8101-2589-22CB-6756A70F58C6}"/>
              </a:ext>
            </a:extLst>
          </p:cNvPr>
          <p:cNvSpPr txBox="1"/>
          <p:nvPr/>
        </p:nvSpPr>
        <p:spPr>
          <a:xfrm>
            <a:off x="2934462" y="2286000"/>
            <a:ext cx="8448040" cy="1840889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600" dirty="0"/>
              <a:t>Estimates cost from current node to goal</a:t>
            </a:r>
          </a:p>
          <a:p>
            <a:r>
              <a:rPr lang="en-US" sz="3600" dirty="0"/>
              <a:t>It is a guess and not exact</a:t>
            </a:r>
          </a:p>
          <a:p>
            <a:r>
              <a:rPr lang="en-US" sz="3600" dirty="0"/>
              <a:t>Helps reduce search time</a:t>
            </a:r>
          </a:p>
        </p:txBody>
      </p:sp>
    </p:spTree>
    <p:extLst>
      <p:ext uri="{BB962C8B-B14F-4D97-AF65-F5344CB8AC3E}">
        <p14:creationId xmlns:p14="http://schemas.microsoft.com/office/powerpoint/2010/main" val="30594695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D86E0-A168-48EA-AD49-3B3CB04FF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89B5308-884B-6B75-553E-5CF75C04DDA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D1F0A706-835F-C178-FF66-7BC272820842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DF437806-B92C-5DA1-AB0E-912A360790A0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D819DAED-9AC6-B55C-B024-83C0EA93321D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DF7C4196-BA7B-A338-3322-65DA62319D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3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Path Cost g(n)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31E2B5AB-9EF0-DF8A-83D4-E1692A5B431D}"/>
              </a:ext>
            </a:extLst>
          </p:cNvPr>
          <p:cNvSpPr txBox="1"/>
          <p:nvPr/>
        </p:nvSpPr>
        <p:spPr>
          <a:xfrm>
            <a:off x="2934462" y="2286000"/>
            <a:ext cx="8448040" cy="1840889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Actual cost from start node to current node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Represents distance already travelled</a:t>
            </a:r>
          </a:p>
        </p:txBody>
      </p:sp>
    </p:spTree>
    <p:extLst>
      <p:ext uri="{BB962C8B-B14F-4D97-AF65-F5344CB8AC3E}">
        <p14:creationId xmlns:p14="http://schemas.microsoft.com/office/powerpoint/2010/main" val="4441246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0D038-6587-C9D2-41B7-54D8F8AF1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33AF8BA-95E5-D69E-58BD-0A160405757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A4DFE7A9-CA13-167B-B2EB-054AAC11F10B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CE139E4F-C4ED-85AD-6F45-3930C63EB97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DFCFBEAB-178B-5279-07D4-B24797641322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48024CE0-D1BD-95BE-A959-864062F290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3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Greedy Best First Search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E0A18403-F67E-6B6D-D870-CE107D36B405}"/>
              </a:ext>
            </a:extLst>
          </p:cNvPr>
          <p:cNvSpPr txBox="1"/>
          <p:nvPr/>
        </p:nvSpPr>
        <p:spPr>
          <a:xfrm>
            <a:off x="2934462" y="2286000"/>
            <a:ext cx="8448040" cy="1840889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/>
              <a:t>Selects node that appears closest to goal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/>
              <a:t>Uses only heuristic function</a:t>
            </a:r>
          </a:p>
        </p:txBody>
      </p:sp>
    </p:spTree>
    <p:extLst>
      <p:ext uri="{BB962C8B-B14F-4D97-AF65-F5344CB8AC3E}">
        <p14:creationId xmlns:p14="http://schemas.microsoft.com/office/powerpoint/2010/main" val="25054858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66886-29A3-72F4-6389-23E167588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ECE9FF5-609E-9EF2-AFDF-4763FB7A9CB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BE56D2E3-6FE7-5209-805A-8224D708DDA6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087298D3-895F-3C2F-8C9D-B11FA78BA70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DBD246F8-C58D-7481-CC6E-D4873B468B23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F092180B-631D-0EEC-77F6-F6B91860E46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3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Greedy Evaluation Function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AC233FBC-0630-1AA8-365E-D9DFC7577A57}"/>
              </a:ext>
            </a:extLst>
          </p:cNvPr>
          <p:cNvSpPr txBox="1"/>
          <p:nvPr/>
        </p:nvSpPr>
        <p:spPr>
          <a:xfrm>
            <a:off x="2934462" y="2286000"/>
            <a:ext cx="8448040" cy="856004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IN" sz="4400" dirty="0"/>
              <a:t>f(n) = h(n)</a:t>
            </a:r>
          </a:p>
        </p:txBody>
      </p:sp>
    </p:spTree>
    <p:extLst>
      <p:ext uri="{BB962C8B-B14F-4D97-AF65-F5344CB8AC3E}">
        <p14:creationId xmlns:p14="http://schemas.microsoft.com/office/powerpoint/2010/main" val="23376245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566DA-4DEA-01C8-2D1F-B04110F83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FCEA196-0937-61E7-DFC5-AB42DAB3CC98}"/>
              </a:ext>
            </a:extLst>
          </p:cNvPr>
          <p:cNvSpPr/>
          <p:nvPr/>
        </p:nvSpPr>
        <p:spPr>
          <a:xfrm>
            <a:off x="-33867" y="-53340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E25205A8-F890-5145-149D-50271ED334F7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D9F8B3AE-CC49-F74C-7A0A-0E5E3C4FB58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3EEA82F6-4902-451A-A926-18E3AA08C0B7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3918E5B1-431A-ED77-C956-5E44D1132E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3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Greedy Working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73DAD8CC-A7B7-5D12-E28A-9566FDBFC8A6}"/>
              </a:ext>
            </a:extLst>
          </p:cNvPr>
          <p:cNvSpPr txBox="1"/>
          <p:nvPr/>
        </p:nvSpPr>
        <p:spPr>
          <a:xfrm>
            <a:off x="2934462" y="2286000"/>
            <a:ext cx="8448040" cy="2641108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000" dirty="0"/>
              <a:t>Calculate h(n) for next nodes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000" dirty="0"/>
              <a:t>Select node with smallest heuristic value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000" dirty="0"/>
              <a:t>Repeat until goal is reached</a:t>
            </a:r>
          </a:p>
        </p:txBody>
      </p:sp>
    </p:spTree>
    <p:extLst>
      <p:ext uri="{BB962C8B-B14F-4D97-AF65-F5344CB8AC3E}">
        <p14:creationId xmlns:p14="http://schemas.microsoft.com/office/powerpoint/2010/main" val="10872423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C9673-0484-3795-19A0-5FEB13E27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910BEBD-E9B9-3E9C-35FD-67D6CACF0237}"/>
              </a:ext>
            </a:extLst>
          </p:cNvPr>
          <p:cNvSpPr/>
          <p:nvPr/>
        </p:nvSpPr>
        <p:spPr>
          <a:xfrm>
            <a:off x="-33867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521BB412-8470-7948-E8EE-4E79E20E1E5E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E135A3A8-1D7D-9F0B-B581-B3795A2F85B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54BA0660-FCC3-E994-3ECB-D3AE9D63D6F1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444CB1A0-9FE3-7F9F-9DB8-BD0EB301D0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3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Greedy Advantages and Disadvantages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A3B80D90-F01A-3576-9EC0-F4B1DA3EC012}"/>
              </a:ext>
            </a:extLst>
          </p:cNvPr>
          <p:cNvSpPr txBox="1"/>
          <p:nvPr/>
        </p:nvSpPr>
        <p:spPr>
          <a:xfrm>
            <a:off x="2934462" y="2286000"/>
            <a:ext cx="8448040" cy="2025555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000" dirty="0"/>
              <a:t>Advantages: Fast and simple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000" dirty="0"/>
              <a:t>Disadvantages: Not optimal, may choose wrong path</a:t>
            </a:r>
          </a:p>
        </p:txBody>
      </p:sp>
    </p:spTree>
    <p:extLst>
      <p:ext uri="{BB962C8B-B14F-4D97-AF65-F5344CB8AC3E}">
        <p14:creationId xmlns:p14="http://schemas.microsoft.com/office/powerpoint/2010/main" val="38048700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1FE17-6C20-BFBA-D958-92C675D34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31CEBE3-F633-5A09-AA9E-155837A2EF11}"/>
              </a:ext>
            </a:extLst>
          </p:cNvPr>
          <p:cNvSpPr/>
          <p:nvPr/>
        </p:nvSpPr>
        <p:spPr>
          <a:xfrm>
            <a:off x="-33867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FE868DD3-887D-7143-E63A-0B52A1DF0BAF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1EFE68D5-94F9-E8A2-F34C-E1ACD891F46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FC8F92A1-AABC-5C83-2A14-518F001FB68C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256CE58D-7243-9BEF-0496-9E81B95D19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3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A* Search Algorithm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27F1856C-A76B-DBA2-E774-6969391852B0}"/>
              </a:ext>
            </a:extLst>
          </p:cNvPr>
          <p:cNvSpPr txBox="1"/>
          <p:nvPr/>
        </p:nvSpPr>
        <p:spPr>
          <a:xfrm>
            <a:off x="2934462" y="2286000"/>
            <a:ext cx="8448040" cy="1286891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/>
              <a:t>Uses both path cost and heuristic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/>
              <a:t>Finds optimal path</a:t>
            </a:r>
          </a:p>
        </p:txBody>
      </p:sp>
    </p:spTree>
    <p:extLst>
      <p:ext uri="{BB962C8B-B14F-4D97-AF65-F5344CB8AC3E}">
        <p14:creationId xmlns:p14="http://schemas.microsoft.com/office/powerpoint/2010/main" val="37114142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ED9BA-7CCA-3DB0-2F0A-3F1D526A3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D7099E6-CD39-F4F2-D0E8-D3B27B2AC534}"/>
              </a:ext>
            </a:extLst>
          </p:cNvPr>
          <p:cNvSpPr/>
          <p:nvPr/>
        </p:nvSpPr>
        <p:spPr>
          <a:xfrm>
            <a:off x="-33867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3BBE0BF0-FABB-848D-4689-695D20BA8052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11EF0185-811C-AD66-347D-19E6A24586F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6FE9639-37DD-FDE2-F48E-56F3A4B4A61F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5C24880F-A786-8A20-80FD-C3F5F6FF3E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3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A* Evaluation Function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7E4B1A13-73B8-5E29-D505-1421DF8D8D1E}"/>
              </a:ext>
            </a:extLst>
          </p:cNvPr>
          <p:cNvSpPr txBox="1"/>
          <p:nvPr/>
        </p:nvSpPr>
        <p:spPr>
          <a:xfrm>
            <a:off x="2934462" y="2286000"/>
            <a:ext cx="8448040" cy="856004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pt-BR" sz="4400" dirty="0"/>
              <a:t>f(n) = g(n) + h(n)</a:t>
            </a:r>
          </a:p>
        </p:txBody>
      </p:sp>
    </p:spTree>
    <p:extLst>
      <p:ext uri="{BB962C8B-B14F-4D97-AF65-F5344CB8AC3E}">
        <p14:creationId xmlns:p14="http://schemas.microsoft.com/office/powerpoint/2010/main" val="28288647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EF965-8990-9D6D-DA2D-3FA696814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8C59F7D-6675-31AF-421B-FA0C45BE20B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B149B752-D886-0F33-C0F8-585213E77660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8BC003B5-EA1C-393F-BBF9-D3FC38C420B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E1C8173-5EA7-EF01-AE71-1971236A8F87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C78C1F87-BCD1-77E2-09D6-90F1107DD80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3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A* Working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64099BB3-20EC-35F5-EA4F-A452E73220C6}"/>
              </a:ext>
            </a:extLst>
          </p:cNvPr>
          <p:cNvSpPr txBox="1"/>
          <p:nvPr/>
        </p:nvSpPr>
        <p:spPr>
          <a:xfrm>
            <a:off x="2934462" y="2286000"/>
            <a:ext cx="8448040" cy="1840889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Calculate g(n) and h(n)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Select node with lowest f(n)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Continue until goal is reached</a:t>
            </a:r>
          </a:p>
        </p:txBody>
      </p:sp>
    </p:spTree>
    <p:extLst>
      <p:ext uri="{BB962C8B-B14F-4D97-AF65-F5344CB8AC3E}">
        <p14:creationId xmlns:p14="http://schemas.microsoft.com/office/powerpoint/2010/main" val="29931804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D790F-8C97-C6B7-B777-BDAE1E2F3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334AEB7-4DA1-FCDD-2F1E-C0905EE62D2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E4D9C2C0-4C9B-CAC7-F9C9-257BE88382B2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3A654243-7726-DCDF-BA52-FD0F474D55E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E5FF6770-91B4-5F62-96A5-7541D2C6CDAC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F1AC45E7-4612-B4E3-327D-06D0051A5C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US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A* Advantages and Disadvantages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2F677E-9DA3-5EA0-3032-AAC7F08DE2C6}"/>
              </a:ext>
            </a:extLst>
          </p:cNvPr>
          <p:cNvSpPr txBox="1"/>
          <p:nvPr/>
        </p:nvSpPr>
        <p:spPr>
          <a:xfrm>
            <a:off x="3048000" y="2690335"/>
            <a:ext cx="73914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/>
              <a:t>Advantages: Optimal and complete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/>
              <a:t>Disadvantages: Uses more memory and slower than greedy</a:t>
            </a:r>
          </a:p>
        </p:txBody>
      </p:sp>
    </p:spTree>
    <p:extLst>
      <p:ext uri="{BB962C8B-B14F-4D97-AF65-F5344CB8AC3E}">
        <p14:creationId xmlns:p14="http://schemas.microsoft.com/office/powerpoint/2010/main" val="20250574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22A99-9F9C-50A4-E76B-38C6A85EE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76F6CB6-B744-B9B8-9279-DA23411F45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15B2B63C-D4C1-52A8-FF13-7F0D17E228A4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67E8A9E5-0E82-C664-C741-A190859069B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95122A3A-856A-036E-FAA4-49043D57BBD2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4C6F7252-F766-4785-4728-9703FA0B9A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US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Admissible Heuristic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B28E5E-A674-532C-E3FF-2EA02B20BDE4}"/>
              </a:ext>
            </a:extLst>
          </p:cNvPr>
          <p:cNvSpPr txBox="1"/>
          <p:nvPr/>
        </p:nvSpPr>
        <p:spPr>
          <a:xfrm>
            <a:off x="3048000" y="2690335"/>
            <a:ext cx="73914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• A heuristic is called </a:t>
            </a:r>
            <a:r>
              <a:rPr lang="en-US" sz="2800" b="1" dirty="0"/>
              <a:t>admissible</a:t>
            </a:r>
            <a:r>
              <a:rPr lang="en-US" sz="2800" dirty="0"/>
              <a:t> if it never overestimates the actual cost to reach the goal.</a:t>
            </a:r>
          </a:p>
          <a:p>
            <a:r>
              <a:rPr lang="en-US" sz="2800" dirty="0"/>
              <a:t>• Condition:</a:t>
            </a:r>
            <a:br>
              <a:rPr lang="en-US" sz="2800" dirty="0"/>
            </a:br>
            <a:r>
              <a:rPr lang="en-US" sz="2800" b="1" dirty="0"/>
              <a:t>h(n) ≤ Actual Cost to Goal</a:t>
            </a:r>
            <a:endParaRPr lang="en-US" sz="2800" dirty="0"/>
          </a:p>
          <a:p>
            <a:r>
              <a:rPr lang="en-US" sz="2800" dirty="0"/>
              <a:t>• Importance:</a:t>
            </a:r>
            <a:br>
              <a:rPr lang="en-US" sz="2800" dirty="0"/>
            </a:br>
            <a:r>
              <a:rPr lang="en-US" sz="2800" dirty="0"/>
              <a:t>Ensures </a:t>
            </a:r>
            <a:r>
              <a:rPr lang="en-US" sz="2800" b="1" dirty="0"/>
              <a:t>A*</a:t>
            </a:r>
            <a:r>
              <a:rPr lang="en-US" sz="2800" dirty="0"/>
              <a:t> search finds the </a:t>
            </a:r>
            <a:r>
              <a:rPr lang="en-US" sz="2800" b="1" dirty="0"/>
              <a:t>optimal (shortest</a:t>
            </a:r>
            <a:r>
              <a:rPr lang="en-US" sz="2800" b="1"/>
              <a:t>) path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8517023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7D9B11A-0092-9925-1523-D35E640A6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93A27F6-EAEA-7D4B-175A-FA05BFB68D7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5F6D9B3A-2554-6A80-1BE4-F445A2C58F2D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81F2A973-E675-B134-F26D-077D4BCF7AF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C6D26561-3C41-417D-A560-D0512766BE74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94AD302E-3308-0F6F-CAA7-E3A2F01846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US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Comparison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A745E6-1A6B-72C7-F45C-5EDBA7CBC46D}"/>
              </a:ext>
            </a:extLst>
          </p:cNvPr>
          <p:cNvSpPr txBox="1"/>
          <p:nvPr/>
        </p:nvSpPr>
        <p:spPr>
          <a:xfrm>
            <a:off x="3048000" y="2690335"/>
            <a:ext cx="8719016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000" dirty="0"/>
              <a:t>Greedy uses only h(n)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000" dirty="0"/>
              <a:t>A* uses g(n) and h(n)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000" dirty="0"/>
              <a:t>Greedy is faster but not optimal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000" dirty="0"/>
              <a:t>A* is optimal but moderately slower</a:t>
            </a:r>
          </a:p>
        </p:txBody>
      </p:sp>
    </p:spTree>
    <p:extLst>
      <p:ext uri="{BB962C8B-B14F-4D97-AF65-F5344CB8AC3E}">
        <p14:creationId xmlns:p14="http://schemas.microsoft.com/office/powerpoint/2010/main" val="10543307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85C4D2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2396</TotalTime>
  <Words>384</Words>
  <Application>Microsoft Office PowerPoint</Application>
  <PresentationFormat>Widescreen</PresentationFormat>
  <Paragraphs>56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Arial</vt:lpstr>
      <vt:lpstr>Calibri</vt:lpstr>
      <vt:lpstr>Cambria</vt:lpstr>
      <vt:lpstr>Segoe UI</vt:lpstr>
      <vt:lpstr>Office Theme</vt:lpstr>
      <vt:lpstr>  Introduction to AI                  Informed Search Strategies                          SY B.Sc. (CS)</vt:lpstr>
      <vt:lpstr>2  Topics</vt:lpstr>
      <vt:lpstr>Informed Search Strategies</vt:lpstr>
      <vt:lpstr>3  Informed Search Strategies</vt:lpstr>
      <vt:lpstr>3 Heuristic Function h(n)</vt:lpstr>
      <vt:lpstr>3 Path Cost g(n)</vt:lpstr>
      <vt:lpstr>3 Greedy Best First Search</vt:lpstr>
      <vt:lpstr>3 Greedy Evaluation Function</vt:lpstr>
      <vt:lpstr>3 Greedy Working</vt:lpstr>
      <vt:lpstr>3 Greedy Advantages and Disadvantages</vt:lpstr>
      <vt:lpstr>3 A* Search Algorithm</vt:lpstr>
      <vt:lpstr>3 A* Evaluation Function</vt:lpstr>
      <vt:lpstr>3 A* Working</vt:lpstr>
      <vt:lpstr>4 A* Advantages and Disadvantages</vt:lpstr>
      <vt:lpstr>4 Admissible Heuristic</vt:lpstr>
      <vt:lpstr>4 Comparison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Principles of  Geographic Information Systems </dc:title>
  <dc:creator>Pushpa Mahapatro</dc:creator>
  <cp:lastModifiedBy>poornimanadar1234@gmail.com</cp:lastModifiedBy>
  <cp:revision>57</cp:revision>
  <dcterms:created xsi:type="dcterms:W3CDTF">2025-11-04T17:06:10Z</dcterms:created>
  <dcterms:modified xsi:type="dcterms:W3CDTF">2026-02-03T17:00:47Z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2021-01-13T00:00:00Z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2025-11-04T00:00:00Z</vt:filetime>
  </property>
  <property fmtid="{D5CDD505-2E9C-101B-9397-08002B2CF9AE}" pid="5" name="Producer">
    <vt:lpwstr>Microsoft® PowerPoint® for Microsoft 365</vt:lpwstr>
  </property>
</Properties>
</file>