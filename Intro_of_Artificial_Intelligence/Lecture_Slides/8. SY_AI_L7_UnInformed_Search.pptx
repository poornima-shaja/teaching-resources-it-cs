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339" r:id="rId4"/>
    <p:sldId id="343" r:id="rId5"/>
    <p:sldId id="312" r:id="rId6"/>
    <p:sldId id="389" r:id="rId7"/>
    <p:sldId id="390" r:id="rId8"/>
    <p:sldId id="391" r:id="rId9"/>
    <p:sldId id="342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89" autoAdjust="0"/>
  </p:normalViewPr>
  <p:slideViewPr>
    <p:cSldViewPr>
      <p:cViewPr varScale="1">
        <p:scale>
          <a:sx n="90" d="100"/>
          <a:sy n="90" d="100"/>
        </p:scale>
        <p:origin x="53" y="67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6" d="100"/>
          <a:sy n="96" d="100"/>
        </p:scale>
        <p:origin x="878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50E53-DE1B-407D-A709-579CCB904A60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43FC4-0F31-4797-9FA8-1F6AE7072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606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984" y="432816"/>
            <a:ext cx="3459183" cy="612343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934462" y="2177033"/>
            <a:ext cx="8770620" cy="0"/>
          </a:xfrm>
          <a:custGeom>
            <a:avLst/>
            <a:gdLst/>
            <a:ahLst/>
            <a:cxnLst/>
            <a:rect l="l" t="t" r="r" b="b"/>
            <a:pathLst>
              <a:path w="8770620">
                <a:moveTo>
                  <a:pt x="0" y="0"/>
                </a:moveTo>
                <a:lnTo>
                  <a:pt x="8770619" y="0"/>
                </a:lnTo>
              </a:path>
            </a:pathLst>
          </a:custGeom>
          <a:ln w="38100">
            <a:solidFill>
              <a:srgbClr val="79A8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44368" y="2456687"/>
            <a:ext cx="3077845" cy="1516380"/>
          </a:xfrm>
          <a:custGeom>
            <a:avLst/>
            <a:gdLst/>
            <a:ahLst/>
            <a:cxnLst/>
            <a:rect l="l" t="t" r="r" b="b"/>
            <a:pathLst>
              <a:path w="3077845" h="1516379">
                <a:moveTo>
                  <a:pt x="3077845" y="757428"/>
                </a:moveTo>
                <a:lnTo>
                  <a:pt x="3066948" y="751078"/>
                </a:lnTo>
                <a:lnTo>
                  <a:pt x="2989199" y="705739"/>
                </a:lnTo>
                <a:lnTo>
                  <a:pt x="2985262" y="706755"/>
                </a:lnTo>
                <a:lnTo>
                  <a:pt x="2981706" y="712851"/>
                </a:lnTo>
                <a:lnTo>
                  <a:pt x="2982722" y="716661"/>
                </a:lnTo>
                <a:lnTo>
                  <a:pt x="3041700" y="751078"/>
                </a:lnTo>
                <a:lnTo>
                  <a:pt x="2528316" y="751078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lnTo>
                  <a:pt x="2528316" y="1516380"/>
                </a:lnTo>
                <a:lnTo>
                  <a:pt x="2528316" y="763778"/>
                </a:lnTo>
                <a:lnTo>
                  <a:pt x="3041700" y="763778"/>
                </a:lnTo>
                <a:lnTo>
                  <a:pt x="2982722" y="798195"/>
                </a:lnTo>
                <a:lnTo>
                  <a:pt x="2981706" y="802005"/>
                </a:lnTo>
                <a:lnTo>
                  <a:pt x="2985262" y="808101"/>
                </a:lnTo>
                <a:lnTo>
                  <a:pt x="2989199" y="809117"/>
                </a:lnTo>
                <a:lnTo>
                  <a:pt x="3066948" y="763778"/>
                </a:lnTo>
                <a:lnTo>
                  <a:pt x="3077845" y="757428"/>
                </a:lnTo>
                <a:close/>
              </a:path>
            </a:pathLst>
          </a:custGeom>
          <a:solidFill>
            <a:srgbClr val="79A8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944368" y="2456688"/>
            <a:ext cx="2528570" cy="1516380"/>
          </a:xfrm>
          <a:custGeom>
            <a:avLst/>
            <a:gdLst/>
            <a:ahLst/>
            <a:cxnLst/>
            <a:rect l="l" t="t" r="r" b="b"/>
            <a:pathLst>
              <a:path w="2528570" h="1516379">
                <a:moveTo>
                  <a:pt x="0" y="1516380"/>
                </a:moveTo>
                <a:lnTo>
                  <a:pt x="2528316" y="1516380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9780" y="130251"/>
            <a:ext cx="5954395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31010" y="2270505"/>
            <a:ext cx="8729980" cy="2527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371600" y="1586146"/>
            <a:ext cx="8546465" cy="2103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650490">
              <a:lnSpc>
                <a:spcPts val="5550"/>
              </a:lnSpc>
            </a:pPr>
            <a:r>
              <a:rPr lang="en-IN" sz="4400" spc="150" dirty="0">
                <a:solidFill>
                  <a:srgbClr val="FFFFFF"/>
                </a:solidFill>
                <a:latin typeface="Cambria"/>
                <a:cs typeface="Cambria"/>
              </a:rPr>
              <a:t>Introduction to AI</a:t>
            </a:r>
            <a:b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                 </a:t>
            </a:r>
            <a:r>
              <a:rPr lang="en-US" sz="3600" b="0" spc="150" dirty="0">
                <a:solidFill>
                  <a:srgbClr val="FFFFFF"/>
                </a:solidFill>
                <a:latin typeface="Cambria"/>
                <a:cs typeface="Cambria"/>
              </a:rPr>
              <a:t>Uninformed Search in AI</a:t>
            </a:r>
            <a:b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   </a:t>
            </a:r>
            <a:r>
              <a:rPr lang="en-IN" sz="4400" b="0" spc="210" dirty="0">
                <a:solidFill>
                  <a:srgbClr val="FFFFFF"/>
                </a:solidFill>
                <a:latin typeface="Cambria"/>
                <a:cs typeface="Cambria"/>
              </a:rPr>
              <a:t>                     </a:t>
            </a:r>
            <a:r>
              <a:rPr lang="en-IN" sz="3200" b="0" spc="210" dirty="0">
                <a:solidFill>
                  <a:srgbClr val="FFFFFF"/>
                </a:solidFill>
                <a:latin typeface="Cambria"/>
                <a:cs typeface="Cambria"/>
              </a:rPr>
              <a:t>SY B.Sc. (CS)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33290" y="3920997"/>
            <a:ext cx="2729865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Semester</a:t>
            </a:r>
            <a:r>
              <a:rPr sz="17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lang="en-IN" sz="1700" spc="-2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10961" y="3766565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599" y="0"/>
                </a:lnTo>
              </a:path>
            </a:pathLst>
          </a:custGeom>
          <a:ln w="38100">
            <a:solidFill>
              <a:srgbClr val="00A4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5388" y="6519164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DFCF8"/>
                </a:solidFill>
                <a:latin typeface="Cambria"/>
                <a:cs typeface="Cambria"/>
              </a:rPr>
              <a:t>1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7" name="object 3" descr="$PPTXTitle">
            <a:extLst>
              <a:ext uri="{FF2B5EF4-FFF2-40B4-BE49-F238E27FC236}">
                <a16:creationId xmlns:a16="http://schemas.microsoft.com/office/drawing/2014/main" id="{6FAB2A22-FBB1-FA70-ED68-3643E270AE45}"/>
              </a:ext>
            </a:extLst>
          </p:cNvPr>
          <p:cNvSpPr txBox="1">
            <a:spLocks/>
          </p:cNvSpPr>
          <p:nvPr/>
        </p:nvSpPr>
        <p:spPr>
          <a:xfrm>
            <a:off x="3189922" y="5105400"/>
            <a:ext cx="8546465" cy="132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 marR="5080" indent="2650490" algn="r">
              <a:lnSpc>
                <a:spcPts val="555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                                        Poornima .N</a:t>
            </a:r>
          </a:p>
          <a:p>
            <a:pPr marL="12700" marR="5080" indent="2650490" algn="r">
              <a:lnSpc>
                <a:spcPts val="555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Assistant Professor, Department of IT/CS</a:t>
            </a: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286000"/>
            <a:ext cx="8448040" cy="378084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3200" dirty="0"/>
              <a:t>✔ </a:t>
            </a:r>
            <a:r>
              <a:rPr lang="en-IN" sz="3200" dirty="0"/>
              <a:t>BFS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3200" dirty="0"/>
              <a:t>✔ </a:t>
            </a:r>
            <a:r>
              <a:rPr lang="en-IN" sz="3200" dirty="0"/>
              <a:t>DFS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3200" dirty="0"/>
              <a:t>✔ </a:t>
            </a:r>
            <a:r>
              <a:rPr lang="en-IN" sz="3200" dirty="0"/>
              <a:t>UCS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3200" dirty="0"/>
              <a:t>✔ </a:t>
            </a:r>
            <a:r>
              <a:rPr lang="en-IN" sz="3200" dirty="0"/>
              <a:t>DLS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3200" dirty="0"/>
              <a:t>✔ </a:t>
            </a:r>
            <a:r>
              <a:rPr lang="en-IN" sz="3200" dirty="0"/>
              <a:t>IDS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105910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spc="-50" dirty="0">
                <a:solidFill>
                  <a:schemeClr val="tx1"/>
                </a:solidFill>
                <a:latin typeface="Cambria"/>
                <a:cs typeface="Cambria"/>
              </a:rPr>
              <a:t>2</a:t>
            </a:r>
            <a:r>
              <a:rPr sz="4400" b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4400"/>
              <a:t>Topics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7B5A43BA-53F1-CB90-8BA1-382DCDF9CBE3}"/>
              </a:ext>
            </a:extLst>
          </p:cNvPr>
          <p:cNvSpPr/>
          <p:nvPr/>
        </p:nvSpPr>
        <p:spPr>
          <a:xfrm>
            <a:off x="7924800" y="4495805"/>
            <a:ext cx="4219702" cy="2318762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D5FE6B-70C8-15A5-A005-DA99561152E8}"/>
              </a:ext>
            </a:extLst>
          </p:cNvPr>
          <p:cNvSpPr txBox="1"/>
          <p:nvPr/>
        </p:nvSpPr>
        <p:spPr>
          <a:xfrm>
            <a:off x="8307833" y="4923652"/>
            <a:ext cx="345918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“How does a machine decide what to do when it  doesn’t know where the goal is?</a:t>
            </a:r>
            <a:endParaRPr lang="en-IN" sz="2400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0C15D-0994-879F-833B-25C04A979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2514600"/>
            <a:ext cx="10134600" cy="738664"/>
          </a:xfrm>
        </p:spPr>
        <p:txBody>
          <a:bodyPr/>
          <a:lstStyle/>
          <a:p>
            <a:pPr algn="ctr"/>
            <a:r>
              <a:rPr lang="en-IN" sz="4800" dirty="0"/>
              <a:t>Uninformed Search in AI</a:t>
            </a:r>
          </a:p>
        </p:txBody>
      </p:sp>
    </p:spTree>
    <p:extLst>
      <p:ext uri="{BB962C8B-B14F-4D97-AF65-F5344CB8AC3E}">
        <p14:creationId xmlns:p14="http://schemas.microsoft.com/office/powerpoint/2010/main" val="3481596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FAD1A-2764-3965-06A5-E3E3FB0AB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3431A77-A41E-1C1D-8E34-7670DF335C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E702281-5F39-B31E-B011-E8C13F137F7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1951FC8-DD60-53F3-DE89-77434169A06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82D3691-4386-B000-684C-6F4036B6297C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AAFF70A6-D38B-2249-67CA-A2BED81AEE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altLang="en-US" sz="4400" b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IN" sz="4400" dirty="0"/>
              <a:t>Breadth First Search (BFS)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417BA57-D02B-8B1D-D83E-AF23BE0334BD}"/>
              </a:ext>
            </a:extLst>
          </p:cNvPr>
          <p:cNvSpPr txBox="1"/>
          <p:nvPr/>
        </p:nvSpPr>
        <p:spPr>
          <a:xfrm>
            <a:off x="2934462" y="2286000"/>
            <a:ext cx="8448040" cy="350288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>
              <a:defRPr sz="2200"/>
            </a:pPr>
            <a:r>
              <a:rPr lang="en-US" sz="2400" dirty="0"/>
              <a:t>Definition: Uninformed search that explores level by level, expanding the shallowest node first.</a:t>
            </a:r>
          </a:p>
          <a:p>
            <a:pPr>
              <a:defRPr sz="2200"/>
            </a:pPr>
            <a:r>
              <a:rPr lang="en-US" sz="2400" dirty="0"/>
              <a:t>Data Structure: Queue (FIFO).</a:t>
            </a:r>
          </a:p>
          <a:p>
            <a:pPr>
              <a:defRPr sz="2200"/>
            </a:pPr>
            <a:r>
              <a:rPr lang="en-US" sz="2400" dirty="0"/>
              <a:t>Working: Expand all nodes at depth 0, then depth 1, depth 2, ...</a:t>
            </a:r>
          </a:p>
          <a:p>
            <a:pPr>
              <a:defRPr sz="2200"/>
            </a:pPr>
            <a:r>
              <a:rPr lang="en-US" sz="2400" dirty="0"/>
              <a:t>Properties: Complete ✓ | Optimal ✓ (if equal step cost).</a:t>
            </a:r>
          </a:p>
          <a:p>
            <a:pPr>
              <a:defRPr sz="2200"/>
            </a:pPr>
            <a:r>
              <a:rPr lang="en-US" sz="2400" dirty="0"/>
              <a:t>Complexity: Time O(</a:t>
            </a:r>
            <a:r>
              <a:rPr lang="en-US" sz="2400" dirty="0" err="1"/>
              <a:t>b^d</a:t>
            </a:r>
            <a:r>
              <a:rPr lang="en-US" sz="2400" dirty="0"/>
              <a:t>) | Space O(</a:t>
            </a:r>
            <a:r>
              <a:rPr lang="en-US" sz="2400" dirty="0" err="1"/>
              <a:t>b^d</a:t>
            </a:r>
            <a:r>
              <a:rPr lang="en-US" sz="2400" dirty="0"/>
              <a:t>).</a:t>
            </a:r>
          </a:p>
          <a:p>
            <a:pPr>
              <a:defRPr sz="2200"/>
            </a:pPr>
            <a:r>
              <a:rPr lang="en-US" sz="2400" dirty="0"/>
              <a:t>Pros: Finds shortest path, systematic.</a:t>
            </a:r>
          </a:p>
          <a:p>
            <a:pPr>
              <a:defRPr sz="2200"/>
            </a:pPr>
            <a:r>
              <a:rPr lang="en-US" sz="2400" dirty="0"/>
              <a:t>Cons: High memory usage for large depth.</a:t>
            </a:r>
          </a:p>
        </p:txBody>
      </p:sp>
    </p:spTree>
    <p:extLst>
      <p:ext uri="{BB962C8B-B14F-4D97-AF65-F5344CB8AC3E}">
        <p14:creationId xmlns:p14="http://schemas.microsoft.com/office/powerpoint/2010/main" val="8875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CB424-FB80-8FEA-DB88-C79D498F4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DDB4D06-0B9D-9EE8-AE01-EBBAACFDFD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786337C-102A-4051-55AC-1759502BC1EA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8AF3281-D20A-FE6F-9D33-40FF587F732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7F8E362-C67A-6F39-2863-2CA0C23BEB1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73E3F80F-C545-4912-67A9-D0590103BD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Depth First Search (DFS)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8D1FDE11-8101-2589-22CB-6756A70F58C6}"/>
              </a:ext>
            </a:extLst>
          </p:cNvPr>
          <p:cNvSpPr txBox="1"/>
          <p:nvPr/>
        </p:nvSpPr>
        <p:spPr>
          <a:xfrm>
            <a:off x="2934462" y="2286000"/>
            <a:ext cx="8448040" cy="4487767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>
              <a:defRPr sz="2200"/>
            </a:pPr>
            <a:r>
              <a:rPr lang="en-US" sz="2800" dirty="0"/>
              <a:t>Definition: Uninformed search that explores deepest branch first, then backtracks.</a:t>
            </a:r>
          </a:p>
          <a:p>
            <a:pPr>
              <a:defRPr sz="2200"/>
            </a:pPr>
            <a:r>
              <a:rPr lang="en-US" sz="2800" dirty="0"/>
              <a:t>Data Structure: Stack (LIFO) / Recursion.</a:t>
            </a:r>
          </a:p>
          <a:p>
            <a:pPr>
              <a:defRPr sz="2200"/>
            </a:pPr>
            <a:r>
              <a:rPr lang="en-US" sz="2800" dirty="0"/>
              <a:t>Working: Go deep along one branch until dead-end, then backtrack.</a:t>
            </a:r>
          </a:p>
          <a:p>
            <a:pPr>
              <a:defRPr sz="2200"/>
            </a:pPr>
            <a:r>
              <a:rPr lang="en-US" sz="2800" dirty="0"/>
              <a:t>Properties: Complete ✗ (in infinite depth) | Optimal ✗.</a:t>
            </a:r>
          </a:p>
          <a:p>
            <a:pPr>
              <a:defRPr sz="2200"/>
            </a:pPr>
            <a:r>
              <a:rPr lang="en-US" sz="2800" dirty="0"/>
              <a:t>Complexity: Time O(</a:t>
            </a:r>
            <a:r>
              <a:rPr lang="en-US" sz="2800" dirty="0" err="1"/>
              <a:t>b^m</a:t>
            </a:r>
            <a:r>
              <a:rPr lang="en-US" sz="2800" dirty="0"/>
              <a:t>) | Space O(bm).</a:t>
            </a:r>
          </a:p>
          <a:p>
            <a:pPr>
              <a:defRPr sz="2200"/>
            </a:pPr>
            <a:r>
              <a:rPr lang="en-US" sz="2800" dirty="0"/>
              <a:t>Pros: Low memory, simple.</a:t>
            </a:r>
          </a:p>
          <a:p>
            <a:pPr>
              <a:defRPr sz="2200"/>
            </a:pPr>
            <a:r>
              <a:rPr lang="en-US" sz="2800" dirty="0"/>
              <a:t>Cons: May not find shortest path, can loop infinitely.</a:t>
            </a:r>
          </a:p>
        </p:txBody>
      </p:sp>
    </p:spTree>
    <p:extLst>
      <p:ext uri="{BB962C8B-B14F-4D97-AF65-F5344CB8AC3E}">
        <p14:creationId xmlns:p14="http://schemas.microsoft.com/office/powerpoint/2010/main" val="3059469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D86E0-A168-48EA-AD49-3B3CB04FF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89B5308-884B-6B75-553E-5CF75C04DD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1F0A706-835F-C178-FF66-7BC272820842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DF437806-B92C-5DA1-AB0E-912A360790A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819DAED-9AC6-B55C-B024-83C0EA93321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DF7C4196-BA7B-A338-3322-65DA62319D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Uniform Cost Search (UCS)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31E2B5AB-9EF0-DF8A-83D4-E1692A5B431D}"/>
              </a:ext>
            </a:extLst>
          </p:cNvPr>
          <p:cNvSpPr txBox="1"/>
          <p:nvPr/>
        </p:nvSpPr>
        <p:spPr>
          <a:xfrm>
            <a:off x="2934462" y="2286000"/>
            <a:ext cx="8448040" cy="276421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>
              <a:defRPr sz="2200"/>
            </a:pPr>
            <a:r>
              <a:rPr lang="en-US" sz="2400" dirty="0"/>
              <a:t>Definition: Expands the node with the lowest path cost g(n).</a:t>
            </a:r>
          </a:p>
          <a:p>
            <a:pPr>
              <a:defRPr sz="2200"/>
            </a:pPr>
            <a:r>
              <a:rPr lang="en-US" sz="2400" dirty="0"/>
              <a:t>Data Structure: Priority Queue (min-cost first).</a:t>
            </a:r>
          </a:p>
          <a:p>
            <a:pPr>
              <a:defRPr sz="2200"/>
            </a:pPr>
            <a:r>
              <a:rPr lang="en-US" sz="2400" dirty="0"/>
              <a:t>Working: Always pick least-cost node, then expand.</a:t>
            </a:r>
          </a:p>
          <a:p>
            <a:pPr>
              <a:defRPr sz="2200"/>
            </a:pPr>
            <a:r>
              <a:rPr lang="en-US" sz="2400" dirty="0"/>
              <a:t>Properties: Complete ✓ (positive costs) | Optimal ✓.</a:t>
            </a:r>
          </a:p>
          <a:p>
            <a:pPr>
              <a:defRPr sz="2200"/>
            </a:pPr>
            <a:r>
              <a:rPr lang="en-US" sz="2400" dirty="0"/>
              <a:t>Complexity: Time O(b^(C*/ε)) | Space O(b^(C*/ε)).</a:t>
            </a:r>
          </a:p>
          <a:p>
            <a:pPr>
              <a:defRPr sz="2200"/>
            </a:pPr>
            <a:r>
              <a:rPr lang="en-US" sz="2400" dirty="0"/>
              <a:t>Pros: Finds cheapest path (variable step costs).</a:t>
            </a:r>
          </a:p>
          <a:p>
            <a:pPr>
              <a:defRPr sz="2200"/>
            </a:pPr>
            <a:r>
              <a:rPr lang="en-US" sz="2400" dirty="0"/>
              <a:t>Cons: Can be slow, high memory.</a:t>
            </a:r>
          </a:p>
        </p:txBody>
      </p:sp>
    </p:spTree>
    <p:extLst>
      <p:ext uri="{BB962C8B-B14F-4D97-AF65-F5344CB8AC3E}">
        <p14:creationId xmlns:p14="http://schemas.microsoft.com/office/powerpoint/2010/main" val="444124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0D038-6587-C9D2-41B7-54D8F8AF1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33AF8BA-95E5-D69E-58BD-0A160405757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4DFE7A9-CA13-167B-B2EB-054AAC11F10B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E139E4F-C4ED-85AD-6F45-3930C63EB97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FCFBEAB-178B-5279-07D4-B2479764132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48024CE0-D1BD-95BE-A959-864062F290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Depth Limited Search (DLS)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E0A18403-F67E-6B6D-D870-CE107D36B405}"/>
              </a:ext>
            </a:extLst>
          </p:cNvPr>
          <p:cNvSpPr txBox="1"/>
          <p:nvPr/>
        </p:nvSpPr>
        <p:spPr>
          <a:xfrm>
            <a:off x="2934462" y="2286000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>
              <a:defRPr sz="2200"/>
            </a:pPr>
            <a:r>
              <a:rPr lang="en-IN" sz="2800" dirty="0"/>
              <a:t>Definition: DFS with a fixed depth limit l.</a:t>
            </a:r>
          </a:p>
          <a:p>
            <a:pPr>
              <a:defRPr sz="2200"/>
            </a:pPr>
            <a:r>
              <a:rPr lang="en-IN" sz="2800" dirty="0"/>
              <a:t>Data Structure: Stack / Recursion with depth cutoff.</a:t>
            </a:r>
          </a:p>
          <a:p>
            <a:pPr>
              <a:defRPr sz="2200"/>
            </a:pPr>
            <a:r>
              <a:rPr lang="en-IN" sz="2800" dirty="0"/>
              <a:t>Working: Search like DFS but stop expanding beyond depth l.</a:t>
            </a:r>
          </a:p>
          <a:p>
            <a:pPr>
              <a:defRPr sz="2200"/>
            </a:pPr>
            <a:r>
              <a:rPr lang="en-IN" sz="2800" dirty="0"/>
              <a:t>Properties: Complete ✓ if l ≥ solution depth | Optimal ✗.</a:t>
            </a:r>
          </a:p>
          <a:p>
            <a:pPr>
              <a:defRPr sz="2200"/>
            </a:pPr>
            <a:r>
              <a:rPr lang="en-IN" sz="2800" dirty="0"/>
              <a:t>Complexity: Time O(</a:t>
            </a:r>
            <a:r>
              <a:rPr lang="en-IN" sz="2800" dirty="0" err="1"/>
              <a:t>b^l</a:t>
            </a:r>
            <a:r>
              <a:rPr lang="en-IN" sz="2800" dirty="0"/>
              <a:t>) | Space O(bl).</a:t>
            </a:r>
          </a:p>
          <a:p>
            <a:pPr>
              <a:defRPr sz="2200"/>
            </a:pPr>
            <a:r>
              <a:rPr lang="en-IN" sz="2800" dirty="0"/>
              <a:t>Pros: Avoids infinite depth, low memory.</a:t>
            </a:r>
          </a:p>
          <a:p>
            <a:pPr>
              <a:defRPr sz="2200"/>
            </a:pPr>
            <a:r>
              <a:rPr lang="en-IN" sz="2800" dirty="0"/>
              <a:t>Cons: Wrong limit may miss solution.</a:t>
            </a:r>
          </a:p>
        </p:txBody>
      </p:sp>
    </p:spTree>
    <p:extLst>
      <p:ext uri="{BB962C8B-B14F-4D97-AF65-F5344CB8AC3E}">
        <p14:creationId xmlns:p14="http://schemas.microsoft.com/office/powerpoint/2010/main" val="2505485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66886-29A3-72F4-6389-23E167588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ECE9FF5-609E-9EF2-AFDF-4763FB7A9C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BE56D2E3-6FE7-5209-805A-8224D708DDA6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87298D3-895F-3C2F-8C9D-B11FA78BA70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BD246F8-C58D-7481-CC6E-D4873B468B23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F092180B-631D-0EEC-77F6-F6B91860E4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Iterative Deepening Search (IDS)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AC233FBC-0630-1AA8-365E-D9DFC7577A57}"/>
              </a:ext>
            </a:extLst>
          </p:cNvPr>
          <p:cNvSpPr txBox="1"/>
          <p:nvPr/>
        </p:nvSpPr>
        <p:spPr>
          <a:xfrm>
            <a:off x="2934462" y="2286000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>
              <a:defRPr sz="2200"/>
            </a:pPr>
            <a:r>
              <a:rPr lang="en-US" sz="2800" dirty="0"/>
              <a:t>Definition: Repeated DLS with increasing depth limits (0,1,2,...).</a:t>
            </a:r>
          </a:p>
          <a:p>
            <a:pPr>
              <a:defRPr sz="2200"/>
            </a:pPr>
            <a:r>
              <a:rPr lang="en-US" sz="2800" dirty="0"/>
              <a:t>Combines: BFS optimality + DFS low memory.</a:t>
            </a:r>
          </a:p>
          <a:p>
            <a:pPr>
              <a:defRPr sz="2200"/>
            </a:pPr>
            <a:r>
              <a:rPr lang="en-US" sz="2800" dirty="0"/>
              <a:t>Working: Run DLS with limit 0, then 1, then 2 until goal found.</a:t>
            </a:r>
          </a:p>
          <a:p>
            <a:pPr>
              <a:defRPr sz="2200"/>
            </a:pPr>
            <a:r>
              <a:rPr lang="en-US" sz="2800" dirty="0"/>
              <a:t>Properties: Complete ✓ | Optimal ✓ (equal step cost).</a:t>
            </a:r>
          </a:p>
          <a:p>
            <a:pPr>
              <a:defRPr sz="2200"/>
            </a:pPr>
            <a:r>
              <a:rPr lang="en-US" sz="2800" dirty="0"/>
              <a:t>Complexity: Time O(</a:t>
            </a:r>
            <a:r>
              <a:rPr lang="en-US" sz="2800" dirty="0" err="1"/>
              <a:t>b^d</a:t>
            </a:r>
            <a:r>
              <a:rPr lang="en-US" sz="2800" dirty="0"/>
              <a:t>) | Space O(bd).</a:t>
            </a:r>
          </a:p>
          <a:p>
            <a:pPr>
              <a:defRPr sz="2200"/>
            </a:pPr>
            <a:r>
              <a:rPr lang="en-US" sz="2800" dirty="0"/>
              <a:t>Pros: Best for unknown depth, low memory.</a:t>
            </a:r>
          </a:p>
          <a:p>
            <a:pPr>
              <a:defRPr sz="2200"/>
            </a:pPr>
            <a:r>
              <a:rPr lang="en-US" sz="2800" dirty="0"/>
              <a:t>Cons: Repeats node expansion.</a:t>
            </a:r>
          </a:p>
        </p:txBody>
      </p:sp>
    </p:spTree>
    <p:extLst>
      <p:ext uri="{BB962C8B-B14F-4D97-AF65-F5344CB8AC3E}">
        <p14:creationId xmlns:p14="http://schemas.microsoft.com/office/powerpoint/2010/main" val="2337624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566DA-4DEA-01C8-2D1F-B04110F83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FCEA196-0937-61E7-DFC5-AB42DAB3CC98}"/>
              </a:ext>
            </a:extLst>
          </p:cNvPr>
          <p:cNvSpPr/>
          <p:nvPr/>
        </p:nvSpPr>
        <p:spPr>
          <a:xfrm>
            <a:off x="-33867" y="-5334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25205A8-F890-5145-149D-50271ED334F7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D9F8B3AE-CC49-F74C-7A0A-0E5E3C4FB58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EEA82F6-4902-451A-A926-18E3AA08C0B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3918E5B1-431A-ED77-C956-5E44D1132E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Key Point: Uninformed Search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3DAD8CC-A7B7-5D12-E28A-9566FDBFC8A6}"/>
              </a:ext>
            </a:extLst>
          </p:cNvPr>
          <p:cNvSpPr txBox="1"/>
          <p:nvPr/>
        </p:nvSpPr>
        <p:spPr>
          <a:xfrm>
            <a:off x="2934462" y="2286000"/>
            <a:ext cx="8448040" cy="313355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>
              <a:defRPr sz="2200"/>
            </a:pPr>
            <a:r>
              <a:rPr lang="en-US" sz="3200" dirty="0"/>
              <a:t>Uninformed search uses no heuristic or domain knowledge.</a:t>
            </a:r>
          </a:p>
          <a:p>
            <a:pPr>
              <a:defRPr sz="2200"/>
            </a:pPr>
            <a:r>
              <a:rPr lang="en-US" sz="3200" dirty="0"/>
              <a:t>Explores search space blindly based only on problem definition.</a:t>
            </a:r>
          </a:p>
          <a:p>
            <a:pPr>
              <a:defRPr sz="2200"/>
            </a:pPr>
            <a:r>
              <a:rPr lang="en-US" sz="3200" dirty="0"/>
              <a:t>Common uninformed methods: BFS, DFS, UCS, DLS, IDS.</a:t>
            </a:r>
          </a:p>
        </p:txBody>
      </p:sp>
    </p:spTree>
    <p:extLst>
      <p:ext uri="{BB962C8B-B14F-4D97-AF65-F5344CB8AC3E}">
        <p14:creationId xmlns:p14="http://schemas.microsoft.com/office/powerpoint/2010/main" val="1087242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5C4D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2395</TotalTime>
  <Words>563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Cambria</vt:lpstr>
      <vt:lpstr>Segoe UI</vt:lpstr>
      <vt:lpstr>Office Theme</vt:lpstr>
      <vt:lpstr>Introduction to AI                   Uninformed Search in AI                          SY B.Sc. (CS)</vt:lpstr>
      <vt:lpstr>2 Topics</vt:lpstr>
      <vt:lpstr>Uninformed Search in AI</vt:lpstr>
      <vt:lpstr>3  Breadth First Search (BFS)</vt:lpstr>
      <vt:lpstr>3 Depth First Search (DFS)</vt:lpstr>
      <vt:lpstr>3 Uniform Cost Search (UCS)</vt:lpstr>
      <vt:lpstr>3 Depth Limited Search (DLS)</vt:lpstr>
      <vt:lpstr>3 Iterative Deepening Search (IDS)</vt:lpstr>
      <vt:lpstr>3 Key Point: Uninformed Search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 Geographic Information Systems </dc:title>
  <dc:creator>Pushpa Mahapatro</dc:creator>
  <cp:lastModifiedBy>poornimanadar1234@gmail.com</cp:lastModifiedBy>
  <cp:revision>56</cp:revision>
  <dcterms:created xsi:type="dcterms:W3CDTF">2025-11-04T17:06:10Z</dcterms:created>
  <dcterms:modified xsi:type="dcterms:W3CDTF">2026-02-03T16:54:49Z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2021-01-13T00:00:00Z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2025-11-04T00:00:00Z</vt:filetime>
  </property>
  <property fmtid="{D5CDD505-2E9C-101B-9397-08002B2CF9AE}" pid="5" name="Producer">
    <vt:lpwstr>Microsoft® PowerPoint® for Microsoft 365</vt:lpwstr>
  </property>
</Properties>
</file>