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8"/>
  </p:notesMasterIdLst>
  <p:sldIdLst>
    <p:sldId id="256" r:id="rId2"/>
    <p:sldId id="257" r:id="rId3"/>
    <p:sldId id="339" r:id="rId4"/>
    <p:sldId id="312" r:id="rId5"/>
    <p:sldId id="343" r:id="rId6"/>
    <p:sldId id="342" r:id="rId7"/>
    <p:sldId id="284" r:id="rId8"/>
    <p:sldId id="345" r:id="rId9"/>
    <p:sldId id="351" r:id="rId10"/>
    <p:sldId id="310" r:id="rId11"/>
    <p:sldId id="311" r:id="rId12"/>
    <p:sldId id="346" r:id="rId13"/>
    <p:sldId id="349" r:id="rId14"/>
    <p:sldId id="350" r:id="rId15"/>
    <p:sldId id="347" r:id="rId16"/>
    <p:sldId id="341" r:id="rId17"/>
    <p:sldId id="340" r:id="rId18"/>
    <p:sldId id="331" r:id="rId19"/>
    <p:sldId id="348" r:id="rId20"/>
    <p:sldId id="314" r:id="rId21"/>
    <p:sldId id="313" r:id="rId22"/>
    <p:sldId id="332" r:id="rId23"/>
    <p:sldId id="309" r:id="rId24"/>
    <p:sldId id="315" r:id="rId25"/>
    <p:sldId id="356" r:id="rId26"/>
    <p:sldId id="357" r:id="rId27"/>
    <p:sldId id="358" r:id="rId28"/>
    <p:sldId id="359" r:id="rId29"/>
    <p:sldId id="360" r:id="rId30"/>
    <p:sldId id="361" r:id="rId31"/>
    <p:sldId id="362" r:id="rId32"/>
    <p:sldId id="363" r:id="rId33"/>
    <p:sldId id="365" r:id="rId34"/>
    <p:sldId id="364" r:id="rId35"/>
    <p:sldId id="366" r:id="rId36"/>
    <p:sldId id="367" r:id="rId37"/>
    <p:sldId id="368" r:id="rId38"/>
    <p:sldId id="369" r:id="rId39"/>
    <p:sldId id="376" r:id="rId40"/>
    <p:sldId id="370" r:id="rId41"/>
    <p:sldId id="377" r:id="rId42"/>
    <p:sldId id="371" r:id="rId43"/>
    <p:sldId id="378" r:id="rId44"/>
    <p:sldId id="372" r:id="rId45"/>
    <p:sldId id="379" r:id="rId46"/>
    <p:sldId id="373" r:id="rId47"/>
    <p:sldId id="380" r:id="rId48"/>
    <p:sldId id="374" r:id="rId49"/>
    <p:sldId id="381" r:id="rId50"/>
    <p:sldId id="382" r:id="rId51"/>
    <p:sldId id="375" r:id="rId52"/>
    <p:sldId id="383" r:id="rId53"/>
    <p:sldId id="352" r:id="rId54"/>
    <p:sldId id="355" r:id="rId55"/>
    <p:sldId id="353" r:id="rId56"/>
    <p:sldId id="354" r:id="rId5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89" autoAdjust="0"/>
  </p:normalViewPr>
  <p:slideViewPr>
    <p:cSldViewPr>
      <p:cViewPr varScale="1">
        <p:scale>
          <a:sx n="82" d="100"/>
          <a:sy n="82" d="100"/>
        </p:scale>
        <p:origin x="888" y="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878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50E53-DE1B-407D-A709-579CCB904A60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43FC4-0F31-4797-9FA8-1F6AE70727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606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984" y="432816"/>
            <a:ext cx="3459183" cy="612343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2934462" y="2177033"/>
            <a:ext cx="8770620" cy="0"/>
          </a:xfrm>
          <a:custGeom>
            <a:avLst/>
            <a:gdLst/>
            <a:ahLst/>
            <a:cxnLst/>
            <a:rect l="l" t="t" r="r" b="b"/>
            <a:pathLst>
              <a:path w="8770620">
                <a:moveTo>
                  <a:pt x="0" y="0"/>
                </a:moveTo>
                <a:lnTo>
                  <a:pt x="8770619" y="0"/>
                </a:lnTo>
              </a:path>
            </a:pathLst>
          </a:custGeom>
          <a:ln w="38100">
            <a:solidFill>
              <a:srgbClr val="79A8A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44368" y="2456687"/>
            <a:ext cx="3077845" cy="1516380"/>
          </a:xfrm>
          <a:custGeom>
            <a:avLst/>
            <a:gdLst/>
            <a:ahLst/>
            <a:cxnLst/>
            <a:rect l="l" t="t" r="r" b="b"/>
            <a:pathLst>
              <a:path w="3077845" h="1516379">
                <a:moveTo>
                  <a:pt x="3077845" y="757428"/>
                </a:moveTo>
                <a:lnTo>
                  <a:pt x="3066948" y="751078"/>
                </a:lnTo>
                <a:lnTo>
                  <a:pt x="2989199" y="705739"/>
                </a:lnTo>
                <a:lnTo>
                  <a:pt x="2985262" y="706755"/>
                </a:lnTo>
                <a:lnTo>
                  <a:pt x="2981706" y="712851"/>
                </a:lnTo>
                <a:lnTo>
                  <a:pt x="2982722" y="716661"/>
                </a:lnTo>
                <a:lnTo>
                  <a:pt x="3041700" y="751078"/>
                </a:lnTo>
                <a:lnTo>
                  <a:pt x="2528316" y="751078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lnTo>
                  <a:pt x="2528316" y="1516380"/>
                </a:lnTo>
                <a:lnTo>
                  <a:pt x="2528316" y="763778"/>
                </a:lnTo>
                <a:lnTo>
                  <a:pt x="3041700" y="763778"/>
                </a:lnTo>
                <a:lnTo>
                  <a:pt x="2982722" y="798195"/>
                </a:lnTo>
                <a:lnTo>
                  <a:pt x="2981706" y="802005"/>
                </a:lnTo>
                <a:lnTo>
                  <a:pt x="2985262" y="808101"/>
                </a:lnTo>
                <a:lnTo>
                  <a:pt x="2989199" y="809117"/>
                </a:lnTo>
                <a:lnTo>
                  <a:pt x="3066948" y="763778"/>
                </a:lnTo>
                <a:lnTo>
                  <a:pt x="3077845" y="757428"/>
                </a:lnTo>
                <a:close/>
              </a:path>
            </a:pathLst>
          </a:custGeom>
          <a:solidFill>
            <a:srgbClr val="79A8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44368" y="2456688"/>
            <a:ext cx="2528570" cy="1516380"/>
          </a:xfrm>
          <a:custGeom>
            <a:avLst/>
            <a:gdLst/>
            <a:ahLst/>
            <a:cxnLst/>
            <a:rect l="l" t="t" r="r" b="b"/>
            <a:pathLst>
              <a:path w="2528570" h="1516379">
                <a:moveTo>
                  <a:pt x="0" y="1516380"/>
                </a:moveTo>
                <a:lnTo>
                  <a:pt x="2528316" y="1516380"/>
                </a:lnTo>
                <a:lnTo>
                  <a:pt x="2528316" y="0"/>
                </a:lnTo>
                <a:lnTo>
                  <a:pt x="0" y="0"/>
                </a:lnTo>
                <a:lnTo>
                  <a:pt x="0" y="1516380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9780" y="130251"/>
            <a:ext cx="5954395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31010" y="2270505"/>
            <a:ext cx="8729980" cy="2527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71600" y="945215"/>
            <a:ext cx="8546465" cy="2821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650490">
              <a:lnSpc>
                <a:spcPts val="5550"/>
              </a:lnSpc>
            </a:pPr>
            <a:r>
              <a:rPr lang="en-IN" sz="4400" spc="150" dirty="0">
                <a:solidFill>
                  <a:srgbClr val="FFFFFF"/>
                </a:solidFill>
                <a:latin typeface="Cambria"/>
                <a:cs typeface="Cambria"/>
              </a:rPr>
              <a:t>Introduction to AI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</a:t>
            </a:r>
            <a:r>
              <a:rPr lang="en-US" sz="3600" b="0" spc="150" dirty="0">
                <a:solidFill>
                  <a:srgbClr val="FFFFFF"/>
                </a:solidFill>
                <a:latin typeface="Cambria"/>
                <a:cs typeface="Cambria"/>
              </a:rPr>
              <a:t>Problem Solving and State</a:t>
            </a:r>
            <a:br>
              <a:rPr lang="en-US" sz="36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US" sz="3600" b="0" spc="150" dirty="0">
                <a:solidFill>
                  <a:srgbClr val="FFFFFF"/>
                </a:solidFill>
                <a:latin typeface="Cambria"/>
                <a:cs typeface="Cambria"/>
              </a:rPr>
              <a:t>                             Space Search</a:t>
            </a: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b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</a:br>
            <a:r>
              <a:rPr lang="en-IN" sz="4400" b="0" spc="150" dirty="0">
                <a:solidFill>
                  <a:srgbClr val="FFFFFF"/>
                </a:solidFill>
                <a:latin typeface="Cambria"/>
                <a:cs typeface="Cambria"/>
              </a:rPr>
              <a:t>    </a:t>
            </a:r>
            <a:r>
              <a:rPr lang="en-IN" sz="4400" b="0" spc="210" dirty="0">
                <a:solidFill>
                  <a:srgbClr val="FFFFFF"/>
                </a:solidFill>
                <a:latin typeface="Cambria"/>
                <a:cs typeface="Cambria"/>
              </a:rPr>
              <a:t>                    </a:t>
            </a:r>
            <a:r>
              <a:rPr lang="en-IN" sz="3200" b="0" spc="210" dirty="0">
                <a:solidFill>
                  <a:srgbClr val="FFFFFF"/>
                </a:solidFill>
                <a:latin typeface="Cambria"/>
                <a:cs typeface="Cambria"/>
              </a:rPr>
              <a:t>SY B.Sc. (CS)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33290" y="3920997"/>
            <a:ext cx="2729865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Semester</a:t>
            </a:r>
            <a:r>
              <a:rPr sz="17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25" dirty="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lang="en-IN" sz="1700" spc="-25" dirty="0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410961" y="3766565"/>
            <a:ext cx="1371600" cy="0"/>
          </a:xfrm>
          <a:custGeom>
            <a:avLst/>
            <a:gdLst/>
            <a:ahLst/>
            <a:cxnLst/>
            <a:rect l="l" t="t" r="r" b="b"/>
            <a:pathLst>
              <a:path w="1371600">
                <a:moveTo>
                  <a:pt x="0" y="0"/>
                </a:moveTo>
                <a:lnTo>
                  <a:pt x="1371599" y="0"/>
                </a:lnTo>
              </a:path>
            </a:pathLst>
          </a:custGeom>
          <a:ln w="38100">
            <a:solidFill>
              <a:srgbClr val="00A4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5388" y="6519164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FDFCF8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7" name="object 3" descr="$PPTXTitle">
            <a:extLst>
              <a:ext uri="{FF2B5EF4-FFF2-40B4-BE49-F238E27FC236}">
                <a16:creationId xmlns:a16="http://schemas.microsoft.com/office/drawing/2014/main" id="{6FAB2A22-FBB1-FA70-ED68-3643E270AE45}"/>
              </a:ext>
            </a:extLst>
          </p:cNvPr>
          <p:cNvSpPr txBox="1">
            <a:spLocks/>
          </p:cNvSpPr>
          <p:nvPr/>
        </p:nvSpPr>
        <p:spPr>
          <a:xfrm>
            <a:off x="3189922" y="5105400"/>
            <a:ext cx="8546465" cy="1326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4000" b="1" i="0">
                <a:solidFill>
                  <a:srgbClr val="C84B24"/>
                </a:solidFill>
                <a:latin typeface="Segoe UI"/>
                <a:ea typeface="+mj-ea"/>
                <a:cs typeface="Segoe UI"/>
              </a:defRPr>
            </a:lvl1pPr>
          </a:lstStyle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/>
              </a:rPr>
              <a:t>                                         Poornima .N</a:t>
            </a:r>
          </a:p>
          <a:p>
            <a:pPr marL="12700" marR="5080" indent="2650490" algn="r">
              <a:lnSpc>
                <a:spcPts val="5550"/>
              </a:lnSpc>
            </a:pPr>
            <a:r>
              <a:rPr lang="en-US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Assistant Professor, Department of IT/CS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4984" y="432816"/>
            <a:ext cx="11280140" cy="6123940"/>
            <a:chOff x="424984" y="432816"/>
            <a:chExt cx="11280140" cy="61239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934462" y="2286000"/>
            <a:ext cx="844804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 to Problem-Solving Agents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Formulating Problems</a:t>
            </a:r>
          </a:p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 Space Representation</a:t>
            </a:r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as a State Space Search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Well-Defined Problem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981961" y="589229"/>
            <a:ext cx="105910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sz="4400" b="0" spc="-50" dirty="0">
                <a:solidFill>
                  <a:schemeClr val="tx1"/>
                </a:solidFill>
                <a:latin typeface="Cambria"/>
                <a:cs typeface="Cambria"/>
              </a:rPr>
              <a:t>2</a:t>
            </a:r>
            <a:r>
              <a:rPr sz="4400" b="0" dirty="0">
                <a:solidFill>
                  <a:schemeClr val="tx1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Topics:</a:t>
            </a:r>
            <a:endParaRPr sz="4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id="{7B5A43BA-53F1-CB90-8BA1-382DCDF9CBE3}"/>
              </a:ext>
            </a:extLst>
          </p:cNvPr>
          <p:cNvSpPr/>
          <p:nvPr/>
        </p:nvSpPr>
        <p:spPr>
          <a:xfrm>
            <a:off x="7924800" y="4495805"/>
            <a:ext cx="4219702" cy="2318762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5FE6B-70C8-15A5-A005-DA99561152E8}"/>
              </a:ext>
            </a:extLst>
          </p:cNvPr>
          <p:cNvSpPr txBox="1"/>
          <p:nvPr/>
        </p:nvSpPr>
        <p:spPr>
          <a:xfrm>
            <a:off x="8307833" y="4923652"/>
            <a:ext cx="34591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bg1"/>
                </a:solidFill>
              </a:rPr>
              <a:t>“How does a GPS find the shortest path among thousands of routes?”</a:t>
            </a:r>
            <a:endParaRPr lang="en-IN" sz="24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0C15D-0994-879F-833B-25C04A979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4600"/>
            <a:ext cx="10134600" cy="2215991"/>
          </a:xfrm>
        </p:spPr>
        <p:txBody>
          <a:bodyPr/>
          <a:lstStyle/>
          <a:p>
            <a:pPr algn="ctr"/>
            <a:r>
              <a:rPr lang="en-IN" sz="4800" dirty="0"/>
              <a:t>Introduction to Problem-Solving Agents</a:t>
            </a:r>
          </a:p>
        </p:txBody>
      </p:sp>
    </p:spTree>
    <p:extLst>
      <p:ext uri="{BB962C8B-B14F-4D97-AF65-F5344CB8AC3E}">
        <p14:creationId xmlns:p14="http://schemas.microsoft.com/office/powerpoint/2010/main" val="3481596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CB424-FB80-8FEA-DB88-C79D498F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DDB4D06-0B9D-9EE8-AE01-EBBAACFDFD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786337C-102A-4051-55AC-1759502BC1E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8AF3281-D20A-FE6F-9D33-40FF587F73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7F8E362-C67A-6F39-2863-2CA0C23BEB1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3E3F80F-C545-4912-67A9-D0590103BD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What is a Goal-Based Agent?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D1FDE11-8101-2589-22CB-6756A70F58C6}"/>
              </a:ext>
            </a:extLst>
          </p:cNvPr>
          <p:cNvSpPr txBox="1"/>
          <p:nvPr/>
        </p:nvSpPr>
        <p:spPr>
          <a:xfrm>
            <a:off x="2934462" y="2286000"/>
            <a:ext cx="8448040" cy="319510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goal-based agent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an intelligent agent that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acts to achieve a goal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selects actions by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considering future consequences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just reacting immediately.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agent checks whether a given state will help achieve the goal before choosing an action.</a:t>
            </a:r>
          </a:p>
        </p:txBody>
      </p:sp>
    </p:spTree>
    <p:extLst>
      <p:ext uri="{BB962C8B-B14F-4D97-AF65-F5344CB8AC3E}">
        <p14:creationId xmlns:p14="http://schemas.microsoft.com/office/powerpoint/2010/main" val="3059469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FAD1A-2764-3965-06A5-E3E3FB0AB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3431A77-A41E-1C1D-8E34-7670DF335C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E702281-5F39-B31E-B011-E8C13F137F7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1951FC8-DD60-53F3-DE89-77434169A06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82D3691-4386-B000-684C-6F4036B6297C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AFF70A6-D38B-2249-67CA-A2BED81AE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altLang="en-US" sz="4400" b="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4400" dirty="0"/>
              <a:t>Example: Goal-Based Agent?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0417BA57-D02B-8B1D-D83E-AF23BE0334BD}"/>
              </a:ext>
            </a:extLst>
          </p:cNvPr>
          <p:cNvSpPr txBox="1"/>
          <p:nvPr/>
        </p:nvSpPr>
        <p:spPr>
          <a:xfrm>
            <a:off x="2934462" y="2286000"/>
            <a:ext cx="8448040" cy="104067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person in a city wants to reach the airport. The goal helps them decide which path to take</a:t>
            </a:r>
          </a:p>
        </p:txBody>
      </p:sp>
    </p:spTree>
    <p:extLst>
      <p:ext uri="{BB962C8B-B14F-4D97-AF65-F5344CB8AC3E}">
        <p14:creationId xmlns:p14="http://schemas.microsoft.com/office/powerpoint/2010/main" val="8875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566DA-4DEA-01C8-2D1F-B04110F8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FCEA196-0937-61E7-DFC5-AB42DAB3CC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25205A8-F890-5145-149D-50271ED334F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9F8B3AE-CC49-F74C-7A0A-0E5E3C4FB58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EA82F6-4902-451A-A926-18E3AA08C0B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3918E5B1-431A-ED77-C956-5E44D1132E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IN" sz="4400" b="0" spc="-50" dirty="0">
                <a:solidFill>
                  <a:srgbClr val="464A56"/>
                </a:solidFill>
                <a:latin typeface="Cambria"/>
                <a:cs typeface="Cambria"/>
              </a:rPr>
              <a:t>3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What is a Problem-Solving Agent?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3DAD8CC-A7B7-5D12-E28A-9566FDBFC8A6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800" dirty="0"/>
              <a:t>A </a:t>
            </a:r>
            <a:r>
              <a:rPr lang="en-US" sz="2800" b="1" dirty="0"/>
              <a:t>problem-solving agent</a:t>
            </a:r>
            <a:r>
              <a:rPr lang="en-US" sz="2800" dirty="0"/>
              <a:t> is an intelligent agent that </a:t>
            </a:r>
            <a:r>
              <a:rPr lang="en-US" sz="2800" b="1" dirty="0"/>
              <a:t>makes decisions by searching through possible actions</a:t>
            </a:r>
            <a:r>
              <a:rPr lang="en-US" sz="2800" dirty="0"/>
              <a:t> and selecting a sequence that </a:t>
            </a:r>
            <a:r>
              <a:rPr lang="en-US" sz="2800" b="1" dirty="0"/>
              <a:t>achieves the goal</a:t>
            </a:r>
            <a:r>
              <a:rPr lang="en-US" sz="2800" dirty="0"/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7242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D9B11A-0092-9925-1523-D35E640A6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3A27F6-EAEA-7D4B-175A-FA05BFB68D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F6D9B3A-2554-6A80-1BE4-F445A2C58F2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1F2A973-E675-B134-F26D-077D4BCF7AF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6D26561-3C41-417D-A560-D0512766BE7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4AD302E-3308-0F6F-CAA7-E3A2F01846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Example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A745E6-1A6B-72C7-F45C-5EDBA7CBC46D}"/>
              </a:ext>
            </a:extLst>
          </p:cNvPr>
          <p:cNvSpPr txBox="1"/>
          <p:nvPr/>
        </p:nvSpPr>
        <p:spPr>
          <a:xfrm>
            <a:off x="3048000" y="2690335"/>
            <a:ext cx="7391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🧠 </a:t>
            </a:r>
            <a:r>
              <a:rPr lang="en-US" sz="2800" b="1" dirty="0"/>
              <a:t>Google Maps deciding the best route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It evaluates multiple paths (states)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Searches which route is shortest or fastest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Selects the optimal solution</a:t>
            </a:r>
          </a:p>
        </p:txBody>
      </p:sp>
    </p:spTree>
    <p:extLst>
      <p:ext uri="{BB962C8B-B14F-4D97-AF65-F5344CB8AC3E}">
        <p14:creationId xmlns:p14="http://schemas.microsoft.com/office/powerpoint/2010/main" val="1054330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79B69E0-5BCC-D3F0-2EA2-68C3BE051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090597-7F19-8050-B6EB-DF73695490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A06BE39-D6DF-8BB9-66E2-17E683858FA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D272A90-69E7-5916-E354-2C91578D9B5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7E11BD8-B6A8-18A4-84FA-E603C065BE3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EFAE58C-C466-78F2-8312-B8B7C4B002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How Problem Solving Works?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3AF8F8-A74D-E9AE-3BF8-2C18053534C1}"/>
              </a:ext>
            </a:extLst>
          </p:cNvPr>
          <p:cNvSpPr txBox="1"/>
          <p:nvPr/>
        </p:nvSpPr>
        <p:spPr>
          <a:xfrm>
            <a:off x="3048000" y="2690335"/>
            <a:ext cx="73914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1. Goal Formulation</a:t>
            </a:r>
          </a:p>
          <a:p>
            <a:r>
              <a:rPr lang="en-US" sz="2800" dirty="0"/>
              <a:t>Based on </a:t>
            </a:r>
            <a:r>
              <a:rPr lang="en-US" sz="2800" b="1" dirty="0"/>
              <a:t>current situation</a:t>
            </a:r>
            <a:r>
              <a:rPr lang="en-US" sz="2800" dirty="0"/>
              <a:t> and </a:t>
            </a:r>
            <a:r>
              <a:rPr lang="en-US" sz="2800" b="1" dirty="0"/>
              <a:t>performance measure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b="1" dirty="0"/>
              <a:t>2. Problem Formulation</a:t>
            </a:r>
          </a:p>
          <a:p>
            <a:r>
              <a:rPr lang="en-US" sz="2800" dirty="0"/>
              <a:t>Decide </a:t>
            </a:r>
            <a:r>
              <a:rPr lang="en-US" sz="2800" b="1" dirty="0"/>
              <a:t>which actions and states to consider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6210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9160E-C7B5-8A07-2FA4-14F9842A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F6276AB-ACE7-7F4F-D937-DA162E7F8D0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698CBBA-7F32-9213-778C-31223CF7BCB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21C07EF-7CC3-8DD0-6713-8C2B2B28D48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DF4E16D-477F-BCEA-332F-87298B0B6E7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7C82EC9-8419-B6ED-ACBC-75DB219CC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4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Well-defined problems and solutions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7E520-052A-005D-FB73-26F8B2CE2D46}"/>
              </a:ext>
            </a:extLst>
          </p:cNvPr>
          <p:cNvSpPr txBox="1"/>
          <p:nvPr/>
        </p:nvSpPr>
        <p:spPr>
          <a:xfrm>
            <a:off x="3048000" y="2690335"/>
            <a:ext cx="865708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solution to a problem is an action sequence that leads from the initial state to a goal state. Solution quality is measured by the OPTIMAL SOLUTION path cost function, and an optimal solution has the lowest path cost among all solutions.</a:t>
            </a:r>
          </a:p>
        </p:txBody>
      </p:sp>
    </p:spTree>
    <p:extLst>
      <p:ext uri="{BB962C8B-B14F-4D97-AF65-F5344CB8AC3E}">
        <p14:creationId xmlns:p14="http://schemas.microsoft.com/office/powerpoint/2010/main" val="3071827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5251F-7D6D-04C9-0ED7-067ECD8EE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E8BEA5-DC9E-482B-FAD0-FDEC803F49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5B9062E-1D10-616A-BFFB-857AB89B41E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01AE086-DD58-67EE-886C-DD2B002569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EA05208-19F4-94B6-7851-F66239CAFD5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10BE86A-048D-839A-BD36-BED544EF57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A problem can be defined </a:t>
            </a:r>
            <a:br>
              <a:rPr lang="en-US" sz="4400" dirty="0"/>
            </a:br>
            <a:r>
              <a:rPr lang="en-US" sz="4400" dirty="0"/>
              <a:t>formally by five components:</a:t>
            </a:r>
            <a:endParaRPr sz="4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F2B3BC4-EC89-AD46-18EB-996A7BF9AB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755828"/>
              </p:ext>
            </p:extLst>
          </p:nvPr>
        </p:nvGraphicFramePr>
        <p:xfrm>
          <a:off x="1730374" y="2436494"/>
          <a:ext cx="9852025" cy="3832272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3292368">
                  <a:extLst>
                    <a:ext uri="{9D8B030D-6E8A-4147-A177-3AD203B41FA5}">
                      <a16:colId xmlns:a16="http://schemas.microsoft.com/office/drawing/2014/main" val="3488229678"/>
                    </a:ext>
                  </a:extLst>
                </a:gridCol>
                <a:gridCol w="6559657">
                  <a:extLst>
                    <a:ext uri="{9D8B030D-6E8A-4147-A177-3AD203B41FA5}">
                      <a16:colId xmlns:a16="http://schemas.microsoft.com/office/drawing/2014/main" val="1939528152"/>
                    </a:ext>
                  </a:extLst>
                </a:gridCol>
              </a:tblGrid>
              <a:tr h="63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627465"/>
                  </a:ext>
                </a:extLst>
              </a:tr>
              <a:tr h="63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Initial State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Where the agent begins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6413632"/>
                  </a:ext>
                </a:extLst>
              </a:tr>
              <a:tr h="63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Actions / Operators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Possible choices available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539447"/>
                  </a:ext>
                </a:extLst>
              </a:tr>
              <a:tr h="63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Transition Model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What happens after performing an 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6009479"/>
                  </a:ext>
                </a:extLst>
              </a:tr>
              <a:tr h="63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Goal Test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How to check if the goal is reached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103429"/>
                  </a:ext>
                </a:extLst>
              </a:tr>
              <a:tr h="638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Path Cost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Cost of solution path (e.g., distance, time)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327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956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EB48C-F2B7-A92B-D6A2-0777D8EC4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B501621-A63E-A55A-F39D-BB52ABF87C5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C0CA25A-0BB0-7587-8AAE-4DAF269BB6A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62A347B-CBA5-0081-2E0A-CDA33A3C137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830005A-9725-1D4A-DA2A-147AA327B5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Example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A9C12AC2-7BE6-B103-6241-FCEAC7CAA87C}"/>
              </a:ext>
            </a:extLst>
          </p:cNvPr>
          <p:cNvSpPr txBox="1"/>
          <p:nvPr/>
        </p:nvSpPr>
        <p:spPr>
          <a:xfrm>
            <a:off x="2514600" y="2514600"/>
            <a:ext cx="10134600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📍 </a:t>
            </a:r>
            <a:r>
              <a:rPr lang="en-US" sz="2800" i="1" dirty="0"/>
              <a:t>Finding route from Mumbai to Goa</a:t>
            </a:r>
            <a:endParaRPr lang="en-US" sz="2800" dirty="0"/>
          </a:p>
          <a:p>
            <a:r>
              <a:rPr lang="en-US" sz="2800" dirty="0"/>
              <a:t>Initial state → Mumbai</a:t>
            </a:r>
          </a:p>
          <a:p>
            <a:r>
              <a:rPr lang="en-US" sz="2800" dirty="0"/>
              <a:t>Goal state → Goa</a:t>
            </a:r>
          </a:p>
          <a:p>
            <a:r>
              <a:rPr lang="en-US" sz="2800" dirty="0"/>
              <a:t>Actions → Drive via different highways</a:t>
            </a:r>
          </a:p>
          <a:p>
            <a:r>
              <a:rPr lang="en-US" sz="2800" dirty="0"/>
              <a:t>Test → Have we reached Goa?</a:t>
            </a:r>
          </a:p>
          <a:p>
            <a:r>
              <a:rPr lang="en-US" sz="2800" dirty="0"/>
              <a:t>Path cost → Distance / time / toll cost</a:t>
            </a:r>
          </a:p>
        </p:txBody>
      </p:sp>
    </p:spTree>
    <p:extLst>
      <p:ext uri="{BB962C8B-B14F-4D97-AF65-F5344CB8AC3E}">
        <p14:creationId xmlns:p14="http://schemas.microsoft.com/office/powerpoint/2010/main" val="4272055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22486-51C4-A374-FC4F-C195B0D09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714CBD0-3179-C189-EEB6-BE192492F1E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47273EC-665C-A7C9-23BA-04144D5855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208D123-1758-998B-BD55-232F69323198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6AA6792-0936-4D92-DE7A-5687BD1AD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Example: </a:t>
            </a:r>
            <a:br>
              <a:rPr lang="en-US" sz="4400" dirty="0"/>
            </a:br>
            <a:r>
              <a:rPr lang="en-US" sz="4400" dirty="0"/>
              <a:t>	 Agent Starting from Arad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7A8613BC-530F-304C-C01B-0548E3513CA1}"/>
              </a:ext>
            </a:extLst>
          </p:cNvPr>
          <p:cNvSpPr txBox="1"/>
          <p:nvPr/>
        </p:nvSpPr>
        <p:spPr>
          <a:xfrm>
            <a:off x="2514600" y="2514600"/>
            <a:ext cx="10134600" cy="239488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dirty="0"/>
              <a:t>From </a:t>
            </a:r>
            <a:r>
              <a:rPr lang="en-US" b="1" dirty="0"/>
              <a:t>Arad</a:t>
            </a:r>
            <a:r>
              <a:rPr lang="en-US" dirty="0"/>
              <a:t>, the agent has 3 possible actions:</a:t>
            </a:r>
          </a:p>
          <a:p>
            <a:pPr lvl="1"/>
            <a:r>
              <a:rPr lang="en-US" dirty="0"/>
              <a:t>Go(Sibiu)</a:t>
            </a:r>
          </a:p>
          <a:p>
            <a:pPr lvl="1"/>
            <a:r>
              <a:rPr lang="en-US" dirty="0"/>
              <a:t>Go(Timisoara)</a:t>
            </a:r>
          </a:p>
          <a:p>
            <a:pPr lvl="1"/>
            <a:r>
              <a:rPr lang="en-US" dirty="0"/>
              <a:t>Go(Zerind)</a:t>
            </a:r>
          </a:p>
          <a:p>
            <a:r>
              <a:rPr lang="en-US" dirty="0"/>
              <a:t>None of these immediately reach Bucharest.</a:t>
            </a:r>
          </a:p>
          <a:p>
            <a:r>
              <a:rPr lang="en-US" dirty="0"/>
              <a:t>If the agent </a:t>
            </a:r>
            <a:r>
              <a:rPr lang="en-US" b="1" dirty="0"/>
              <a:t>doesn’t know geography</a:t>
            </a:r>
            <a:r>
              <a:rPr lang="en-US" dirty="0"/>
              <a:t>, it must select randomly.</a:t>
            </a:r>
          </a:p>
          <a:p>
            <a:r>
              <a:rPr lang="en-US" dirty="0"/>
              <a:t>If it </a:t>
            </a:r>
            <a:r>
              <a:rPr lang="en-US" b="1" dirty="0"/>
              <a:t>has a map</a:t>
            </a:r>
            <a:r>
              <a:rPr lang="en-US" dirty="0"/>
              <a:t>, it can </a:t>
            </a:r>
            <a:r>
              <a:rPr lang="en-US" b="1" dirty="0"/>
              <a:t>search</a:t>
            </a:r>
            <a:r>
              <a:rPr lang="en-US" dirty="0"/>
              <a:t> for a path:</a:t>
            </a:r>
          </a:p>
          <a:p>
            <a:pPr lvl="1"/>
            <a:r>
              <a:rPr lang="en-US" dirty="0"/>
              <a:t>Arad → Sibiu → … → Bucharest (solution path)</a:t>
            </a:r>
          </a:p>
        </p:txBody>
      </p:sp>
    </p:spTree>
    <p:extLst>
      <p:ext uri="{BB962C8B-B14F-4D97-AF65-F5344CB8AC3E}">
        <p14:creationId xmlns:p14="http://schemas.microsoft.com/office/powerpoint/2010/main" val="1399464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C121-88F1-BA1E-0756-3D7E0FAAC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A2FCBDA-98C2-DA3E-A25B-B9ECB059A75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DD1BC46-0CAB-5418-896C-5D0099D785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01093C7-5267-2FBA-449C-7D522A1DED4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35BC7A2-D4D8-1445-781A-A80E7E960B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Example: </a:t>
            </a:r>
            <a:br>
              <a:rPr lang="en-US" sz="4400" dirty="0"/>
            </a:br>
            <a:r>
              <a:rPr lang="en-US" sz="4400" dirty="0"/>
              <a:t>	 Agent Starting from Arad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1A3BAE49-D571-C0D3-CFFF-24CA21CABF9E}"/>
              </a:ext>
            </a:extLst>
          </p:cNvPr>
          <p:cNvSpPr txBox="1"/>
          <p:nvPr/>
        </p:nvSpPr>
        <p:spPr>
          <a:xfrm>
            <a:off x="1632416" y="2444284"/>
            <a:ext cx="10134600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Initial State: In(Arad)</a:t>
            </a:r>
          </a:p>
          <a:p>
            <a:r>
              <a:rPr lang="en-US" sz="3200" dirty="0"/>
              <a:t>Goal State: In(Bucharest)</a:t>
            </a:r>
          </a:p>
          <a:p>
            <a:r>
              <a:rPr lang="en-US" sz="3200" dirty="0"/>
              <a:t>Actions: Go(city)</a:t>
            </a:r>
          </a:p>
          <a:p>
            <a:r>
              <a:rPr lang="en-US" sz="3200" dirty="0"/>
              <a:t>Transition Model: Result(In(city1), Go(city2)) = In(city2)</a:t>
            </a:r>
          </a:p>
          <a:p>
            <a:r>
              <a:rPr lang="en-US" sz="3200" dirty="0"/>
              <a:t>Path Cost: Sum of distances</a:t>
            </a:r>
          </a:p>
        </p:txBody>
      </p:sp>
    </p:spTree>
    <p:extLst>
      <p:ext uri="{BB962C8B-B14F-4D97-AF65-F5344CB8AC3E}">
        <p14:creationId xmlns:p14="http://schemas.microsoft.com/office/powerpoint/2010/main" val="20957401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9AB29-5D81-D6EE-C952-02BA6F920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8D03927-6B7F-6FDF-B8D7-8F06CD92495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69C4F75-A594-0EFB-FE41-5C7FD8E4972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EA23A36-C491-795F-33E9-8E150543878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370524C-2919-7223-2D0B-B304E99B60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204479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7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Example: </a:t>
            </a:r>
            <a:br>
              <a:rPr lang="en-US" sz="4400" dirty="0"/>
            </a:br>
            <a:r>
              <a:rPr lang="en-US" sz="4400" dirty="0"/>
              <a:t>	 Agent Starting from Arad</a:t>
            </a:r>
            <a:br>
              <a:rPr lang="en-US" sz="4400" dirty="0"/>
            </a:br>
            <a:endParaRPr sz="4400" dirty="0">
              <a:latin typeface="Cambria"/>
              <a:cs typeface="Cambri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21351D14-4E96-2122-0A7C-289320413164}"/>
              </a:ext>
            </a:extLst>
          </p:cNvPr>
          <p:cNvSpPr txBox="1"/>
          <p:nvPr/>
        </p:nvSpPr>
        <p:spPr>
          <a:xfrm>
            <a:off x="1632416" y="2444284"/>
            <a:ext cx="10134600" cy="4241546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Initial State: In(Arad)</a:t>
            </a:r>
          </a:p>
          <a:p>
            <a:r>
              <a:rPr lang="en-US" sz="2400" dirty="0"/>
              <a:t>Goal State: In(Bucharest)</a:t>
            </a:r>
          </a:p>
          <a:p>
            <a:endParaRPr lang="en-US" sz="2400" dirty="0"/>
          </a:p>
          <a:p>
            <a:r>
              <a:rPr lang="en-US" sz="2400" dirty="0"/>
              <a:t>Possible actions from Arad:</a:t>
            </a:r>
          </a:p>
          <a:p>
            <a:r>
              <a:rPr lang="en-US" sz="2400" dirty="0"/>
              <a:t>Go(Sibiu), Go(Zerind), Go(Timisoara)</a:t>
            </a:r>
          </a:p>
          <a:p>
            <a:endParaRPr lang="en-US" sz="2400" dirty="0"/>
          </a:p>
          <a:p>
            <a:r>
              <a:rPr lang="en-US" sz="2400" dirty="0"/>
              <a:t>Transition Model example:</a:t>
            </a:r>
          </a:p>
          <a:p>
            <a:r>
              <a:rPr lang="en-US" sz="2400" dirty="0"/>
              <a:t>Result(In(Arad), Go(Zerind)) = In(Zerind)</a:t>
            </a:r>
          </a:p>
          <a:p>
            <a:endParaRPr lang="en-US" sz="2400" dirty="0"/>
          </a:p>
          <a:p>
            <a:r>
              <a:rPr lang="en-US" sz="2400" dirty="0"/>
              <a:t>Path Cost example:</a:t>
            </a:r>
          </a:p>
          <a:p>
            <a:r>
              <a:rPr lang="en-US" sz="2400" dirty="0"/>
              <a:t>Arad → Zerind = 75</a:t>
            </a:r>
          </a:p>
        </p:txBody>
      </p:sp>
    </p:spTree>
    <p:extLst>
      <p:ext uri="{BB962C8B-B14F-4D97-AF65-F5344CB8AC3E}">
        <p14:creationId xmlns:p14="http://schemas.microsoft.com/office/powerpoint/2010/main" val="3136190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F8F91A-801A-BC53-2F84-8E90129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50" y="152401"/>
            <a:ext cx="9963950" cy="6615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42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1599-C8FB-CACA-0D31-940EDD592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5920F-1A4D-425B-C0BE-8B5B57B69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04800"/>
            <a:ext cx="10134600" cy="738664"/>
          </a:xfrm>
        </p:spPr>
        <p:txBody>
          <a:bodyPr/>
          <a:lstStyle/>
          <a:p>
            <a:pPr algn="ctr"/>
            <a:r>
              <a:rPr lang="en-IN" sz="4800" dirty="0"/>
              <a:t>Activity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D9BFDE-78E6-B9DA-18A6-6A0C7EAB429E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2362200"/>
          <a:ext cx="8731250" cy="4099560"/>
        </p:xfrm>
        <a:graphic>
          <a:graphicData uri="http://schemas.openxmlformats.org/drawingml/2006/table">
            <a:tbl>
              <a:tblPr/>
              <a:tblGrid>
                <a:gridCol w="4365625">
                  <a:extLst>
                    <a:ext uri="{9D8B030D-6E8A-4147-A177-3AD203B41FA5}">
                      <a16:colId xmlns:a16="http://schemas.microsoft.com/office/drawing/2014/main" val="1755972543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1905865561"/>
                    </a:ext>
                  </a:extLst>
                </a:gridCol>
              </a:tblGrid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Answer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821771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Initial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__________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111648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Goal 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__________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255562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__________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54807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Transition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__________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81342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Path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__________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10448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A50B236-0639-DDD6-52C7-53761608F038}"/>
              </a:ext>
            </a:extLst>
          </p:cNvPr>
          <p:cNvSpPr txBox="1"/>
          <p:nvPr/>
        </p:nvSpPr>
        <p:spPr>
          <a:xfrm>
            <a:off x="4343400" y="11488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1: Ordering food online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728DD3-213F-3FF2-A8EA-6F58DC3F95FF}"/>
              </a:ext>
            </a:extLst>
          </p:cNvPr>
          <p:cNvSpPr txBox="1"/>
          <p:nvPr/>
        </p:nvSpPr>
        <p:spPr>
          <a:xfrm>
            <a:off x="4343400" y="15181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2: Reaching college from home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2161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7CC48-756D-6A34-35C1-02AAE0DB7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2ACB7-0DE2-FEC5-96C9-4BCB137AD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2514600"/>
            <a:ext cx="10134600" cy="738664"/>
          </a:xfrm>
        </p:spPr>
        <p:txBody>
          <a:bodyPr/>
          <a:lstStyle/>
          <a:p>
            <a:pPr algn="ctr"/>
            <a:r>
              <a:rPr lang="en-IN" sz="4800" dirty="0"/>
              <a:t>Formulating Problems</a:t>
            </a:r>
          </a:p>
        </p:txBody>
      </p:sp>
    </p:spTree>
    <p:extLst>
      <p:ext uri="{BB962C8B-B14F-4D97-AF65-F5344CB8AC3E}">
        <p14:creationId xmlns:p14="http://schemas.microsoft.com/office/powerpoint/2010/main" val="1448971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FD865-B727-190E-D6F1-CBC5467C7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3E8A98-CDD6-AF8A-04E8-428ABC7CE70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03299AF-EDFD-5322-8BA8-36EB9EDD387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EE5CF7D6-F283-1523-7431-4783B9DD476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9821387-5F7D-3AD2-87FB-FB5B62C05737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5A36E0E-4D49-5FCC-AF0A-942C87F024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5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What is Problem Formulation?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D710BD2-7A4A-0734-4BBD-4298CA0244F7}"/>
              </a:ext>
            </a:extLst>
          </p:cNvPr>
          <p:cNvSpPr txBox="1"/>
          <p:nvPr/>
        </p:nvSpPr>
        <p:spPr>
          <a:xfrm>
            <a:off x="2934462" y="2286000"/>
            <a:ext cx="8448040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Problem formulation</a:t>
            </a:r>
            <a:r>
              <a:rPr lang="en-US" sz="2800" dirty="0"/>
              <a:t> is the process of </a:t>
            </a:r>
            <a:r>
              <a:rPr lang="en-US" sz="2800" b="1" dirty="0"/>
              <a:t>defining a problem</a:t>
            </a:r>
            <a:r>
              <a:rPr lang="en-US" sz="2800" dirty="0"/>
              <a:t> so that it can be solved by an AI problem-solving agent.</a:t>
            </a:r>
          </a:p>
          <a:p>
            <a:r>
              <a:rPr lang="en-US" sz="2800" dirty="0"/>
              <a:t>It converts a real-world problem into a structure the agent can understand through:</a:t>
            </a:r>
          </a:p>
          <a:p>
            <a:r>
              <a:rPr lang="en-US" sz="2800" dirty="0"/>
              <a:t>States</a:t>
            </a:r>
          </a:p>
          <a:p>
            <a:r>
              <a:rPr lang="en-US" sz="2800" dirty="0"/>
              <a:t>Actions</a:t>
            </a:r>
          </a:p>
          <a:p>
            <a:r>
              <a:rPr lang="en-US" sz="2800" dirty="0"/>
              <a:t>Goals</a:t>
            </a:r>
          </a:p>
          <a:p>
            <a:r>
              <a:rPr lang="en-US" sz="2800" dirty="0"/>
              <a:t>Path costs</a:t>
            </a:r>
          </a:p>
        </p:txBody>
      </p:sp>
    </p:spTree>
    <p:extLst>
      <p:ext uri="{BB962C8B-B14F-4D97-AF65-F5344CB8AC3E}">
        <p14:creationId xmlns:p14="http://schemas.microsoft.com/office/powerpoint/2010/main" val="1916340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A6C0-5C04-5431-4B94-DF07A2FF4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6FAB5-7042-596C-B3C8-6A39F4342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590800"/>
            <a:ext cx="10134600" cy="738664"/>
          </a:xfrm>
        </p:spPr>
        <p:txBody>
          <a:bodyPr/>
          <a:lstStyle/>
          <a:p>
            <a:pPr algn="ctr"/>
            <a:r>
              <a:rPr lang="en-IN" sz="4800" dirty="0"/>
              <a:t>State Space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3231121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CE966-6F8E-ADD3-FE38-1D93FC5A0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7C9F154-7426-860C-DB1B-77B33AEEFC17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4123B58-2DAB-9251-6E8E-FEBD9BD192D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134291E-D2AB-9A89-8679-CA4C052696B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7ABF1C9-9CC7-1B1E-3B3B-6EFDB287F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8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State Space?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60B12812-7F0C-890D-3DA8-796C42B05D9A}"/>
              </a:ext>
            </a:extLst>
          </p:cNvPr>
          <p:cNvSpPr txBox="1"/>
          <p:nvPr/>
        </p:nvSpPr>
        <p:spPr>
          <a:xfrm>
            <a:off x="2514600" y="2514600"/>
            <a:ext cx="1013460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State space</a:t>
            </a:r>
            <a:r>
              <a:rPr lang="en-US" sz="2800" dirty="0"/>
              <a:t> is the </a:t>
            </a:r>
            <a:r>
              <a:rPr lang="en-US" sz="2800" b="1" dirty="0"/>
              <a:t>set of all possible states</a:t>
            </a:r>
            <a:r>
              <a:rPr lang="en-US" sz="2800" dirty="0"/>
              <a:t> in which a problem can exist.</a:t>
            </a:r>
            <a:br>
              <a:rPr lang="en-US" sz="2800" dirty="0"/>
            </a:br>
            <a:r>
              <a:rPr lang="en-US" sz="2800" dirty="0"/>
              <a:t>It represents every possible configuration the agent may encounter while trying to reach the goal.</a:t>
            </a:r>
          </a:p>
        </p:txBody>
      </p:sp>
    </p:spTree>
    <p:extLst>
      <p:ext uri="{BB962C8B-B14F-4D97-AF65-F5344CB8AC3E}">
        <p14:creationId xmlns:p14="http://schemas.microsoft.com/office/powerpoint/2010/main" val="1858097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3C4A4-9766-14C6-EB4D-F17B1C1EE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651114C-8936-9F03-070F-FDE6CB36CC24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FA25A079-BD09-574E-725D-89CBC54D892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5D0D3BA-6D9D-F90B-74A8-5A889BF42590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4E91C26-D35C-CD8A-785F-8B908F94A3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9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State Space Representation Includes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E5CBFF7F-F92C-5B0B-1D84-7A6418C71D74}"/>
              </a:ext>
            </a:extLst>
          </p:cNvPr>
          <p:cNvSpPr txBox="1"/>
          <p:nvPr/>
        </p:nvSpPr>
        <p:spPr>
          <a:xfrm>
            <a:off x="2514600" y="2514600"/>
            <a:ext cx="10134600" cy="2333331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States</a:t>
            </a:r>
            <a:r>
              <a:rPr lang="en-US" sz="2800" dirty="0"/>
              <a:t> → Different situations or configurations</a:t>
            </a:r>
          </a:p>
          <a:p>
            <a:r>
              <a:rPr lang="en-US" sz="2800" b="1" dirty="0"/>
              <a:t>Initial State</a:t>
            </a:r>
            <a:r>
              <a:rPr lang="en-US" sz="2800" dirty="0"/>
              <a:t> → Where the agent starts</a:t>
            </a:r>
          </a:p>
          <a:p>
            <a:r>
              <a:rPr lang="en-US" sz="2800" b="1" dirty="0"/>
              <a:t>Goal State</a:t>
            </a:r>
            <a:r>
              <a:rPr lang="en-US" sz="2800" dirty="0"/>
              <a:t> → Desired final condition</a:t>
            </a:r>
          </a:p>
          <a:p>
            <a:r>
              <a:rPr lang="en-US" sz="2800" b="1" dirty="0"/>
              <a:t>Actions</a:t>
            </a:r>
            <a:r>
              <a:rPr lang="en-US" sz="2800" dirty="0"/>
              <a:t> → Steps to move between states</a:t>
            </a:r>
          </a:p>
          <a:p>
            <a:r>
              <a:rPr lang="en-US" sz="2800" b="1" dirty="0"/>
              <a:t>Transition Model</a:t>
            </a:r>
            <a:r>
              <a:rPr lang="en-US" sz="2800" dirty="0"/>
              <a:t> → Rules that describe results of actions</a:t>
            </a:r>
          </a:p>
        </p:txBody>
      </p:sp>
    </p:spTree>
    <p:extLst>
      <p:ext uri="{BB962C8B-B14F-4D97-AF65-F5344CB8AC3E}">
        <p14:creationId xmlns:p14="http://schemas.microsoft.com/office/powerpoint/2010/main" val="2133432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D7C25-E774-42FF-BDA6-27545A6E9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3509C1-EDCA-DDEA-3760-2EE671A01F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4EE609C-F746-71F8-4281-954C8A1EEC0E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9373369-E450-F4B5-E790-2F7D2C936D0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EB02126-2547-E373-21A2-6B8D259B89A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A40CE19-C5E4-9E5A-B9E9-1BDD50CDD6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10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Real-Life Example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11C1FD91-D4A3-7FDB-982E-B1A2B72DD88E}"/>
              </a:ext>
            </a:extLst>
          </p:cNvPr>
          <p:cNvSpPr txBox="1"/>
          <p:nvPr/>
        </p:nvSpPr>
        <p:spPr>
          <a:xfrm>
            <a:off x="2934462" y="2286000"/>
            <a:ext cx="8448040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🧠 </a:t>
            </a:r>
            <a:r>
              <a:rPr lang="en-US" sz="2800" b="1" dirty="0"/>
              <a:t>Vacuum Cleaner Agent</a:t>
            </a:r>
            <a:endParaRPr lang="en-US" sz="2800" dirty="0"/>
          </a:p>
          <a:p>
            <a:r>
              <a:rPr lang="en-US" sz="2800" dirty="0"/>
              <a:t>States → Dirt on left, dirt on right, clean, etc.</a:t>
            </a:r>
          </a:p>
          <a:p>
            <a:r>
              <a:rPr lang="en-US" sz="2800" dirty="0"/>
              <a:t>Actions → Move left / Move right / Suck</a:t>
            </a:r>
          </a:p>
          <a:p>
            <a:r>
              <a:rPr lang="en-US" sz="2800" dirty="0"/>
              <a:t>Goal → Both rooms clean</a:t>
            </a:r>
          </a:p>
        </p:txBody>
      </p:sp>
    </p:spTree>
    <p:extLst>
      <p:ext uri="{BB962C8B-B14F-4D97-AF65-F5344CB8AC3E}">
        <p14:creationId xmlns:p14="http://schemas.microsoft.com/office/powerpoint/2010/main" val="3717614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0CAD3-6C9D-8278-4299-AD4213288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F8091B-FED5-5817-3A5E-C4B37C480C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F2A522-D831-79AD-1A58-BBD8BA35D99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5DBA871-F9C4-AB28-9522-3AFA0674B12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CF412A6-EBE1-078D-D569-05091A61AD25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2F69BFC-BEEA-5BF6-EB74-49F5BB1D34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11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What is State Space Search?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782F493-3FDC-42B1-37DB-0C7A213A302E}"/>
              </a:ext>
            </a:extLst>
          </p:cNvPr>
          <p:cNvSpPr txBox="1"/>
          <p:nvPr/>
        </p:nvSpPr>
        <p:spPr>
          <a:xfrm>
            <a:off x="1905000" y="2053477"/>
            <a:ext cx="10134600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State space search</a:t>
            </a:r>
            <a:r>
              <a:rPr lang="en-US" sz="2800" dirty="0"/>
              <a:t> is the process of </a:t>
            </a:r>
            <a:r>
              <a:rPr lang="en-US" sz="2800" b="1" dirty="0"/>
              <a:t>exploring all possible states</a:t>
            </a:r>
            <a:r>
              <a:rPr lang="en-US" sz="2800" dirty="0"/>
              <a:t> to find a sequence of actions that leads from the </a:t>
            </a:r>
            <a:r>
              <a:rPr lang="en-US" sz="2800" b="1" dirty="0"/>
              <a:t>initial state</a:t>
            </a:r>
            <a:r>
              <a:rPr lang="en-US" sz="2800" dirty="0"/>
              <a:t> to the </a:t>
            </a:r>
            <a:r>
              <a:rPr lang="en-US" sz="2800" b="1" dirty="0"/>
              <a:t>goal state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65143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AD785-1618-DB48-FF79-5AA71135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322574B-6FFC-FE19-9B2E-9727ED7208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D96B7BC-6FE0-6DBD-72FB-631A4482F72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53B4576-BE77-013C-C85E-2B62A9CA67D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D2CE0C5-1A6B-19D1-D983-7833ABB95FD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6EAADB9-00A9-835E-CCF4-AC3A85BAA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Types of Search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C666626-5758-99E2-76B3-19052A98D20C}"/>
              </a:ext>
            </a:extLst>
          </p:cNvPr>
          <p:cNvSpPr txBox="1"/>
          <p:nvPr/>
        </p:nvSpPr>
        <p:spPr>
          <a:xfrm>
            <a:off x="2934462" y="2202433"/>
            <a:ext cx="8190738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Uninformed (Blind) Search</a:t>
            </a:r>
            <a:endParaRPr lang="en-US" sz="2800" dirty="0"/>
          </a:p>
          <a:p>
            <a:pPr lvl="1"/>
            <a:r>
              <a:rPr lang="en-US" sz="2800" dirty="0"/>
              <a:t>No knowledge of goal distance</a:t>
            </a:r>
          </a:p>
          <a:p>
            <a:pPr lvl="1"/>
            <a:r>
              <a:rPr lang="en-US" sz="2800" dirty="0"/>
              <a:t>Examples: BFS, DFS, Uniform-cost</a:t>
            </a:r>
          </a:p>
          <a:p>
            <a:r>
              <a:rPr lang="en-US" sz="2800" b="1" dirty="0"/>
              <a:t>Informed (Heuristic) Search</a:t>
            </a:r>
            <a:endParaRPr lang="en-US" sz="2800" dirty="0"/>
          </a:p>
          <a:p>
            <a:pPr lvl="1"/>
            <a:r>
              <a:rPr lang="en-US" sz="2800" dirty="0"/>
              <a:t>Uses knowledge to estimate distance to goal</a:t>
            </a:r>
          </a:p>
          <a:p>
            <a:pPr lvl="1"/>
            <a:r>
              <a:rPr lang="en-US" sz="2800" dirty="0"/>
              <a:t>Examples: A*, Greedy Best-First Search</a:t>
            </a:r>
          </a:p>
        </p:txBody>
      </p:sp>
    </p:spTree>
    <p:extLst>
      <p:ext uri="{BB962C8B-B14F-4D97-AF65-F5344CB8AC3E}">
        <p14:creationId xmlns:p14="http://schemas.microsoft.com/office/powerpoint/2010/main" val="35056426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1323D-5B16-FF4C-4650-628BA479D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DA207DA-262F-698D-A451-AB3D7E146E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B4A3AF1-9E6D-7080-C5FF-55D7F91C05F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D32BAE4-0275-D62B-B0A1-7C938826AC1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326B48A-5BD4-A8D0-E17B-13EF33793D2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ECA36B6-9852-CBEC-C7DC-B0048F739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What is abstraction?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6BB5006B-091A-6A4B-617D-FC04E58F38C1}"/>
              </a:ext>
            </a:extLst>
          </p:cNvPr>
          <p:cNvSpPr txBox="1"/>
          <p:nvPr/>
        </p:nvSpPr>
        <p:spPr>
          <a:xfrm>
            <a:off x="2934462" y="2096246"/>
            <a:ext cx="8190738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The process of removing irrelevant details from the problem representation while keeping enough information to solve the problem correctly.</a:t>
            </a:r>
          </a:p>
        </p:txBody>
      </p:sp>
    </p:spTree>
    <p:extLst>
      <p:ext uri="{BB962C8B-B14F-4D97-AF65-F5344CB8AC3E}">
        <p14:creationId xmlns:p14="http://schemas.microsoft.com/office/powerpoint/2010/main" val="272833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4BC90-1DA5-1BEE-D2DD-13EA0234B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8F1C1EA-25D3-F14B-C535-7372D4B7F3E6}"/>
              </a:ext>
            </a:extLst>
          </p:cNvPr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08AAAD4-10BD-36C4-C8EB-BF95CB138BD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61AFFA19-CC0C-86F4-2C37-686BF0AA4ED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2555B07-D38D-1B24-A8BD-6EFB774690A6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EB62D0E-90F3-3D4A-B23F-C9524A3828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Example: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8DD4784D-951E-4567-21CC-663D8D76058B}"/>
              </a:ext>
            </a:extLst>
          </p:cNvPr>
          <p:cNvSpPr txBox="1"/>
          <p:nvPr/>
        </p:nvSpPr>
        <p:spPr>
          <a:xfrm>
            <a:off x="2934462" y="2096246"/>
            <a:ext cx="8190738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400" dirty="0"/>
              <a:t>Full real-world state:</a:t>
            </a:r>
            <a:br>
              <a:rPr lang="en-US" sz="2400" dirty="0"/>
            </a:br>
            <a:r>
              <a:rPr lang="en-US" sz="2400" dirty="0"/>
              <a:t>"I am in Arad, driving with friends, it’s raining, song playing is </a:t>
            </a:r>
            <a:r>
              <a:rPr lang="en-IN" sz="2000" dirty="0" err="1"/>
              <a:t>Tamally</a:t>
            </a:r>
            <a:r>
              <a:rPr lang="en-IN" sz="2000" dirty="0"/>
              <a:t> Maak </a:t>
            </a:r>
            <a:r>
              <a:rPr lang="en-US" sz="2400" dirty="0"/>
              <a:t>, fuel is 50%, car speed 60km/h…"</a:t>
            </a:r>
          </a:p>
          <a:p>
            <a:r>
              <a:rPr lang="en-US" sz="2400" dirty="0"/>
              <a:t>Abstracted state:</a:t>
            </a:r>
            <a:br>
              <a:rPr lang="en-US" sz="2400" dirty="0"/>
            </a:br>
            <a:r>
              <a:rPr lang="en-US" sz="2400" dirty="0"/>
              <a:t>"I am in Arad"</a:t>
            </a:r>
          </a:p>
          <a:p>
            <a:r>
              <a:rPr lang="en-US" sz="2400" dirty="0"/>
              <a:t>We ignore everything except </a:t>
            </a:r>
            <a:r>
              <a:rPr lang="en-US" sz="2400" b="1" dirty="0"/>
              <a:t>location</a:t>
            </a:r>
            <a:r>
              <a:rPr lang="en-US" sz="2400" dirty="0"/>
              <a:t>, because that’s what matters for </a:t>
            </a:r>
            <a:r>
              <a:rPr lang="en-US" sz="2400" b="1" dirty="0"/>
              <a:t>finding a route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84696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50D9-4C08-EA58-BB03-B98FF1721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B2BE139-055B-81AA-5D2E-AD0237FC9D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4E7A720-6C10-0A7F-58BF-94E6C87BBA1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C9D248B-9FBD-7760-FADF-6A91A4CF090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4F59C12-E3D7-099F-CCCB-AE1BA59CBF0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18688B8-8E5D-C6F2-39F4-9F9BA35A58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Toy vs Real-World Problems in AI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4022978-60D1-4C6E-AC4C-3E220BACDEDD}"/>
              </a:ext>
            </a:extLst>
          </p:cNvPr>
          <p:cNvSpPr txBox="1"/>
          <p:nvPr/>
        </p:nvSpPr>
        <p:spPr>
          <a:xfrm>
            <a:off x="2934462" y="2096246"/>
            <a:ext cx="8190738" cy="2148665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Toy Problem: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Simplified, fully defined, used to test algorithms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Problem: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Complex, messy, solutions matter to people</a:t>
            </a:r>
          </a:p>
        </p:txBody>
      </p:sp>
    </p:spTree>
    <p:extLst>
      <p:ext uri="{BB962C8B-B14F-4D97-AF65-F5344CB8AC3E}">
        <p14:creationId xmlns:p14="http://schemas.microsoft.com/office/powerpoint/2010/main" val="26431106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13C7-885D-0F79-03F9-5C773F68E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21D79DB-D9DC-779E-1222-F60ED21270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6EABE08-3B59-D8FA-1055-A5712658A658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1D1F5244-DD66-635F-B093-23529C60FA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925DF13-B818-2F0D-8EF7-A2E158A77FF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0AB190C-D29C-2D75-4062-85A33ECA22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Example Toy Problem: The </a:t>
            </a:r>
            <a:r>
              <a:rPr lang="en-IN" sz="4400" dirty="0"/>
              <a:t>Vacuum World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AE074B22-34A8-94A7-C758-DBD537E1623E}"/>
              </a:ext>
            </a:extLst>
          </p:cNvPr>
          <p:cNvSpPr txBox="1"/>
          <p:nvPr/>
        </p:nvSpPr>
        <p:spPr>
          <a:xfrm>
            <a:off x="2934462" y="2096246"/>
            <a:ext cx="8190738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Environment: 2 rooms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Agent: Robot vacuum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Clean all rooms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Move Left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Move Right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Suck Dirt</a:t>
            </a:r>
          </a:p>
        </p:txBody>
      </p:sp>
    </p:spTree>
    <p:extLst>
      <p:ext uri="{BB962C8B-B14F-4D97-AF65-F5344CB8AC3E}">
        <p14:creationId xmlns:p14="http://schemas.microsoft.com/office/powerpoint/2010/main" val="22557933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76479F-4D01-27D2-62E5-9A84A39A7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02" y="0"/>
            <a:ext cx="11102698" cy="696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024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3C5A-D357-CCFE-04ED-81FECCA8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218BEB-785A-275A-C0F5-F2D6A8E41C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6958B0A-6F46-EEAA-695D-9A5BF7A08656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41F1D30-2402-EB5F-171C-EC34480E0F4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E377CF5-17C8-2AB5-A039-ACBB8BAB470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63180190-9426-6639-CBAE-FA9CD490D1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Example Toy Problem: The 8-Puzzle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E6E24D7E-0BA5-1CEE-BFF6-6F6EB3D873A3}"/>
              </a:ext>
            </a:extLst>
          </p:cNvPr>
          <p:cNvSpPr txBox="1"/>
          <p:nvPr/>
        </p:nvSpPr>
        <p:spPr>
          <a:xfrm>
            <a:off x="2934462" y="2096246"/>
            <a:ext cx="8190738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 × 3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sliding puzzle with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 numbered tiles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 blank space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Reach the goal arrangement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sliding tiles into the blank position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AI to test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algorithms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270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9151BE-63FC-6DA2-D651-828CA922B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4" y="228600"/>
            <a:ext cx="12080016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98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3436C-DA97-C123-419C-7569E80B8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9A5F68-A6A3-B4DE-7F5B-344929C740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B719FCE-907A-9CA9-126C-B6ADE768E6B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FD7F8EA-1898-8D3A-0FDD-6DDE2AA86B2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F5C6510-9A22-8C24-4B81-35F3DD8B931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95C575E-5B38-E026-188E-CDBB389B46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Example Toy Problem: </a:t>
            </a:r>
            <a:r>
              <a:rPr lang="en-IN" sz="4400" dirty="0"/>
              <a:t>8-Queens Problem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9004B114-93A0-DB6A-EFC8-4ED98450F5A9}"/>
              </a:ext>
            </a:extLst>
          </p:cNvPr>
          <p:cNvSpPr txBox="1"/>
          <p:nvPr/>
        </p:nvSpPr>
        <p:spPr>
          <a:xfrm>
            <a:off x="2934462" y="2096246"/>
            <a:ext cx="8190738" cy="264110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3200" dirty="0"/>
              <a:t>Place </a:t>
            </a:r>
            <a:r>
              <a:rPr lang="en-US" sz="3200" b="1" dirty="0"/>
              <a:t>8 queens</a:t>
            </a:r>
            <a:r>
              <a:rPr lang="en-US" sz="3200" dirty="0"/>
              <a:t> on an </a:t>
            </a:r>
            <a:r>
              <a:rPr lang="en-US" sz="3200" b="1" dirty="0"/>
              <a:t>8×8 chessboard</a:t>
            </a:r>
            <a:r>
              <a:rPr lang="en-US" sz="3200" dirty="0"/>
              <a:t> in such a way that:</a:t>
            </a:r>
          </a:p>
          <a:p>
            <a:r>
              <a:rPr lang="en-US" sz="3200" dirty="0"/>
              <a:t>No two queens are in the </a:t>
            </a:r>
            <a:r>
              <a:rPr lang="en-US" sz="3200" b="1" dirty="0"/>
              <a:t>same row</a:t>
            </a:r>
            <a:endParaRPr lang="en-US" sz="3200" dirty="0"/>
          </a:p>
          <a:p>
            <a:r>
              <a:rPr lang="en-US" sz="3200" dirty="0"/>
              <a:t>No two queens are in the </a:t>
            </a:r>
            <a:r>
              <a:rPr lang="en-US" sz="3200" b="1" dirty="0"/>
              <a:t>same column</a:t>
            </a:r>
            <a:endParaRPr lang="en-US" sz="3200" dirty="0"/>
          </a:p>
          <a:p>
            <a:r>
              <a:rPr lang="en-US" sz="3200" dirty="0"/>
              <a:t>No two queens are on the </a:t>
            </a:r>
            <a:r>
              <a:rPr lang="en-US" sz="3200" b="1" dirty="0"/>
              <a:t>same diagonal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158743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3273F3-30A9-5ADD-19FE-EA9C20462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85103"/>
            <a:ext cx="11582400" cy="668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261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e Eight Queens Problem » Steve on Image Processing with MATLAB - MATLAB &amp;  Simulink">
            <a:extLst>
              <a:ext uri="{FF2B5EF4-FFF2-40B4-BE49-F238E27FC236}">
                <a16:creationId xmlns:a16="http://schemas.microsoft.com/office/drawing/2014/main" id="{2B54DDE9-F886-7583-7800-C864F728E4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18" t="5410" r="14368" b="14590"/>
          <a:stretch>
            <a:fillRect/>
          </a:stretch>
        </p:blipFill>
        <p:spPr bwMode="auto">
          <a:xfrm>
            <a:off x="2971800" y="-1"/>
            <a:ext cx="6858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5796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The 8-Queens Problem - MATHTICIAN">
            <a:extLst>
              <a:ext uri="{FF2B5EF4-FFF2-40B4-BE49-F238E27FC236}">
                <a16:creationId xmlns:a16="http://schemas.microsoft.com/office/drawing/2014/main" id="{D4180196-EB9D-0D01-447E-9D7EB1FA1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87401"/>
            <a:ext cx="8839199" cy="656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7609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78802-C2AA-5941-AF41-DB1ED79B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1675282-D684-6F3C-7CB3-12F58ACDC0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5664A1F-DA73-2576-DBFD-C84904F9525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6C4A524-1C98-96E3-F74A-DFD38A37B08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33D4E1-A43E-E178-02C1-67615860B42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C780FB32-9BC8-633C-9B68-1646E45CB2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Donald Knuth 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EB548DE-A08C-0218-AB53-5DB1BBF4CB3E}"/>
              </a:ext>
            </a:extLst>
          </p:cNvPr>
          <p:cNvSpPr txBox="1"/>
          <p:nvPr/>
        </p:nvSpPr>
        <p:spPr>
          <a:xfrm>
            <a:off x="2934462" y="2096246"/>
            <a:ext cx="8190738" cy="448776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“Donald Knuth came up with a toy problem to show how some problems can have </a:t>
            </a:r>
            <a:r>
              <a:rPr lang="en-US" sz="2800" b="1" dirty="0"/>
              <a:t>an infinite number of possible states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The idea: start with the number 4, and use three operations:</a:t>
            </a:r>
            <a:br>
              <a:rPr lang="en-US" sz="2800" dirty="0"/>
            </a:br>
            <a:r>
              <a:rPr lang="en-US" sz="2800" dirty="0"/>
              <a:t>1️⃣ Factorial (!)</a:t>
            </a:r>
            <a:br>
              <a:rPr lang="en-US" sz="2800" dirty="0"/>
            </a:br>
            <a:r>
              <a:rPr lang="en-US" sz="2800" dirty="0"/>
              <a:t>2️⃣ Square root (√)</a:t>
            </a:r>
            <a:br>
              <a:rPr lang="en-US" sz="2800" dirty="0"/>
            </a:br>
            <a:r>
              <a:rPr lang="en-US" sz="2800" dirty="0"/>
              <a:t>3️⃣ Floor (round down ⌊x⌋)</a:t>
            </a:r>
            <a:br>
              <a:rPr lang="en-US" sz="2800" dirty="0"/>
            </a:br>
            <a:r>
              <a:rPr lang="en-US" sz="2800" dirty="0"/>
              <a:t>The goal is to reach </a:t>
            </a:r>
            <a:r>
              <a:rPr lang="en-US" sz="2800" b="1" dirty="0"/>
              <a:t>any positive number you want</a:t>
            </a:r>
            <a:r>
              <a:rPr lang="en-US" sz="2800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321303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21CAB-126B-8AD7-C085-E865054F3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1197E11-EB64-6375-EF99-C8AFEB9869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1509669-1BDF-FBC9-2034-03E7CE6EF9C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769E7AB-CC59-9D22-8097-5B7B6B659A7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8F301E4-FF94-AF8E-4428-5086268B543D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5252C18-20DD-0FCD-DE93-27914948C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 Example: Donald Knuth </a:t>
            </a:r>
            <a:endParaRPr sz="4400" dirty="0"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2125FB55-9E18-B1FD-01FC-27EADD8EB290}"/>
                  </a:ext>
                </a:extLst>
              </p:cNvPr>
              <p:cNvSpPr txBox="1"/>
              <p:nvPr/>
            </p:nvSpPr>
            <p:spPr>
              <a:xfrm>
                <a:off x="2934462" y="2096246"/>
                <a:ext cx="8190738" cy="4228915"/>
              </a:xfrm>
              <a:prstGeom prst="rect">
                <a:avLst/>
              </a:prstGeom>
            </p:spPr>
            <p:txBody>
              <a:bodyPr vert="horz" wrap="square" lIns="0" tIns="177165" rIns="0" bIns="0" rtlCol="0">
                <a:spAutoFit/>
              </a:bodyPr>
              <a:lstStyle/>
              <a:p>
                <a:r>
                  <a:rPr lang="en-IN" sz="2800" dirty="0"/>
                  <a:t>Start with: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24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!=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620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448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401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733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239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439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360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sz="2800">
                          <a:latin typeface="Cambria Math" panose="02040503050406030204" pitchFamily="18" charset="0"/>
                        </a:rPr>
                        <m:t>000</m:t>
                      </m:r>
                    </m:oMath>
                  </m:oMathPara>
                </a14:m>
                <a:endParaRPr lang="en-IN" sz="2800" dirty="0"/>
              </a:p>
              <a:p>
                <a:r>
                  <a:rPr lang="en-IN" sz="2800" b="1" dirty="0"/>
                  <a:t>1st sqrt:</a:t>
                </a:r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ar-AE" sz="28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2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49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endParaRPr lang="ar-AE" sz="2800" dirty="0"/>
              </a:p>
              <a:p>
                <a:r>
                  <a:rPr lang="ar-AE" sz="2800" b="1" dirty="0"/>
                  <a:t>2</a:t>
                </a:r>
                <a:r>
                  <a:rPr lang="en-IN" sz="2800" b="1" dirty="0" err="1"/>
                  <a:t>nd</a:t>
                </a:r>
                <a:r>
                  <a:rPr lang="en-IN" sz="2800" b="1" dirty="0"/>
                  <a:t> sqrt:</a:t>
                </a:r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ar-AE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sz="2800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ar-AE" sz="280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rad>
                    <m:r>
                      <a:rPr lang="ar-AE" sz="28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499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endParaRPr lang="ar-AE" sz="2800" dirty="0"/>
              </a:p>
              <a:p>
                <a:r>
                  <a:rPr lang="ar-AE" sz="2800" b="1" dirty="0"/>
                  <a:t>3</a:t>
                </a:r>
                <a:r>
                  <a:rPr lang="en-IN" sz="2800" b="1" dirty="0" err="1"/>
                  <a:t>rd</a:t>
                </a:r>
                <a:r>
                  <a:rPr lang="en-IN" sz="2800" b="1" dirty="0"/>
                  <a:t> sqrt:</a:t>
                </a:r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499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000</m:t>
                        </m:r>
                      </m:e>
                    </m:rad>
                    <m:r>
                      <a:rPr lang="ar-AE" sz="28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706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ar-AE" sz="2800" dirty="0"/>
              </a:p>
              <a:p>
                <a:r>
                  <a:rPr lang="ar-AE" sz="2800" b="1" dirty="0"/>
                  <a:t>4</a:t>
                </a:r>
                <a:r>
                  <a:rPr lang="en-IN" sz="2800" b="1" dirty="0" err="1"/>
                  <a:t>th</a:t>
                </a:r>
                <a:r>
                  <a:rPr lang="en-IN" sz="2800" b="1" dirty="0"/>
                  <a:t> sqrt:</a:t>
                </a:r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706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a:rPr lang="ar-AE" sz="28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26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ar-AE" sz="2800" dirty="0"/>
              </a:p>
              <a:p>
                <a:r>
                  <a:rPr lang="ar-AE" sz="2800" b="1" dirty="0"/>
                  <a:t>5</a:t>
                </a:r>
                <a:r>
                  <a:rPr lang="en-IN" sz="2800" b="1" dirty="0" err="1"/>
                  <a:t>th</a:t>
                </a:r>
                <a:r>
                  <a:rPr lang="en-IN" sz="2800" b="1" dirty="0"/>
                  <a:t> sqrt:</a:t>
                </a:r>
                <a:r>
                  <a:rPr lang="en-IN" sz="2800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ar-AE" sz="2800"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2800"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ar-AE" sz="2800">
                        <a:latin typeface="Cambria Math" panose="02040503050406030204" pitchFamily="18" charset="0"/>
                      </a:rPr>
                      <m:t>≈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5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800"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lang="ar-AE" sz="2800" dirty="0"/>
              </a:p>
              <a:p>
                <a:r>
                  <a:rPr lang="en-IN" sz="2800" dirty="0"/>
                  <a:t>✅ Now take </a:t>
                </a:r>
                <a:r>
                  <a:rPr lang="en-IN" sz="2800" b="1" dirty="0"/>
                  <a:t>floor</a:t>
                </a:r>
                <a:r>
                  <a:rPr lang="en-IN" sz="28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ar-AE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ar-AE" sz="280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</m:d>
                      <m:r>
                        <a:rPr lang="ar-AE" sz="28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80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ar-AE" sz="2800" dirty="0"/>
              </a:p>
            </p:txBody>
          </p:sp>
        </mc:Choice>
        <mc:Fallback xmlns="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2125FB55-9E18-B1FD-01FC-27EADD8EB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462" y="2096246"/>
                <a:ext cx="8190738" cy="4228915"/>
              </a:xfrm>
              <a:prstGeom prst="rect">
                <a:avLst/>
              </a:prstGeom>
              <a:blipFill>
                <a:blip r:embed="rId3"/>
                <a:stretch>
                  <a:fillRect l="-26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41423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7D633-D5F2-7F66-7CEB-3823FD63D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3113E30-450F-7C95-F38C-511D8FA16A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636B255-A0CA-B709-005C-C656FE61541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2C15B35-4372-9A35-49CD-1DC3933EDFD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4180983-E3C6-2256-097F-36F273EEC43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42D97BC4-9A51-7CAC-63D0-96EB1CC347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Example Real Problem: </a:t>
            </a:r>
            <a:r>
              <a:rPr lang="en-IN" sz="4400" dirty="0"/>
              <a:t>Route-finding Problem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C95C97F7-2515-E767-A2A1-DF2832477BD3}"/>
              </a:ext>
            </a:extLst>
          </p:cNvPr>
          <p:cNvSpPr txBox="1"/>
          <p:nvPr/>
        </p:nvSpPr>
        <p:spPr>
          <a:xfrm>
            <a:off x="2934462" y="2096246"/>
            <a:ext cx="8190738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States: Location + time + flight info</a:t>
            </a:r>
          </a:p>
          <a:p>
            <a:r>
              <a:rPr lang="en-US" sz="2800" dirty="0"/>
              <a:t>Actions: Take any valid flight</a:t>
            </a:r>
          </a:p>
          <a:p>
            <a:r>
              <a:rPr lang="en-US" sz="2800" dirty="0"/>
              <a:t>Goal: Reach destination efficiently</a:t>
            </a:r>
          </a:p>
        </p:txBody>
      </p:sp>
    </p:spTree>
    <p:extLst>
      <p:ext uri="{BB962C8B-B14F-4D97-AF65-F5344CB8AC3E}">
        <p14:creationId xmlns:p14="http://schemas.microsoft.com/office/powerpoint/2010/main" val="42358550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Top 50 airports by number of destinations - Directflights.com">
            <a:extLst>
              <a:ext uri="{FF2B5EF4-FFF2-40B4-BE49-F238E27FC236}">
                <a16:creationId xmlns:a16="http://schemas.microsoft.com/office/drawing/2014/main" id="{C9CD74AB-DDE8-A524-DBD8-E351F148A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14311"/>
            <a:ext cx="11049000" cy="621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36574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2DB90-5FA0-3414-5FF3-41CE837FB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20147EA-E79D-03C3-B88E-F64B201D1F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FFA397B-D2D8-49AB-4D27-AD1ECA76B17C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F193CBE-D5B5-C224-73CC-144349F7C6C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EB32DA-4B9E-C870-E101-6A97E8D91B69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A80F7A86-678D-3512-C0D7-0AE2B77053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Example Real Problem: </a:t>
            </a:r>
            <a:r>
              <a:rPr lang="en-IN" sz="4400" dirty="0"/>
              <a:t>Touring Problem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8E32604-11A5-7857-4303-32022E12E16C}"/>
              </a:ext>
            </a:extLst>
          </p:cNvPr>
          <p:cNvSpPr txBox="1"/>
          <p:nvPr/>
        </p:nvSpPr>
        <p:spPr>
          <a:xfrm>
            <a:off x="2934462" y="2096246"/>
            <a:ext cx="8190738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Visit all cities (each once for TSP)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State: Current city + visited cities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Shortest tour covering all cities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0774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RED ARROWS TRANSIT ROUTE WEDNESDAY 20th AUGUST 2025 WADDINGTON TO  WADDINGTON - DISPLAY CROMER 11:44 DEPART RAF WADDINGTON (EGXW) 11:46 NORTH  WEST OF MARTIN 11:47 NORTH OF SWATON 11:52 NORTH WEST OF">
            <a:extLst>
              <a:ext uri="{FF2B5EF4-FFF2-40B4-BE49-F238E27FC236}">
                <a16:creationId xmlns:a16="http://schemas.microsoft.com/office/drawing/2014/main" id="{AF16FFD8-1B12-63E1-74C3-F1EC932B7E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5240"/>
            <a:ext cx="4876800" cy="6827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60701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8F5EA-7035-A4FA-E3BE-470C8A2E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BDBC44-2C00-CEE3-E46D-5C14DFCA8F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130F649-5CA7-00A4-9E7C-65BB8810029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037F467B-1BD7-55DD-E7D7-23C116D9B77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8A13BE5-B1FC-A517-CAD4-81249E3FBBB4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BDC9954C-9342-D656-A23D-68E247D92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Example Real Problem: </a:t>
            </a:r>
            <a:r>
              <a:rPr lang="en-IN" sz="4400" dirty="0"/>
              <a:t>VLSI Layout Problem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2E67B26C-21D5-BD90-010F-70FBB9E5F648}"/>
              </a:ext>
            </a:extLst>
          </p:cNvPr>
          <p:cNvSpPr txBox="1"/>
          <p:nvPr/>
        </p:nvSpPr>
        <p:spPr>
          <a:xfrm>
            <a:off x="2934462" y="2096246"/>
            <a:ext cx="8190738" cy="1471557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Place chip components and wires efficiently</a:t>
            </a:r>
          </a:p>
          <a:p>
            <a:r>
              <a:rPr lang="en-US" sz="2800" dirty="0"/>
              <a:t>Goal: Minimize area, delays; maximize yield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301166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530+ Circuit Board Computer Chip Diagram Electrical Component Stock  Illustrations, Royalty-Free Vector Graphics &amp; Clip Art - iStock">
            <a:extLst>
              <a:ext uri="{FF2B5EF4-FFF2-40B4-BE49-F238E27FC236}">
                <a16:creationId xmlns:a16="http://schemas.microsoft.com/office/drawing/2014/main" id="{C6370A7F-35E5-2054-CBA4-9465E88E0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04800"/>
            <a:ext cx="9046858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85E987-EB74-9372-ADB4-FBAAD19C2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8471" y="914400"/>
            <a:ext cx="2973529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736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E1781-82D5-D000-0B2E-04639FFA0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DBBEBD5-A711-6A46-9411-AFEEBFA8F8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69C31B3-E8D2-0A88-1358-6B618DC2C25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BBCE2B89-F871-17D4-A08B-2FFA3521336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9EA6B4B-98E7-5F94-A26E-C45A5F45B5DE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A211C2D-86AA-EC80-7A5B-CF9693D9EB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Example Real Problem: </a:t>
            </a:r>
            <a:r>
              <a:rPr lang="en-IN" sz="4400" dirty="0"/>
              <a:t>Robot Navigation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FE86C68-08CF-E22E-E87D-3E1909BB4D32}"/>
              </a:ext>
            </a:extLst>
          </p:cNvPr>
          <p:cNvSpPr txBox="1"/>
          <p:nvPr/>
        </p:nvSpPr>
        <p:spPr>
          <a:xfrm>
            <a:off x="2934462" y="2096246"/>
            <a:ext cx="8190738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 space → infinite states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Must handle sensor/motor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Reach target position safely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767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France Developing Advanced Humanoid Robot Romeo - IEEE Spectrum">
            <a:extLst>
              <a:ext uri="{FF2B5EF4-FFF2-40B4-BE49-F238E27FC236}">
                <a16:creationId xmlns:a16="http://schemas.microsoft.com/office/drawing/2014/main" id="{383A34C3-E3C3-8FCA-78DB-03AAB5249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0166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89AB3-8D74-C540-8C05-71C98EBC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D1E8BDE-4CC6-8DA9-5D4D-C46CD4772E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C5D9438-CCD2-03CE-E330-7EE0EB1FDC33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94685C71-6D58-C5E0-7F82-4C9889A9014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668A726-0470-002D-A363-B22DF4B2629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0DC5BD8C-42E8-3F4D-B548-1E6C129595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Example Real Problem: </a:t>
            </a:r>
            <a:r>
              <a:rPr lang="en-IN" sz="4400" dirty="0"/>
              <a:t>Assembly Sequencing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5A8865B8-BD13-578D-D16D-108A2A10675E}"/>
              </a:ext>
            </a:extLst>
          </p:cNvPr>
          <p:cNvSpPr txBox="1"/>
          <p:nvPr/>
        </p:nvSpPr>
        <p:spPr>
          <a:xfrm>
            <a:off x="2934462" y="2096246"/>
            <a:ext cx="8190738" cy="1902444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Correct order of part assembly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Wrong order → impossible to continue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Complete assembly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7549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Assembly sequence and path planning for monotone and nonmonotone assemblies  with rigid and flexible parts - ScienceDirect">
            <a:extLst>
              <a:ext uri="{FF2B5EF4-FFF2-40B4-BE49-F238E27FC236}">
                <a16:creationId xmlns:a16="http://schemas.microsoft.com/office/drawing/2014/main" id="{8DEAD9B4-9390-C3BD-4E3B-B7BF79D9B9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30368"/>
            <a:ext cx="10515600" cy="593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0544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BBA9-6559-0FC9-489D-E960FDAA3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8FB1DB-D0FF-8C56-8D7A-E30394887C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433365B-5654-A3BF-FDD6-2B28716ACF7B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8594D31A-46C1-0F7B-DAF9-5857E56F07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FE0266B-9262-0161-BDBE-2325B5445E0F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9A18FF6-AF75-279F-DB47-88A76DF661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10210040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US" sz="4400" dirty="0"/>
              <a:t>Example Real Problem: </a:t>
            </a:r>
            <a:r>
              <a:rPr lang="en-IN" sz="4400" dirty="0"/>
              <a:t>Protein Design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3CE1497C-B762-0038-CE3B-DB6FB695B0FB}"/>
              </a:ext>
            </a:extLst>
          </p:cNvPr>
          <p:cNvSpPr txBox="1"/>
          <p:nvPr/>
        </p:nvSpPr>
        <p:spPr>
          <a:xfrm>
            <a:off x="2934462" y="2096246"/>
            <a:ext cx="8190738" cy="4056880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amino acid sequence that folds correctly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Desired 3D structure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a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chain of beads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joined together.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joint can bend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Left / Right / Straight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possible folding shapes →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huge search space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Computers can’t try all possibilities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So, it becomes an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NP-Hard problem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25308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Unfolding the Protein Mystery - Drawing Capital Research">
            <a:extLst>
              <a:ext uri="{FF2B5EF4-FFF2-40B4-BE49-F238E27FC236}">
                <a16:creationId xmlns:a16="http://schemas.microsoft.com/office/drawing/2014/main" id="{67C14E8D-3863-430D-6A9B-68125D25E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32" y="533400"/>
            <a:ext cx="10866967" cy="6018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8644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Page 88 | Bead chain Images - Free Download on Freepik">
            <a:extLst>
              <a:ext uri="{FF2B5EF4-FFF2-40B4-BE49-F238E27FC236}">
                <a16:creationId xmlns:a16="http://schemas.microsoft.com/office/drawing/2014/main" id="{86A53F9A-288A-8F25-A3C4-199A841DDE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64" t="23334" r="36264" b="43333"/>
          <a:stretch>
            <a:fillRect/>
          </a:stretch>
        </p:blipFill>
        <p:spPr bwMode="auto">
          <a:xfrm>
            <a:off x="3352800" y="609600"/>
            <a:ext cx="39624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72499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E6E3F-25F8-BA99-67BD-9A7D82E65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C1E9CDA-3AB8-CC33-5C8E-6006E183F9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95D335F-0035-EAB5-966C-FEA7CF517B0D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C9DD7423-5594-4BED-37A5-EB9B4FE21E3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848C825-A876-CB43-BF6B-D15053147DB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FC6789A-D257-0C47-2A91-800E62106A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6766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Classification of Problems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7095C068-4ED3-7BD6-CA51-4F4E7F466197}"/>
              </a:ext>
            </a:extLst>
          </p:cNvPr>
          <p:cNvSpPr txBox="1"/>
          <p:nvPr/>
        </p:nvSpPr>
        <p:spPr>
          <a:xfrm>
            <a:off x="2934462" y="2096246"/>
            <a:ext cx="8190738" cy="2764218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Solvable efficiently (Shortest Path)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Hard to solve, easy to verify (8 Queens, Sudoku)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NP-Complete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Hardest NP problems (TSP)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NP-Hard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Harder than NP-Complete (Scheduling)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Undecidable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No algorithm can solve (Halting)</a:t>
            </a:r>
          </a:p>
        </p:txBody>
      </p:sp>
    </p:spTree>
    <p:extLst>
      <p:ext uri="{BB962C8B-B14F-4D97-AF65-F5344CB8AC3E}">
        <p14:creationId xmlns:p14="http://schemas.microsoft.com/office/powerpoint/2010/main" val="42537260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7041-F9B8-FE53-7387-C3C5A7A5F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A35169-FAD3-1C82-C053-CCD263C28C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C96E8C4-24D3-6AA6-7369-48FB98352A65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731085E3-885E-C213-F4BE-0A581B8E24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8710D7B-5A5C-0096-A834-EB29A594E5E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1B44444F-3127-A3AA-2BEF-5C54996B43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967664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  <a:tabLst>
                <a:tab pos="1043305" algn="l"/>
              </a:tabLst>
            </a:pPr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12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Classification of Problems</a:t>
            </a:r>
            <a:endParaRPr sz="4400" dirty="0">
              <a:latin typeface="Cambria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FBC63ECB-2FF2-D845-EE56-BD9FB67EC1A7}"/>
                  </a:ext>
                </a:extLst>
              </p:cNvPr>
              <p:cNvSpPr txBox="1"/>
              <p:nvPr/>
            </p:nvSpPr>
            <p:spPr>
              <a:xfrm>
                <a:off x="2934462" y="2096246"/>
                <a:ext cx="8190738" cy="4663264"/>
              </a:xfrm>
              <a:prstGeom prst="rect">
                <a:avLst/>
              </a:prstGeom>
            </p:spPr>
            <p:txBody>
              <a:bodyPr vert="horz" wrap="square" lIns="0" tIns="177165" rIns="0" bIns="0" rtlCol="0">
                <a:spAutoFit/>
              </a:bodyPr>
              <a:lstStyle/>
              <a:p>
                <a:r>
                  <a:rPr lang="en-IN" sz="2400" dirty="0"/>
                  <a:t>Each joint can turn in </a:t>
                </a:r>
                <a:r>
                  <a:rPr lang="en-IN" sz="2400" b="1" dirty="0"/>
                  <a:t>3 possible directions</a:t>
                </a:r>
                <a:r>
                  <a:rPr lang="en-IN" sz="2400" dirty="0"/>
                  <a:t>:</a:t>
                </a:r>
              </a:p>
              <a:p>
                <a:r>
                  <a:rPr lang="en-IN" sz="2400" dirty="0"/>
                  <a:t>Left</a:t>
                </a:r>
              </a:p>
              <a:p>
                <a:r>
                  <a:rPr lang="en-IN" sz="2400" dirty="0"/>
                  <a:t>Right</a:t>
                </a:r>
              </a:p>
              <a:p>
                <a:r>
                  <a:rPr lang="en-IN" sz="2400" dirty="0"/>
                  <a:t>Straight</a:t>
                </a:r>
              </a:p>
              <a:p>
                <a:r>
                  <a:rPr lang="en-IN" sz="2400" b="1" dirty="0"/>
                  <a:t>If your chain has 4 beads:</a:t>
                </a:r>
              </a:p>
              <a:p>
                <a:r>
                  <a:rPr lang="en-IN" sz="2400" dirty="0"/>
                  <a:t>Total possibilities =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>
                          <a:latin typeface="Cambria Math" panose="02040503050406030204" pitchFamily="18" charset="0"/>
                        </a:rPr>
                        <m:t>81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𝑐𝑜𝑚𝑏𝑖𝑛𝑎𝑡𝑖𝑜𝑛𝑠</m:t>
                      </m:r>
                    </m:oMath>
                  </m:oMathPara>
                </a14:m>
                <a:endParaRPr lang="en-IN" sz="2400" dirty="0"/>
              </a:p>
              <a:p>
                <a:r>
                  <a:rPr lang="en-IN" sz="2400" b="1" dirty="0"/>
                  <a:t>If your chain has 100 beads: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ar-AE" sz="2400">
                              <a:latin typeface="Cambria Math" panose="02040503050406030204" pitchFamily="18" charset="0"/>
                            </a:rPr>
                            <m:t>100</m:t>
                          </m:r>
                        </m:sup>
                      </m:sSup>
                      <m:r>
                        <a:rPr lang="ar-AE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𝑎𝑛𝑢𝑚𝑏𝑒𝑟𝑏𝑖𝑔𝑔𝑒𝑟𝑡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𝑎𝑛𝑠𝑡𝑎𝑟𝑠𝑖𝑛𝑡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AE" sz="2400" i="1">
                          <a:latin typeface="Cambria Math" panose="02040503050406030204" pitchFamily="18" charset="0"/>
                        </a:rPr>
                        <m:t>𝑒𝑢𝑛𝑖𝑣𝑒𝑟𝑠𝑒</m:t>
                      </m:r>
                      <m:r>
                        <m:rPr>
                          <m:nor/>
                        </m:rPr>
                        <a:rPr lang="en-IN" sz="2400" i="1"/>
                        <m:t>😭</m:t>
                      </m:r>
                    </m:oMath>
                  </m:oMathPara>
                </a14:m>
                <a:endParaRPr lang="en-IN" sz="2400" b="0" dirty="0"/>
              </a:p>
              <a:p>
                <a:r>
                  <a:rPr lang="en-IN" sz="2400" dirty="0"/>
                  <a:t>So a computer would take </a:t>
                </a:r>
                <a:r>
                  <a:rPr lang="en-IN" sz="2400" b="1" dirty="0"/>
                  <a:t>years or centuries</a:t>
                </a:r>
                <a:r>
                  <a:rPr lang="en-IN" sz="2400" dirty="0"/>
                  <a:t> to try all possibilities.</a:t>
                </a:r>
              </a:p>
              <a:p>
                <a:endParaRPr lang="ar-AE" sz="2400" dirty="0"/>
              </a:p>
            </p:txBody>
          </p:sp>
        </mc:Choice>
        <mc:Fallback xmlns="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FBC63ECB-2FF2-D845-EE56-BD9FB67EC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462" y="2096246"/>
                <a:ext cx="8190738" cy="4663264"/>
              </a:xfrm>
              <a:prstGeom prst="rect">
                <a:avLst/>
              </a:prstGeom>
              <a:blipFill>
                <a:blip r:embed="rId3"/>
                <a:stretch>
                  <a:fillRect l="-223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320764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37848F-5A26-AFC8-DD98-11A5A2E4A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1703879-6AD5-4280-AD4C-65EE921250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73AD1AE-6B09-FDF8-01E0-F9D360B7DAB1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53F56EF3-6877-8548-485C-7BD8F1B0DD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48190-D78C-5412-94C6-8321A4096DF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857C7DF2-E432-FAFD-1FF8-E52B0878FA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1. Problem: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04A4DA1-F03C-2F7B-8052-6D3F7E82A24E}"/>
              </a:ext>
            </a:extLst>
          </p:cNvPr>
          <p:cNvSpPr txBox="1"/>
          <p:nvPr/>
        </p:nvSpPr>
        <p:spPr>
          <a:xfrm>
            <a:off x="3095752" y="2097688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br>
              <a:rPr lang="en-US" sz="2800" dirty="0"/>
            </a:br>
            <a:r>
              <a:rPr lang="en-US" sz="2800" dirty="0"/>
              <a:t>A </a:t>
            </a:r>
            <a:r>
              <a:rPr lang="en-US" sz="2800" b="1" dirty="0"/>
              <a:t>problem</a:t>
            </a:r>
            <a:r>
              <a:rPr lang="en-US" sz="2800" dirty="0"/>
              <a:t> in AI is a task or situation that requires a solution. It can be any real-world scenario where an agent needs to achieve a specific goal starting from an initial condition, following certain rules or constraints.</a:t>
            </a:r>
          </a:p>
          <a:p>
            <a:r>
              <a:rPr lang="en-US" sz="2800" i="1" dirty="0"/>
              <a:t>Example:</a:t>
            </a:r>
            <a:r>
              <a:rPr lang="en-US" sz="2800" dirty="0"/>
              <a:t> Finding the shortest route from Arad to Bucharest.</a:t>
            </a:r>
          </a:p>
        </p:txBody>
      </p:sp>
    </p:spTree>
    <p:extLst>
      <p:ext uri="{BB962C8B-B14F-4D97-AF65-F5344CB8AC3E}">
        <p14:creationId xmlns:p14="http://schemas.microsoft.com/office/powerpoint/2010/main" val="30771301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99D92-2D01-C69C-587E-4B23206B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17E64B9-0021-7C55-C68C-D11636FE4C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400B87A-B210-7EDE-2320-D22109A4A0C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38E745CA-F5EA-272D-5E20-03E7C77387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879E1A1-94AA-58CF-C82A-E43A69462F1A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700AB367-0D82-5E83-CDA2-8343487B9A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2. State: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3EF073A-FBD9-691C-33B1-E5BB46223502}"/>
              </a:ext>
            </a:extLst>
          </p:cNvPr>
          <p:cNvSpPr txBox="1"/>
          <p:nvPr/>
        </p:nvSpPr>
        <p:spPr>
          <a:xfrm>
            <a:off x="3095752" y="2097688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br>
              <a:rPr lang="en-US" sz="2800" dirty="0"/>
            </a:br>
            <a:r>
              <a:rPr lang="en-US" sz="2800" dirty="0"/>
              <a:t>A </a:t>
            </a:r>
            <a:r>
              <a:rPr lang="en-US" sz="2800" b="1" dirty="0"/>
              <a:t>state</a:t>
            </a:r>
            <a:r>
              <a:rPr lang="en-US" sz="2800" dirty="0"/>
              <a:t> represents a </a:t>
            </a:r>
            <a:r>
              <a:rPr lang="en-US" sz="2800" b="1" dirty="0"/>
              <a:t>snapshot of the environment or situation at a given moment</a:t>
            </a:r>
            <a:r>
              <a:rPr lang="en-US" sz="2800" dirty="0"/>
              <a:t>. It contains all the information needed to describe the current condition of the problem.</a:t>
            </a:r>
          </a:p>
          <a:p>
            <a:r>
              <a:rPr lang="en-US" sz="2800" i="1" dirty="0"/>
              <a:t>Example:</a:t>
            </a:r>
            <a:r>
              <a:rPr lang="en-US" sz="2800" dirty="0"/>
              <a:t> At a given point in the journey, the agent is at city Arad. The current city, fuel, or any other relevant info defines the state.</a:t>
            </a:r>
          </a:p>
        </p:txBody>
      </p:sp>
    </p:spTree>
    <p:extLst>
      <p:ext uri="{BB962C8B-B14F-4D97-AF65-F5344CB8AC3E}">
        <p14:creationId xmlns:p14="http://schemas.microsoft.com/office/powerpoint/2010/main" val="1967929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D4015-C994-B6A3-8B17-01FA9CE7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DC6DE79-6CED-B2EA-55D1-C4DD1724A3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7AB5CE5-87FD-C1B1-99B7-11C500721FF0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A8CA0370-3BD2-A7A4-D41F-8A19CBE5454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02EBB9-77F5-C7E3-C365-44D2B36C5482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9DFA7647-2870-7EB5-5B11-EAD9957BDD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3. State-Space: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499F8E95-CD2F-3F99-95BB-6080E53B367F}"/>
              </a:ext>
            </a:extLst>
          </p:cNvPr>
          <p:cNvSpPr txBox="1"/>
          <p:nvPr/>
        </p:nvSpPr>
        <p:spPr>
          <a:xfrm>
            <a:off x="3095752" y="2097688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dirty="0"/>
              <a:t>The </a:t>
            </a:r>
            <a:r>
              <a:rPr lang="en-US" sz="2800" b="1" dirty="0"/>
              <a:t>state-space</a:t>
            </a:r>
            <a:r>
              <a:rPr lang="en-US" sz="2800" dirty="0"/>
              <a:t> is the </a:t>
            </a:r>
            <a:r>
              <a:rPr lang="en-US" sz="2800" b="1" dirty="0"/>
              <a:t>set of all possible states</a:t>
            </a:r>
            <a:r>
              <a:rPr lang="en-US" sz="2800" dirty="0"/>
              <a:t> that can be reached from the initial state by performing all possible actions. It can be represented as a graph or tree where:</a:t>
            </a:r>
          </a:p>
          <a:p>
            <a:r>
              <a:rPr lang="en-US" sz="2800" dirty="0"/>
              <a:t>Nodes = states</a:t>
            </a:r>
          </a:p>
          <a:p>
            <a:r>
              <a:rPr lang="en-US" sz="2800" dirty="0"/>
              <a:t>Edges = actions leading from one state to another</a:t>
            </a:r>
          </a:p>
          <a:p>
            <a:r>
              <a:rPr lang="en-US" sz="2800" i="1" dirty="0"/>
              <a:t>Example:</a:t>
            </a:r>
            <a:r>
              <a:rPr lang="en-US" sz="2800" dirty="0"/>
              <a:t> All cities connected by roads in Romania form the state-space for the route-finding problem.</a:t>
            </a:r>
          </a:p>
        </p:txBody>
      </p:sp>
    </p:spTree>
    <p:extLst>
      <p:ext uri="{BB962C8B-B14F-4D97-AF65-F5344CB8AC3E}">
        <p14:creationId xmlns:p14="http://schemas.microsoft.com/office/powerpoint/2010/main" val="14428181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579D3-8B80-7C50-BDA6-3AD6C247D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8F8B7F-D66B-361D-1BFB-A6BBEC1BCA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DF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36D53C6D-DC01-36DE-4A1C-F994C1EC2A5A}"/>
              </a:ext>
            </a:extLst>
          </p:cNvPr>
          <p:cNvGrpSpPr/>
          <p:nvPr/>
        </p:nvGrpSpPr>
        <p:grpSpPr>
          <a:xfrm>
            <a:off x="424984" y="432816"/>
            <a:ext cx="11280098" cy="6123432"/>
            <a:chOff x="424984" y="432816"/>
            <a:chExt cx="11280098" cy="6123432"/>
          </a:xfrm>
        </p:grpSpPr>
        <p:pic>
          <p:nvPicPr>
            <p:cNvPr id="4" name="object 4">
              <a:extLst>
                <a:ext uri="{FF2B5EF4-FFF2-40B4-BE49-F238E27FC236}">
                  <a16:creationId xmlns:a16="http://schemas.microsoft.com/office/drawing/2014/main" id="{D0B384A5-F091-DB2E-63E7-F84B5EC4C21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4984" y="432816"/>
              <a:ext cx="3459183" cy="6123432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E4E408C-BAA3-38D3-9A41-373512230AFB}"/>
                </a:ext>
              </a:extLst>
            </p:cNvPr>
            <p:cNvSpPr/>
            <p:nvPr/>
          </p:nvSpPr>
          <p:spPr>
            <a:xfrm>
              <a:off x="2934462" y="2177033"/>
              <a:ext cx="8770620" cy="0"/>
            </a:xfrm>
            <a:custGeom>
              <a:avLst/>
              <a:gdLst/>
              <a:ahLst/>
              <a:cxnLst/>
              <a:rect l="l" t="t" r="r" b="b"/>
              <a:pathLst>
                <a:path w="8770620">
                  <a:moveTo>
                    <a:pt x="0" y="0"/>
                  </a:moveTo>
                  <a:lnTo>
                    <a:pt x="8770619" y="0"/>
                  </a:lnTo>
                </a:path>
              </a:pathLst>
            </a:custGeom>
            <a:ln w="38100">
              <a:solidFill>
                <a:srgbClr val="79A8A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>
            <a:extLst>
              <a:ext uri="{FF2B5EF4-FFF2-40B4-BE49-F238E27FC236}">
                <a16:creationId xmlns:a16="http://schemas.microsoft.com/office/drawing/2014/main" id="{DD35574D-E3AC-4F48-3FEC-F20E07DA02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960" y="589229"/>
            <a:ext cx="845743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lang="en-US" sz="4400" b="0" spc="-50" dirty="0">
                <a:solidFill>
                  <a:srgbClr val="464A56"/>
                </a:solidFill>
                <a:latin typeface="Cambria"/>
                <a:cs typeface="Cambria"/>
              </a:rPr>
              <a:t>16</a:t>
            </a:r>
            <a:r>
              <a:rPr sz="4400" b="0" dirty="0">
                <a:solidFill>
                  <a:srgbClr val="464A56"/>
                </a:solidFill>
                <a:latin typeface="Cambria"/>
                <a:cs typeface="Cambria"/>
              </a:rPr>
              <a:t>	</a:t>
            </a:r>
            <a:r>
              <a:rPr lang="en-IN" sz="4400" dirty="0"/>
              <a:t> </a:t>
            </a:r>
            <a:r>
              <a:rPr lang="en-US" sz="4400" dirty="0"/>
              <a:t>4. Problem Formulation:</a:t>
            </a:r>
            <a:endParaRPr sz="4400" dirty="0">
              <a:latin typeface="Cambria"/>
              <a:cs typeface="Cambria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0A69652-3DD8-98AE-9546-751F0C151B88}"/>
              </a:ext>
            </a:extLst>
          </p:cNvPr>
          <p:cNvSpPr txBox="1"/>
          <p:nvPr/>
        </p:nvSpPr>
        <p:spPr>
          <a:xfrm>
            <a:off x="3095752" y="2097688"/>
            <a:ext cx="8448040" cy="3625993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r>
              <a:rPr lang="en-US" sz="2800" b="1" dirty="0"/>
              <a:t>Problem formulation</a:t>
            </a:r>
            <a:r>
              <a:rPr lang="en-US" sz="2800" dirty="0"/>
              <a:t> is the process of </a:t>
            </a:r>
            <a:r>
              <a:rPr lang="en-US" sz="2800" b="1" dirty="0"/>
              <a:t>defining a problem in a structured way so that an AI agent can solve it</a:t>
            </a:r>
            <a:r>
              <a:rPr lang="en-US" sz="2800" dirty="0"/>
              <a:t>. It involves specifying:</a:t>
            </a:r>
          </a:p>
          <a:p>
            <a:r>
              <a:rPr lang="en-US" sz="2800" b="1" dirty="0"/>
              <a:t>Initial state</a:t>
            </a:r>
            <a:r>
              <a:rPr lang="en-US" sz="2800" dirty="0"/>
              <a:t> – where the agent starts</a:t>
            </a:r>
          </a:p>
          <a:p>
            <a:r>
              <a:rPr lang="en-US" sz="2800" b="1" dirty="0"/>
              <a:t>Actions</a:t>
            </a:r>
            <a:r>
              <a:rPr lang="en-US" sz="2800" dirty="0"/>
              <a:t> – possible moves the agent can make</a:t>
            </a:r>
          </a:p>
          <a:p>
            <a:r>
              <a:rPr lang="en-US" sz="2800" b="1" dirty="0"/>
              <a:t>Goal state(s)</a:t>
            </a:r>
            <a:r>
              <a:rPr lang="en-US" sz="2800" dirty="0"/>
              <a:t> – desired outcome(s)</a:t>
            </a:r>
          </a:p>
          <a:p>
            <a:r>
              <a:rPr lang="en-US" sz="2800" b="1" dirty="0"/>
              <a:t>Path costs</a:t>
            </a:r>
            <a:r>
              <a:rPr lang="en-US" sz="2800" dirty="0"/>
              <a:t> – cost associated with moving between states</a:t>
            </a:r>
          </a:p>
        </p:txBody>
      </p:sp>
    </p:spTree>
    <p:extLst>
      <p:ext uri="{BB962C8B-B14F-4D97-AF65-F5344CB8AC3E}">
        <p14:creationId xmlns:p14="http://schemas.microsoft.com/office/powerpoint/2010/main" val="219549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C4D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1739</TotalTime>
  <Words>1851</Words>
  <Application>Microsoft Office PowerPoint</Application>
  <PresentationFormat>Widescreen</PresentationFormat>
  <Paragraphs>227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3" baseType="lpstr">
      <vt:lpstr>Aptos</vt:lpstr>
      <vt:lpstr>Arial</vt:lpstr>
      <vt:lpstr>Calibri</vt:lpstr>
      <vt:lpstr>Cambria</vt:lpstr>
      <vt:lpstr>Cambria Math</vt:lpstr>
      <vt:lpstr>Segoe UI</vt:lpstr>
      <vt:lpstr>Office Theme</vt:lpstr>
      <vt:lpstr>Introduction to AI                  Problem Solving and State                              Space Search                          SY B.Sc. (CS)</vt:lpstr>
      <vt:lpstr>2  Topics:</vt:lpstr>
      <vt:lpstr>Introduction to Problem-Solving Agents</vt:lpstr>
      <vt:lpstr>3 What is a Goal-Based Agent?</vt:lpstr>
      <vt:lpstr>3  Example: Goal-Based Agent? </vt:lpstr>
      <vt:lpstr>3 What is a Problem-Solving Agent?</vt:lpstr>
      <vt:lpstr>4 Example</vt:lpstr>
      <vt:lpstr>4  How Problem Solving Works?</vt:lpstr>
      <vt:lpstr>4  Well-defined problems and solutions</vt:lpstr>
      <vt:lpstr>6 A problem can be defined  formally by five components:</vt:lpstr>
      <vt:lpstr>7  Example</vt:lpstr>
      <vt:lpstr>7  Example:    Agent Starting from Arad </vt:lpstr>
      <vt:lpstr>7  Example:    Agent Starting from Arad </vt:lpstr>
      <vt:lpstr>7  Example:    Agent Starting from Arad </vt:lpstr>
      <vt:lpstr>PowerPoint Presentation</vt:lpstr>
      <vt:lpstr>Activity</vt:lpstr>
      <vt:lpstr>Formulating Problems</vt:lpstr>
      <vt:lpstr>5 What is Problem Formulation?</vt:lpstr>
      <vt:lpstr>State Space Representation</vt:lpstr>
      <vt:lpstr>8  What is State Space?</vt:lpstr>
      <vt:lpstr>9  State Space Representation Includes</vt:lpstr>
      <vt:lpstr>10 Real-Life Example</vt:lpstr>
      <vt:lpstr>11 What is State Space Search?</vt:lpstr>
      <vt:lpstr>12  Types of Search</vt:lpstr>
      <vt:lpstr>12  What is abstraction?</vt:lpstr>
      <vt:lpstr>12  Example:</vt:lpstr>
      <vt:lpstr>12  Toy vs Real-World Problems in AI</vt:lpstr>
      <vt:lpstr>12  Example Toy Problem: The Vacuum World</vt:lpstr>
      <vt:lpstr>PowerPoint Presentation</vt:lpstr>
      <vt:lpstr>12 Example Toy Problem: The 8-Puzzle</vt:lpstr>
      <vt:lpstr>PowerPoint Presentation</vt:lpstr>
      <vt:lpstr>12 Example Toy Problem: 8-Queens Problem</vt:lpstr>
      <vt:lpstr>PowerPoint Presentation</vt:lpstr>
      <vt:lpstr>PowerPoint Presentation</vt:lpstr>
      <vt:lpstr>PowerPoint Presentation</vt:lpstr>
      <vt:lpstr>12  Donald Knuth </vt:lpstr>
      <vt:lpstr>12  Example: Donald Knuth </vt:lpstr>
      <vt:lpstr>12 Example Real Problem: Route-finding Problem</vt:lpstr>
      <vt:lpstr>PowerPoint Presentation</vt:lpstr>
      <vt:lpstr>12 Example Real Problem: Touring Problem</vt:lpstr>
      <vt:lpstr>PowerPoint Presentation</vt:lpstr>
      <vt:lpstr>12 Example Real Problem: VLSI Layout Problem</vt:lpstr>
      <vt:lpstr>PowerPoint Presentation</vt:lpstr>
      <vt:lpstr>12 Example Real Problem: Robot Navigation</vt:lpstr>
      <vt:lpstr>PowerPoint Presentation</vt:lpstr>
      <vt:lpstr>12 Example Real Problem: Assembly Sequencing</vt:lpstr>
      <vt:lpstr>PowerPoint Presentation</vt:lpstr>
      <vt:lpstr>12 Example Real Problem: Protein Design</vt:lpstr>
      <vt:lpstr>PowerPoint Presentation</vt:lpstr>
      <vt:lpstr>PowerPoint Presentation</vt:lpstr>
      <vt:lpstr>12 Classification of Problems</vt:lpstr>
      <vt:lpstr>12 Classification of Problems</vt:lpstr>
      <vt:lpstr>16  1. Problem:</vt:lpstr>
      <vt:lpstr>16  2. State:</vt:lpstr>
      <vt:lpstr>16  3. State-Space:</vt:lpstr>
      <vt:lpstr>16  4. Problem Formulation: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 Geographic Information Systems </dc:title>
  <dc:creator>Pushpa Mahapatro</dc:creator>
  <cp:lastModifiedBy>LENOVO</cp:lastModifiedBy>
  <cp:revision>45</cp:revision>
  <dcterms:created xsi:type="dcterms:W3CDTF">2025-11-04T17:06:10Z</dcterms:created>
  <dcterms:modified xsi:type="dcterms:W3CDTF">2025-12-09T02:57:08Z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2021-01-13T00:00:00Z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2025-11-04T00:00:00Z</vt:filetime>
  </property>
  <property fmtid="{D5CDD505-2E9C-101B-9397-08002B2CF9AE}" pid="5" name="Producer">
    <vt:lpwstr>Microsoft® PowerPoint® for Microsoft 365</vt:lpwstr>
  </property>
</Properties>
</file>