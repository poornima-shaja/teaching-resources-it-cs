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5" r:id="rId5"/>
    <p:sldId id="277" r:id="rId6"/>
    <p:sldId id="278" r:id="rId7"/>
    <p:sldId id="276" r:id="rId8"/>
    <p:sldId id="279" r:id="rId9"/>
    <p:sldId id="281" r:id="rId10"/>
    <p:sldId id="280" r:id="rId11"/>
    <p:sldId id="283" r:id="rId12"/>
    <p:sldId id="282" r:id="rId13"/>
    <p:sldId id="261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90" d="100"/>
          <a:sy n="90" d="100"/>
        </p:scale>
        <p:origin x="14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4A6C77-847F-479B-AF2D-86C27B86F77D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AF40E7-C81A-43E9-9AF5-8EFD40C65180}">
      <dgm:prSet phldrT="[Text]" phldr="0"/>
      <dgm:spPr/>
      <dgm:t>
        <a:bodyPr/>
        <a:lstStyle/>
        <a:p>
          <a:r>
            <a:rPr lang="en-IN" dirty="0"/>
            <a:t>Netflix</a:t>
          </a:r>
        </a:p>
      </dgm:t>
    </dgm:pt>
    <dgm:pt modelId="{C7B8D7CB-D754-4CCA-833D-CF35CE191FFF}" type="parTrans" cxnId="{30E13310-0E36-4AC6-A3D5-E0DBFD964268}">
      <dgm:prSet/>
      <dgm:spPr/>
      <dgm:t>
        <a:bodyPr/>
        <a:lstStyle/>
        <a:p>
          <a:endParaRPr lang="en-IN"/>
        </a:p>
      </dgm:t>
    </dgm:pt>
    <dgm:pt modelId="{A0E1A751-3E51-4F10-9AED-00B0D1877A0E}" type="sibTrans" cxnId="{30E13310-0E36-4AC6-A3D5-E0DBFD964268}">
      <dgm:prSet/>
      <dgm:spPr/>
      <dgm:t>
        <a:bodyPr/>
        <a:lstStyle/>
        <a:p>
          <a:endParaRPr lang="en-IN"/>
        </a:p>
      </dgm:t>
    </dgm:pt>
    <dgm:pt modelId="{350ED46C-2910-492C-A962-1110E95F21EC}">
      <dgm:prSet phldrT="[Text]" phldr="0"/>
      <dgm:spPr/>
      <dgm:t>
        <a:bodyPr/>
        <a:lstStyle/>
        <a:p>
          <a:r>
            <a:rPr lang="en-IN" dirty="0"/>
            <a:t>Amazon</a:t>
          </a:r>
        </a:p>
      </dgm:t>
    </dgm:pt>
    <dgm:pt modelId="{BD4FF694-9D4B-4301-BD12-ED0E4041F98E}" type="parTrans" cxnId="{9EC66D82-4C6A-4525-AA21-68035F143D1D}">
      <dgm:prSet/>
      <dgm:spPr/>
      <dgm:t>
        <a:bodyPr/>
        <a:lstStyle/>
        <a:p>
          <a:endParaRPr lang="en-IN"/>
        </a:p>
      </dgm:t>
    </dgm:pt>
    <dgm:pt modelId="{1F47C30E-C0BE-456B-9C68-9240A0FCEA95}" type="sibTrans" cxnId="{9EC66D82-4C6A-4525-AA21-68035F143D1D}">
      <dgm:prSet/>
      <dgm:spPr/>
      <dgm:t>
        <a:bodyPr/>
        <a:lstStyle/>
        <a:p>
          <a:endParaRPr lang="en-IN"/>
        </a:p>
      </dgm:t>
    </dgm:pt>
    <dgm:pt modelId="{19DC28CF-1087-4983-A0B9-0F5D31DE3699}">
      <dgm:prSet phldrT="[Text]" phldr="0"/>
      <dgm:spPr/>
      <dgm:t>
        <a:bodyPr/>
        <a:lstStyle/>
        <a:p>
          <a:r>
            <a:rPr lang="en-IN" dirty="0"/>
            <a:t>Traffic Management</a:t>
          </a:r>
        </a:p>
      </dgm:t>
    </dgm:pt>
    <dgm:pt modelId="{0EEB8D85-4ABE-4581-B4AD-F02FBB0F1608}" type="parTrans" cxnId="{4FE25562-3278-4946-941C-5FD852AEC646}">
      <dgm:prSet/>
      <dgm:spPr/>
      <dgm:t>
        <a:bodyPr/>
        <a:lstStyle/>
        <a:p>
          <a:endParaRPr lang="en-IN"/>
        </a:p>
      </dgm:t>
    </dgm:pt>
    <dgm:pt modelId="{D9FC11AC-D8AE-440C-8C5E-8686BDC87E6F}" type="sibTrans" cxnId="{4FE25562-3278-4946-941C-5FD852AEC646}">
      <dgm:prSet/>
      <dgm:spPr/>
      <dgm:t>
        <a:bodyPr/>
        <a:lstStyle/>
        <a:p>
          <a:endParaRPr lang="en-IN"/>
        </a:p>
      </dgm:t>
    </dgm:pt>
    <dgm:pt modelId="{BB4266E9-624C-461B-8740-5E29F4E46234}">
      <dgm:prSet phldrT="[Text]" phldr="0"/>
      <dgm:spPr/>
      <dgm:t>
        <a:bodyPr/>
        <a:lstStyle/>
        <a:p>
          <a:r>
            <a:rPr lang="en-IN" dirty="0"/>
            <a:t>Disease Detection</a:t>
          </a:r>
        </a:p>
      </dgm:t>
    </dgm:pt>
    <dgm:pt modelId="{FEA16702-29A8-47AA-8DE1-932D7C848C4C}" type="parTrans" cxnId="{7B9CEAE9-6CE7-45D1-AC26-AC9D2AB72C9D}">
      <dgm:prSet/>
      <dgm:spPr/>
      <dgm:t>
        <a:bodyPr/>
        <a:lstStyle/>
        <a:p>
          <a:endParaRPr lang="en-IN"/>
        </a:p>
      </dgm:t>
    </dgm:pt>
    <dgm:pt modelId="{E60C7127-38D8-4853-8494-A629367A499A}" type="sibTrans" cxnId="{7B9CEAE9-6CE7-45D1-AC26-AC9D2AB72C9D}">
      <dgm:prSet/>
      <dgm:spPr/>
      <dgm:t>
        <a:bodyPr/>
        <a:lstStyle/>
        <a:p>
          <a:endParaRPr lang="en-IN"/>
        </a:p>
      </dgm:t>
    </dgm:pt>
    <dgm:pt modelId="{B293E033-849B-4732-AB52-5172754CFB87}" type="pres">
      <dgm:prSet presAssocID="{714A6C77-847F-479B-AF2D-86C27B86F77D}" presName="Name0" presStyleCnt="0">
        <dgm:presLayoutVars>
          <dgm:dir/>
          <dgm:resizeHandles val="exact"/>
        </dgm:presLayoutVars>
      </dgm:prSet>
      <dgm:spPr/>
    </dgm:pt>
    <dgm:pt modelId="{1048C438-AE09-40A0-A67B-DEF6FC37656F}" type="pres">
      <dgm:prSet presAssocID="{56AF40E7-C81A-43E9-9AF5-8EFD40C65180}" presName="compNode" presStyleCnt="0"/>
      <dgm:spPr/>
    </dgm:pt>
    <dgm:pt modelId="{BB8D0926-496D-45D4-9050-130431AA1D70}" type="pres">
      <dgm:prSet presAssocID="{56AF40E7-C81A-43E9-9AF5-8EFD40C65180}" presName="pictRect" presStyleLbl="node1" presStyleIdx="0" presStyleCnt="4"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0CB2BE0C-EFC9-4C53-8EFA-100BD8957F94}" type="pres">
      <dgm:prSet presAssocID="{56AF40E7-C81A-43E9-9AF5-8EFD40C65180}" presName="textRect" presStyleLbl="revTx" presStyleIdx="0" presStyleCnt="4">
        <dgm:presLayoutVars>
          <dgm:bulletEnabled val="1"/>
        </dgm:presLayoutVars>
      </dgm:prSet>
      <dgm:spPr/>
    </dgm:pt>
    <dgm:pt modelId="{F5785C14-C915-4B31-A443-EEB45EDEB275}" type="pres">
      <dgm:prSet presAssocID="{A0E1A751-3E51-4F10-9AED-00B0D1877A0E}" presName="sibTrans" presStyleLbl="sibTrans2D1" presStyleIdx="0" presStyleCnt="0"/>
      <dgm:spPr/>
    </dgm:pt>
    <dgm:pt modelId="{8398258E-887A-4D91-975C-9B30468DE4E3}" type="pres">
      <dgm:prSet presAssocID="{350ED46C-2910-492C-A962-1110E95F21EC}" presName="compNode" presStyleCnt="0"/>
      <dgm:spPr/>
    </dgm:pt>
    <dgm:pt modelId="{B66210C5-3CE8-4C48-A8C3-B48FF2AD9A5C}" type="pres">
      <dgm:prSet presAssocID="{350ED46C-2910-492C-A962-1110E95F21EC}" presName="pictRect" presStyleLbl="node1" presStyleIdx="1" presStyleCnt="4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61AC8BB4-87C3-4B62-ABC0-BA82190A275B}" type="pres">
      <dgm:prSet presAssocID="{350ED46C-2910-492C-A962-1110E95F21EC}" presName="textRect" presStyleLbl="revTx" presStyleIdx="1" presStyleCnt="4">
        <dgm:presLayoutVars>
          <dgm:bulletEnabled val="1"/>
        </dgm:presLayoutVars>
      </dgm:prSet>
      <dgm:spPr/>
    </dgm:pt>
    <dgm:pt modelId="{E853612B-D9A9-44D6-A88D-954B32C41E58}" type="pres">
      <dgm:prSet presAssocID="{1F47C30E-C0BE-456B-9C68-9240A0FCEA95}" presName="sibTrans" presStyleLbl="sibTrans2D1" presStyleIdx="0" presStyleCnt="0"/>
      <dgm:spPr/>
    </dgm:pt>
    <dgm:pt modelId="{7A9C3793-1876-48EE-B937-7E01A45E5030}" type="pres">
      <dgm:prSet presAssocID="{19DC28CF-1087-4983-A0B9-0F5D31DE3699}" presName="compNode" presStyleCnt="0"/>
      <dgm:spPr/>
    </dgm:pt>
    <dgm:pt modelId="{BDF6CFD5-BB22-4A38-8C1B-C87A8A223792}" type="pres">
      <dgm:prSet presAssocID="{19DC28CF-1087-4983-A0B9-0F5D31DE3699}" presName="pictRect" presStyleLbl="node1" presStyleIdx="2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5C45524A-B997-4090-9413-CA72410FB908}" type="pres">
      <dgm:prSet presAssocID="{19DC28CF-1087-4983-A0B9-0F5D31DE3699}" presName="textRect" presStyleLbl="revTx" presStyleIdx="2" presStyleCnt="4">
        <dgm:presLayoutVars>
          <dgm:bulletEnabled val="1"/>
        </dgm:presLayoutVars>
      </dgm:prSet>
      <dgm:spPr/>
    </dgm:pt>
    <dgm:pt modelId="{EE8333B0-4A08-4F87-925F-28BF5DA024EA}" type="pres">
      <dgm:prSet presAssocID="{D9FC11AC-D8AE-440C-8C5E-8686BDC87E6F}" presName="sibTrans" presStyleLbl="sibTrans2D1" presStyleIdx="0" presStyleCnt="0"/>
      <dgm:spPr/>
    </dgm:pt>
    <dgm:pt modelId="{FFF57007-509D-403D-BD85-EBA2D355FD0D}" type="pres">
      <dgm:prSet presAssocID="{BB4266E9-624C-461B-8740-5E29F4E46234}" presName="compNode" presStyleCnt="0"/>
      <dgm:spPr/>
    </dgm:pt>
    <dgm:pt modelId="{F7F73875-164B-4536-AC06-FAB202C85BD9}" type="pres">
      <dgm:prSet presAssocID="{BB4266E9-624C-461B-8740-5E29F4E46234}" presName="pictRect" presStyleLbl="node1" presStyleIdx="3" presStyleCnt="4"/>
      <dgm:spPr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3000" b="-33000"/>
          </a:stretch>
        </a:blipFill>
      </dgm:spPr>
    </dgm:pt>
    <dgm:pt modelId="{11244DB4-41E9-4391-A8E1-787385CC80A5}" type="pres">
      <dgm:prSet presAssocID="{BB4266E9-624C-461B-8740-5E29F4E46234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04CC8409-7D13-44AE-9A15-C03480672A6F}" type="presOf" srcId="{BB4266E9-624C-461B-8740-5E29F4E46234}" destId="{11244DB4-41E9-4391-A8E1-787385CC80A5}" srcOrd="0" destOrd="0" presId="urn:microsoft.com/office/officeart/2005/8/layout/pList1"/>
    <dgm:cxn modelId="{51AD9A0C-DF98-4CA5-BBA9-ABE3C2A2F4AC}" type="presOf" srcId="{D9FC11AC-D8AE-440C-8C5E-8686BDC87E6F}" destId="{EE8333B0-4A08-4F87-925F-28BF5DA024EA}" srcOrd="0" destOrd="0" presId="urn:microsoft.com/office/officeart/2005/8/layout/pList1"/>
    <dgm:cxn modelId="{30E13310-0E36-4AC6-A3D5-E0DBFD964268}" srcId="{714A6C77-847F-479B-AF2D-86C27B86F77D}" destId="{56AF40E7-C81A-43E9-9AF5-8EFD40C65180}" srcOrd="0" destOrd="0" parTransId="{C7B8D7CB-D754-4CCA-833D-CF35CE191FFF}" sibTransId="{A0E1A751-3E51-4F10-9AED-00B0D1877A0E}"/>
    <dgm:cxn modelId="{A145401A-D05F-4231-BCAE-BBE77B67B722}" type="presOf" srcId="{1F47C30E-C0BE-456B-9C68-9240A0FCEA95}" destId="{E853612B-D9A9-44D6-A88D-954B32C41E58}" srcOrd="0" destOrd="0" presId="urn:microsoft.com/office/officeart/2005/8/layout/pList1"/>
    <dgm:cxn modelId="{B52F5C41-1278-4ED9-8E56-8E2C56E3D9EA}" type="presOf" srcId="{19DC28CF-1087-4983-A0B9-0F5D31DE3699}" destId="{5C45524A-B997-4090-9413-CA72410FB908}" srcOrd="0" destOrd="0" presId="urn:microsoft.com/office/officeart/2005/8/layout/pList1"/>
    <dgm:cxn modelId="{4FE25562-3278-4946-941C-5FD852AEC646}" srcId="{714A6C77-847F-479B-AF2D-86C27B86F77D}" destId="{19DC28CF-1087-4983-A0B9-0F5D31DE3699}" srcOrd="2" destOrd="0" parTransId="{0EEB8D85-4ABE-4581-B4AD-F02FBB0F1608}" sibTransId="{D9FC11AC-D8AE-440C-8C5E-8686BDC87E6F}"/>
    <dgm:cxn modelId="{0BF21249-48A8-4703-980B-DEF28340BCBB}" type="presOf" srcId="{714A6C77-847F-479B-AF2D-86C27B86F77D}" destId="{B293E033-849B-4732-AB52-5172754CFB87}" srcOrd="0" destOrd="0" presId="urn:microsoft.com/office/officeart/2005/8/layout/pList1"/>
    <dgm:cxn modelId="{21B4B36B-9A36-48F8-8167-8B1446A449D5}" type="presOf" srcId="{A0E1A751-3E51-4F10-9AED-00B0D1877A0E}" destId="{F5785C14-C915-4B31-A443-EEB45EDEB275}" srcOrd="0" destOrd="0" presId="urn:microsoft.com/office/officeart/2005/8/layout/pList1"/>
    <dgm:cxn modelId="{050F2357-D411-4E8A-820E-160CA15D2081}" type="presOf" srcId="{350ED46C-2910-492C-A962-1110E95F21EC}" destId="{61AC8BB4-87C3-4B62-ABC0-BA82190A275B}" srcOrd="0" destOrd="0" presId="urn:microsoft.com/office/officeart/2005/8/layout/pList1"/>
    <dgm:cxn modelId="{9EC66D82-4C6A-4525-AA21-68035F143D1D}" srcId="{714A6C77-847F-479B-AF2D-86C27B86F77D}" destId="{350ED46C-2910-492C-A962-1110E95F21EC}" srcOrd="1" destOrd="0" parTransId="{BD4FF694-9D4B-4301-BD12-ED0E4041F98E}" sibTransId="{1F47C30E-C0BE-456B-9C68-9240A0FCEA95}"/>
    <dgm:cxn modelId="{8F68FC84-C1A1-4CC5-8EC0-9633A3B105CC}" type="presOf" srcId="{56AF40E7-C81A-43E9-9AF5-8EFD40C65180}" destId="{0CB2BE0C-EFC9-4C53-8EFA-100BD8957F94}" srcOrd="0" destOrd="0" presId="urn:microsoft.com/office/officeart/2005/8/layout/pList1"/>
    <dgm:cxn modelId="{7B9CEAE9-6CE7-45D1-AC26-AC9D2AB72C9D}" srcId="{714A6C77-847F-479B-AF2D-86C27B86F77D}" destId="{BB4266E9-624C-461B-8740-5E29F4E46234}" srcOrd="3" destOrd="0" parTransId="{FEA16702-29A8-47AA-8DE1-932D7C848C4C}" sibTransId="{E60C7127-38D8-4853-8494-A629367A499A}"/>
    <dgm:cxn modelId="{33F0C087-71B2-4C8A-84BC-DFDC1F66C530}" type="presParOf" srcId="{B293E033-849B-4732-AB52-5172754CFB87}" destId="{1048C438-AE09-40A0-A67B-DEF6FC37656F}" srcOrd="0" destOrd="0" presId="urn:microsoft.com/office/officeart/2005/8/layout/pList1"/>
    <dgm:cxn modelId="{5B60A1D2-8DD3-4510-B29F-6463045A1C15}" type="presParOf" srcId="{1048C438-AE09-40A0-A67B-DEF6FC37656F}" destId="{BB8D0926-496D-45D4-9050-130431AA1D70}" srcOrd="0" destOrd="0" presId="urn:microsoft.com/office/officeart/2005/8/layout/pList1"/>
    <dgm:cxn modelId="{F3F50A74-4558-4066-97BD-35EFC290D1E1}" type="presParOf" srcId="{1048C438-AE09-40A0-A67B-DEF6FC37656F}" destId="{0CB2BE0C-EFC9-4C53-8EFA-100BD8957F94}" srcOrd="1" destOrd="0" presId="urn:microsoft.com/office/officeart/2005/8/layout/pList1"/>
    <dgm:cxn modelId="{3A2BF338-1748-41F4-8B0F-EFAEA8C6B34D}" type="presParOf" srcId="{B293E033-849B-4732-AB52-5172754CFB87}" destId="{F5785C14-C915-4B31-A443-EEB45EDEB275}" srcOrd="1" destOrd="0" presId="urn:microsoft.com/office/officeart/2005/8/layout/pList1"/>
    <dgm:cxn modelId="{9B1D9D06-B3B3-4790-A35E-399B9240EBBD}" type="presParOf" srcId="{B293E033-849B-4732-AB52-5172754CFB87}" destId="{8398258E-887A-4D91-975C-9B30468DE4E3}" srcOrd="2" destOrd="0" presId="urn:microsoft.com/office/officeart/2005/8/layout/pList1"/>
    <dgm:cxn modelId="{5A1955BB-F87F-4E8F-BB91-7FAD2196D78D}" type="presParOf" srcId="{8398258E-887A-4D91-975C-9B30468DE4E3}" destId="{B66210C5-3CE8-4C48-A8C3-B48FF2AD9A5C}" srcOrd="0" destOrd="0" presId="urn:microsoft.com/office/officeart/2005/8/layout/pList1"/>
    <dgm:cxn modelId="{EA10FF72-A3A1-4EAD-9104-A454A75C3E73}" type="presParOf" srcId="{8398258E-887A-4D91-975C-9B30468DE4E3}" destId="{61AC8BB4-87C3-4B62-ABC0-BA82190A275B}" srcOrd="1" destOrd="0" presId="urn:microsoft.com/office/officeart/2005/8/layout/pList1"/>
    <dgm:cxn modelId="{F4EFFA79-9284-43F5-B1EF-4EC28DA73A0E}" type="presParOf" srcId="{B293E033-849B-4732-AB52-5172754CFB87}" destId="{E853612B-D9A9-44D6-A88D-954B32C41E58}" srcOrd="3" destOrd="0" presId="urn:microsoft.com/office/officeart/2005/8/layout/pList1"/>
    <dgm:cxn modelId="{7267A4BF-6C6F-455F-AB0C-CCCD3674A47C}" type="presParOf" srcId="{B293E033-849B-4732-AB52-5172754CFB87}" destId="{7A9C3793-1876-48EE-B937-7E01A45E5030}" srcOrd="4" destOrd="0" presId="urn:microsoft.com/office/officeart/2005/8/layout/pList1"/>
    <dgm:cxn modelId="{92AD416F-F566-4973-AF66-FBACB616C0F6}" type="presParOf" srcId="{7A9C3793-1876-48EE-B937-7E01A45E5030}" destId="{BDF6CFD5-BB22-4A38-8C1B-C87A8A223792}" srcOrd="0" destOrd="0" presId="urn:microsoft.com/office/officeart/2005/8/layout/pList1"/>
    <dgm:cxn modelId="{2D8F76E0-773A-4451-A540-DAE94DB6FB56}" type="presParOf" srcId="{7A9C3793-1876-48EE-B937-7E01A45E5030}" destId="{5C45524A-B997-4090-9413-CA72410FB908}" srcOrd="1" destOrd="0" presId="urn:microsoft.com/office/officeart/2005/8/layout/pList1"/>
    <dgm:cxn modelId="{093AED23-67D7-4136-8281-91FAD87FB87B}" type="presParOf" srcId="{B293E033-849B-4732-AB52-5172754CFB87}" destId="{EE8333B0-4A08-4F87-925F-28BF5DA024EA}" srcOrd="5" destOrd="0" presId="urn:microsoft.com/office/officeart/2005/8/layout/pList1"/>
    <dgm:cxn modelId="{E32F7E1B-BC33-4B06-98C6-0F8B12EEFAA7}" type="presParOf" srcId="{B293E033-849B-4732-AB52-5172754CFB87}" destId="{FFF57007-509D-403D-BD85-EBA2D355FD0D}" srcOrd="6" destOrd="0" presId="urn:microsoft.com/office/officeart/2005/8/layout/pList1"/>
    <dgm:cxn modelId="{8E1DFEC2-0A4F-4714-987D-F65540389793}" type="presParOf" srcId="{FFF57007-509D-403D-BD85-EBA2D355FD0D}" destId="{F7F73875-164B-4536-AC06-FAB202C85BD9}" srcOrd="0" destOrd="0" presId="urn:microsoft.com/office/officeart/2005/8/layout/pList1"/>
    <dgm:cxn modelId="{2CFFC515-F179-40B9-B37C-79EB9B87B90E}" type="presParOf" srcId="{FFF57007-509D-403D-BD85-EBA2D355FD0D}" destId="{11244DB4-41E9-4391-A8E1-787385CC80A5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D0926-496D-45D4-9050-130431AA1D70}">
      <dsp:nvSpPr>
        <dsp:cNvPr id="0" name=""/>
        <dsp:cNvSpPr/>
      </dsp:nvSpPr>
      <dsp:spPr>
        <a:xfrm>
          <a:off x="209419" y="2076"/>
          <a:ext cx="2059808" cy="1419208"/>
        </a:xfrm>
        <a:prstGeom prst="roundRect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2BE0C-EFC9-4C53-8EFA-100BD8957F94}">
      <dsp:nvSpPr>
        <dsp:cNvPr id="0" name=""/>
        <dsp:cNvSpPr/>
      </dsp:nvSpPr>
      <dsp:spPr>
        <a:xfrm>
          <a:off x="209419" y="1421284"/>
          <a:ext cx="2059808" cy="764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Netflix</a:t>
          </a:r>
        </a:p>
      </dsp:txBody>
      <dsp:txXfrm>
        <a:off x="209419" y="1421284"/>
        <a:ext cx="2059808" cy="764189"/>
      </dsp:txXfrm>
    </dsp:sp>
    <dsp:sp modelId="{B66210C5-3CE8-4C48-A8C3-B48FF2AD9A5C}">
      <dsp:nvSpPr>
        <dsp:cNvPr id="0" name=""/>
        <dsp:cNvSpPr/>
      </dsp:nvSpPr>
      <dsp:spPr>
        <a:xfrm>
          <a:off x="2475295" y="2076"/>
          <a:ext cx="2059808" cy="1419208"/>
        </a:xfrm>
        <a:prstGeom prst="roundRect">
          <a:avLst/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C8BB4-87C3-4B62-ABC0-BA82190A275B}">
      <dsp:nvSpPr>
        <dsp:cNvPr id="0" name=""/>
        <dsp:cNvSpPr/>
      </dsp:nvSpPr>
      <dsp:spPr>
        <a:xfrm>
          <a:off x="2475295" y="1421284"/>
          <a:ext cx="2059808" cy="764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Amazon</a:t>
          </a:r>
        </a:p>
      </dsp:txBody>
      <dsp:txXfrm>
        <a:off x="2475295" y="1421284"/>
        <a:ext cx="2059808" cy="764189"/>
      </dsp:txXfrm>
    </dsp:sp>
    <dsp:sp modelId="{BDF6CFD5-BB22-4A38-8C1B-C87A8A223792}">
      <dsp:nvSpPr>
        <dsp:cNvPr id="0" name=""/>
        <dsp:cNvSpPr/>
      </dsp:nvSpPr>
      <dsp:spPr>
        <a:xfrm>
          <a:off x="4741171" y="2076"/>
          <a:ext cx="2059808" cy="1419208"/>
        </a:xfrm>
        <a:prstGeom prst="round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5524A-B997-4090-9413-CA72410FB908}">
      <dsp:nvSpPr>
        <dsp:cNvPr id="0" name=""/>
        <dsp:cNvSpPr/>
      </dsp:nvSpPr>
      <dsp:spPr>
        <a:xfrm>
          <a:off x="4741171" y="1421284"/>
          <a:ext cx="2059808" cy="764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Traffic Management</a:t>
          </a:r>
        </a:p>
      </dsp:txBody>
      <dsp:txXfrm>
        <a:off x="4741171" y="1421284"/>
        <a:ext cx="2059808" cy="764189"/>
      </dsp:txXfrm>
    </dsp:sp>
    <dsp:sp modelId="{F7F73875-164B-4536-AC06-FAB202C85BD9}">
      <dsp:nvSpPr>
        <dsp:cNvPr id="0" name=""/>
        <dsp:cNvSpPr/>
      </dsp:nvSpPr>
      <dsp:spPr>
        <a:xfrm>
          <a:off x="2475295" y="2391454"/>
          <a:ext cx="2059808" cy="1419208"/>
        </a:xfrm>
        <a:prstGeom prst="roundRect">
          <a:avLst/>
        </a:prstGeom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3000" b="-3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44DB4-41E9-4391-A8E1-787385CC80A5}">
      <dsp:nvSpPr>
        <dsp:cNvPr id="0" name=""/>
        <dsp:cNvSpPr/>
      </dsp:nvSpPr>
      <dsp:spPr>
        <a:xfrm>
          <a:off x="2475295" y="3810662"/>
          <a:ext cx="2059808" cy="764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Disease Detection</a:t>
          </a:r>
        </a:p>
      </dsp:txBody>
      <dsp:txXfrm>
        <a:off x="2475295" y="3810662"/>
        <a:ext cx="2059808" cy="764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7728" y="2227075"/>
            <a:ext cx="8546465" cy="1385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Introduction of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lang="en-US" sz="3200" dirty="0"/>
              <a:t>AI is the branch of computer science that makes machines capable of performing tasks that normally require human intelligence.</a:t>
            </a:r>
          </a:p>
          <a:p>
            <a:r>
              <a:rPr lang="en-US" sz="3200" b="1" dirty="0"/>
              <a:t>Examples:</a:t>
            </a:r>
            <a:endParaRPr lang="en-US" sz="3200" dirty="0"/>
          </a:p>
          <a:p>
            <a:r>
              <a:rPr lang="en-US" sz="3200" dirty="0"/>
              <a:t>Siri, Alexa</a:t>
            </a:r>
          </a:p>
          <a:p>
            <a:r>
              <a:rPr lang="en-US" sz="3200" dirty="0"/>
              <a:t>Self-driving cars</a:t>
            </a:r>
          </a:p>
          <a:p>
            <a:r>
              <a:rPr lang="en-US" sz="3200" dirty="0"/>
              <a:t>ChatGPT</a:t>
            </a:r>
            <a:endParaRPr sz="3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What is Artificial Intelligence?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189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Why Study AI?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computers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from experience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solve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real-world problems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systems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(robots, chatbots,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humans in every field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EE2E50-8CC7-E82A-44BD-6A0EEC6D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31E0D6-21F2-615E-16DD-A389608036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FF4DC99-1937-40C7-7298-006A48E46EB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3F4E437-737F-61F4-1962-2660C6EBAD9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C109943-DE14-AB7F-E888-E2DDCB619BF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31F0653-14D0-001C-0D7C-D87676174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Real-Life Examples of AI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C40FC33-6F2E-3A95-2883-B8082437F9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2261606"/>
              </p:ext>
            </p:extLst>
          </p:nvPr>
        </p:nvGraphicFramePr>
        <p:xfrm>
          <a:off x="2951395" y="2229053"/>
          <a:ext cx="7010400" cy="4576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065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8EC554-7967-B2C6-DB49-FF440FC6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082A92C-0351-A5C0-93B5-A708682EC3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1A2BBCD-8112-0610-9F64-290C5AAC1AD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7EF446-FAD5-B3D0-453F-EE92A137BC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E7E3C0A-8CB3-71D8-808F-36AF00B4BA4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5A64892-11EC-6934-4B54-8CD5AD591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What You Will Learn in This</a:t>
            </a:r>
            <a:br>
              <a:rPr lang="en-US" sz="4400" dirty="0"/>
            </a:br>
            <a:r>
              <a:rPr lang="en-US" sz="4400" dirty="0"/>
              <a:t>                        Subject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FB4F4BC-610D-B805-884F-EA298604E1BC}"/>
              </a:ext>
            </a:extLst>
          </p:cNvPr>
          <p:cNvSpPr txBox="1"/>
          <p:nvPr/>
        </p:nvSpPr>
        <p:spPr>
          <a:xfrm>
            <a:off x="2934462" y="2286000"/>
            <a:ext cx="8448040" cy="325666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000" b="1" dirty="0"/>
              <a:t>Module 1 – Foundations of Artificial Intelligence (~15 hours)</a:t>
            </a:r>
          </a:p>
          <a:p>
            <a:endParaRPr lang="en-US" sz="2000" dirty="0"/>
          </a:p>
          <a:p>
            <a:r>
              <a:rPr lang="en-US" sz="2000" dirty="0"/>
              <a:t>Understand </a:t>
            </a:r>
            <a:r>
              <a:rPr lang="en-US" sz="2000" b="1" dirty="0"/>
              <a:t>AI perspectives</a:t>
            </a:r>
            <a:r>
              <a:rPr lang="en-US" sz="2000" dirty="0"/>
              <a:t> – acting/thinking </a:t>
            </a:r>
            <a:r>
              <a:rPr lang="en-US" sz="2000" i="1" dirty="0"/>
              <a:t>humanly vs rationally</a:t>
            </a:r>
            <a:endParaRPr lang="en-US" sz="2000" dirty="0"/>
          </a:p>
          <a:p>
            <a:r>
              <a:rPr lang="en-US" sz="2000" dirty="0"/>
              <a:t>Learn about </a:t>
            </a:r>
            <a:r>
              <a:rPr lang="en-US" sz="2000" b="1" dirty="0"/>
              <a:t>Intelligent Agents</a:t>
            </a:r>
            <a:r>
              <a:rPr lang="en-US" sz="2000" dirty="0"/>
              <a:t> – how machines sense and act</a:t>
            </a:r>
          </a:p>
          <a:p>
            <a:r>
              <a:rPr lang="en-US" sz="2000" dirty="0"/>
              <a:t>Study </a:t>
            </a:r>
            <a:r>
              <a:rPr lang="en-US" sz="2000" b="1" dirty="0"/>
              <a:t>Agent Structure</a:t>
            </a:r>
            <a:r>
              <a:rPr lang="en-US" sz="2000" dirty="0"/>
              <a:t> and </a:t>
            </a:r>
            <a:r>
              <a:rPr lang="en-US" sz="2000" b="1" dirty="0"/>
              <a:t>Characteristics</a:t>
            </a:r>
            <a:endParaRPr lang="en-US" sz="2000" dirty="0"/>
          </a:p>
          <a:p>
            <a:r>
              <a:rPr lang="en-US" sz="2000" dirty="0"/>
              <a:t>Explore </a:t>
            </a:r>
            <a:r>
              <a:rPr lang="en-US" sz="2000" b="1" dirty="0"/>
              <a:t>Types of Agents</a:t>
            </a:r>
            <a:r>
              <a:rPr lang="en-US" sz="2000" dirty="0"/>
              <a:t> – reflex, model-based, goal-based, utility-based</a:t>
            </a:r>
          </a:p>
          <a:p>
            <a:r>
              <a:rPr lang="en-US" sz="2000" dirty="0"/>
              <a:t>Understand different </a:t>
            </a:r>
            <a:r>
              <a:rPr lang="en-US" sz="2000" b="1" dirty="0"/>
              <a:t>Environment Types</a:t>
            </a:r>
            <a:r>
              <a:rPr lang="en-US" sz="2000" dirty="0"/>
              <a:t> – deterministic, static, observable, multi-agent</a:t>
            </a:r>
          </a:p>
          <a:p>
            <a:r>
              <a:rPr lang="en-US" sz="2000" dirty="0"/>
              <a:t>Learn </a:t>
            </a:r>
            <a:r>
              <a:rPr lang="en-US" sz="2000" b="1" dirty="0"/>
              <a:t>Problem Formulation</a:t>
            </a:r>
            <a:r>
              <a:rPr lang="en-US" sz="2000" dirty="0"/>
              <a:t> and </a:t>
            </a:r>
            <a:r>
              <a:rPr lang="en-US" sz="2000" b="1" dirty="0"/>
              <a:t>State-space representation</a:t>
            </a: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86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8E29B1-AE87-09A7-5241-AEED272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9B49CD-C1F7-4BF1-91CA-C14C14FF6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4AA4BEE-A219-DBE3-D461-78341F79AA1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C6E940-1607-FB9B-4E85-422E456B6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A3024E-BDD9-D293-57DE-F8B948B828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B3EDCA0-ED36-AF8E-35E2-00982C2C0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8290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What You Will Learn in This</a:t>
            </a:r>
            <a:br>
              <a:rPr lang="en-US" sz="4400" dirty="0"/>
            </a:br>
            <a:r>
              <a:rPr lang="en-US" sz="4400" dirty="0"/>
              <a:t>                        Subject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B953476-4947-34B7-BA57-7A65FE59BBFB}"/>
              </a:ext>
            </a:extLst>
          </p:cNvPr>
          <p:cNvSpPr txBox="1"/>
          <p:nvPr/>
        </p:nvSpPr>
        <p:spPr>
          <a:xfrm>
            <a:off x="2934462" y="2286000"/>
            <a:ext cx="8448040" cy="417999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000" b="1" dirty="0"/>
              <a:t>Module 2 – Problem Solving, Learning &amp; Expert Systems (~15 hours)</a:t>
            </a:r>
          </a:p>
          <a:p>
            <a:endParaRPr lang="en-US" sz="2000" dirty="0"/>
          </a:p>
          <a:p>
            <a:r>
              <a:rPr lang="en-US" sz="2000" dirty="0"/>
              <a:t>Learn </a:t>
            </a:r>
            <a:r>
              <a:rPr lang="en-US" sz="2000" b="1" dirty="0"/>
              <a:t>Problem-Solving by Searching</a:t>
            </a:r>
            <a:r>
              <a:rPr lang="en-US" sz="2000" dirty="0"/>
              <a:t> – performance, completeness, optimality</a:t>
            </a:r>
          </a:p>
          <a:p>
            <a:r>
              <a:rPr lang="en-US" sz="2000" dirty="0"/>
              <a:t>Understand </a:t>
            </a:r>
            <a:r>
              <a:rPr lang="en-US" sz="2000" b="1" dirty="0"/>
              <a:t>Uninformed Search</a:t>
            </a:r>
            <a:r>
              <a:rPr lang="en-US" sz="2000" dirty="0"/>
              <a:t> – Depth First Search (DFS), Breadth First Search (BFS)</a:t>
            </a:r>
          </a:p>
          <a:p>
            <a:r>
              <a:rPr lang="en-US" sz="2000" dirty="0"/>
              <a:t>Explore </a:t>
            </a:r>
            <a:r>
              <a:rPr lang="en-US" sz="2000" b="1" dirty="0"/>
              <a:t>Informed (Heuristic) Search</a:t>
            </a:r>
            <a:r>
              <a:rPr lang="en-US" sz="2000" dirty="0"/>
              <a:t> – heuristic function, greedy search, A* algorithm</a:t>
            </a:r>
          </a:p>
          <a:p>
            <a:r>
              <a:rPr lang="en-US" sz="2000" dirty="0"/>
              <a:t>Study </a:t>
            </a:r>
            <a:r>
              <a:rPr lang="en-US" sz="2000" b="1" dirty="0"/>
              <a:t>Planning</a:t>
            </a:r>
            <a:r>
              <a:rPr lang="en-US" sz="2000" dirty="0"/>
              <a:t> – total order and partial order planning</a:t>
            </a:r>
          </a:p>
          <a:p>
            <a:r>
              <a:rPr lang="en-US" sz="2000" dirty="0"/>
              <a:t>Learn </a:t>
            </a:r>
            <a:r>
              <a:rPr lang="en-US" sz="2000" b="1" dirty="0"/>
              <a:t>Different Types of Learning</a:t>
            </a:r>
            <a:r>
              <a:rPr lang="en-US" sz="2000" dirty="0"/>
              <a:t> – supervised, unsupervised, semi-supervised, reinforcement, ensemble</a:t>
            </a:r>
          </a:p>
          <a:p>
            <a:r>
              <a:rPr lang="en-US" sz="2000" dirty="0"/>
              <a:t>Understand </a:t>
            </a:r>
            <a:r>
              <a:rPr lang="en-US" sz="2000" b="1" dirty="0"/>
              <a:t>Expert Systems</a:t>
            </a:r>
            <a:r>
              <a:rPr lang="en-US" sz="2000" dirty="0"/>
              <a:t> – components (knowledge base, inference engine, etc.) and their development</a:t>
            </a:r>
          </a:p>
        </p:txBody>
      </p:sp>
    </p:spTree>
    <p:extLst>
      <p:ext uri="{BB962C8B-B14F-4D97-AF65-F5344CB8AC3E}">
        <p14:creationId xmlns:p14="http://schemas.microsoft.com/office/powerpoint/2010/main" val="361476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1558FF-4276-0F1E-5504-CE3DDFDC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A798C1-F2BE-E8FB-1EF9-CEADC4F37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FA2D211-52B4-9D38-62EB-C127A1C364D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F75F331-738C-CDE8-55D2-0CE5E059FC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CE4F03-8CA7-0A01-C2F2-88F33DE05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2035F9D-310D-0353-657F-D4F3E3CE3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CHAPTER 1: AI Perspectives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A169FBD-CC2D-5D7C-5ABA-48D1D72FAFFB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AI perspectives describe </a:t>
            </a:r>
            <a:r>
              <a:rPr lang="en-US" sz="2800" b="1" dirty="0"/>
              <a:t>different ways to understand intelligence</a:t>
            </a:r>
            <a:r>
              <a:rPr lang="en-US" sz="2800" dirty="0"/>
              <a:t> — whether machines should </a:t>
            </a:r>
            <a:r>
              <a:rPr lang="en-US" sz="2800" b="1" dirty="0"/>
              <a:t>think</a:t>
            </a:r>
            <a:r>
              <a:rPr lang="en-US" sz="2800" dirty="0"/>
              <a:t> or </a:t>
            </a:r>
            <a:r>
              <a:rPr lang="en-US" sz="2800" b="1" dirty="0"/>
              <a:t>act</a:t>
            </a:r>
            <a:r>
              <a:rPr lang="en-US" sz="2800" dirty="0"/>
              <a:t>, and whether they should do so </a:t>
            </a:r>
            <a:r>
              <a:rPr lang="en-US" sz="2800" b="1" dirty="0"/>
              <a:t>like humans</a:t>
            </a:r>
            <a:r>
              <a:rPr lang="en-US" sz="2800" dirty="0"/>
              <a:t> or </a:t>
            </a:r>
            <a:r>
              <a:rPr lang="en-US" sz="2800" b="1" dirty="0"/>
              <a:t>rationally</a:t>
            </a:r>
            <a:r>
              <a:rPr lang="en-US" sz="2800" dirty="0"/>
              <a:t> (ideally).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677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FF6E38-76B4-D5E7-3533-F627F98C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9F86E4-CCE6-CBE8-853F-9B3F658CD4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88E04E-7427-6832-20DF-7EBF0D6295E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67F5430-5226-A0CA-ACED-212F5E526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B4E9635-4B57-16C5-D286-16CDC3636E8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EC358D6F-5733-CBF0-6F69-FC6CBCE01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AI Perspective?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37FE0B7-063D-E150-F463-475347E13615}"/>
              </a:ext>
            </a:extLst>
          </p:cNvPr>
          <p:cNvSpPr txBox="1"/>
          <p:nvPr/>
        </p:nvSpPr>
        <p:spPr>
          <a:xfrm>
            <a:off x="2951395" y="1987018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Human-centered approaches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observation and psychology.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Rational approaches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mathematics, logic, and engineering.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5D34A8-C8A3-4DFD-CF43-1A4ED38FE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803681"/>
              </p:ext>
            </p:extLst>
          </p:nvPr>
        </p:nvGraphicFramePr>
        <p:xfrm>
          <a:off x="2438400" y="4197036"/>
          <a:ext cx="8731251" cy="155448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208517905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1783000716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71780374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Acting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Thinking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6385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Humanly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Acting humanly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Acting humanly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5234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Rationally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Acting rationally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Thinking rationally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9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09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851C-0446-890F-4D68-23AE916B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1D2AE8E-AB50-F84B-369A-8478C7FA5A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9AA22A3-645E-3844-3CF8-8780F3FAECC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0AC6085-2F5D-59CD-3CE3-FC1F305F94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F878B7-3723-7FAE-C188-A914DEB64D7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D28601B-4971-3EC4-618B-334F4CF75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Acting Humanly – The Turing</a:t>
            </a:r>
            <a:br>
              <a:rPr lang="en-US" sz="4400" dirty="0"/>
            </a:br>
            <a:r>
              <a:rPr lang="en-US" sz="4400" dirty="0"/>
              <a:t>                    Test Approach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F2E721-3FBD-DBAF-832D-2BA2BDE9F3D1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AI should act </a:t>
            </a:r>
            <a:r>
              <a:rPr lang="en-US" sz="2800" i="1" dirty="0"/>
              <a:t>like humans.</a:t>
            </a:r>
          </a:p>
          <a:p>
            <a:r>
              <a:rPr lang="en-US" sz="2800" b="1" dirty="0"/>
              <a:t>Proposed by:</a:t>
            </a:r>
            <a:r>
              <a:rPr lang="en-US" sz="2800" dirty="0"/>
              <a:t> Alan Turing (1950)</a:t>
            </a:r>
          </a:p>
          <a:p>
            <a:endParaRPr lang="en-US" sz="2800" dirty="0"/>
          </a:p>
          <a:p>
            <a:r>
              <a:rPr lang="en-US" sz="2800" b="1" dirty="0"/>
              <a:t>Goal:</a:t>
            </a:r>
            <a:br>
              <a:rPr lang="en-US" sz="2800" dirty="0"/>
            </a:br>
            <a:r>
              <a:rPr lang="en-US" sz="2800" dirty="0"/>
              <a:t>A computer is intelligent if a human cannot tell it apart from another person in conversation.</a:t>
            </a:r>
          </a:p>
          <a:p>
            <a:r>
              <a:rPr lang="en-IN" sz="2800" i="1" dirty="0"/>
              <a:t>Example:</a:t>
            </a:r>
            <a:r>
              <a:rPr lang="en-IN" sz="2800" dirty="0"/>
              <a:t> Chatbots (like ChatGPT)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283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FAF9C-16DD-7F73-3E92-E77CC7CA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607CE7-8418-FC35-382A-DC2AADED5D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6A78CA5-E0F4-3DCB-50B3-BC4B6D3D263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6FEF784-75E6-9A3A-3F19-1B44646675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7693340-ED9B-D818-3037-E8C2AA65F9A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CAEAE96-D8F4-1F4E-A12C-E1F45D2E29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   </a:t>
            </a:r>
            <a:r>
              <a:rPr lang="en-US" sz="4400" dirty="0"/>
              <a:t>Thinking Humanly – The</a:t>
            </a:r>
            <a:br>
              <a:rPr lang="en-US" sz="4400" dirty="0"/>
            </a:br>
            <a:r>
              <a:rPr lang="en-US" sz="4400" dirty="0"/>
              <a:t>      Cognitive Modeling Approach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0D8EF4B-6636-C54F-5E19-2F8B7A626266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Main idea:</a:t>
            </a:r>
            <a:endParaRPr lang="en-US" sz="2800" dirty="0"/>
          </a:p>
          <a:p>
            <a:r>
              <a:rPr lang="en-US" sz="2800" dirty="0"/>
              <a:t>AI should </a:t>
            </a:r>
            <a:r>
              <a:rPr lang="en-US" sz="2800" i="1" dirty="0"/>
              <a:t>think like humans.</a:t>
            </a:r>
            <a:endParaRPr lang="en-US" sz="2800" dirty="0"/>
          </a:p>
          <a:p>
            <a:r>
              <a:rPr lang="en-US" sz="2800" b="1" dirty="0"/>
              <a:t>Field:</a:t>
            </a:r>
            <a:r>
              <a:rPr lang="en-US" sz="2800" dirty="0"/>
              <a:t> Cognitive Science (AI + Psychology + Neuroscience)</a:t>
            </a:r>
          </a:p>
          <a:p>
            <a:r>
              <a:rPr lang="en-US" sz="2800" b="1" dirty="0"/>
              <a:t>Goal:</a:t>
            </a:r>
            <a:br>
              <a:rPr lang="en-US" sz="2800" dirty="0"/>
            </a:br>
            <a:r>
              <a:rPr lang="en-US" sz="2800" dirty="0"/>
              <a:t>Create computer models that simulate how humans learn, reason, and remember. 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Computer vision inspired by human eye.</a:t>
            </a:r>
          </a:p>
        </p:txBody>
      </p:sp>
    </p:spTree>
    <p:extLst>
      <p:ext uri="{BB962C8B-B14F-4D97-AF65-F5344CB8AC3E}">
        <p14:creationId xmlns:p14="http://schemas.microsoft.com/office/powerpoint/2010/main" val="251775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DB14-3DEF-43D3-73AF-51DB0C3F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059D8A-EDC3-A592-7270-B15B90F1CD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ABE9F4F-9837-B621-A0AF-42A305E8079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12CC31D-3819-62CC-75B7-0485C44BF28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DD5AF73-1E0C-B386-9698-B7041E5413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2E5C71F5-6653-E4EC-CE9D-D8864A316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Acting Rationally – The Rational</a:t>
            </a:r>
            <a:br>
              <a:rPr lang="en-US" sz="4400" dirty="0"/>
            </a:br>
            <a:r>
              <a:rPr lang="en-US" sz="4400" dirty="0"/>
              <a:t>                  Agent Approach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EA0E78D-EFB8-D525-EE56-38BB74B2F4B9}"/>
              </a:ext>
            </a:extLst>
          </p:cNvPr>
          <p:cNvSpPr txBox="1"/>
          <p:nvPr/>
        </p:nvSpPr>
        <p:spPr>
          <a:xfrm>
            <a:off x="2934462" y="2286000"/>
            <a:ext cx="844804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Main idea:</a:t>
            </a:r>
            <a:endParaRPr lang="en-US" sz="2800" dirty="0"/>
          </a:p>
          <a:p>
            <a:r>
              <a:rPr lang="en-US" sz="2800" dirty="0"/>
              <a:t>AI should </a:t>
            </a:r>
            <a:r>
              <a:rPr lang="en-US" sz="2800" i="1" dirty="0"/>
              <a:t>act to achieve the best possible result.</a:t>
            </a:r>
            <a:endParaRPr lang="en-US" sz="2800" dirty="0"/>
          </a:p>
          <a:p>
            <a:r>
              <a:rPr lang="en-US" sz="2800" b="1" dirty="0"/>
              <a:t>Definition:</a:t>
            </a:r>
            <a:br>
              <a:rPr lang="en-US" sz="2800" dirty="0"/>
            </a:br>
            <a:r>
              <a:rPr lang="en-US" sz="2800" dirty="0"/>
              <a:t>A </a:t>
            </a:r>
            <a:r>
              <a:rPr lang="en-US" sz="2800" b="1" dirty="0"/>
              <a:t>rational agent</a:t>
            </a:r>
            <a:r>
              <a:rPr lang="en-US" sz="2800" dirty="0"/>
              <a:t> chooses actions that maximize success based on what it knows.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Self-driving car choosing best route.</a:t>
            </a:r>
          </a:p>
        </p:txBody>
      </p:sp>
    </p:spTree>
    <p:extLst>
      <p:ext uri="{BB962C8B-B14F-4D97-AF65-F5344CB8AC3E}">
        <p14:creationId xmlns:p14="http://schemas.microsoft.com/office/powerpoint/2010/main" val="148904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BEF3-646E-09EE-2BF1-051E0C11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BCDC08-4A98-BA72-60D9-AF2FAD5769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777A881-0642-845F-5B04-C864B723C019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C46628F-4BD5-1262-7218-F1C6973BEF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68EFF7-0791-6A9F-49F9-254ED452999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5C041E5-511F-DF75-98EE-3F0F13A86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23121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Thinking Rationally – The “Laws</a:t>
            </a:r>
            <a:br>
              <a:rPr lang="en-US" sz="4400" dirty="0"/>
            </a:br>
            <a:r>
              <a:rPr lang="en-US" sz="4400" dirty="0"/>
              <a:t>               of Thought” Approach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9E275B7-4AD9-C94F-3885-B94763CB5664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Main idea:</a:t>
            </a:r>
            <a:endParaRPr lang="en-US" sz="2800" dirty="0"/>
          </a:p>
          <a:p>
            <a:r>
              <a:rPr lang="en-US" sz="2800" dirty="0"/>
              <a:t>AI should </a:t>
            </a:r>
            <a:r>
              <a:rPr lang="en-US" sz="2800" i="1" dirty="0"/>
              <a:t>reason logically</a:t>
            </a:r>
            <a:r>
              <a:rPr lang="en-US" sz="2800" dirty="0"/>
              <a:t> to reach correct conclusions.</a:t>
            </a:r>
          </a:p>
          <a:p>
            <a:r>
              <a:rPr lang="en-US" sz="2800" b="1" dirty="0"/>
              <a:t>Origin:</a:t>
            </a:r>
            <a:r>
              <a:rPr lang="en-US" sz="2800" dirty="0"/>
              <a:t> Aristotle’s logic &amp; syllogisms</a:t>
            </a:r>
            <a:br>
              <a:rPr lang="en-US" sz="2800" dirty="0"/>
            </a:br>
            <a:r>
              <a:rPr lang="en-US" sz="2800" i="1" dirty="0"/>
              <a:t>(If A → B, and B → C, then A → C)</a:t>
            </a:r>
            <a:endParaRPr lang="en-US" sz="2800" dirty="0"/>
          </a:p>
          <a:p>
            <a:r>
              <a:rPr lang="en-US" sz="2800" b="1" dirty="0"/>
              <a:t>Goal:</a:t>
            </a:r>
            <a:br>
              <a:rPr lang="en-US" sz="2800" dirty="0"/>
            </a:br>
            <a:r>
              <a:rPr lang="en-US" sz="2800" dirty="0"/>
              <a:t>Use logical rules to derive guaranteed-correct answers.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Expert systems for diagnosis.</a:t>
            </a:r>
          </a:p>
        </p:txBody>
      </p:sp>
    </p:spTree>
    <p:extLst>
      <p:ext uri="{BB962C8B-B14F-4D97-AF65-F5344CB8AC3E}">
        <p14:creationId xmlns:p14="http://schemas.microsoft.com/office/powerpoint/2010/main" val="2214757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5438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99190" cy="6123940"/>
            <a:chOff x="424984" y="432816"/>
            <a:chExt cx="11299190" cy="6123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012694" y="989202"/>
            <a:ext cx="750290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dirty="0"/>
              <a:t>Next Class Preview</a:t>
            </a:r>
            <a:endParaRPr sz="4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3700" y="2442972"/>
            <a:ext cx="8770620" cy="3642487"/>
            <a:chOff x="2933700" y="2442972"/>
            <a:chExt cx="8770620" cy="3642487"/>
          </a:xfrm>
        </p:grpSpPr>
        <p:sp>
          <p:nvSpPr>
            <p:cNvPr id="8" name="object 8"/>
            <p:cNvSpPr/>
            <p:nvPr/>
          </p:nvSpPr>
          <p:spPr>
            <a:xfrm>
              <a:off x="2933700" y="2496185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3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3700" y="2442972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3700" y="31242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8678672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8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8678672" y="551688"/>
                  </a:lnTo>
                  <a:lnTo>
                    <a:pt x="8714470" y="544464"/>
                  </a:lnTo>
                  <a:lnTo>
                    <a:pt x="8743696" y="524764"/>
                  </a:lnTo>
                  <a:lnTo>
                    <a:pt x="8763396" y="495538"/>
                  </a:lnTo>
                  <a:lnTo>
                    <a:pt x="8770620" y="459739"/>
                  </a:lnTo>
                  <a:lnTo>
                    <a:pt x="8770620" y="91948"/>
                  </a:lnTo>
                  <a:lnTo>
                    <a:pt x="8763396" y="56149"/>
                  </a:lnTo>
                  <a:lnTo>
                    <a:pt x="8743696" y="26924"/>
                  </a:lnTo>
                  <a:lnTo>
                    <a:pt x="8714470" y="7223"/>
                  </a:lnTo>
                  <a:lnTo>
                    <a:pt x="8678672" y="0"/>
                  </a:lnTo>
                  <a:close/>
                </a:path>
              </a:pathLst>
            </a:custGeom>
            <a:solidFill>
              <a:srgbClr val="79A8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3700" y="306171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3700" y="3678936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3700" y="4297679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4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3700" y="4914900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8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4"/>
                  </a:lnTo>
                  <a:lnTo>
                    <a:pt x="8763396" y="56149"/>
                  </a:lnTo>
                  <a:lnTo>
                    <a:pt x="8770620" y="91948"/>
                  </a:lnTo>
                  <a:lnTo>
                    <a:pt x="8770620" y="459740"/>
                  </a:lnTo>
                  <a:lnTo>
                    <a:pt x="8763396" y="495538"/>
                  </a:lnTo>
                  <a:lnTo>
                    <a:pt x="8743696" y="524763"/>
                  </a:lnTo>
                  <a:lnTo>
                    <a:pt x="8714470" y="544464"/>
                  </a:lnTo>
                  <a:lnTo>
                    <a:pt x="8678672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4"/>
                  </a:lnTo>
                  <a:lnTo>
                    <a:pt x="7223" y="495538"/>
                  </a:lnTo>
                  <a:lnTo>
                    <a:pt x="0" y="459740"/>
                  </a:lnTo>
                  <a:lnTo>
                    <a:pt x="0" y="9194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3700" y="5533644"/>
              <a:ext cx="8770620" cy="551815"/>
            </a:xfrm>
            <a:custGeom>
              <a:avLst/>
              <a:gdLst/>
              <a:ahLst/>
              <a:cxnLst/>
              <a:rect l="l" t="t" r="r" b="b"/>
              <a:pathLst>
                <a:path w="8770620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3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8678672" y="0"/>
                  </a:lnTo>
                  <a:lnTo>
                    <a:pt x="8714470" y="7223"/>
                  </a:lnTo>
                  <a:lnTo>
                    <a:pt x="8743696" y="26923"/>
                  </a:lnTo>
                  <a:lnTo>
                    <a:pt x="8763396" y="56149"/>
                  </a:lnTo>
                  <a:lnTo>
                    <a:pt x="8770620" y="91947"/>
                  </a:lnTo>
                  <a:lnTo>
                    <a:pt x="8770620" y="459739"/>
                  </a:lnTo>
                  <a:lnTo>
                    <a:pt x="8763396" y="495532"/>
                  </a:lnTo>
                  <a:lnTo>
                    <a:pt x="8743696" y="524759"/>
                  </a:lnTo>
                  <a:lnTo>
                    <a:pt x="8714470" y="544463"/>
                  </a:lnTo>
                  <a:lnTo>
                    <a:pt x="8678672" y="551687"/>
                  </a:lnTo>
                  <a:lnTo>
                    <a:pt x="91948" y="551687"/>
                  </a:lnTo>
                  <a:lnTo>
                    <a:pt x="56149" y="544463"/>
                  </a:lnTo>
                  <a:lnTo>
                    <a:pt x="26924" y="524759"/>
                  </a:lnTo>
                  <a:lnTo>
                    <a:pt x="7223" y="495532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35935" y="2496438"/>
            <a:ext cx="5958840" cy="1147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dirty="0"/>
              <a:t>Intelligent Agents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4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dirty="0"/>
              <a:t>Structure and Types of Agents</a:t>
            </a:r>
          </a:p>
        </p:txBody>
      </p:sp>
      <p:sp>
        <p:nvSpPr>
          <p:cNvPr id="23" name="object 32" descr="$PPTXTitle">
            <a:extLst>
              <a:ext uri="{FF2B5EF4-FFF2-40B4-BE49-F238E27FC236}">
                <a16:creationId xmlns:a16="http://schemas.microsoft.com/office/drawing/2014/main" id="{0F8C547D-9A03-C8F8-20EF-FE3A4C1A97B8}"/>
              </a:ext>
            </a:extLst>
          </p:cNvPr>
          <p:cNvSpPr txBox="1">
            <a:spLocks/>
          </p:cNvSpPr>
          <p:nvPr/>
        </p:nvSpPr>
        <p:spPr>
          <a:xfrm>
            <a:off x="1981961" y="589229"/>
            <a:ext cx="337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endParaRPr lang="en-IN" sz="4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14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br>
              <a:rPr lang="en-IN" sz="4500" spc="-20" dirty="0">
                <a:solidFill>
                  <a:srgbClr val="252525"/>
                </a:solidFill>
              </a:rPr>
            </a:br>
            <a:endParaRPr sz="4500" dirty="0"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19B65CFD-77D8-7614-040C-36FD7CF80F94}"/>
              </a:ext>
            </a:extLst>
          </p:cNvPr>
          <p:cNvSpPr txBox="1">
            <a:spLocks/>
          </p:cNvSpPr>
          <p:nvPr/>
        </p:nvSpPr>
        <p:spPr>
          <a:xfrm>
            <a:off x="3124200" y="3975115"/>
            <a:ext cx="858398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dirty="0"/>
              <a:t>“The real question is not </a:t>
            </a:r>
            <a:r>
              <a:rPr lang="en-US" sz="3200" i="1" dirty="0"/>
              <a:t>Can machines think?</a:t>
            </a:r>
            <a:r>
              <a:rPr lang="en-US" sz="3200" dirty="0"/>
              <a:t> but </a:t>
            </a:r>
            <a:r>
              <a:rPr lang="en-US" sz="3200" i="1" dirty="0"/>
              <a:t>Can humans think smartly about machines?</a:t>
            </a:r>
            <a:r>
              <a:rPr lang="en-US" sz="3200" dirty="0"/>
              <a:t>” – Alan 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</TotalTime>
  <Words>633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Segoe UI</vt:lpstr>
      <vt:lpstr>Office Theme</vt:lpstr>
      <vt:lpstr>Introduction of AI                          SY B.Sc. (CS)</vt:lpstr>
      <vt:lpstr>2 What is Artificial Intelligence?</vt:lpstr>
      <vt:lpstr>3 Why Study AI?</vt:lpstr>
      <vt:lpstr>3  Real-Life Examples of AI</vt:lpstr>
      <vt:lpstr>3  What You Will Learn in This                         Subject</vt:lpstr>
      <vt:lpstr>3  What You Will Learn in This                         Subject</vt:lpstr>
      <vt:lpstr>3  CHAPTER 1: AI Perspectives</vt:lpstr>
      <vt:lpstr>3  AI Perspective?</vt:lpstr>
      <vt:lpstr>3  Acting Humanly – The Turing                     Test Approach</vt:lpstr>
      <vt:lpstr>3     Thinking Humanly – The       Cognitive Modeling Approach</vt:lpstr>
      <vt:lpstr>3 Acting Rationally – The Rational                   Agent Approach</vt:lpstr>
      <vt:lpstr>3  Thinking Rationally – The “Laws                of Thought” Approach</vt:lpstr>
      <vt:lpstr>Next Class Preview</vt:lpstr>
      <vt:lpstr>Thank you…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10</cp:revision>
  <dcterms:created xsi:type="dcterms:W3CDTF">2025-11-04T17:06:10Z</dcterms:created>
  <dcterms:modified xsi:type="dcterms:W3CDTF">2025-11-09T10:42:46Z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