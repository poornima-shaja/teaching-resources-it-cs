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0"/>
  </p:notesMasterIdLst>
  <p:sldIdLst>
    <p:sldId id="256" r:id="rId2"/>
    <p:sldId id="257" r:id="rId3"/>
    <p:sldId id="339" r:id="rId4"/>
    <p:sldId id="343" r:id="rId5"/>
    <p:sldId id="312" r:id="rId6"/>
    <p:sldId id="396" r:id="rId7"/>
    <p:sldId id="389" r:id="rId8"/>
    <p:sldId id="347" r:id="rId9"/>
    <p:sldId id="390" r:id="rId10"/>
    <p:sldId id="391" r:id="rId11"/>
    <p:sldId id="397" r:id="rId12"/>
    <p:sldId id="342" r:id="rId13"/>
    <p:sldId id="392" r:id="rId14"/>
    <p:sldId id="393" r:id="rId15"/>
    <p:sldId id="395" r:id="rId16"/>
    <p:sldId id="394" r:id="rId17"/>
    <p:sldId id="399" r:id="rId18"/>
    <p:sldId id="398" r:id="rId19"/>
    <p:sldId id="386" r:id="rId20"/>
    <p:sldId id="284" r:id="rId21"/>
    <p:sldId id="400" r:id="rId22"/>
    <p:sldId id="311" r:id="rId23"/>
    <p:sldId id="345" r:id="rId24"/>
    <p:sldId id="351" r:id="rId25"/>
    <p:sldId id="401" r:id="rId26"/>
    <p:sldId id="402" r:id="rId27"/>
    <p:sldId id="403" r:id="rId28"/>
    <p:sldId id="404" r:id="rId29"/>
    <p:sldId id="406" r:id="rId30"/>
    <p:sldId id="405" r:id="rId31"/>
    <p:sldId id="407" r:id="rId32"/>
    <p:sldId id="408" r:id="rId33"/>
    <p:sldId id="409" r:id="rId34"/>
    <p:sldId id="410" r:id="rId35"/>
    <p:sldId id="411" r:id="rId36"/>
    <p:sldId id="412" r:id="rId37"/>
    <p:sldId id="413" r:id="rId38"/>
    <p:sldId id="414" r:id="rId39"/>
    <p:sldId id="415" r:id="rId40"/>
    <p:sldId id="416" r:id="rId41"/>
    <p:sldId id="417" r:id="rId42"/>
    <p:sldId id="418" r:id="rId43"/>
    <p:sldId id="419" r:id="rId44"/>
    <p:sldId id="420" r:id="rId45"/>
    <p:sldId id="421" r:id="rId46"/>
    <p:sldId id="422" r:id="rId47"/>
    <p:sldId id="431" r:id="rId48"/>
    <p:sldId id="423" r:id="rId49"/>
    <p:sldId id="425" r:id="rId50"/>
    <p:sldId id="426" r:id="rId51"/>
    <p:sldId id="427" r:id="rId52"/>
    <p:sldId id="428" r:id="rId53"/>
    <p:sldId id="430" r:id="rId54"/>
    <p:sldId id="432" r:id="rId55"/>
    <p:sldId id="433" r:id="rId56"/>
    <p:sldId id="434" r:id="rId57"/>
    <p:sldId id="435" r:id="rId58"/>
    <p:sldId id="437" r:id="rId59"/>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428" autoAdjust="0"/>
    <p:restoredTop sz="94689" autoAdjust="0"/>
  </p:normalViewPr>
  <p:slideViewPr>
    <p:cSldViewPr>
      <p:cViewPr varScale="1">
        <p:scale>
          <a:sx n="90" d="100"/>
          <a:sy n="90" d="100"/>
        </p:scale>
        <p:origin x="149" y="67"/>
      </p:cViewPr>
      <p:guideLst>
        <p:guide orient="horz" pos="2880"/>
        <p:guide pos="216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96" d="100"/>
          <a:sy n="96" d="100"/>
        </p:scale>
        <p:origin x="878" y="5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6650E53-DE1B-407D-A709-579CCB904A60}" type="datetimeFigureOut">
              <a:rPr lang="en-IN" smtClean="0"/>
              <a:t>12-01-2026</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74143FC4-0F31-4797-9FA8-1F6AE7072728}" type="slidenum">
              <a:rPr lang="en-IN" smtClean="0"/>
              <a:t>‹#›</a:t>
            </a:fld>
            <a:endParaRPr lang="en-IN"/>
          </a:p>
        </p:txBody>
      </p:sp>
    </p:spTree>
    <p:extLst>
      <p:ext uri="{BB962C8B-B14F-4D97-AF65-F5344CB8AC3E}">
        <p14:creationId xmlns:p14="http://schemas.microsoft.com/office/powerpoint/2010/main" val="8336065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4000" b="1" i="0">
                <a:solidFill>
                  <a:srgbClr val="C84B24"/>
                </a:solidFill>
                <a:latin typeface="Segoe UI"/>
                <a:cs typeface="Segoe UI"/>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0">
                <a:solidFill>
                  <a:srgbClr val="C84B24"/>
                </a:solidFill>
                <a:latin typeface="Segoe UI"/>
                <a:cs typeface="Segoe UI"/>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wo Content">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424984" y="432816"/>
            <a:ext cx="3459183" cy="6123432"/>
          </a:xfrm>
          <a:prstGeom prst="rect">
            <a:avLst/>
          </a:prstGeom>
        </p:spPr>
      </p:pic>
      <p:sp>
        <p:nvSpPr>
          <p:cNvPr id="17" name="bg object 17"/>
          <p:cNvSpPr/>
          <p:nvPr/>
        </p:nvSpPr>
        <p:spPr>
          <a:xfrm>
            <a:off x="2934462" y="2177033"/>
            <a:ext cx="8770620" cy="0"/>
          </a:xfrm>
          <a:custGeom>
            <a:avLst/>
            <a:gdLst/>
            <a:ahLst/>
            <a:cxnLst/>
            <a:rect l="l" t="t" r="r" b="b"/>
            <a:pathLst>
              <a:path w="8770620">
                <a:moveTo>
                  <a:pt x="0" y="0"/>
                </a:moveTo>
                <a:lnTo>
                  <a:pt x="8770619" y="0"/>
                </a:lnTo>
              </a:path>
            </a:pathLst>
          </a:custGeom>
          <a:ln w="38100">
            <a:solidFill>
              <a:srgbClr val="79A8A3"/>
            </a:solidFill>
          </a:ln>
        </p:spPr>
        <p:txBody>
          <a:bodyPr wrap="square" lIns="0" tIns="0" rIns="0" bIns="0" rtlCol="0"/>
          <a:lstStyle/>
          <a:p>
            <a:endParaRPr/>
          </a:p>
        </p:txBody>
      </p:sp>
      <p:sp>
        <p:nvSpPr>
          <p:cNvPr id="18" name="bg object 18"/>
          <p:cNvSpPr/>
          <p:nvPr/>
        </p:nvSpPr>
        <p:spPr>
          <a:xfrm>
            <a:off x="2944368" y="2456687"/>
            <a:ext cx="3077845" cy="1516380"/>
          </a:xfrm>
          <a:custGeom>
            <a:avLst/>
            <a:gdLst/>
            <a:ahLst/>
            <a:cxnLst/>
            <a:rect l="l" t="t" r="r" b="b"/>
            <a:pathLst>
              <a:path w="3077845" h="1516379">
                <a:moveTo>
                  <a:pt x="3077845" y="757428"/>
                </a:moveTo>
                <a:lnTo>
                  <a:pt x="3066948" y="751078"/>
                </a:lnTo>
                <a:lnTo>
                  <a:pt x="2989199" y="705739"/>
                </a:lnTo>
                <a:lnTo>
                  <a:pt x="2985262" y="706755"/>
                </a:lnTo>
                <a:lnTo>
                  <a:pt x="2981706" y="712851"/>
                </a:lnTo>
                <a:lnTo>
                  <a:pt x="2982722" y="716661"/>
                </a:lnTo>
                <a:lnTo>
                  <a:pt x="3041700" y="751078"/>
                </a:lnTo>
                <a:lnTo>
                  <a:pt x="2528316" y="751078"/>
                </a:lnTo>
                <a:lnTo>
                  <a:pt x="2528316" y="0"/>
                </a:lnTo>
                <a:lnTo>
                  <a:pt x="0" y="0"/>
                </a:lnTo>
                <a:lnTo>
                  <a:pt x="0" y="1516380"/>
                </a:lnTo>
                <a:lnTo>
                  <a:pt x="2528316" y="1516380"/>
                </a:lnTo>
                <a:lnTo>
                  <a:pt x="2528316" y="763778"/>
                </a:lnTo>
                <a:lnTo>
                  <a:pt x="3041700" y="763778"/>
                </a:lnTo>
                <a:lnTo>
                  <a:pt x="2982722" y="798195"/>
                </a:lnTo>
                <a:lnTo>
                  <a:pt x="2981706" y="802005"/>
                </a:lnTo>
                <a:lnTo>
                  <a:pt x="2985262" y="808101"/>
                </a:lnTo>
                <a:lnTo>
                  <a:pt x="2989199" y="809117"/>
                </a:lnTo>
                <a:lnTo>
                  <a:pt x="3066948" y="763778"/>
                </a:lnTo>
                <a:lnTo>
                  <a:pt x="3077845" y="757428"/>
                </a:lnTo>
                <a:close/>
              </a:path>
            </a:pathLst>
          </a:custGeom>
          <a:solidFill>
            <a:srgbClr val="79A8A3"/>
          </a:solidFill>
        </p:spPr>
        <p:txBody>
          <a:bodyPr wrap="square" lIns="0" tIns="0" rIns="0" bIns="0" rtlCol="0"/>
          <a:lstStyle/>
          <a:p>
            <a:endParaRPr/>
          </a:p>
        </p:txBody>
      </p:sp>
      <p:sp>
        <p:nvSpPr>
          <p:cNvPr id="19" name="bg object 19"/>
          <p:cNvSpPr/>
          <p:nvPr/>
        </p:nvSpPr>
        <p:spPr>
          <a:xfrm>
            <a:off x="2944368" y="2456688"/>
            <a:ext cx="2528570" cy="1516380"/>
          </a:xfrm>
          <a:custGeom>
            <a:avLst/>
            <a:gdLst/>
            <a:ahLst/>
            <a:cxnLst/>
            <a:rect l="l" t="t" r="r" b="b"/>
            <a:pathLst>
              <a:path w="2528570" h="1516379">
                <a:moveTo>
                  <a:pt x="0" y="1516380"/>
                </a:moveTo>
                <a:lnTo>
                  <a:pt x="2528316" y="1516380"/>
                </a:lnTo>
                <a:lnTo>
                  <a:pt x="2528316" y="0"/>
                </a:lnTo>
                <a:lnTo>
                  <a:pt x="0" y="0"/>
                </a:lnTo>
                <a:lnTo>
                  <a:pt x="0" y="1516380"/>
                </a:lnTo>
                <a:close/>
              </a:path>
            </a:pathLst>
          </a:custGeom>
          <a:ln w="12700">
            <a:solidFill>
              <a:srgbClr val="FFFFFF"/>
            </a:solidFill>
          </a:ln>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4000" b="1" i="0">
                <a:solidFill>
                  <a:srgbClr val="C84B24"/>
                </a:solidFill>
                <a:latin typeface="Segoe UI"/>
                <a:cs typeface="Segoe U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0">
                <a:solidFill>
                  <a:srgbClr val="C84B24"/>
                </a:solidFill>
                <a:latin typeface="Segoe UI"/>
                <a:cs typeface="Segoe U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779780" y="130251"/>
            <a:ext cx="5954395" cy="1244600"/>
          </a:xfrm>
          <a:prstGeom prst="rect">
            <a:avLst/>
          </a:prstGeom>
        </p:spPr>
        <p:txBody>
          <a:bodyPr wrap="square" lIns="0" tIns="0" rIns="0" bIns="0">
            <a:spAutoFit/>
          </a:bodyPr>
          <a:lstStyle>
            <a:lvl1pPr>
              <a:defRPr sz="4000" b="1" i="0">
                <a:solidFill>
                  <a:srgbClr val="C84B24"/>
                </a:solidFill>
                <a:latin typeface="Segoe UI"/>
                <a:cs typeface="Segoe UI"/>
              </a:defRPr>
            </a:lvl1pPr>
          </a:lstStyle>
          <a:p>
            <a:endParaRPr/>
          </a:p>
        </p:txBody>
      </p:sp>
      <p:sp>
        <p:nvSpPr>
          <p:cNvPr id="3" name="Holder 3"/>
          <p:cNvSpPr>
            <a:spLocks noGrp="1"/>
          </p:cNvSpPr>
          <p:nvPr>
            <p:ph type="body" idx="1"/>
          </p:nvPr>
        </p:nvSpPr>
        <p:spPr>
          <a:xfrm>
            <a:off x="1731010" y="2270505"/>
            <a:ext cx="8729980" cy="252730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1/12/2026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2192000" cy="6858000"/>
          </a:xfrm>
          <a:prstGeom prst="rect">
            <a:avLst/>
          </a:prstGeom>
        </p:spPr>
      </p:pic>
      <p:sp>
        <p:nvSpPr>
          <p:cNvPr id="3" name="object 3" descr="$PPTXTitle"/>
          <p:cNvSpPr txBox="1">
            <a:spLocks noGrp="1"/>
          </p:cNvSpPr>
          <p:nvPr>
            <p:ph type="title"/>
          </p:nvPr>
        </p:nvSpPr>
        <p:spPr>
          <a:xfrm>
            <a:off x="1137728" y="1507333"/>
            <a:ext cx="8546465" cy="2103204"/>
          </a:xfrm>
          <a:prstGeom prst="rect">
            <a:avLst/>
          </a:prstGeom>
        </p:spPr>
        <p:txBody>
          <a:bodyPr vert="horz" wrap="square" lIns="0" tIns="0" rIns="0" bIns="0" rtlCol="0">
            <a:spAutoFit/>
          </a:bodyPr>
          <a:lstStyle/>
          <a:p>
            <a:pPr marL="12700" marR="5080" indent="2650490">
              <a:lnSpc>
                <a:spcPts val="5550"/>
              </a:lnSpc>
            </a:pPr>
            <a:r>
              <a:rPr lang="en-IN" sz="4400" spc="150" dirty="0">
                <a:solidFill>
                  <a:srgbClr val="FFFFFF"/>
                </a:solidFill>
                <a:latin typeface="Cambria"/>
                <a:cs typeface="Cambria"/>
              </a:rPr>
              <a:t>  Introduction to AI</a:t>
            </a:r>
            <a:br>
              <a:rPr lang="en-IN" sz="4400" b="0" spc="150" dirty="0">
                <a:solidFill>
                  <a:srgbClr val="FFFFFF"/>
                </a:solidFill>
                <a:latin typeface="Cambria"/>
                <a:cs typeface="Cambria"/>
              </a:rPr>
            </a:br>
            <a:r>
              <a:rPr lang="en-IN" sz="4400" b="0" spc="150" dirty="0">
                <a:solidFill>
                  <a:srgbClr val="FFFFFF"/>
                </a:solidFill>
                <a:latin typeface="Cambria"/>
                <a:cs typeface="Cambria"/>
              </a:rPr>
              <a:t>               </a:t>
            </a:r>
            <a:r>
              <a:rPr lang="en-US" sz="3600" b="0" spc="150" dirty="0">
                <a:solidFill>
                  <a:srgbClr val="FFFFFF"/>
                </a:solidFill>
                <a:latin typeface="Cambria"/>
                <a:cs typeface="Cambria"/>
              </a:rPr>
              <a:t>Problem Solving by Searching</a:t>
            </a:r>
            <a:br>
              <a:rPr lang="en-IN" sz="4400" b="0" spc="150" dirty="0">
                <a:solidFill>
                  <a:srgbClr val="FFFFFF"/>
                </a:solidFill>
                <a:latin typeface="Cambria"/>
                <a:cs typeface="Cambria"/>
              </a:rPr>
            </a:br>
            <a:r>
              <a:rPr lang="en-IN" sz="4400" b="0" spc="150" dirty="0">
                <a:solidFill>
                  <a:srgbClr val="FFFFFF"/>
                </a:solidFill>
                <a:latin typeface="Cambria"/>
                <a:cs typeface="Cambria"/>
              </a:rPr>
              <a:t>    </a:t>
            </a:r>
            <a:r>
              <a:rPr lang="en-IN" sz="4400" b="0" spc="210" dirty="0">
                <a:solidFill>
                  <a:srgbClr val="FFFFFF"/>
                </a:solidFill>
                <a:latin typeface="Cambria"/>
                <a:cs typeface="Cambria"/>
              </a:rPr>
              <a:t>                     </a:t>
            </a:r>
            <a:r>
              <a:rPr lang="en-IN" sz="3200" b="0" spc="210" dirty="0">
                <a:solidFill>
                  <a:srgbClr val="FFFFFF"/>
                </a:solidFill>
                <a:latin typeface="Cambria"/>
                <a:cs typeface="Cambria"/>
              </a:rPr>
              <a:t>SY B.Sc. (CS)</a:t>
            </a:r>
            <a:endParaRPr sz="4400" dirty="0">
              <a:latin typeface="Cambria"/>
              <a:cs typeface="Cambria"/>
            </a:endParaRPr>
          </a:p>
        </p:txBody>
      </p:sp>
      <p:sp>
        <p:nvSpPr>
          <p:cNvPr id="4" name="object 4"/>
          <p:cNvSpPr txBox="1"/>
          <p:nvPr/>
        </p:nvSpPr>
        <p:spPr>
          <a:xfrm>
            <a:off x="4733290" y="3920997"/>
            <a:ext cx="2729865" cy="274434"/>
          </a:xfrm>
          <a:prstGeom prst="rect">
            <a:avLst/>
          </a:prstGeom>
        </p:spPr>
        <p:txBody>
          <a:bodyPr vert="horz" wrap="square" lIns="0" tIns="12700" rIns="0" bIns="0" rtlCol="0">
            <a:spAutoFit/>
          </a:bodyPr>
          <a:lstStyle/>
          <a:p>
            <a:pPr algn="ctr">
              <a:lnSpc>
                <a:spcPct val="100000"/>
              </a:lnSpc>
              <a:spcBef>
                <a:spcPts val="100"/>
              </a:spcBef>
            </a:pPr>
            <a:r>
              <a:rPr sz="1700" dirty="0">
                <a:solidFill>
                  <a:srgbClr val="FFFFFF"/>
                </a:solidFill>
                <a:latin typeface="Calibri"/>
                <a:cs typeface="Calibri"/>
              </a:rPr>
              <a:t>Semester</a:t>
            </a:r>
            <a:r>
              <a:rPr sz="1700" spc="-80" dirty="0">
                <a:solidFill>
                  <a:srgbClr val="FFFFFF"/>
                </a:solidFill>
                <a:latin typeface="Calibri"/>
                <a:cs typeface="Calibri"/>
              </a:rPr>
              <a:t> </a:t>
            </a:r>
            <a:r>
              <a:rPr sz="1700" spc="-25" dirty="0">
                <a:solidFill>
                  <a:srgbClr val="FFFFFF"/>
                </a:solidFill>
                <a:latin typeface="Calibri"/>
                <a:cs typeface="Calibri"/>
              </a:rPr>
              <a:t>I</a:t>
            </a:r>
            <a:r>
              <a:rPr lang="en-IN" sz="1700" spc="-25" dirty="0">
                <a:solidFill>
                  <a:srgbClr val="FFFFFF"/>
                </a:solidFill>
                <a:latin typeface="Calibri"/>
                <a:cs typeface="Calibri"/>
              </a:rPr>
              <a:t>V</a:t>
            </a:r>
            <a:endParaRPr sz="1700" dirty="0">
              <a:latin typeface="Calibri"/>
              <a:cs typeface="Calibri"/>
            </a:endParaRPr>
          </a:p>
        </p:txBody>
      </p:sp>
      <p:sp>
        <p:nvSpPr>
          <p:cNvPr id="5" name="object 5"/>
          <p:cNvSpPr/>
          <p:nvPr/>
        </p:nvSpPr>
        <p:spPr>
          <a:xfrm>
            <a:off x="5410961" y="3766565"/>
            <a:ext cx="1371600" cy="0"/>
          </a:xfrm>
          <a:custGeom>
            <a:avLst/>
            <a:gdLst/>
            <a:ahLst/>
            <a:cxnLst/>
            <a:rect l="l" t="t" r="r" b="b"/>
            <a:pathLst>
              <a:path w="1371600">
                <a:moveTo>
                  <a:pt x="0" y="0"/>
                </a:moveTo>
                <a:lnTo>
                  <a:pt x="1371599" y="0"/>
                </a:lnTo>
              </a:path>
            </a:pathLst>
          </a:custGeom>
          <a:ln w="38100">
            <a:solidFill>
              <a:srgbClr val="00A4BA"/>
            </a:solidFill>
          </a:ln>
        </p:spPr>
        <p:txBody>
          <a:bodyPr wrap="square" lIns="0" tIns="0" rIns="0" bIns="0" rtlCol="0"/>
          <a:lstStyle/>
          <a:p>
            <a:endParaRPr/>
          </a:p>
        </p:txBody>
      </p:sp>
      <p:sp>
        <p:nvSpPr>
          <p:cNvPr id="6" name="object 6"/>
          <p:cNvSpPr txBox="1"/>
          <p:nvPr/>
        </p:nvSpPr>
        <p:spPr>
          <a:xfrm>
            <a:off x="545388" y="6519164"/>
            <a:ext cx="110489" cy="208279"/>
          </a:xfrm>
          <a:prstGeom prst="rect">
            <a:avLst/>
          </a:prstGeom>
        </p:spPr>
        <p:txBody>
          <a:bodyPr vert="horz" wrap="square" lIns="0" tIns="12700" rIns="0" bIns="0" rtlCol="0">
            <a:spAutoFit/>
          </a:bodyPr>
          <a:lstStyle/>
          <a:p>
            <a:pPr marL="12700">
              <a:lnSpc>
                <a:spcPct val="100000"/>
              </a:lnSpc>
              <a:spcBef>
                <a:spcPts val="100"/>
              </a:spcBef>
            </a:pPr>
            <a:r>
              <a:rPr sz="1200" spc="-50" dirty="0">
                <a:solidFill>
                  <a:srgbClr val="FDFCF8"/>
                </a:solidFill>
                <a:latin typeface="Cambria"/>
                <a:cs typeface="Cambria"/>
              </a:rPr>
              <a:t>1</a:t>
            </a:r>
            <a:endParaRPr sz="1200">
              <a:latin typeface="Cambria"/>
              <a:cs typeface="Cambria"/>
            </a:endParaRPr>
          </a:p>
        </p:txBody>
      </p:sp>
      <p:sp>
        <p:nvSpPr>
          <p:cNvPr id="7" name="object 3" descr="$PPTXTitle">
            <a:extLst>
              <a:ext uri="{FF2B5EF4-FFF2-40B4-BE49-F238E27FC236}">
                <a16:creationId xmlns:a16="http://schemas.microsoft.com/office/drawing/2014/main" id="{6FAB2A22-FBB1-FA70-ED68-3643E270AE45}"/>
              </a:ext>
            </a:extLst>
          </p:cNvPr>
          <p:cNvSpPr txBox="1">
            <a:spLocks/>
          </p:cNvSpPr>
          <p:nvPr/>
        </p:nvSpPr>
        <p:spPr>
          <a:xfrm>
            <a:off x="3189922" y="5105400"/>
            <a:ext cx="8546465" cy="1326710"/>
          </a:xfrm>
          <a:prstGeom prst="rect">
            <a:avLst/>
          </a:prstGeom>
        </p:spPr>
        <p:txBody>
          <a:bodyPr vert="horz" wrap="square" lIns="0" tIns="0" rIns="0" bIns="0" rtlCol="0">
            <a:spAutoFit/>
          </a:bodyPr>
          <a:lstStyle>
            <a:lvl1pPr>
              <a:defRPr sz="4000" b="1" i="0">
                <a:solidFill>
                  <a:srgbClr val="C84B24"/>
                </a:solidFill>
                <a:latin typeface="Segoe UI"/>
                <a:ea typeface="+mj-ea"/>
                <a:cs typeface="Segoe UI"/>
              </a:defRPr>
            </a:lvl1pPr>
          </a:lstStyle>
          <a:p>
            <a:pPr marL="12700" marR="5080" indent="2650490" algn="r">
              <a:lnSpc>
                <a:spcPts val="5550"/>
              </a:lnSpc>
            </a:pPr>
            <a:r>
              <a:rPr lang="en-US" sz="2400" dirty="0">
                <a:solidFill>
                  <a:schemeClr val="bg1"/>
                </a:solidFill>
                <a:latin typeface="Cambria" panose="02040503050406030204" pitchFamily="18" charset="0"/>
                <a:ea typeface="Cambria" panose="02040503050406030204" pitchFamily="18" charset="0"/>
                <a:cs typeface="Cambria"/>
              </a:rPr>
              <a:t>                                         Poornima .N</a:t>
            </a:r>
          </a:p>
          <a:p>
            <a:pPr marL="12700" marR="5080" indent="2650490" algn="r">
              <a:lnSpc>
                <a:spcPts val="5550"/>
              </a:lnSpc>
            </a:pPr>
            <a:r>
              <a:rPr lang="en-US" sz="2400" dirty="0">
                <a:solidFill>
                  <a:schemeClr val="bg1"/>
                </a:solidFill>
                <a:latin typeface="Cambria" panose="02040503050406030204" pitchFamily="18" charset="0"/>
                <a:ea typeface="Cambria" panose="02040503050406030204" pitchFamily="18" charset="0"/>
              </a:rPr>
              <a:t>Assistant Professor, Department of IT/CS</a:t>
            </a:r>
            <a:endParaRPr lang="en-US" sz="2400" dirty="0">
              <a:solidFill>
                <a:schemeClr val="bg1"/>
              </a:solidFill>
              <a:latin typeface="Cambria" panose="02040503050406030204" pitchFamily="18" charset="0"/>
              <a:ea typeface="Cambria" panose="02040503050406030204" pitchFamily="18" charset="0"/>
              <a:cs typeface="Cambri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424984" y="432816"/>
            <a:ext cx="11280140" cy="6123940"/>
            <a:chOff x="424984" y="432816"/>
            <a:chExt cx="11280140" cy="6123940"/>
          </a:xfrm>
        </p:grpSpPr>
        <p:pic>
          <p:nvPicPr>
            <p:cNvPr id="3" name="object 3"/>
            <p:cNvPicPr/>
            <p:nvPr/>
          </p:nvPicPr>
          <p:blipFill>
            <a:blip r:embed="rId2" cstate="print"/>
            <a:stretch>
              <a:fillRect/>
            </a:stretch>
          </p:blipFill>
          <p:spPr>
            <a:xfrm>
              <a:off x="424984" y="432816"/>
              <a:ext cx="3459183" cy="6123432"/>
            </a:xfrm>
            <a:prstGeom prst="rect">
              <a:avLst/>
            </a:prstGeom>
          </p:spPr>
        </p:pic>
        <p:sp>
          <p:nvSpPr>
            <p:cNvPr id="4" name="object 4"/>
            <p:cNvSpPr/>
            <p:nvPr/>
          </p:nvSpPr>
          <p:spPr>
            <a:xfrm>
              <a:off x="2934462" y="2177033"/>
              <a:ext cx="8770620" cy="0"/>
            </a:xfrm>
            <a:custGeom>
              <a:avLst/>
              <a:gdLst/>
              <a:ahLst/>
              <a:cxnLst/>
              <a:rect l="l" t="t" r="r" b="b"/>
              <a:pathLst>
                <a:path w="8770620">
                  <a:moveTo>
                    <a:pt x="0" y="0"/>
                  </a:moveTo>
                  <a:lnTo>
                    <a:pt x="8770619" y="0"/>
                  </a:lnTo>
                </a:path>
              </a:pathLst>
            </a:custGeom>
            <a:ln w="38100">
              <a:solidFill>
                <a:srgbClr val="A6A6A6"/>
              </a:solidFill>
            </a:ln>
          </p:spPr>
          <p:txBody>
            <a:bodyPr wrap="square" lIns="0" tIns="0" rIns="0" bIns="0" rtlCol="0"/>
            <a:lstStyle/>
            <a:p>
              <a:endParaRPr/>
            </a:p>
          </p:txBody>
        </p:sp>
      </p:grpSp>
      <p:sp>
        <p:nvSpPr>
          <p:cNvPr id="5" name="object 5"/>
          <p:cNvSpPr txBox="1"/>
          <p:nvPr/>
        </p:nvSpPr>
        <p:spPr>
          <a:xfrm>
            <a:off x="2934462" y="2286000"/>
            <a:ext cx="8448040" cy="3780843"/>
          </a:xfrm>
          <a:prstGeom prst="rect">
            <a:avLst/>
          </a:prstGeom>
        </p:spPr>
        <p:txBody>
          <a:bodyPr vert="horz" wrap="square" lIns="0" tIns="177165" rIns="0" bIns="0" rtlCol="0">
            <a:spAutoFit/>
          </a:bodyPr>
          <a:lstStyle/>
          <a:p>
            <a:pPr marL="0" marR="0" lvl="0" indent="0" algn="l" defTabSz="914400" rtl="0" eaLnBrk="0" fontAlgn="base" latinLnBrk="0" hangingPunct="0">
              <a:lnSpc>
                <a:spcPct val="150000"/>
              </a:lnSpc>
              <a:spcBef>
                <a:spcPct val="0"/>
              </a:spcBef>
              <a:spcAft>
                <a:spcPct val="0"/>
              </a:spcAft>
              <a:buClrTx/>
              <a:buSzTx/>
              <a:tabLst/>
            </a:pPr>
            <a:r>
              <a:rPr lang="en-US" sz="3200" dirty="0"/>
              <a:t>✔ </a:t>
            </a:r>
            <a:r>
              <a:rPr lang="en-IN" sz="3200" dirty="0"/>
              <a:t>Solving problems by searching</a:t>
            </a:r>
          </a:p>
          <a:p>
            <a:pPr marL="0" marR="0" lvl="0" indent="0" algn="l" defTabSz="914400" rtl="0" eaLnBrk="0" fontAlgn="base" latinLnBrk="0" hangingPunct="0">
              <a:lnSpc>
                <a:spcPct val="150000"/>
              </a:lnSpc>
              <a:spcBef>
                <a:spcPct val="0"/>
              </a:spcBef>
              <a:spcAft>
                <a:spcPct val="0"/>
              </a:spcAft>
              <a:buClrTx/>
              <a:buSzTx/>
              <a:tabLst/>
            </a:pPr>
            <a:r>
              <a:rPr lang="en-US" sz="3200" dirty="0"/>
              <a:t>✔ </a:t>
            </a:r>
            <a:r>
              <a:rPr lang="en-IN" sz="3200" dirty="0"/>
              <a:t>Performance evaluation </a:t>
            </a:r>
          </a:p>
          <a:p>
            <a:pPr marL="0" marR="0" lvl="0" indent="0" algn="l" defTabSz="914400" rtl="0" eaLnBrk="0" fontAlgn="base" latinLnBrk="0" hangingPunct="0">
              <a:lnSpc>
                <a:spcPct val="150000"/>
              </a:lnSpc>
              <a:spcBef>
                <a:spcPct val="0"/>
              </a:spcBef>
              <a:spcAft>
                <a:spcPct val="0"/>
              </a:spcAft>
              <a:buClrTx/>
              <a:buSzTx/>
              <a:tabLst/>
            </a:pPr>
            <a:r>
              <a:rPr lang="en-US" sz="3200" dirty="0"/>
              <a:t>✔ </a:t>
            </a:r>
            <a:r>
              <a:rPr lang="en-IN" sz="3200" dirty="0"/>
              <a:t>time/space complexity</a:t>
            </a:r>
          </a:p>
          <a:p>
            <a:pPr marL="0" marR="0" lvl="0" indent="0" algn="l" defTabSz="914400" rtl="0" eaLnBrk="0" fontAlgn="base" latinLnBrk="0" hangingPunct="0">
              <a:lnSpc>
                <a:spcPct val="150000"/>
              </a:lnSpc>
              <a:spcBef>
                <a:spcPct val="0"/>
              </a:spcBef>
              <a:spcAft>
                <a:spcPct val="0"/>
              </a:spcAft>
              <a:buClrTx/>
              <a:buSzTx/>
              <a:tabLst/>
            </a:pPr>
            <a:r>
              <a:rPr lang="en-US" sz="3200" dirty="0"/>
              <a:t>✔ </a:t>
            </a:r>
            <a:r>
              <a:rPr lang="en-IN" sz="3200" dirty="0"/>
              <a:t>completeness</a:t>
            </a:r>
          </a:p>
          <a:p>
            <a:pPr marL="0" marR="0" lvl="0" indent="0" algn="l" defTabSz="914400" rtl="0" eaLnBrk="0" fontAlgn="base" latinLnBrk="0" hangingPunct="0">
              <a:lnSpc>
                <a:spcPct val="150000"/>
              </a:lnSpc>
              <a:spcBef>
                <a:spcPct val="0"/>
              </a:spcBef>
              <a:spcAft>
                <a:spcPct val="0"/>
              </a:spcAft>
              <a:buClrTx/>
              <a:buSzTx/>
              <a:tabLst/>
            </a:pPr>
            <a:r>
              <a:rPr lang="en-US" sz="3200" dirty="0"/>
              <a:t>✔ </a:t>
            </a:r>
            <a:r>
              <a:rPr lang="en-IN" sz="3200" dirty="0"/>
              <a:t>optimality </a:t>
            </a: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sp>
        <p:nvSpPr>
          <p:cNvPr id="6" name="object 6" descr="$PPTXTitle"/>
          <p:cNvSpPr txBox="1">
            <a:spLocks noGrp="1"/>
          </p:cNvSpPr>
          <p:nvPr>
            <p:ph type="title"/>
          </p:nvPr>
        </p:nvSpPr>
        <p:spPr>
          <a:xfrm>
            <a:off x="1981961" y="589229"/>
            <a:ext cx="10591039" cy="690574"/>
          </a:xfrm>
          <a:prstGeom prst="rect">
            <a:avLst/>
          </a:prstGeom>
        </p:spPr>
        <p:txBody>
          <a:bodyPr vert="horz" wrap="square" lIns="0" tIns="13335" rIns="0" bIns="0" rtlCol="0">
            <a:spAutoFit/>
          </a:bodyPr>
          <a:lstStyle/>
          <a:p>
            <a:pPr marL="12700">
              <a:lnSpc>
                <a:spcPct val="100000"/>
              </a:lnSpc>
              <a:spcBef>
                <a:spcPts val="105"/>
              </a:spcBef>
              <a:tabLst>
                <a:tab pos="1043305" algn="l"/>
              </a:tabLst>
            </a:pPr>
            <a:r>
              <a:rPr sz="4400" b="0" spc="-50" dirty="0">
                <a:solidFill>
                  <a:schemeClr val="tx1"/>
                </a:solidFill>
                <a:latin typeface="Cambria"/>
                <a:cs typeface="Cambria"/>
              </a:rPr>
              <a:t>2</a:t>
            </a:r>
            <a:r>
              <a:rPr sz="4400" b="0" dirty="0">
                <a:solidFill>
                  <a:schemeClr val="tx1"/>
                </a:solidFill>
                <a:latin typeface="Cambria"/>
                <a:cs typeface="Cambria"/>
              </a:rPr>
              <a:t>	</a:t>
            </a:r>
            <a:r>
              <a:rPr lang="en-IN" sz="4400" dirty="0"/>
              <a:t> What’s in Unit 2?</a:t>
            </a:r>
            <a:endParaRPr sz="4400" dirty="0">
              <a:solidFill>
                <a:schemeClr val="tx1"/>
              </a:solidFill>
              <a:latin typeface="Cambria"/>
              <a:cs typeface="Cambria"/>
            </a:endParaRPr>
          </a:p>
        </p:txBody>
      </p:sp>
      <p:sp>
        <p:nvSpPr>
          <p:cNvPr id="9" name="Cloud 8">
            <a:extLst>
              <a:ext uri="{FF2B5EF4-FFF2-40B4-BE49-F238E27FC236}">
                <a16:creationId xmlns:a16="http://schemas.microsoft.com/office/drawing/2014/main" id="{7B5A43BA-53F1-CB90-8BA1-382DCDF9CBE3}"/>
              </a:ext>
            </a:extLst>
          </p:cNvPr>
          <p:cNvSpPr/>
          <p:nvPr/>
        </p:nvSpPr>
        <p:spPr>
          <a:xfrm>
            <a:off x="7924800" y="4495805"/>
            <a:ext cx="4219702" cy="2318762"/>
          </a:xfrm>
          <a:prstGeom prst="clou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36D5FE6B-70C8-15A5-A005-DA99561152E8}"/>
              </a:ext>
            </a:extLst>
          </p:cNvPr>
          <p:cNvSpPr txBox="1"/>
          <p:nvPr/>
        </p:nvSpPr>
        <p:spPr>
          <a:xfrm>
            <a:off x="8307833" y="4923652"/>
            <a:ext cx="3459183" cy="1569660"/>
          </a:xfrm>
          <a:prstGeom prst="rect">
            <a:avLst/>
          </a:prstGeom>
          <a:noFill/>
        </p:spPr>
        <p:txBody>
          <a:bodyPr wrap="square">
            <a:spAutoFit/>
          </a:bodyPr>
          <a:lstStyle/>
          <a:p>
            <a:pPr algn="ctr"/>
            <a:r>
              <a:rPr lang="en-US" sz="2400" dirty="0"/>
              <a:t>“How does a machine decide what to do next when it has millions of possible choices?”</a:t>
            </a:r>
            <a:endParaRPr lang="en-IN" sz="2400" i="1" dirty="0">
              <a:solidFill>
                <a:schemeClr val="bg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30C15D-0994-879F-833B-25C04A9796A3}"/>
              </a:ext>
            </a:extLst>
          </p:cNvPr>
          <p:cNvSpPr>
            <a:spLocks noGrp="1"/>
          </p:cNvSpPr>
          <p:nvPr>
            <p:ph type="title"/>
          </p:nvPr>
        </p:nvSpPr>
        <p:spPr>
          <a:xfrm>
            <a:off x="1028700" y="2514600"/>
            <a:ext cx="10134600" cy="738664"/>
          </a:xfrm>
        </p:spPr>
        <p:txBody>
          <a:bodyPr/>
          <a:lstStyle/>
          <a:p>
            <a:pPr algn="ctr"/>
            <a:r>
              <a:rPr lang="en-US" sz="4800" dirty="0"/>
              <a:t>Solving Problems by Searching</a:t>
            </a:r>
            <a:endParaRPr lang="en-IN" sz="4800" dirty="0"/>
          </a:p>
        </p:txBody>
      </p:sp>
    </p:spTree>
    <p:extLst>
      <p:ext uri="{BB962C8B-B14F-4D97-AF65-F5344CB8AC3E}">
        <p14:creationId xmlns:p14="http://schemas.microsoft.com/office/powerpoint/2010/main" val="34815961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3FAD1A-2764-3965-06A5-E3E3FB0AB2E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3431A77-A41E-1C1D-8E34-7670DF335C96}"/>
              </a:ext>
            </a:extLst>
          </p:cNvPr>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FDFBF7"/>
          </a:solidFill>
        </p:spPr>
        <p:txBody>
          <a:bodyPr wrap="square" lIns="0" tIns="0" rIns="0" bIns="0" rtlCol="0"/>
          <a:lstStyle/>
          <a:p>
            <a:endParaRPr/>
          </a:p>
        </p:txBody>
      </p:sp>
      <p:grpSp>
        <p:nvGrpSpPr>
          <p:cNvPr id="3" name="object 3">
            <a:extLst>
              <a:ext uri="{FF2B5EF4-FFF2-40B4-BE49-F238E27FC236}">
                <a16:creationId xmlns:a16="http://schemas.microsoft.com/office/drawing/2014/main" id="{0E702281-5F39-B31E-B011-E8C13F137F7D}"/>
              </a:ext>
            </a:extLst>
          </p:cNvPr>
          <p:cNvGrpSpPr/>
          <p:nvPr/>
        </p:nvGrpSpPr>
        <p:grpSpPr>
          <a:xfrm>
            <a:off x="424984" y="432816"/>
            <a:ext cx="11280098" cy="6123432"/>
            <a:chOff x="424984" y="432816"/>
            <a:chExt cx="11280098" cy="6123432"/>
          </a:xfrm>
        </p:grpSpPr>
        <p:pic>
          <p:nvPicPr>
            <p:cNvPr id="4" name="object 4">
              <a:extLst>
                <a:ext uri="{FF2B5EF4-FFF2-40B4-BE49-F238E27FC236}">
                  <a16:creationId xmlns:a16="http://schemas.microsoft.com/office/drawing/2014/main" id="{91951FC8-DD60-53F3-DE89-77434169A06C}"/>
                </a:ext>
              </a:extLst>
            </p:cNvPr>
            <p:cNvPicPr/>
            <p:nvPr/>
          </p:nvPicPr>
          <p:blipFill>
            <a:blip r:embed="rId2" cstate="print"/>
            <a:stretch>
              <a:fillRect/>
            </a:stretch>
          </p:blipFill>
          <p:spPr>
            <a:xfrm>
              <a:off x="424984" y="432816"/>
              <a:ext cx="3459183" cy="6123432"/>
            </a:xfrm>
            <a:prstGeom prst="rect">
              <a:avLst/>
            </a:prstGeom>
          </p:spPr>
        </p:pic>
        <p:sp>
          <p:nvSpPr>
            <p:cNvPr id="5" name="object 5">
              <a:extLst>
                <a:ext uri="{FF2B5EF4-FFF2-40B4-BE49-F238E27FC236}">
                  <a16:creationId xmlns:a16="http://schemas.microsoft.com/office/drawing/2014/main" id="{282D3691-4386-B000-684C-6F4036B6297C}"/>
                </a:ext>
              </a:extLst>
            </p:cNvPr>
            <p:cNvSpPr/>
            <p:nvPr/>
          </p:nvSpPr>
          <p:spPr>
            <a:xfrm>
              <a:off x="2934462" y="2177033"/>
              <a:ext cx="8770620" cy="0"/>
            </a:xfrm>
            <a:custGeom>
              <a:avLst/>
              <a:gdLst/>
              <a:ahLst/>
              <a:cxnLst/>
              <a:rect l="l" t="t" r="r" b="b"/>
              <a:pathLst>
                <a:path w="8770620">
                  <a:moveTo>
                    <a:pt x="0" y="0"/>
                  </a:moveTo>
                  <a:lnTo>
                    <a:pt x="8770619" y="0"/>
                  </a:lnTo>
                </a:path>
              </a:pathLst>
            </a:custGeom>
            <a:ln w="38100">
              <a:solidFill>
                <a:srgbClr val="79A8A3"/>
              </a:solidFill>
            </a:ln>
          </p:spPr>
          <p:txBody>
            <a:bodyPr wrap="square" lIns="0" tIns="0" rIns="0" bIns="0" rtlCol="0"/>
            <a:lstStyle/>
            <a:p>
              <a:endParaRPr/>
            </a:p>
          </p:txBody>
        </p:sp>
      </p:grpSp>
      <p:sp>
        <p:nvSpPr>
          <p:cNvPr id="7" name="object 7" descr="$PPTXTitle">
            <a:extLst>
              <a:ext uri="{FF2B5EF4-FFF2-40B4-BE49-F238E27FC236}">
                <a16:creationId xmlns:a16="http://schemas.microsoft.com/office/drawing/2014/main" id="{AAFF70A6-D38B-2249-67CA-A2BED81AEEEE}"/>
              </a:ext>
            </a:extLst>
          </p:cNvPr>
          <p:cNvSpPr txBox="1">
            <a:spLocks noGrp="1"/>
          </p:cNvSpPr>
          <p:nvPr>
            <p:ph type="title"/>
          </p:nvPr>
        </p:nvSpPr>
        <p:spPr>
          <a:xfrm>
            <a:off x="1981960" y="589229"/>
            <a:ext cx="10210040" cy="1367682"/>
          </a:xfrm>
          <a:prstGeom prst="rect">
            <a:avLst/>
          </a:prstGeom>
        </p:spPr>
        <p:txBody>
          <a:bodyPr vert="horz" wrap="square" lIns="0" tIns="13335" rIns="0" bIns="0" rtlCol="0">
            <a:spAutoFit/>
          </a:bodyPr>
          <a:lstStyle/>
          <a:p>
            <a:pPr marL="12700">
              <a:lnSpc>
                <a:spcPct val="100000"/>
              </a:lnSpc>
              <a:spcBef>
                <a:spcPts val="105"/>
              </a:spcBef>
              <a:tabLst>
                <a:tab pos="1043305" algn="l"/>
              </a:tabLst>
            </a:pPr>
            <a:r>
              <a:rPr lang="en-IN" sz="4400" b="0" spc="-50" dirty="0">
                <a:solidFill>
                  <a:srgbClr val="464A56"/>
                </a:solidFill>
                <a:latin typeface="Cambria"/>
                <a:cs typeface="Cambria"/>
              </a:rPr>
              <a:t>3</a:t>
            </a:r>
            <a:r>
              <a:rPr sz="4400" b="0" dirty="0">
                <a:solidFill>
                  <a:srgbClr val="464A56"/>
                </a:solidFill>
                <a:latin typeface="Cambria"/>
                <a:cs typeface="Cambria"/>
              </a:rPr>
              <a:t>	</a:t>
            </a:r>
            <a:r>
              <a:rPr lang="en-US" altLang="en-US" sz="4400" b="0" dirty="0">
                <a:solidFill>
                  <a:schemeClr val="tx1"/>
                </a:solidFill>
                <a:latin typeface="Arial" panose="020B0604020202020204" pitchFamily="34" charset="0"/>
              </a:rPr>
              <a:t> </a:t>
            </a:r>
            <a:r>
              <a:rPr lang="en-US" sz="4400" dirty="0"/>
              <a:t>Introduction to Problem Solving by Searching</a:t>
            </a:r>
            <a:endParaRPr sz="4400" dirty="0">
              <a:latin typeface="Cambria"/>
              <a:cs typeface="Cambria"/>
            </a:endParaRPr>
          </a:p>
        </p:txBody>
      </p:sp>
      <p:sp>
        <p:nvSpPr>
          <p:cNvPr id="8" name="object 5">
            <a:extLst>
              <a:ext uri="{FF2B5EF4-FFF2-40B4-BE49-F238E27FC236}">
                <a16:creationId xmlns:a16="http://schemas.microsoft.com/office/drawing/2014/main" id="{0417BA57-D02B-8B1D-D83E-AF23BE0334BD}"/>
              </a:ext>
            </a:extLst>
          </p:cNvPr>
          <p:cNvSpPr txBox="1"/>
          <p:nvPr/>
        </p:nvSpPr>
        <p:spPr>
          <a:xfrm>
            <a:off x="2934462" y="2286000"/>
            <a:ext cx="8448040" cy="3872214"/>
          </a:xfrm>
          <a:prstGeom prst="rect">
            <a:avLst/>
          </a:prstGeom>
        </p:spPr>
        <p:txBody>
          <a:bodyPr vert="horz" wrap="square" lIns="0" tIns="177165" rIns="0" bIns="0" rtlCol="0">
            <a:spAutoFit/>
          </a:bodyPr>
          <a:lstStyle/>
          <a:p>
            <a:r>
              <a:rPr lang="en-US" sz="2400" dirty="0"/>
              <a:t>Many AI problems can be represented as </a:t>
            </a:r>
            <a:r>
              <a:rPr lang="en-US" sz="2400" b="1" dirty="0"/>
              <a:t>search problems</a:t>
            </a:r>
            <a:endParaRPr lang="en-US" sz="2400" dirty="0"/>
          </a:p>
          <a:p>
            <a:r>
              <a:rPr lang="en-US" sz="2400" dirty="0"/>
              <a:t>A problem consists of:</a:t>
            </a:r>
          </a:p>
          <a:p>
            <a:pPr lvl="1"/>
            <a:r>
              <a:rPr lang="en-US" sz="2400" dirty="0"/>
              <a:t>Initial state</a:t>
            </a:r>
          </a:p>
          <a:p>
            <a:pPr lvl="1"/>
            <a:r>
              <a:rPr lang="en-US" sz="2400" dirty="0"/>
              <a:t>Actions</a:t>
            </a:r>
          </a:p>
          <a:p>
            <a:pPr lvl="1"/>
            <a:r>
              <a:rPr lang="en-US" sz="2400" dirty="0"/>
              <a:t>Goal state</a:t>
            </a:r>
          </a:p>
          <a:p>
            <a:pPr lvl="1"/>
            <a:r>
              <a:rPr lang="en-US" sz="2400" dirty="0"/>
              <a:t>Path cost</a:t>
            </a:r>
          </a:p>
          <a:p>
            <a:r>
              <a:rPr lang="en-US" sz="2400" dirty="0"/>
              <a:t>A </a:t>
            </a:r>
            <a:r>
              <a:rPr lang="en-US" sz="2400" b="1" dirty="0"/>
              <a:t>solution</a:t>
            </a:r>
            <a:r>
              <a:rPr lang="en-US" sz="2400" dirty="0"/>
              <a:t> is a </a:t>
            </a:r>
            <a:r>
              <a:rPr lang="en-US" sz="2400" b="1" dirty="0"/>
              <a:t>sequence of actions</a:t>
            </a:r>
            <a:r>
              <a:rPr lang="en-US" sz="2400" dirty="0"/>
              <a:t> leading from the initial state to a goal</a:t>
            </a:r>
          </a:p>
          <a:p>
            <a:r>
              <a:rPr lang="en-US" sz="2400" dirty="0"/>
              <a:t>📌 Example:</a:t>
            </a:r>
            <a:br>
              <a:rPr lang="en-US" sz="2400" dirty="0"/>
            </a:br>
            <a:r>
              <a:rPr lang="en-US" sz="2400" dirty="0"/>
              <a:t>Finding a route from </a:t>
            </a:r>
            <a:r>
              <a:rPr lang="en-US" sz="2400" b="1" dirty="0"/>
              <a:t>Arad to Bucharest</a:t>
            </a:r>
            <a:endParaRPr lang="en-US" sz="2400" dirty="0"/>
          </a:p>
        </p:txBody>
      </p:sp>
    </p:spTree>
    <p:extLst>
      <p:ext uri="{BB962C8B-B14F-4D97-AF65-F5344CB8AC3E}">
        <p14:creationId xmlns:p14="http://schemas.microsoft.com/office/powerpoint/2010/main" val="88751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7CB424-FB80-8FEA-DB88-C79D498F4EF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DDB4D06-0B9D-9EE8-AE01-EBBAACFDFD79}"/>
              </a:ext>
            </a:extLst>
          </p:cNvPr>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FDFBF7"/>
          </a:solidFill>
        </p:spPr>
        <p:txBody>
          <a:bodyPr wrap="square" lIns="0" tIns="0" rIns="0" bIns="0" rtlCol="0"/>
          <a:lstStyle/>
          <a:p>
            <a:endParaRPr/>
          </a:p>
        </p:txBody>
      </p:sp>
      <p:grpSp>
        <p:nvGrpSpPr>
          <p:cNvPr id="3" name="object 3">
            <a:extLst>
              <a:ext uri="{FF2B5EF4-FFF2-40B4-BE49-F238E27FC236}">
                <a16:creationId xmlns:a16="http://schemas.microsoft.com/office/drawing/2014/main" id="{2786337C-102A-4051-55AC-1759502BC1EA}"/>
              </a:ext>
            </a:extLst>
          </p:cNvPr>
          <p:cNvGrpSpPr/>
          <p:nvPr/>
        </p:nvGrpSpPr>
        <p:grpSpPr>
          <a:xfrm>
            <a:off x="424984" y="432816"/>
            <a:ext cx="11280098" cy="6123432"/>
            <a:chOff x="424984" y="432816"/>
            <a:chExt cx="11280098" cy="6123432"/>
          </a:xfrm>
        </p:grpSpPr>
        <p:pic>
          <p:nvPicPr>
            <p:cNvPr id="4" name="object 4">
              <a:extLst>
                <a:ext uri="{FF2B5EF4-FFF2-40B4-BE49-F238E27FC236}">
                  <a16:creationId xmlns:a16="http://schemas.microsoft.com/office/drawing/2014/main" id="{68AF3281-D20A-FE6F-9D33-40FF587F7325}"/>
                </a:ext>
              </a:extLst>
            </p:cNvPr>
            <p:cNvPicPr/>
            <p:nvPr/>
          </p:nvPicPr>
          <p:blipFill>
            <a:blip r:embed="rId2" cstate="print"/>
            <a:stretch>
              <a:fillRect/>
            </a:stretch>
          </p:blipFill>
          <p:spPr>
            <a:xfrm>
              <a:off x="424984" y="432816"/>
              <a:ext cx="3459183" cy="6123432"/>
            </a:xfrm>
            <a:prstGeom prst="rect">
              <a:avLst/>
            </a:prstGeom>
          </p:spPr>
        </p:pic>
        <p:sp>
          <p:nvSpPr>
            <p:cNvPr id="5" name="object 5">
              <a:extLst>
                <a:ext uri="{FF2B5EF4-FFF2-40B4-BE49-F238E27FC236}">
                  <a16:creationId xmlns:a16="http://schemas.microsoft.com/office/drawing/2014/main" id="{E7F8E362-C67A-6F39-2863-2CA0C23BEB1D}"/>
                </a:ext>
              </a:extLst>
            </p:cNvPr>
            <p:cNvSpPr/>
            <p:nvPr/>
          </p:nvSpPr>
          <p:spPr>
            <a:xfrm>
              <a:off x="2934462" y="2177033"/>
              <a:ext cx="8770620" cy="0"/>
            </a:xfrm>
            <a:custGeom>
              <a:avLst/>
              <a:gdLst/>
              <a:ahLst/>
              <a:cxnLst/>
              <a:rect l="l" t="t" r="r" b="b"/>
              <a:pathLst>
                <a:path w="8770620">
                  <a:moveTo>
                    <a:pt x="0" y="0"/>
                  </a:moveTo>
                  <a:lnTo>
                    <a:pt x="8770619" y="0"/>
                  </a:lnTo>
                </a:path>
              </a:pathLst>
            </a:custGeom>
            <a:ln w="38100">
              <a:solidFill>
                <a:srgbClr val="79A8A3"/>
              </a:solidFill>
            </a:ln>
          </p:spPr>
          <p:txBody>
            <a:bodyPr wrap="square" lIns="0" tIns="0" rIns="0" bIns="0" rtlCol="0"/>
            <a:lstStyle/>
            <a:p>
              <a:endParaRPr/>
            </a:p>
          </p:txBody>
        </p:sp>
      </p:grpSp>
      <p:sp>
        <p:nvSpPr>
          <p:cNvPr id="7" name="object 7" descr="$PPTXTitle">
            <a:extLst>
              <a:ext uri="{FF2B5EF4-FFF2-40B4-BE49-F238E27FC236}">
                <a16:creationId xmlns:a16="http://schemas.microsoft.com/office/drawing/2014/main" id="{73E3F80F-C545-4912-67A9-D0590103BD22}"/>
              </a:ext>
            </a:extLst>
          </p:cNvPr>
          <p:cNvSpPr txBox="1">
            <a:spLocks noGrp="1"/>
          </p:cNvSpPr>
          <p:nvPr>
            <p:ph type="title"/>
          </p:nvPr>
        </p:nvSpPr>
        <p:spPr>
          <a:xfrm>
            <a:off x="1981960" y="589229"/>
            <a:ext cx="10210040" cy="690574"/>
          </a:xfrm>
          <a:prstGeom prst="rect">
            <a:avLst/>
          </a:prstGeom>
        </p:spPr>
        <p:txBody>
          <a:bodyPr vert="horz" wrap="square" lIns="0" tIns="13335" rIns="0" bIns="0" rtlCol="0">
            <a:spAutoFit/>
          </a:bodyPr>
          <a:lstStyle/>
          <a:p>
            <a:pPr marL="12700">
              <a:lnSpc>
                <a:spcPct val="100000"/>
              </a:lnSpc>
              <a:spcBef>
                <a:spcPts val="105"/>
              </a:spcBef>
              <a:tabLst>
                <a:tab pos="1043305" algn="l"/>
              </a:tabLst>
            </a:pPr>
            <a:r>
              <a:rPr lang="en-IN" sz="4400" b="0" spc="-50" dirty="0">
                <a:solidFill>
                  <a:srgbClr val="464A56"/>
                </a:solidFill>
                <a:latin typeface="Cambria"/>
                <a:cs typeface="Cambria"/>
              </a:rPr>
              <a:t>3</a:t>
            </a:r>
            <a:r>
              <a:rPr sz="4400" b="0" dirty="0">
                <a:solidFill>
                  <a:srgbClr val="464A56"/>
                </a:solidFill>
                <a:latin typeface="Cambria"/>
                <a:cs typeface="Cambria"/>
              </a:rPr>
              <a:t>	</a:t>
            </a:r>
            <a:r>
              <a:rPr lang="en-IN" sz="4400" dirty="0"/>
              <a:t>What Is Search?</a:t>
            </a:r>
            <a:endParaRPr sz="4400" dirty="0">
              <a:latin typeface="Cambria"/>
              <a:cs typeface="Cambria"/>
            </a:endParaRPr>
          </a:p>
        </p:txBody>
      </p:sp>
      <p:sp>
        <p:nvSpPr>
          <p:cNvPr id="8" name="object 5">
            <a:extLst>
              <a:ext uri="{FF2B5EF4-FFF2-40B4-BE49-F238E27FC236}">
                <a16:creationId xmlns:a16="http://schemas.microsoft.com/office/drawing/2014/main" id="{8D1FDE11-8101-2589-22CB-6756A70F58C6}"/>
              </a:ext>
            </a:extLst>
          </p:cNvPr>
          <p:cNvSpPr txBox="1"/>
          <p:nvPr/>
        </p:nvSpPr>
        <p:spPr>
          <a:xfrm>
            <a:off x="2934462" y="2286000"/>
            <a:ext cx="8448040" cy="2764218"/>
          </a:xfrm>
          <a:prstGeom prst="rect">
            <a:avLst/>
          </a:prstGeom>
        </p:spPr>
        <p:txBody>
          <a:bodyPr vert="horz" wrap="square" lIns="0" tIns="177165" rIns="0" bIns="0" rtlCol="0">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Search means </a:t>
            </a:r>
            <a:r>
              <a:rPr kumimoji="0" lang="en-US" altLang="en-US" sz="2800" b="1" i="0" u="none" strike="noStrike" cap="none" normalizeH="0" baseline="0" dirty="0">
                <a:ln>
                  <a:noFill/>
                </a:ln>
                <a:solidFill>
                  <a:schemeClr val="tx1"/>
                </a:solidFill>
                <a:effectLst/>
                <a:latin typeface="Arial" panose="020B0604020202020204" pitchFamily="34" charset="0"/>
              </a:rPr>
              <a:t>systematically exploring possible action sequences</a:t>
            </a: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AI agents use </a:t>
            </a:r>
            <a:r>
              <a:rPr kumimoji="0" lang="en-US" altLang="en-US" sz="2800" b="1" i="0" u="none" strike="noStrike" cap="none" normalizeH="0" baseline="0" dirty="0">
                <a:ln>
                  <a:noFill/>
                </a:ln>
                <a:solidFill>
                  <a:schemeClr val="tx1"/>
                </a:solidFill>
                <a:effectLst/>
                <a:latin typeface="Arial" panose="020B0604020202020204" pitchFamily="34" charset="0"/>
              </a:rPr>
              <a:t>search algorithms</a:t>
            </a:r>
            <a:r>
              <a:rPr kumimoji="0" lang="en-US" altLang="en-US" sz="2800" b="0" i="0" u="none" strike="noStrike" cap="none" normalizeH="0" baseline="0" dirty="0">
                <a:ln>
                  <a:noFill/>
                </a:ln>
                <a:solidFill>
                  <a:schemeClr val="tx1"/>
                </a:solidFill>
                <a:effectLst/>
                <a:latin typeface="Arial" panose="020B0604020202020204" pitchFamily="34" charset="0"/>
              </a:rPr>
              <a:t> to decide: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What action to take next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Which states to explore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All possible action sequences form a </a:t>
            </a:r>
            <a:r>
              <a:rPr kumimoji="0" lang="en-US" altLang="en-US" sz="2800" b="1" i="0" u="none" strike="noStrike" cap="none" normalizeH="0" baseline="0" dirty="0">
                <a:ln>
                  <a:noFill/>
                </a:ln>
                <a:solidFill>
                  <a:schemeClr val="tx1"/>
                </a:solidFill>
                <a:effectLst/>
                <a:latin typeface="Arial" panose="020B0604020202020204" pitchFamily="34" charset="0"/>
              </a:rPr>
              <a:t>search tree</a:t>
            </a: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594695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descr="Binary search tree">
            <a:extLst>
              <a:ext uri="{FF2B5EF4-FFF2-40B4-BE49-F238E27FC236}">
                <a16:creationId xmlns:a16="http://schemas.microsoft.com/office/drawing/2014/main" id="{C327883E-7710-CE98-F5D9-3A29FCBFC0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600" y="304800"/>
            <a:ext cx="7162800" cy="59881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52751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AD86E0-A168-48EA-AD49-3B3CB04FF9D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89B5308-884B-6B75-553E-5CF75C04DDA5}"/>
              </a:ext>
            </a:extLst>
          </p:cNvPr>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FDFBF7"/>
          </a:solidFill>
        </p:spPr>
        <p:txBody>
          <a:bodyPr wrap="square" lIns="0" tIns="0" rIns="0" bIns="0" rtlCol="0"/>
          <a:lstStyle/>
          <a:p>
            <a:endParaRPr/>
          </a:p>
        </p:txBody>
      </p:sp>
      <p:grpSp>
        <p:nvGrpSpPr>
          <p:cNvPr id="3" name="object 3">
            <a:extLst>
              <a:ext uri="{FF2B5EF4-FFF2-40B4-BE49-F238E27FC236}">
                <a16:creationId xmlns:a16="http://schemas.microsoft.com/office/drawing/2014/main" id="{D1F0A706-835F-C178-FF66-7BC272820842}"/>
              </a:ext>
            </a:extLst>
          </p:cNvPr>
          <p:cNvGrpSpPr/>
          <p:nvPr/>
        </p:nvGrpSpPr>
        <p:grpSpPr>
          <a:xfrm>
            <a:off x="424984" y="432816"/>
            <a:ext cx="11280098" cy="6123432"/>
            <a:chOff x="424984" y="432816"/>
            <a:chExt cx="11280098" cy="6123432"/>
          </a:xfrm>
        </p:grpSpPr>
        <p:pic>
          <p:nvPicPr>
            <p:cNvPr id="4" name="object 4">
              <a:extLst>
                <a:ext uri="{FF2B5EF4-FFF2-40B4-BE49-F238E27FC236}">
                  <a16:creationId xmlns:a16="http://schemas.microsoft.com/office/drawing/2014/main" id="{DF437806-B92C-5DA1-AB0E-912A360790A0}"/>
                </a:ext>
              </a:extLst>
            </p:cNvPr>
            <p:cNvPicPr/>
            <p:nvPr/>
          </p:nvPicPr>
          <p:blipFill>
            <a:blip r:embed="rId2" cstate="print"/>
            <a:stretch>
              <a:fillRect/>
            </a:stretch>
          </p:blipFill>
          <p:spPr>
            <a:xfrm>
              <a:off x="424984" y="432816"/>
              <a:ext cx="3459183" cy="6123432"/>
            </a:xfrm>
            <a:prstGeom prst="rect">
              <a:avLst/>
            </a:prstGeom>
          </p:spPr>
        </p:pic>
        <p:sp>
          <p:nvSpPr>
            <p:cNvPr id="5" name="object 5">
              <a:extLst>
                <a:ext uri="{FF2B5EF4-FFF2-40B4-BE49-F238E27FC236}">
                  <a16:creationId xmlns:a16="http://schemas.microsoft.com/office/drawing/2014/main" id="{D819DAED-9AC6-B55C-B024-83C0EA93321D}"/>
                </a:ext>
              </a:extLst>
            </p:cNvPr>
            <p:cNvSpPr/>
            <p:nvPr/>
          </p:nvSpPr>
          <p:spPr>
            <a:xfrm>
              <a:off x="2934462" y="2177033"/>
              <a:ext cx="8770620" cy="0"/>
            </a:xfrm>
            <a:custGeom>
              <a:avLst/>
              <a:gdLst/>
              <a:ahLst/>
              <a:cxnLst/>
              <a:rect l="l" t="t" r="r" b="b"/>
              <a:pathLst>
                <a:path w="8770620">
                  <a:moveTo>
                    <a:pt x="0" y="0"/>
                  </a:moveTo>
                  <a:lnTo>
                    <a:pt x="8770619" y="0"/>
                  </a:lnTo>
                </a:path>
              </a:pathLst>
            </a:custGeom>
            <a:ln w="38100">
              <a:solidFill>
                <a:srgbClr val="79A8A3"/>
              </a:solidFill>
            </a:ln>
          </p:spPr>
          <p:txBody>
            <a:bodyPr wrap="square" lIns="0" tIns="0" rIns="0" bIns="0" rtlCol="0"/>
            <a:lstStyle/>
            <a:p>
              <a:endParaRPr/>
            </a:p>
          </p:txBody>
        </p:sp>
      </p:grpSp>
      <p:sp>
        <p:nvSpPr>
          <p:cNvPr id="7" name="object 7" descr="$PPTXTitle">
            <a:extLst>
              <a:ext uri="{FF2B5EF4-FFF2-40B4-BE49-F238E27FC236}">
                <a16:creationId xmlns:a16="http://schemas.microsoft.com/office/drawing/2014/main" id="{DF7C4196-BA7B-A338-3322-65DA62319DE1}"/>
              </a:ext>
            </a:extLst>
          </p:cNvPr>
          <p:cNvSpPr txBox="1">
            <a:spLocks noGrp="1"/>
          </p:cNvSpPr>
          <p:nvPr>
            <p:ph type="title"/>
          </p:nvPr>
        </p:nvSpPr>
        <p:spPr>
          <a:xfrm>
            <a:off x="1981960" y="589229"/>
            <a:ext cx="10210040" cy="690574"/>
          </a:xfrm>
          <a:prstGeom prst="rect">
            <a:avLst/>
          </a:prstGeom>
        </p:spPr>
        <p:txBody>
          <a:bodyPr vert="horz" wrap="square" lIns="0" tIns="13335" rIns="0" bIns="0" rtlCol="0">
            <a:spAutoFit/>
          </a:bodyPr>
          <a:lstStyle/>
          <a:p>
            <a:pPr marL="12700">
              <a:lnSpc>
                <a:spcPct val="100000"/>
              </a:lnSpc>
              <a:spcBef>
                <a:spcPts val="105"/>
              </a:spcBef>
              <a:tabLst>
                <a:tab pos="1043305" algn="l"/>
              </a:tabLst>
            </a:pPr>
            <a:r>
              <a:rPr lang="en-IN" sz="4400" b="0" spc="-50" dirty="0">
                <a:solidFill>
                  <a:srgbClr val="464A56"/>
                </a:solidFill>
                <a:latin typeface="Cambria"/>
                <a:cs typeface="Cambria"/>
              </a:rPr>
              <a:t>3</a:t>
            </a:r>
            <a:r>
              <a:rPr sz="4400" b="0" dirty="0">
                <a:solidFill>
                  <a:srgbClr val="464A56"/>
                </a:solidFill>
                <a:latin typeface="Cambria"/>
                <a:cs typeface="Cambria"/>
              </a:rPr>
              <a:t>	</a:t>
            </a:r>
            <a:r>
              <a:rPr lang="en-IN" sz="4400" dirty="0"/>
              <a:t>Search Tree?</a:t>
            </a:r>
            <a:endParaRPr sz="4400" dirty="0">
              <a:latin typeface="Cambria"/>
              <a:cs typeface="Cambria"/>
            </a:endParaRPr>
          </a:p>
        </p:txBody>
      </p:sp>
      <p:sp>
        <p:nvSpPr>
          <p:cNvPr id="8" name="object 5">
            <a:extLst>
              <a:ext uri="{FF2B5EF4-FFF2-40B4-BE49-F238E27FC236}">
                <a16:creationId xmlns:a16="http://schemas.microsoft.com/office/drawing/2014/main" id="{31E2B5AB-9EF0-DF8A-83D4-E1692A5B431D}"/>
              </a:ext>
            </a:extLst>
          </p:cNvPr>
          <p:cNvSpPr txBox="1"/>
          <p:nvPr/>
        </p:nvSpPr>
        <p:spPr>
          <a:xfrm>
            <a:off x="2934462" y="2286000"/>
            <a:ext cx="8448040" cy="3872214"/>
          </a:xfrm>
          <a:prstGeom prst="rect">
            <a:avLst/>
          </a:prstGeom>
        </p:spPr>
        <p:txBody>
          <a:bodyPr vert="horz" wrap="square" lIns="0" tIns="177165" rIns="0" bIns="0" rtlCol="0">
            <a:spAutoFit/>
          </a:bodyPr>
          <a:lstStyle/>
          <a:p>
            <a:r>
              <a:rPr lang="en-IN" sz="2400" dirty="0"/>
              <a:t>A </a:t>
            </a:r>
            <a:r>
              <a:rPr lang="en-IN" sz="2400" b="1" dirty="0"/>
              <a:t>search tree</a:t>
            </a:r>
            <a:r>
              <a:rPr lang="en-IN" sz="2400" dirty="0"/>
              <a:t> represents all possible paths from the initial state</a:t>
            </a:r>
          </a:p>
          <a:p>
            <a:r>
              <a:rPr lang="en-IN" sz="2400" dirty="0"/>
              <a:t>Components:</a:t>
            </a:r>
          </a:p>
          <a:p>
            <a:pPr lvl="1"/>
            <a:r>
              <a:rPr lang="en-IN" sz="2400" b="1" dirty="0"/>
              <a:t>Root node</a:t>
            </a:r>
            <a:r>
              <a:rPr lang="en-IN" sz="2400" dirty="0"/>
              <a:t> → initial state</a:t>
            </a:r>
          </a:p>
          <a:p>
            <a:pPr lvl="1"/>
            <a:r>
              <a:rPr lang="en-IN" sz="2400" b="1" dirty="0"/>
              <a:t>Branches</a:t>
            </a:r>
            <a:r>
              <a:rPr lang="en-IN" sz="2400" dirty="0"/>
              <a:t> → actions</a:t>
            </a:r>
          </a:p>
          <a:p>
            <a:pPr lvl="1"/>
            <a:r>
              <a:rPr lang="en-IN" sz="2400" b="1" dirty="0"/>
              <a:t>Nodes</a:t>
            </a:r>
            <a:r>
              <a:rPr lang="en-IN" sz="2400" dirty="0"/>
              <a:t> → states</a:t>
            </a:r>
          </a:p>
          <a:p>
            <a:r>
              <a:rPr lang="en-IN" sz="2400" dirty="0"/>
              <a:t>Each path from root to a node represents a </a:t>
            </a:r>
            <a:r>
              <a:rPr lang="en-IN" sz="2400" b="1" dirty="0"/>
              <a:t>sequence of actions</a:t>
            </a:r>
            <a:endParaRPr lang="en-IN" sz="2400" dirty="0"/>
          </a:p>
          <a:p>
            <a:r>
              <a:rPr lang="en-IN" sz="2400" dirty="0"/>
              <a:t>📌 Example:</a:t>
            </a:r>
            <a:br>
              <a:rPr lang="en-IN" sz="2400" dirty="0"/>
            </a:br>
            <a:r>
              <a:rPr lang="en-IN" sz="2400" dirty="0"/>
              <a:t>Arad → Sibiu → </a:t>
            </a:r>
            <a:r>
              <a:rPr lang="en-IN" sz="2400" dirty="0" err="1"/>
              <a:t>Fagaras</a:t>
            </a:r>
            <a:r>
              <a:rPr lang="en-IN" sz="2400" dirty="0"/>
              <a:t> → Bucharest</a:t>
            </a:r>
          </a:p>
        </p:txBody>
      </p:sp>
    </p:spTree>
    <p:extLst>
      <p:ext uri="{BB962C8B-B14F-4D97-AF65-F5344CB8AC3E}">
        <p14:creationId xmlns:p14="http://schemas.microsoft.com/office/powerpoint/2010/main" val="4441246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AF8F91A-801A-BC53-2F84-8E901298941D}"/>
              </a:ext>
            </a:extLst>
          </p:cNvPr>
          <p:cNvPicPr>
            <a:picLocks noChangeAspect="1"/>
          </p:cNvPicPr>
          <p:nvPr/>
        </p:nvPicPr>
        <p:blipFill>
          <a:blip r:embed="rId2"/>
          <a:stretch>
            <a:fillRect/>
          </a:stretch>
        </p:blipFill>
        <p:spPr>
          <a:xfrm>
            <a:off x="1161250" y="152401"/>
            <a:ext cx="9963950" cy="6615912"/>
          </a:xfrm>
          <a:prstGeom prst="rect">
            <a:avLst/>
          </a:prstGeom>
        </p:spPr>
      </p:pic>
    </p:spTree>
    <p:extLst>
      <p:ext uri="{BB962C8B-B14F-4D97-AF65-F5344CB8AC3E}">
        <p14:creationId xmlns:p14="http://schemas.microsoft.com/office/powerpoint/2010/main" val="38807420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50D038-6587-C9D2-41B7-54D8F8AF142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33AF8BA-95E5-D69E-58BD-0A1604057578}"/>
              </a:ext>
            </a:extLst>
          </p:cNvPr>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FDFBF7"/>
          </a:solidFill>
        </p:spPr>
        <p:txBody>
          <a:bodyPr wrap="square" lIns="0" tIns="0" rIns="0" bIns="0" rtlCol="0"/>
          <a:lstStyle/>
          <a:p>
            <a:endParaRPr/>
          </a:p>
        </p:txBody>
      </p:sp>
      <p:grpSp>
        <p:nvGrpSpPr>
          <p:cNvPr id="3" name="object 3">
            <a:extLst>
              <a:ext uri="{FF2B5EF4-FFF2-40B4-BE49-F238E27FC236}">
                <a16:creationId xmlns:a16="http://schemas.microsoft.com/office/drawing/2014/main" id="{A4DFE7A9-CA13-167B-B2EB-054AAC11F10B}"/>
              </a:ext>
            </a:extLst>
          </p:cNvPr>
          <p:cNvGrpSpPr/>
          <p:nvPr/>
        </p:nvGrpSpPr>
        <p:grpSpPr>
          <a:xfrm>
            <a:off x="424984" y="432816"/>
            <a:ext cx="11280098" cy="6123432"/>
            <a:chOff x="424984" y="432816"/>
            <a:chExt cx="11280098" cy="6123432"/>
          </a:xfrm>
        </p:grpSpPr>
        <p:pic>
          <p:nvPicPr>
            <p:cNvPr id="4" name="object 4">
              <a:extLst>
                <a:ext uri="{FF2B5EF4-FFF2-40B4-BE49-F238E27FC236}">
                  <a16:creationId xmlns:a16="http://schemas.microsoft.com/office/drawing/2014/main" id="{CE139E4F-C4ED-85AD-6F45-3930C63EB973}"/>
                </a:ext>
              </a:extLst>
            </p:cNvPr>
            <p:cNvPicPr/>
            <p:nvPr/>
          </p:nvPicPr>
          <p:blipFill>
            <a:blip r:embed="rId2" cstate="print"/>
            <a:stretch>
              <a:fillRect/>
            </a:stretch>
          </p:blipFill>
          <p:spPr>
            <a:xfrm>
              <a:off x="424984" y="432816"/>
              <a:ext cx="3459183" cy="6123432"/>
            </a:xfrm>
            <a:prstGeom prst="rect">
              <a:avLst/>
            </a:prstGeom>
          </p:spPr>
        </p:pic>
        <p:sp>
          <p:nvSpPr>
            <p:cNvPr id="5" name="object 5">
              <a:extLst>
                <a:ext uri="{FF2B5EF4-FFF2-40B4-BE49-F238E27FC236}">
                  <a16:creationId xmlns:a16="http://schemas.microsoft.com/office/drawing/2014/main" id="{DFCFBEAB-178B-5279-07D4-B24797641322}"/>
                </a:ext>
              </a:extLst>
            </p:cNvPr>
            <p:cNvSpPr/>
            <p:nvPr/>
          </p:nvSpPr>
          <p:spPr>
            <a:xfrm>
              <a:off x="2934462" y="2177033"/>
              <a:ext cx="8770620" cy="0"/>
            </a:xfrm>
            <a:custGeom>
              <a:avLst/>
              <a:gdLst/>
              <a:ahLst/>
              <a:cxnLst/>
              <a:rect l="l" t="t" r="r" b="b"/>
              <a:pathLst>
                <a:path w="8770620">
                  <a:moveTo>
                    <a:pt x="0" y="0"/>
                  </a:moveTo>
                  <a:lnTo>
                    <a:pt x="8770619" y="0"/>
                  </a:lnTo>
                </a:path>
              </a:pathLst>
            </a:custGeom>
            <a:ln w="38100">
              <a:solidFill>
                <a:srgbClr val="79A8A3"/>
              </a:solidFill>
            </a:ln>
          </p:spPr>
          <p:txBody>
            <a:bodyPr wrap="square" lIns="0" tIns="0" rIns="0" bIns="0" rtlCol="0"/>
            <a:lstStyle/>
            <a:p>
              <a:endParaRPr/>
            </a:p>
          </p:txBody>
        </p:sp>
      </p:grpSp>
      <p:sp>
        <p:nvSpPr>
          <p:cNvPr id="7" name="object 7" descr="$PPTXTitle">
            <a:extLst>
              <a:ext uri="{FF2B5EF4-FFF2-40B4-BE49-F238E27FC236}">
                <a16:creationId xmlns:a16="http://schemas.microsoft.com/office/drawing/2014/main" id="{48024CE0-D1BD-95BE-A959-864062F29003}"/>
              </a:ext>
            </a:extLst>
          </p:cNvPr>
          <p:cNvSpPr txBox="1">
            <a:spLocks noGrp="1"/>
          </p:cNvSpPr>
          <p:nvPr>
            <p:ph type="title"/>
          </p:nvPr>
        </p:nvSpPr>
        <p:spPr>
          <a:xfrm>
            <a:off x="1981960" y="589229"/>
            <a:ext cx="10210040" cy="690574"/>
          </a:xfrm>
          <a:prstGeom prst="rect">
            <a:avLst/>
          </a:prstGeom>
        </p:spPr>
        <p:txBody>
          <a:bodyPr vert="horz" wrap="square" lIns="0" tIns="13335" rIns="0" bIns="0" rtlCol="0">
            <a:spAutoFit/>
          </a:bodyPr>
          <a:lstStyle/>
          <a:p>
            <a:pPr marL="12700">
              <a:lnSpc>
                <a:spcPct val="100000"/>
              </a:lnSpc>
              <a:spcBef>
                <a:spcPts val="105"/>
              </a:spcBef>
              <a:tabLst>
                <a:tab pos="1043305" algn="l"/>
              </a:tabLst>
            </a:pPr>
            <a:r>
              <a:rPr lang="en-IN" sz="4400" b="0" spc="-50" dirty="0">
                <a:solidFill>
                  <a:srgbClr val="464A56"/>
                </a:solidFill>
                <a:latin typeface="Cambria"/>
                <a:cs typeface="Cambria"/>
              </a:rPr>
              <a:t>3</a:t>
            </a:r>
            <a:r>
              <a:rPr sz="4400" b="0" dirty="0">
                <a:solidFill>
                  <a:srgbClr val="464A56"/>
                </a:solidFill>
                <a:latin typeface="Cambria"/>
                <a:cs typeface="Cambria"/>
              </a:rPr>
              <a:t>	</a:t>
            </a:r>
            <a:r>
              <a:rPr lang="en-US" sz="4400" dirty="0"/>
              <a:t>Nodes in a Search Tree</a:t>
            </a:r>
            <a:r>
              <a:rPr lang="en-IN" sz="4400" dirty="0"/>
              <a:t>?</a:t>
            </a:r>
            <a:endParaRPr sz="4400" dirty="0">
              <a:latin typeface="Cambria"/>
              <a:cs typeface="Cambria"/>
            </a:endParaRPr>
          </a:p>
        </p:txBody>
      </p:sp>
      <p:sp>
        <p:nvSpPr>
          <p:cNvPr id="8" name="object 5">
            <a:extLst>
              <a:ext uri="{FF2B5EF4-FFF2-40B4-BE49-F238E27FC236}">
                <a16:creationId xmlns:a16="http://schemas.microsoft.com/office/drawing/2014/main" id="{E0A18403-F67E-6B6D-D870-CE107D36B405}"/>
              </a:ext>
            </a:extLst>
          </p:cNvPr>
          <p:cNvSpPr txBox="1"/>
          <p:nvPr/>
        </p:nvSpPr>
        <p:spPr>
          <a:xfrm>
            <a:off x="2934462" y="2286000"/>
            <a:ext cx="8448040" cy="3625993"/>
          </a:xfrm>
          <a:prstGeom prst="rect">
            <a:avLst/>
          </a:prstGeom>
        </p:spPr>
        <p:txBody>
          <a:bodyPr vert="horz" wrap="square" lIns="0" tIns="177165" rIns="0" bIns="0" rtlCol="0">
            <a:spAutoFit/>
          </a:bodyPr>
          <a:lstStyle/>
          <a:p>
            <a:r>
              <a:rPr lang="en-US" sz="2800" dirty="0"/>
              <a:t>Each node represents a </a:t>
            </a:r>
            <a:r>
              <a:rPr lang="en-US" sz="2800" b="1" dirty="0"/>
              <a:t>data structure</a:t>
            </a:r>
            <a:r>
              <a:rPr lang="en-US" sz="2800" dirty="0"/>
              <a:t>, not just a state.</a:t>
            </a:r>
          </a:p>
          <a:p>
            <a:r>
              <a:rPr lang="en-US" sz="2800" dirty="0"/>
              <a:t>A node contains:</a:t>
            </a:r>
          </a:p>
          <a:p>
            <a:r>
              <a:rPr lang="en-US" sz="2800" dirty="0"/>
              <a:t>State</a:t>
            </a:r>
          </a:p>
          <a:p>
            <a:r>
              <a:rPr lang="en-US" sz="2800" dirty="0"/>
              <a:t>Parent</a:t>
            </a:r>
          </a:p>
          <a:p>
            <a:r>
              <a:rPr lang="en-US" sz="2800" dirty="0"/>
              <a:t>Action</a:t>
            </a:r>
          </a:p>
          <a:p>
            <a:r>
              <a:rPr lang="en-US" sz="2800" dirty="0"/>
              <a:t>Path cost</a:t>
            </a:r>
          </a:p>
          <a:p>
            <a:r>
              <a:rPr lang="en-US" sz="2800" dirty="0"/>
              <a:t>⚠️ </a:t>
            </a:r>
            <a:r>
              <a:rPr lang="en-US" sz="2800" b="1" dirty="0"/>
              <a:t>Node ≠ State</a:t>
            </a:r>
            <a:endParaRPr lang="en-US" sz="2800" dirty="0"/>
          </a:p>
        </p:txBody>
      </p:sp>
    </p:spTree>
    <p:extLst>
      <p:ext uri="{BB962C8B-B14F-4D97-AF65-F5344CB8AC3E}">
        <p14:creationId xmlns:p14="http://schemas.microsoft.com/office/powerpoint/2010/main" val="25054858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A66886-29A3-72F4-6389-23E167588A2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8ECE9FF5-609E-9EF2-AFDF-4763FB7A9CBF}"/>
              </a:ext>
            </a:extLst>
          </p:cNvPr>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FDFBF7"/>
          </a:solidFill>
        </p:spPr>
        <p:txBody>
          <a:bodyPr wrap="square" lIns="0" tIns="0" rIns="0" bIns="0" rtlCol="0"/>
          <a:lstStyle/>
          <a:p>
            <a:endParaRPr/>
          </a:p>
        </p:txBody>
      </p:sp>
      <p:grpSp>
        <p:nvGrpSpPr>
          <p:cNvPr id="3" name="object 3">
            <a:extLst>
              <a:ext uri="{FF2B5EF4-FFF2-40B4-BE49-F238E27FC236}">
                <a16:creationId xmlns:a16="http://schemas.microsoft.com/office/drawing/2014/main" id="{BE56D2E3-6FE7-5209-805A-8224D708DDA6}"/>
              </a:ext>
            </a:extLst>
          </p:cNvPr>
          <p:cNvGrpSpPr/>
          <p:nvPr/>
        </p:nvGrpSpPr>
        <p:grpSpPr>
          <a:xfrm>
            <a:off x="424984" y="432816"/>
            <a:ext cx="11280098" cy="6123432"/>
            <a:chOff x="424984" y="432816"/>
            <a:chExt cx="11280098" cy="6123432"/>
          </a:xfrm>
        </p:grpSpPr>
        <p:pic>
          <p:nvPicPr>
            <p:cNvPr id="4" name="object 4">
              <a:extLst>
                <a:ext uri="{FF2B5EF4-FFF2-40B4-BE49-F238E27FC236}">
                  <a16:creationId xmlns:a16="http://schemas.microsoft.com/office/drawing/2014/main" id="{087298D3-895F-3C2F-8C9D-B11FA78BA701}"/>
                </a:ext>
              </a:extLst>
            </p:cNvPr>
            <p:cNvPicPr/>
            <p:nvPr/>
          </p:nvPicPr>
          <p:blipFill>
            <a:blip r:embed="rId2" cstate="print"/>
            <a:stretch>
              <a:fillRect/>
            </a:stretch>
          </p:blipFill>
          <p:spPr>
            <a:xfrm>
              <a:off x="424984" y="432816"/>
              <a:ext cx="3459183" cy="6123432"/>
            </a:xfrm>
            <a:prstGeom prst="rect">
              <a:avLst/>
            </a:prstGeom>
          </p:spPr>
        </p:pic>
        <p:sp>
          <p:nvSpPr>
            <p:cNvPr id="5" name="object 5">
              <a:extLst>
                <a:ext uri="{FF2B5EF4-FFF2-40B4-BE49-F238E27FC236}">
                  <a16:creationId xmlns:a16="http://schemas.microsoft.com/office/drawing/2014/main" id="{DBD246F8-C58D-7481-CC6E-D4873B468B23}"/>
                </a:ext>
              </a:extLst>
            </p:cNvPr>
            <p:cNvSpPr/>
            <p:nvPr/>
          </p:nvSpPr>
          <p:spPr>
            <a:xfrm>
              <a:off x="2934462" y="2177033"/>
              <a:ext cx="8770620" cy="0"/>
            </a:xfrm>
            <a:custGeom>
              <a:avLst/>
              <a:gdLst/>
              <a:ahLst/>
              <a:cxnLst/>
              <a:rect l="l" t="t" r="r" b="b"/>
              <a:pathLst>
                <a:path w="8770620">
                  <a:moveTo>
                    <a:pt x="0" y="0"/>
                  </a:moveTo>
                  <a:lnTo>
                    <a:pt x="8770619" y="0"/>
                  </a:lnTo>
                </a:path>
              </a:pathLst>
            </a:custGeom>
            <a:ln w="38100">
              <a:solidFill>
                <a:srgbClr val="79A8A3"/>
              </a:solidFill>
            </a:ln>
          </p:spPr>
          <p:txBody>
            <a:bodyPr wrap="square" lIns="0" tIns="0" rIns="0" bIns="0" rtlCol="0"/>
            <a:lstStyle/>
            <a:p>
              <a:endParaRPr/>
            </a:p>
          </p:txBody>
        </p:sp>
      </p:grpSp>
      <p:sp>
        <p:nvSpPr>
          <p:cNvPr id="7" name="object 7" descr="$PPTXTitle">
            <a:extLst>
              <a:ext uri="{FF2B5EF4-FFF2-40B4-BE49-F238E27FC236}">
                <a16:creationId xmlns:a16="http://schemas.microsoft.com/office/drawing/2014/main" id="{F092180B-631D-0EEC-77F6-F6B91860E46A}"/>
              </a:ext>
            </a:extLst>
          </p:cNvPr>
          <p:cNvSpPr txBox="1">
            <a:spLocks noGrp="1"/>
          </p:cNvSpPr>
          <p:nvPr>
            <p:ph type="title"/>
          </p:nvPr>
        </p:nvSpPr>
        <p:spPr>
          <a:xfrm>
            <a:off x="1981960" y="589229"/>
            <a:ext cx="10210040" cy="690574"/>
          </a:xfrm>
          <a:prstGeom prst="rect">
            <a:avLst/>
          </a:prstGeom>
        </p:spPr>
        <p:txBody>
          <a:bodyPr vert="horz" wrap="square" lIns="0" tIns="13335" rIns="0" bIns="0" rtlCol="0">
            <a:spAutoFit/>
          </a:bodyPr>
          <a:lstStyle/>
          <a:p>
            <a:pPr marL="12700">
              <a:lnSpc>
                <a:spcPct val="100000"/>
              </a:lnSpc>
              <a:spcBef>
                <a:spcPts val="105"/>
              </a:spcBef>
              <a:tabLst>
                <a:tab pos="1043305" algn="l"/>
              </a:tabLst>
            </a:pPr>
            <a:r>
              <a:rPr lang="en-IN" sz="4400" b="0" spc="-50" dirty="0">
                <a:solidFill>
                  <a:srgbClr val="464A56"/>
                </a:solidFill>
                <a:latin typeface="Cambria"/>
                <a:cs typeface="Cambria"/>
              </a:rPr>
              <a:t>3</a:t>
            </a:r>
            <a:r>
              <a:rPr sz="4400" b="0" dirty="0">
                <a:solidFill>
                  <a:srgbClr val="464A56"/>
                </a:solidFill>
                <a:latin typeface="Cambria"/>
                <a:cs typeface="Cambria"/>
              </a:rPr>
              <a:t>	</a:t>
            </a:r>
            <a:r>
              <a:rPr lang="en-IN" sz="4400" dirty="0"/>
              <a:t>Node Data Structure?</a:t>
            </a:r>
            <a:endParaRPr sz="4400" dirty="0">
              <a:latin typeface="Cambria"/>
              <a:cs typeface="Cambria"/>
            </a:endParaRPr>
          </a:p>
        </p:txBody>
      </p:sp>
      <p:sp>
        <p:nvSpPr>
          <p:cNvPr id="8" name="object 5">
            <a:extLst>
              <a:ext uri="{FF2B5EF4-FFF2-40B4-BE49-F238E27FC236}">
                <a16:creationId xmlns:a16="http://schemas.microsoft.com/office/drawing/2014/main" id="{AC233FBC-0630-1AA8-365E-D9DFC7577A57}"/>
              </a:ext>
            </a:extLst>
          </p:cNvPr>
          <p:cNvSpPr txBox="1"/>
          <p:nvPr/>
        </p:nvSpPr>
        <p:spPr>
          <a:xfrm>
            <a:off x="2934462" y="2286000"/>
            <a:ext cx="8448040" cy="4056880"/>
          </a:xfrm>
          <a:prstGeom prst="rect">
            <a:avLst/>
          </a:prstGeom>
        </p:spPr>
        <p:txBody>
          <a:bodyPr vert="horz" wrap="square" lIns="0" tIns="177165" rIns="0" bIns="0" rtlCol="0">
            <a:spAutoFit/>
          </a:bodyPr>
          <a:lstStyle/>
          <a:p>
            <a:r>
              <a:rPr lang="en-IN" sz="2800" dirty="0"/>
              <a:t>For every node </a:t>
            </a:r>
            <a:r>
              <a:rPr lang="en-IN" sz="2800" b="1" dirty="0"/>
              <a:t>n</a:t>
            </a:r>
            <a:r>
              <a:rPr lang="en-IN" sz="2800" dirty="0"/>
              <a:t>, we store:</a:t>
            </a:r>
          </a:p>
          <a:p>
            <a:r>
              <a:rPr lang="en-IN" sz="2800" b="1" dirty="0" err="1"/>
              <a:t>n.STATE</a:t>
            </a:r>
            <a:br>
              <a:rPr lang="en-IN" sz="2800" dirty="0"/>
            </a:br>
            <a:r>
              <a:rPr lang="en-IN" sz="2800" dirty="0"/>
              <a:t>→ World state (e.g., In(Sibiu))</a:t>
            </a:r>
          </a:p>
          <a:p>
            <a:r>
              <a:rPr lang="en-IN" sz="2800" b="1" dirty="0" err="1"/>
              <a:t>n.PARENT</a:t>
            </a:r>
            <a:br>
              <a:rPr lang="en-IN" sz="2800" dirty="0"/>
            </a:br>
            <a:r>
              <a:rPr lang="en-IN" sz="2800" dirty="0"/>
              <a:t>→ Node that generated this node</a:t>
            </a:r>
          </a:p>
          <a:p>
            <a:r>
              <a:rPr lang="en-IN" sz="2800" b="1" dirty="0" err="1"/>
              <a:t>n.ACTION</a:t>
            </a:r>
            <a:br>
              <a:rPr lang="en-IN" sz="2800" dirty="0"/>
            </a:br>
            <a:r>
              <a:rPr lang="en-IN" sz="2800" dirty="0"/>
              <a:t>→ Action taken from parent</a:t>
            </a:r>
          </a:p>
          <a:p>
            <a:r>
              <a:rPr lang="en-IN" sz="2800" b="1" dirty="0" err="1"/>
              <a:t>n.PATH</a:t>
            </a:r>
            <a:r>
              <a:rPr lang="en-IN" sz="2800" b="1" dirty="0"/>
              <a:t>-COST (g(n))</a:t>
            </a:r>
            <a:br>
              <a:rPr lang="en-IN" sz="2800" dirty="0"/>
            </a:br>
            <a:r>
              <a:rPr lang="en-IN" sz="2800" dirty="0"/>
              <a:t>→ Total cost from initial state to this node</a:t>
            </a:r>
          </a:p>
        </p:txBody>
      </p:sp>
    </p:spTree>
    <p:extLst>
      <p:ext uri="{BB962C8B-B14F-4D97-AF65-F5344CB8AC3E}">
        <p14:creationId xmlns:p14="http://schemas.microsoft.com/office/powerpoint/2010/main" val="23376245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descr="Nodes in 'Trees' data-structure. The tree data structure is a set of… | by  Kamalov Otash | Medium">
            <a:extLst>
              <a:ext uri="{FF2B5EF4-FFF2-40B4-BE49-F238E27FC236}">
                <a16:creationId xmlns:a16="http://schemas.microsoft.com/office/drawing/2014/main" id="{6F8387DE-C74D-2A87-6085-021B22EFD0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105371"/>
            <a:ext cx="8153399" cy="60275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879521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1566DA-4DEA-01C8-2D1F-B04110F83F8E}"/>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FCEA196-0937-61E7-DFC5-AB42DAB3CC98}"/>
              </a:ext>
            </a:extLst>
          </p:cNvPr>
          <p:cNvSpPr/>
          <p:nvPr/>
        </p:nvSpPr>
        <p:spPr>
          <a:xfrm>
            <a:off x="-33867" y="-53340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FDFBF7"/>
          </a:solidFill>
        </p:spPr>
        <p:txBody>
          <a:bodyPr wrap="square" lIns="0" tIns="0" rIns="0" bIns="0" rtlCol="0"/>
          <a:lstStyle/>
          <a:p>
            <a:endParaRPr/>
          </a:p>
        </p:txBody>
      </p:sp>
      <p:grpSp>
        <p:nvGrpSpPr>
          <p:cNvPr id="3" name="object 3">
            <a:extLst>
              <a:ext uri="{FF2B5EF4-FFF2-40B4-BE49-F238E27FC236}">
                <a16:creationId xmlns:a16="http://schemas.microsoft.com/office/drawing/2014/main" id="{E25205A8-F890-5145-149D-50271ED334F7}"/>
              </a:ext>
            </a:extLst>
          </p:cNvPr>
          <p:cNvGrpSpPr/>
          <p:nvPr/>
        </p:nvGrpSpPr>
        <p:grpSpPr>
          <a:xfrm>
            <a:off x="424984" y="432816"/>
            <a:ext cx="11280098" cy="6123432"/>
            <a:chOff x="424984" y="432816"/>
            <a:chExt cx="11280098" cy="6123432"/>
          </a:xfrm>
        </p:grpSpPr>
        <p:pic>
          <p:nvPicPr>
            <p:cNvPr id="4" name="object 4">
              <a:extLst>
                <a:ext uri="{FF2B5EF4-FFF2-40B4-BE49-F238E27FC236}">
                  <a16:creationId xmlns:a16="http://schemas.microsoft.com/office/drawing/2014/main" id="{D9F8B3AE-CC49-F74C-7A0A-0E5E3C4FB586}"/>
                </a:ext>
              </a:extLst>
            </p:cNvPr>
            <p:cNvPicPr/>
            <p:nvPr/>
          </p:nvPicPr>
          <p:blipFill>
            <a:blip r:embed="rId2" cstate="print"/>
            <a:stretch>
              <a:fillRect/>
            </a:stretch>
          </p:blipFill>
          <p:spPr>
            <a:xfrm>
              <a:off x="424984" y="432816"/>
              <a:ext cx="3459183" cy="6123432"/>
            </a:xfrm>
            <a:prstGeom prst="rect">
              <a:avLst/>
            </a:prstGeom>
          </p:spPr>
        </p:pic>
        <p:sp>
          <p:nvSpPr>
            <p:cNvPr id="5" name="object 5">
              <a:extLst>
                <a:ext uri="{FF2B5EF4-FFF2-40B4-BE49-F238E27FC236}">
                  <a16:creationId xmlns:a16="http://schemas.microsoft.com/office/drawing/2014/main" id="{3EEA82F6-4902-451A-A926-18E3AA08C0B7}"/>
                </a:ext>
              </a:extLst>
            </p:cNvPr>
            <p:cNvSpPr/>
            <p:nvPr/>
          </p:nvSpPr>
          <p:spPr>
            <a:xfrm>
              <a:off x="2934462" y="2177033"/>
              <a:ext cx="8770620" cy="0"/>
            </a:xfrm>
            <a:custGeom>
              <a:avLst/>
              <a:gdLst/>
              <a:ahLst/>
              <a:cxnLst/>
              <a:rect l="l" t="t" r="r" b="b"/>
              <a:pathLst>
                <a:path w="8770620">
                  <a:moveTo>
                    <a:pt x="0" y="0"/>
                  </a:moveTo>
                  <a:lnTo>
                    <a:pt x="8770619" y="0"/>
                  </a:lnTo>
                </a:path>
              </a:pathLst>
            </a:custGeom>
            <a:ln w="38100">
              <a:solidFill>
                <a:srgbClr val="79A8A3"/>
              </a:solidFill>
            </a:ln>
          </p:spPr>
          <p:txBody>
            <a:bodyPr wrap="square" lIns="0" tIns="0" rIns="0" bIns="0" rtlCol="0"/>
            <a:lstStyle/>
            <a:p>
              <a:endParaRPr/>
            </a:p>
          </p:txBody>
        </p:sp>
      </p:grpSp>
      <p:sp>
        <p:nvSpPr>
          <p:cNvPr id="7" name="object 7" descr="$PPTXTitle">
            <a:extLst>
              <a:ext uri="{FF2B5EF4-FFF2-40B4-BE49-F238E27FC236}">
                <a16:creationId xmlns:a16="http://schemas.microsoft.com/office/drawing/2014/main" id="{3918E5B1-431A-ED77-C956-5E44D1132EAC}"/>
              </a:ext>
            </a:extLst>
          </p:cNvPr>
          <p:cNvSpPr txBox="1">
            <a:spLocks noGrp="1"/>
          </p:cNvSpPr>
          <p:nvPr>
            <p:ph type="title"/>
          </p:nvPr>
        </p:nvSpPr>
        <p:spPr>
          <a:xfrm>
            <a:off x="1981960" y="589229"/>
            <a:ext cx="10210040" cy="690574"/>
          </a:xfrm>
          <a:prstGeom prst="rect">
            <a:avLst/>
          </a:prstGeom>
        </p:spPr>
        <p:txBody>
          <a:bodyPr vert="horz" wrap="square" lIns="0" tIns="13335" rIns="0" bIns="0" rtlCol="0">
            <a:spAutoFit/>
          </a:bodyPr>
          <a:lstStyle/>
          <a:p>
            <a:pPr marL="12700">
              <a:lnSpc>
                <a:spcPct val="100000"/>
              </a:lnSpc>
              <a:spcBef>
                <a:spcPts val="105"/>
              </a:spcBef>
              <a:tabLst>
                <a:tab pos="1043305" algn="l"/>
              </a:tabLst>
            </a:pPr>
            <a:r>
              <a:rPr lang="en-IN" sz="4400" b="0" spc="-50" dirty="0">
                <a:solidFill>
                  <a:srgbClr val="464A56"/>
                </a:solidFill>
                <a:latin typeface="Cambria"/>
                <a:cs typeface="Cambria"/>
              </a:rPr>
              <a:t>3</a:t>
            </a:r>
            <a:r>
              <a:rPr sz="4400" b="0" dirty="0">
                <a:solidFill>
                  <a:srgbClr val="464A56"/>
                </a:solidFill>
                <a:latin typeface="Cambria"/>
                <a:cs typeface="Cambria"/>
              </a:rPr>
              <a:t>	</a:t>
            </a:r>
            <a:r>
              <a:rPr lang="en-US" sz="4400" dirty="0"/>
              <a:t>Why Parent Pointers Are Needed</a:t>
            </a:r>
            <a:endParaRPr sz="4400" dirty="0">
              <a:latin typeface="Cambria"/>
              <a:cs typeface="Cambria"/>
            </a:endParaRPr>
          </a:p>
        </p:txBody>
      </p:sp>
      <p:sp>
        <p:nvSpPr>
          <p:cNvPr id="8" name="object 5">
            <a:extLst>
              <a:ext uri="{FF2B5EF4-FFF2-40B4-BE49-F238E27FC236}">
                <a16:creationId xmlns:a16="http://schemas.microsoft.com/office/drawing/2014/main" id="{73DAD8CC-A7B7-5D12-E28A-9566FDBFC8A6}"/>
              </a:ext>
            </a:extLst>
          </p:cNvPr>
          <p:cNvSpPr txBox="1"/>
          <p:nvPr/>
        </p:nvSpPr>
        <p:spPr>
          <a:xfrm>
            <a:off x="2934462" y="2286000"/>
            <a:ext cx="8448040" cy="2641108"/>
          </a:xfrm>
          <a:prstGeom prst="rect">
            <a:avLst/>
          </a:prstGeom>
        </p:spPr>
        <p:txBody>
          <a:bodyPr vert="horz" wrap="square" lIns="0" tIns="177165" rIns="0" bIns="0" rtlCol="0">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Arial" panose="020B0604020202020204" pitchFamily="34" charset="0"/>
              </a:rPr>
              <a:t>Parent pointers connect nodes into a </a:t>
            </a:r>
            <a:r>
              <a:rPr kumimoji="0" lang="en-US" altLang="en-US" sz="3200" b="1" i="0" u="none" strike="noStrike" cap="none" normalizeH="0" baseline="0" dirty="0">
                <a:ln>
                  <a:noFill/>
                </a:ln>
                <a:solidFill>
                  <a:schemeClr val="tx1"/>
                </a:solidFill>
                <a:effectLst/>
                <a:latin typeface="Arial" panose="020B0604020202020204" pitchFamily="34" charset="0"/>
              </a:rPr>
              <a:t>tree</a:t>
            </a:r>
            <a:endParaRPr kumimoji="0" lang="en-US" altLang="en-US" sz="3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Arial" panose="020B0604020202020204" pitchFamily="34" charset="0"/>
              </a:rPr>
              <a:t>When a goal is found: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Arial" panose="020B0604020202020204" pitchFamily="34" charset="0"/>
              </a:rPr>
              <a:t>Follow parent pointers back to root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Arial" panose="020B0604020202020204" pitchFamily="34" charset="0"/>
              </a:rPr>
              <a:t>Extract the action sequence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Arial" panose="020B0604020202020204" pitchFamily="34" charset="0"/>
              </a:rPr>
              <a:t>This gives the </a:t>
            </a:r>
            <a:r>
              <a:rPr kumimoji="0" lang="en-US" altLang="en-US" sz="3200" b="1" i="0" u="none" strike="noStrike" cap="none" normalizeH="0" baseline="0" dirty="0">
                <a:ln>
                  <a:noFill/>
                </a:ln>
                <a:solidFill>
                  <a:schemeClr val="tx1"/>
                </a:solidFill>
                <a:effectLst/>
                <a:latin typeface="Arial" panose="020B0604020202020204" pitchFamily="34" charset="0"/>
              </a:rPr>
              <a:t>solution path</a:t>
            </a: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872423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6C9673-0484-3795-19A0-5FEB13E27D0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910BEBD-E9B9-3E9C-35FD-67D6CACF0237}"/>
              </a:ext>
            </a:extLst>
          </p:cNvPr>
          <p:cNvSpPr/>
          <p:nvPr/>
        </p:nvSpPr>
        <p:spPr>
          <a:xfrm>
            <a:off x="-33867"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FDFBF7"/>
          </a:solidFill>
        </p:spPr>
        <p:txBody>
          <a:bodyPr wrap="square" lIns="0" tIns="0" rIns="0" bIns="0" rtlCol="0"/>
          <a:lstStyle/>
          <a:p>
            <a:endParaRPr/>
          </a:p>
        </p:txBody>
      </p:sp>
      <p:grpSp>
        <p:nvGrpSpPr>
          <p:cNvPr id="3" name="object 3">
            <a:extLst>
              <a:ext uri="{FF2B5EF4-FFF2-40B4-BE49-F238E27FC236}">
                <a16:creationId xmlns:a16="http://schemas.microsoft.com/office/drawing/2014/main" id="{521BB412-8470-7948-E8EE-4E79E20E1E5E}"/>
              </a:ext>
            </a:extLst>
          </p:cNvPr>
          <p:cNvGrpSpPr/>
          <p:nvPr/>
        </p:nvGrpSpPr>
        <p:grpSpPr>
          <a:xfrm>
            <a:off x="424984" y="432816"/>
            <a:ext cx="11280098" cy="6123432"/>
            <a:chOff x="424984" y="432816"/>
            <a:chExt cx="11280098" cy="6123432"/>
          </a:xfrm>
        </p:grpSpPr>
        <p:pic>
          <p:nvPicPr>
            <p:cNvPr id="4" name="object 4">
              <a:extLst>
                <a:ext uri="{FF2B5EF4-FFF2-40B4-BE49-F238E27FC236}">
                  <a16:creationId xmlns:a16="http://schemas.microsoft.com/office/drawing/2014/main" id="{E135A3A8-1D7D-9F0B-B581-B3795A2F85BB}"/>
                </a:ext>
              </a:extLst>
            </p:cNvPr>
            <p:cNvPicPr/>
            <p:nvPr/>
          </p:nvPicPr>
          <p:blipFill>
            <a:blip r:embed="rId2" cstate="print"/>
            <a:stretch>
              <a:fillRect/>
            </a:stretch>
          </p:blipFill>
          <p:spPr>
            <a:xfrm>
              <a:off x="424984" y="432816"/>
              <a:ext cx="3459183" cy="6123432"/>
            </a:xfrm>
            <a:prstGeom prst="rect">
              <a:avLst/>
            </a:prstGeom>
          </p:spPr>
        </p:pic>
        <p:sp>
          <p:nvSpPr>
            <p:cNvPr id="5" name="object 5">
              <a:extLst>
                <a:ext uri="{FF2B5EF4-FFF2-40B4-BE49-F238E27FC236}">
                  <a16:creationId xmlns:a16="http://schemas.microsoft.com/office/drawing/2014/main" id="{54BA0660-FCC3-E994-3ECB-D3AE9D63D6F1}"/>
                </a:ext>
              </a:extLst>
            </p:cNvPr>
            <p:cNvSpPr/>
            <p:nvPr/>
          </p:nvSpPr>
          <p:spPr>
            <a:xfrm>
              <a:off x="2934462" y="2177033"/>
              <a:ext cx="8770620" cy="0"/>
            </a:xfrm>
            <a:custGeom>
              <a:avLst/>
              <a:gdLst/>
              <a:ahLst/>
              <a:cxnLst/>
              <a:rect l="l" t="t" r="r" b="b"/>
              <a:pathLst>
                <a:path w="8770620">
                  <a:moveTo>
                    <a:pt x="0" y="0"/>
                  </a:moveTo>
                  <a:lnTo>
                    <a:pt x="8770619" y="0"/>
                  </a:lnTo>
                </a:path>
              </a:pathLst>
            </a:custGeom>
            <a:ln w="38100">
              <a:solidFill>
                <a:srgbClr val="79A8A3"/>
              </a:solidFill>
            </a:ln>
          </p:spPr>
          <p:txBody>
            <a:bodyPr wrap="square" lIns="0" tIns="0" rIns="0" bIns="0" rtlCol="0"/>
            <a:lstStyle/>
            <a:p>
              <a:endParaRPr/>
            </a:p>
          </p:txBody>
        </p:sp>
      </p:grpSp>
      <p:sp>
        <p:nvSpPr>
          <p:cNvPr id="7" name="object 7" descr="$PPTXTitle">
            <a:extLst>
              <a:ext uri="{FF2B5EF4-FFF2-40B4-BE49-F238E27FC236}">
                <a16:creationId xmlns:a16="http://schemas.microsoft.com/office/drawing/2014/main" id="{444CB1A0-9FE3-7F9F-9DB8-BD0EB301D074}"/>
              </a:ext>
            </a:extLst>
          </p:cNvPr>
          <p:cNvSpPr txBox="1">
            <a:spLocks noGrp="1"/>
          </p:cNvSpPr>
          <p:nvPr>
            <p:ph type="title"/>
          </p:nvPr>
        </p:nvSpPr>
        <p:spPr>
          <a:xfrm>
            <a:off x="1981960" y="589229"/>
            <a:ext cx="10210040" cy="690574"/>
          </a:xfrm>
          <a:prstGeom prst="rect">
            <a:avLst/>
          </a:prstGeom>
        </p:spPr>
        <p:txBody>
          <a:bodyPr vert="horz" wrap="square" lIns="0" tIns="13335" rIns="0" bIns="0" rtlCol="0">
            <a:spAutoFit/>
          </a:bodyPr>
          <a:lstStyle/>
          <a:p>
            <a:pPr marL="12700">
              <a:lnSpc>
                <a:spcPct val="100000"/>
              </a:lnSpc>
              <a:spcBef>
                <a:spcPts val="105"/>
              </a:spcBef>
              <a:tabLst>
                <a:tab pos="1043305" algn="l"/>
              </a:tabLst>
            </a:pPr>
            <a:r>
              <a:rPr lang="en-IN" sz="4400" b="0" spc="-50" dirty="0">
                <a:solidFill>
                  <a:srgbClr val="464A56"/>
                </a:solidFill>
                <a:latin typeface="Cambria"/>
                <a:cs typeface="Cambria"/>
              </a:rPr>
              <a:t>3</a:t>
            </a:r>
            <a:r>
              <a:rPr sz="4400" b="0" dirty="0">
                <a:solidFill>
                  <a:srgbClr val="464A56"/>
                </a:solidFill>
                <a:latin typeface="Cambria"/>
                <a:cs typeface="Cambria"/>
              </a:rPr>
              <a:t>	</a:t>
            </a:r>
            <a:r>
              <a:rPr lang="en-IN" sz="4400" dirty="0"/>
              <a:t>Creating Child Nodes</a:t>
            </a:r>
            <a:endParaRPr sz="4400" dirty="0">
              <a:latin typeface="Cambria"/>
              <a:cs typeface="Cambria"/>
            </a:endParaRPr>
          </a:p>
        </p:txBody>
      </p:sp>
      <p:sp>
        <p:nvSpPr>
          <p:cNvPr id="8" name="object 5">
            <a:extLst>
              <a:ext uri="{FF2B5EF4-FFF2-40B4-BE49-F238E27FC236}">
                <a16:creationId xmlns:a16="http://schemas.microsoft.com/office/drawing/2014/main" id="{A3B80D90-F01A-3576-9EC0-F4B1DA3EC012}"/>
              </a:ext>
            </a:extLst>
          </p:cNvPr>
          <p:cNvSpPr txBox="1"/>
          <p:nvPr/>
        </p:nvSpPr>
        <p:spPr>
          <a:xfrm>
            <a:off x="2934462" y="2286000"/>
            <a:ext cx="8448040" cy="3133550"/>
          </a:xfrm>
          <a:prstGeom prst="rect">
            <a:avLst/>
          </a:prstGeom>
        </p:spPr>
        <p:txBody>
          <a:bodyPr vert="horz" wrap="square" lIns="0" tIns="177165" rIns="0" bIns="0" rtlCol="0">
            <a:spAutoFit/>
          </a:bodyPr>
          <a:lstStyle/>
          <a:p>
            <a:r>
              <a:rPr lang="en-US" sz="3200" dirty="0"/>
              <a:t>Child nodes are generated using the </a:t>
            </a:r>
            <a:r>
              <a:rPr lang="en-US" sz="3200" b="1" dirty="0"/>
              <a:t>CHILD-NODE function</a:t>
            </a:r>
            <a:endParaRPr lang="en-US" sz="3200" dirty="0"/>
          </a:p>
          <a:p>
            <a:r>
              <a:rPr lang="en-US" sz="3200" dirty="0"/>
              <a:t>New state = Result of applying action</a:t>
            </a:r>
          </a:p>
          <a:p>
            <a:r>
              <a:rPr lang="en-US" sz="3200" dirty="0"/>
              <a:t>Parent = current node</a:t>
            </a:r>
          </a:p>
          <a:p>
            <a:r>
              <a:rPr lang="en-US" sz="3200" dirty="0"/>
              <a:t>Path cost = parent cost + step cost</a:t>
            </a:r>
          </a:p>
          <a:p>
            <a:r>
              <a:rPr lang="en-US" sz="3200" dirty="0"/>
              <a:t>📌 This is how the search tree grows</a:t>
            </a:r>
          </a:p>
        </p:txBody>
      </p:sp>
    </p:spTree>
    <p:extLst>
      <p:ext uri="{BB962C8B-B14F-4D97-AF65-F5344CB8AC3E}">
        <p14:creationId xmlns:p14="http://schemas.microsoft.com/office/powerpoint/2010/main" val="38048700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01FE17-6C20-BFBA-D958-92C675D34DE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31CEBE3-F633-5A09-AA9E-155837A2EF11}"/>
              </a:ext>
            </a:extLst>
          </p:cNvPr>
          <p:cNvSpPr/>
          <p:nvPr/>
        </p:nvSpPr>
        <p:spPr>
          <a:xfrm>
            <a:off x="-33867"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FDFBF7"/>
          </a:solidFill>
        </p:spPr>
        <p:txBody>
          <a:bodyPr wrap="square" lIns="0" tIns="0" rIns="0" bIns="0" rtlCol="0"/>
          <a:lstStyle/>
          <a:p>
            <a:endParaRPr/>
          </a:p>
        </p:txBody>
      </p:sp>
      <p:grpSp>
        <p:nvGrpSpPr>
          <p:cNvPr id="3" name="object 3">
            <a:extLst>
              <a:ext uri="{FF2B5EF4-FFF2-40B4-BE49-F238E27FC236}">
                <a16:creationId xmlns:a16="http://schemas.microsoft.com/office/drawing/2014/main" id="{FE868DD3-887D-7143-E63A-0B52A1DF0BAF}"/>
              </a:ext>
            </a:extLst>
          </p:cNvPr>
          <p:cNvGrpSpPr/>
          <p:nvPr/>
        </p:nvGrpSpPr>
        <p:grpSpPr>
          <a:xfrm>
            <a:off x="424984" y="432816"/>
            <a:ext cx="11280098" cy="6123432"/>
            <a:chOff x="424984" y="432816"/>
            <a:chExt cx="11280098" cy="6123432"/>
          </a:xfrm>
        </p:grpSpPr>
        <p:pic>
          <p:nvPicPr>
            <p:cNvPr id="4" name="object 4">
              <a:extLst>
                <a:ext uri="{FF2B5EF4-FFF2-40B4-BE49-F238E27FC236}">
                  <a16:creationId xmlns:a16="http://schemas.microsoft.com/office/drawing/2014/main" id="{1EFE68D5-94F9-E8A2-F34C-E1ACD891F465}"/>
                </a:ext>
              </a:extLst>
            </p:cNvPr>
            <p:cNvPicPr/>
            <p:nvPr/>
          </p:nvPicPr>
          <p:blipFill>
            <a:blip r:embed="rId2" cstate="print"/>
            <a:stretch>
              <a:fillRect/>
            </a:stretch>
          </p:blipFill>
          <p:spPr>
            <a:xfrm>
              <a:off x="424984" y="432816"/>
              <a:ext cx="3459183" cy="6123432"/>
            </a:xfrm>
            <a:prstGeom prst="rect">
              <a:avLst/>
            </a:prstGeom>
          </p:spPr>
        </p:pic>
        <p:sp>
          <p:nvSpPr>
            <p:cNvPr id="5" name="object 5">
              <a:extLst>
                <a:ext uri="{FF2B5EF4-FFF2-40B4-BE49-F238E27FC236}">
                  <a16:creationId xmlns:a16="http://schemas.microsoft.com/office/drawing/2014/main" id="{FC8F92A1-AABC-5C83-2A14-518F001FB68C}"/>
                </a:ext>
              </a:extLst>
            </p:cNvPr>
            <p:cNvSpPr/>
            <p:nvPr/>
          </p:nvSpPr>
          <p:spPr>
            <a:xfrm>
              <a:off x="2934462" y="2177033"/>
              <a:ext cx="8770620" cy="0"/>
            </a:xfrm>
            <a:custGeom>
              <a:avLst/>
              <a:gdLst/>
              <a:ahLst/>
              <a:cxnLst/>
              <a:rect l="l" t="t" r="r" b="b"/>
              <a:pathLst>
                <a:path w="8770620">
                  <a:moveTo>
                    <a:pt x="0" y="0"/>
                  </a:moveTo>
                  <a:lnTo>
                    <a:pt x="8770619" y="0"/>
                  </a:lnTo>
                </a:path>
              </a:pathLst>
            </a:custGeom>
            <a:ln w="38100">
              <a:solidFill>
                <a:srgbClr val="79A8A3"/>
              </a:solidFill>
            </a:ln>
          </p:spPr>
          <p:txBody>
            <a:bodyPr wrap="square" lIns="0" tIns="0" rIns="0" bIns="0" rtlCol="0"/>
            <a:lstStyle/>
            <a:p>
              <a:endParaRPr/>
            </a:p>
          </p:txBody>
        </p:sp>
      </p:grpSp>
      <p:sp>
        <p:nvSpPr>
          <p:cNvPr id="7" name="object 7" descr="$PPTXTitle">
            <a:extLst>
              <a:ext uri="{FF2B5EF4-FFF2-40B4-BE49-F238E27FC236}">
                <a16:creationId xmlns:a16="http://schemas.microsoft.com/office/drawing/2014/main" id="{256CE58D-7243-9BEF-0496-9E81B95D193F}"/>
              </a:ext>
            </a:extLst>
          </p:cNvPr>
          <p:cNvSpPr txBox="1">
            <a:spLocks noGrp="1"/>
          </p:cNvSpPr>
          <p:nvPr>
            <p:ph type="title"/>
          </p:nvPr>
        </p:nvSpPr>
        <p:spPr>
          <a:xfrm>
            <a:off x="1981960" y="589229"/>
            <a:ext cx="10210040" cy="690574"/>
          </a:xfrm>
          <a:prstGeom prst="rect">
            <a:avLst/>
          </a:prstGeom>
        </p:spPr>
        <p:txBody>
          <a:bodyPr vert="horz" wrap="square" lIns="0" tIns="13335" rIns="0" bIns="0" rtlCol="0">
            <a:spAutoFit/>
          </a:bodyPr>
          <a:lstStyle/>
          <a:p>
            <a:pPr marL="12700">
              <a:lnSpc>
                <a:spcPct val="100000"/>
              </a:lnSpc>
              <a:spcBef>
                <a:spcPts val="105"/>
              </a:spcBef>
              <a:tabLst>
                <a:tab pos="1043305" algn="l"/>
              </a:tabLst>
            </a:pPr>
            <a:r>
              <a:rPr lang="en-IN" sz="4400" b="0" spc="-50" dirty="0">
                <a:solidFill>
                  <a:srgbClr val="464A56"/>
                </a:solidFill>
                <a:latin typeface="Cambria"/>
                <a:cs typeface="Cambria"/>
              </a:rPr>
              <a:t>3</a:t>
            </a:r>
            <a:r>
              <a:rPr sz="4400" b="0" dirty="0">
                <a:solidFill>
                  <a:srgbClr val="464A56"/>
                </a:solidFill>
                <a:latin typeface="Cambria"/>
                <a:cs typeface="Cambria"/>
              </a:rPr>
              <a:t>	</a:t>
            </a:r>
            <a:r>
              <a:rPr lang="en-IN" sz="4400" dirty="0"/>
              <a:t>Expanding a Node</a:t>
            </a:r>
            <a:endParaRPr sz="4400" dirty="0">
              <a:latin typeface="Cambria"/>
              <a:cs typeface="Cambria"/>
            </a:endParaRPr>
          </a:p>
        </p:txBody>
      </p:sp>
      <p:sp>
        <p:nvSpPr>
          <p:cNvPr id="8" name="object 5">
            <a:extLst>
              <a:ext uri="{FF2B5EF4-FFF2-40B4-BE49-F238E27FC236}">
                <a16:creationId xmlns:a16="http://schemas.microsoft.com/office/drawing/2014/main" id="{27F1856C-A76B-DBA2-E774-6969391852B0}"/>
              </a:ext>
            </a:extLst>
          </p:cNvPr>
          <p:cNvSpPr txBox="1"/>
          <p:nvPr/>
        </p:nvSpPr>
        <p:spPr>
          <a:xfrm>
            <a:off x="2934462" y="2286000"/>
            <a:ext cx="8448040" cy="3625993"/>
          </a:xfrm>
          <a:prstGeom prst="rect">
            <a:avLst/>
          </a:prstGeom>
        </p:spPr>
        <p:txBody>
          <a:bodyPr vert="horz" wrap="square" lIns="0" tIns="177165" rIns="0" bIns="0" rtlCol="0">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Expanding a node</a:t>
            </a:r>
            <a:r>
              <a:rPr kumimoji="0" lang="en-US" altLang="en-US" sz="2800" b="0" i="0" u="none" strike="noStrike" cap="none" normalizeH="0" baseline="0" dirty="0">
                <a:ln>
                  <a:noFill/>
                </a:ln>
                <a:solidFill>
                  <a:schemeClr val="tx1"/>
                </a:solidFill>
                <a:effectLst/>
                <a:latin typeface="Arial" panose="020B0604020202020204" pitchFamily="34" charset="0"/>
              </a:rPr>
              <a:t> means: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Applying all legal actions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Generating all successor states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Example: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Expanding Arad generates: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Sibiu</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Timisoara</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Zerind</a:t>
            </a:r>
          </a:p>
        </p:txBody>
      </p:sp>
    </p:spTree>
    <p:extLst>
      <p:ext uri="{BB962C8B-B14F-4D97-AF65-F5344CB8AC3E}">
        <p14:creationId xmlns:p14="http://schemas.microsoft.com/office/powerpoint/2010/main" val="37114142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ED9BA-7CCA-3DB0-2F0A-3F1D526A356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D7099E6-CD39-F4F2-D0E8-D3B27B2AC534}"/>
              </a:ext>
            </a:extLst>
          </p:cNvPr>
          <p:cNvSpPr/>
          <p:nvPr/>
        </p:nvSpPr>
        <p:spPr>
          <a:xfrm>
            <a:off x="-33867"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FDFBF7"/>
          </a:solidFill>
        </p:spPr>
        <p:txBody>
          <a:bodyPr wrap="square" lIns="0" tIns="0" rIns="0" bIns="0" rtlCol="0"/>
          <a:lstStyle/>
          <a:p>
            <a:endParaRPr/>
          </a:p>
        </p:txBody>
      </p:sp>
      <p:grpSp>
        <p:nvGrpSpPr>
          <p:cNvPr id="3" name="object 3">
            <a:extLst>
              <a:ext uri="{FF2B5EF4-FFF2-40B4-BE49-F238E27FC236}">
                <a16:creationId xmlns:a16="http://schemas.microsoft.com/office/drawing/2014/main" id="{3BBE0BF0-FABB-848D-4689-695D20BA8052}"/>
              </a:ext>
            </a:extLst>
          </p:cNvPr>
          <p:cNvGrpSpPr/>
          <p:nvPr/>
        </p:nvGrpSpPr>
        <p:grpSpPr>
          <a:xfrm>
            <a:off x="424984" y="432816"/>
            <a:ext cx="11280098" cy="6123432"/>
            <a:chOff x="424984" y="432816"/>
            <a:chExt cx="11280098" cy="6123432"/>
          </a:xfrm>
        </p:grpSpPr>
        <p:pic>
          <p:nvPicPr>
            <p:cNvPr id="4" name="object 4">
              <a:extLst>
                <a:ext uri="{FF2B5EF4-FFF2-40B4-BE49-F238E27FC236}">
                  <a16:creationId xmlns:a16="http://schemas.microsoft.com/office/drawing/2014/main" id="{11EF0185-811C-AD66-347D-19E6A24586FD}"/>
                </a:ext>
              </a:extLst>
            </p:cNvPr>
            <p:cNvPicPr/>
            <p:nvPr/>
          </p:nvPicPr>
          <p:blipFill>
            <a:blip r:embed="rId2" cstate="print"/>
            <a:stretch>
              <a:fillRect/>
            </a:stretch>
          </p:blipFill>
          <p:spPr>
            <a:xfrm>
              <a:off x="424984" y="432816"/>
              <a:ext cx="3459183" cy="6123432"/>
            </a:xfrm>
            <a:prstGeom prst="rect">
              <a:avLst/>
            </a:prstGeom>
          </p:spPr>
        </p:pic>
        <p:sp>
          <p:nvSpPr>
            <p:cNvPr id="5" name="object 5">
              <a:extLst>
                <a:ext uri="{FF2B5EF4-FFF2-40B4-BE49-F238E27FC236}">
                  <a16:creationId xmlns:a16="http://schemas.microsoft.com/office/drawing/2014/main" id="{26FE9639-37DD-FDE2-F48E-56F3A4B4A61F}"/>
                </a:ext>
              </a:extLst>
            </p:cNvPr>
            <p:cNvSpPr/>
            <p:nvPr/>
          </p:nvSpPr>
          <p:spPr>
            <a:xfrm>
              <a:off x="2934462" y="2177033"/>
              <a:ext cx="8770620" cy="0"/>
            </a:xfrm>
            <a:custGeom>
              <a:avLst/>
              <a:gdLst/>
              <a:ahLst/>
              <a:cxnLst/>
              <a:rect l="l" t="t" r="r" b="b"/>
              <a:pathLst>
                <a:path w="8770620">
                  <a:moveTo>
                    <a:pt x="0" y="0"/>
                  </a:moveTo>
                  <a:lnTo>
                    <a:pt x="8770619" y="0"/>
                  </a:lnTo>
                </a:path>
              </a:pathLst>
            </a:custGeom>
            <a:ln w="38100">
              <a:solidFill>
                <a:srgbClr val="79A8A3"/>
              </a:solidFill>
            </a:ln>
          </p:spPr>
          <p:txBody>
            <a:bodyPr wrap="square" lIns="0" tIns="0" rIns="0" bIns="0" rtlCol="0"/>
            <a:lstStyle/>
            <a:p>
              <a:endParaRPr/>
            </a:p>
          </p:txBody>
        </p:sp>
      </p:grpSp>
      <p:sp>
        <p:nvSpPr>
          <p:cNvPr id="7" name="object 7" descr="$PPTXTitle">
            <a:extLst>
              <a:ext uri="{FF2B5EF4-FFF2-40B4-BE49-F238E27FC236}">
                <a16:creationId xmlns:a16="http://schemas.microsoft.com/office/drawing/2014/main" id="{5C24880F-A786-8A20-80FD-C3F5F6FF3E04}"/>
              </a:ext>
            </a:extLst>
          </p:cNvPr>
          <p:cNvSpPr txBox="1">
            <a:spLocks noGrp="1"/>
          </p:cNvSpPr>
          <p:nvPr>
            <p:ph type="title"/>
          </p:nvPr>
        </p:nvSpPr>
        <p:spPr>
          <a:xfrm>
            <a:off x="1981960" y="589229"/>
            <a:ext cx="10210040" cy="690574"/>
          </a:xfrm>
          <a:prstGeom prst="rect">
            <a:avLst/>
          </a:prstGeom>
        </p:spPr>
        <p:txBody>
          <a:bodyPr vert="horz" wrap="square" lIns="0" tIns="13335" rIns="0" bIns="0" rtlCol="0">
            <a:spAutoFit/>
          </a:bodyPr>
          <a:lstStyle/>
          <a:p>
            <a:pPr marL="12700">
              <a:lnSpc>
                <a:spcPct val="100000"/>
              </a:lnSpc>
              <a:spcBef>
                <a:spcPts val="105"/>
              </a:spcBef>
              <a:tabLst>
                <a:tab pos="1043305" algn="l"/>
              </a:tabLst>
            </a:pPr>
            <a:r>
              <a:rPr lang="en-IN" sz="4400" b="0" spc="-50" dirty="0">
                <a:solidFill>
                  <a:srgbClr val="464A56"/>
                </a:solidFill>
                <a:latin typeface="Cambria"/>
                <a:cs typeface="Cambria"/>
              </a:rPr>
              <a:t>3</a:t>
            </a:r>
            <a:r>
              <a:rPr sz="4400" b="0" dirty="0">
                <a:solidFill>
                  <a:srgbClr val="464A56"/>
                </a:solidFill>
                <a:latin typeface="Cambria"/>
                <a:cs typeface="Cambria"/>
              </a:rPr>
              <a:t>	</a:t>
            </a:r>
            <a:r>
              <a:rPr lang="en-IN" sz="4400" dirty="0"/>
              <a:t>Leaf Nodes</a:t>
            </a:r>
            <a:endParaRPr sz="4400" dirty="0">
              <a:latin typeface="Cambria"/>
              <a:cs typeface="Cambria"/>
            </a:endParaRPr>
          </a:p>
        </p:txBody>
      </p:sp>
      <p:sp>
        <p:nvSpPr>
          <p:cNvPr id="8" name="object 5">
            <a:extLst>
              <a:ext uri="{FF2B5EF4-FFF2-40B4-BE49-F238E27FC236}">
                <a16:creationId xmlns:a16="http://schemas.microsoft.com/office/drawing/2014/main" id="{7E4B1A13-73B8-5E29-D505-1421DF8D8D1E}"/>
              </a:ext>
            </a:extLst>
          </p:cNvPr>
          <p:cNvSpPr txBox="1"/>
          <p:nvPr/>
        </p:nvSpPr>
        <p:spPr>
          <a:xfrm>
            <a:off x="2934462" y="2286000"/>
            <a:ext cx="8448040" cy="2948884"/>
          </a:xfrm>
          <a:prstGeom prst="rect">
            <a:avLst/>
          </a:prstGeom>
        </p:spPr>
        <p:txBody>
          <a:bodyPr vert="horz" wrap="square" lIns="0" tIns="177165" rIns="0" bIns="0" rtlCol="0">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A </a:t>
            </a:r>
            <a:r>
              <a:rPr kumimoji="0" lang="en-US" altLang="en-US" sz="3600" b="1" i="0" u="none" strike="noStrike" cap="none" normalizeH="0" baseline="0" dirty="0">
                <a:ln>
                  <a:noFill/>
                </a:ln>
                <a:solidFill>
                  <a:schemeClr val="tx1"/>
                </a:solidFill>
                <a:effectLst/>
                <a:latin typeface="Arial" panose="020B0604020202020204" pitchFamily="34" charset="0"/>
              </a:rPr>
              <a:t>leaf node</a:t>
            </a:r>
            <a:r>
              <a:rPr kumimoji="0" lang="en-US" altLang="en-US" sz="3600" b="0" i="0" u="none" strike="noStrike" cap="none" normalizeH="0" baseline="0" dirty="0">
                <a:ln>
                  <a:noFill/>
                </a:ln>
                <a:solidFill>
                  <a:schemeClr val="tx1"/>
                </a:solidFill>
                <a:effectLst/>
                <a:latin typeface="Arial" panose="020B0604020202020204" pitchFamily="34" charset="0"/>
              </a:rPr>
              <a:t> is a node: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That has been generated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But not yet expanded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Leaf nodes are candidates for future expansion</a:t>
            </a:r>
          </a:p>
        </p:txBody>
      </p:sp>
    </p:spTree>
    <p:extLst>
      <p:ext uri="{BB962C8B-B14F-4D97-AF65-F5344CB8AC3E}">
        <p14:creationId xmlns:p14="http://schemas.microsoft.com/office/powerpoint/2010/main" val="28288647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9EF965-8990-9D6D-DA2D-3FA696814CE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E8C59F7D-6675-31AF-421B-FA0C45BE20BE}"/>
              </a:ext>
            </a:extLst>
          </p:cNvPr>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FDFBF7"/>
          </a:solidFill>
        </p:spPr>
        <p:txBody>
          <a:bodyPr wrap="square" lIns="0" tIns="0" rIns="0" bIns="0" rtlCol="0"/>
          <a:lstStyle/>
          <a:p>
            <a:endParaRPr/>
          </a:p>
        </p:txBody>
      </p:sp>
      <p:grpSp>
        <p:nvGrpSpPr>
          <p:cNvPr id="3" name="object 3">
            <a:extLst>
              <a:ext uri="{FF2B5EF4-FFF2-40B4-BE49-F238E27FC236}">
                <a16:creationId xmlns:a16="http://schemas.microsoft.com/office/drawing/2014/main" id="{B149B752-D886-0F33-C0F8-585213E77660}"/>
              </a:ext>
            </a:extLst>
          </p:cNvPr>
          <p:cNvGrpSpPr/>
          <p:nvPr/>
        </p:nvGrpSpPr>
        <p:grpSpPr>
          <a:xfrm>
            <a:off x="424984" y="432816"/>
            <a:ext cx="11280098" cy="6123432"/>
            <a:chOff x="424984" y="432816"/>
            <a:chExt cx="11280098" cy="6123432"/>
          </a:xfrm>
        </p:grpSpPr>
        <p:pic>
          <p:nvPicPr>
            <p:cNvPr id="4" name="object 4">
              <a:extLst>
                <a:ext uri="{FF2B5EF4-FFF2-40B4-BE49-F238E27FC236}">
                  <a16:creationId xmlns:a16="http://schemas.microsoft.com/office/drawing/2014/main" id="{8BC003B5-EA1C-393F-BBF9-D3FC38C420BB}"/>
                </a:ext>
              </a:extLst>
            </p:cNvPr>
            <p:cNvPicPr/>
            <p:nvPr/>
          </p:nvPicPr>
          <p:blipFill>
            <a:blip r:embed="rId2" cstate="print"/>
            <a:stretch>
              <a:fillRect/>
            </a:stretch>
          </p:blipFill>
          <p:spPr>
            <a:xfrm>
              <a:off x="424984" y="432816"/>
              <a:ext cx="3459183" cy="6123432"/>
            </a:xfrm>
            <a:prstGeom prst="rect">
              <a:avLst/>
            </a:prstGeom>
          </p:spPr>
        </p:pic>
        <p:sp>
          <p:nvSpPr>
            <p:cNvPr id="5" name="object 5">
              <a:extLst>
                <a:ext uri="{FF2B5EF4-FFF2-40B4-BE49-F238E27FC236}">
                  <a16:creationId xmlns:a16="http://schemas.microsoft.com/office/drawing/2014/main" id="{BE1C8173-5EA7-EF01-AE71-1971236A8F87}"/>
                </a:ext>
              </a:extLst>
            </p:cNvPr>
            <p:cNvSpPr/>
            <p:nvPr/>
          </p:nvSpPr>
          <p:spPr>
            <a:xfrm>
              <a:off x="2934462" y="2177033"/>
              <a:ext cx="8770620" cy="0"/>
            </a:xfrm>
            <a:custGeom>
              <a:avLst/>
              <a:gdLst/>
              <a:ahLst/>
              <a:cxnLst/>
              <a:rect l="l" t="t" r="r" b="b"/>
              <a:pathLst>
                <a:path w="8770620">
                  <a:moveTo>
                    <a:pt x="0" y="0"/>
                  </a:moveTo>
                  <a:lnTo>
                    <a:pt x="8770619" y="0"/>
                  </a:lnTo>
                </a:path>
              </a:pathLst>
            </a:custGeom>
            <a:ln w="38100">
              <a:solidFill>
                <a:srgbClr val="79A8A3"/>
              </a:solidFill>
            </a:ln>
          </p:spPr>
          <p:txBody>
            <a:bodyPr wrap="square" lIns="0" tIns="0" rIns="0" bIns="0" rtlCol="0"/>
            <a:lstStyle/>
            <a:p>
              <a:endParaRPr/>
            </a:p>
          </p:txBody>
        </p:sp>
      </p:grpSp>
      <p:sp>
        <p:nvSpPr>
          <p:cNvPr id="7" name="object 7" descr="$PPTXTitle">
            <a:extLst>
              <a:ext uri="{FF2B5EF4-FFF2-40B4-BE49-F238E27FC236}">
                <a16:creationId xmlns:a16="http://schemas.microsoft.com/office/drawing/2014/main" id="{C78C1F87-BCD1-77E2-09D6-90F1107DD80B}"/>
              </a:ext>
            </a:extLst>
          </p:cNvPr>
          <p:cNvSpPr txBox="1">
            <a:spLocks noGrp="1"/>
          </p:cNvSpPr>
          <p:nvPr>
            <p:ph type="title"/>
          </p:nvPr>
        </p:nvSpPr>
        <p:spPr>
          <a:xfrm>
            <a:off x="1981960" y="589229"/>
            <a:ext cx="10210040" cy="690574"/>
          </a:xfrm>
          <a:prstGeom prst="rect">
            <a:avLst/>
          </a:prstGeom>
        </p:spPr>
        <p:txBody>
          <a:bodyPr vert="horz" wrap="square" lIns="0" tIns="13335" rIns="0" bIns="0" rtlCol="0">
            <a:spAutoFit/>
          </a:bodyPr>
          <a:lstStyle/>
          <a:p>
            <a:pPr marL="12700">
              <a:lnSpc>
                <a:spcPct val="100000"/>
              </a:lnSpc>
              <a:spcBef>
                <a:spcPts val="105"/>
              </a:spcBef>
              <a:tabLst>
                <a:tab pos="1043305" algn="l"/>
              </a:tabLst>
            </a:pPr>
            <a:r>
              <a:rPr lang="en-IN" sz="4400" b="0" spc="-50" dirty="0">
                <a:solidFill>
                  <a:srgbClr val="464A56"/>
                </a:solidFill>
                <a:latin typeface="Cambria"/>
                <a:cs typeface="Cambria"/>
              </a:rPr>
              <a:t>3</a:t>
            </a:r>
            <a:r>
              <a:rPr sz="4400" b="0" dirty="0">
                <a:solidFill>
                  <a:srgbClr val="464A56"/>
                </a:solidFill>
                <a:latin typeface="Cambria"/>
                <a:cs typeface="Cambria"/>
              </a:rPr>
              <a:t>	</a:t>
            </a:r>
            <a:r>
              <a:rPr lang="en-IN" sz="4400" dirty="0"/>
              <a:t>Frontier (Open List)</a:t>
            </a:r>
            <a:endParaRPr sz="4400" dirty="0">
              <a:latin typeface="Cambria"/>
              <a:cs typeface="Cambria"/>
            </a:endParaRPr>
          </a:p>
        </p:txBody>
      </p:sp>
      <p:sp>
        <p:nvSpPr>
          <p:cNvPr id="8" name="object 5">
            <a:extLst>
              <a:ext uri="{FF2B5EF4-FFF2-40B4-BE49-F238E27FC236}">
                <a16:creationId xmlns:a16="http://schemas.microsoft.com/office/drawing/2014/main" id="{64099BB3-20EC-35F5-EA4F-A452E73220C6}"/>
              </a:ext>
            </a:extLst>
          </p:cNvPr>
          <p:cNvSpPr txBox="1"/>
          <p:nvPr/>
        </p:nvSpPr>
        <p:spPr>
          <a:xfrm>
            <a:off x="2934462" y="2286000"/>
            <a:ext cx="8448040" cy="2641108"/>
          </a:xfrm>
          <a:prstGeom prst="rect">
            <a:avLst/>
          </a:prstGeom>
        </p:spPr>
        <p:txBody>
          <a:bodyPr vert="horz" wrap="square" lIns="0" tIns="177165" rIns="0" bIns="0" rtlCol="0">
            <a:spAutoFit/>
          </a:bodyPr>
          <a:lstStyle/>
          <a:p>
            <a:r>
              <a:rPr lang="en-US" sz="3200" b="1" dirty="0"/>
              <a:t>Frontier</a:t>
            </a:r>
            <a:r>
              <a:rPr lang="en-US" sz="3200" dirty="0"/>
              <a:t> = set of all leaf nodes</a:t>
            </a:r>
          </a:p>
          <a:p>
            <a:r>
              <a:rPr lang="en-US" sz="3200" dirty="0"/>
              <a:t>Represents nodes waiting to be expanded</a:t>
            </a:r>
          </a:p>
          <a:p>
            <a:r>
              <a:rPr lang="en-US" sz="3200" dirty="0"/>
              <a:t>Search algorithms differ in </a:t>
            </a:r>
            <a:r>
              <a:rPr lang="en-US" sz="3200" b="1" dirty="0"/>
              <a:t>how they choose a node from the frontier</a:t>
            </a:r>
            <a:endParaRPr lang="en-US" sz="3200" dirty="0"/>
          </a:p>
          <a:p>
            <a:r>
              <a:rPr lang="en-US" sz="3200" dirty="0"/>
              <a:t>📌 Frontier is also called </a:t>
            </a:r>
            <a:r>
              <a:rPr lang="en-US" sz="3200" b="1" dirty="0"/>
              <a:t>Open List</a:t>
            </a:r>
            <a:endParaRPr lang="en-US" sz="3200" dirty="0"/>
          </a:p>
        </p:txBody>
      </p:sp>
    </p:spTree>
    <p:extLst>
      <p:ext uri="{BB962C8B-B14F-4D97-AF65-F5344CB8AC3E}">
        <p14:creationId xmlns:p14="http://schemas.microsoft.com/office/powerpoint/2010/main" val="29931804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86D31E-EEA3-5C04-BADB-D280321C806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9CFFA5B-E182-4096-EB66-637A1B6F8DFD}"/>
              </a:ext>
            </a:extLst>
          </p:cNvPr>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FDFBF7"/>
          </a:solidFill>
        </p:spPr>
        <p:txBody>
          <a:bodyPr wrap="square" lIns="0" tIns="0" rIns="0" bIns="0" rtlCol="0"/>
          <a:lstStyle/>
          <a:p>
            <a:endParaRPr/>
          </a:p>
        </p:txBody>
      </p:sp>
      <p:grpSp>
        <p:nvGrpSpPr>
          <p:cNvPr id="3" name="object 3">
            <a:extLst>
              <a:ext uri="{FF2B5EF4-FFF2-40B4-BE49-F238E27FC236}">
                <a16:creationId xmlns:a16="http://schemas.microsoft.com/office/drawing/2014/main" id="{BC0C3C87-A322-63AF-1B8B-E3AA571296DD}"/>
              </a:ext>
            </a:extLst>
          </p:cNvPr>
          <p:cNvGrpSpPr/>
          <p:nvPr/>
        </p:nvGrpSpPr>
        <p:grpSpPr>
          <a:xfrm>
            <a:off x="424984" y="432816"/>
            <a:ext cx="11280098" cy="6123432"/>
            <a:chOff x="424984" y="432816"/>
            <a:chExt cx="11280098" cy="6123432"/>
          </a:xfrm>
        </p:grpSpPr>
        <p:pic>
          <p:nvPicPr>
            <p:cNvPr id="4" name="object 4">
              <a:extLst>
                <a:ext uri="{FF2B5EF4-FFF2-40B4-BE49-F238E27FC236}">
                  <a16:creationId xmlns:a16="http://schemas.microsoft.com/office/drawing/2014/main" id="{8DA7B04C-01BD-D591-D2B7-DF7A81E4BDDB}"/>
                </a:ext>
              </a:extLst>
            </p:cNvPr>
            <p:cNvPicPr/>
            <p:nvPr/>
          </p:nvPicPr>
          <p:blipFill>
            <a:blip r:embed="rId2" cstate="print"/>
            <a:stretch>
              <a:fillRect/>
            </a:stretch>
          </p:blipFill>
          <p:spPr>
            <a:xfrm>
              <a:off x="424984" y="432816"/>
              <a:ext cx="3459183" cy="6123432"/>
            </a:xfrm>
            <a:prstGeom prst="rect">
              <a:avLst/>
            </a:prstGeom>
          </p:spPr>
        </p:pic>
        <p:sp>
          <p:nvSpPr>
            <p:cNvPr id="5" name="object 5">
              <a:extLst>
                <a:ext uri="{FF2B5EF4-FFF2-40B4-BE49-F238E27FC236}">
                  <a16:creationId xmlns:a16="http://schemas.microsoft.com/office/drawing/2014/main" id="{E9B35240-1DAB-1870-4E21-1B0DA51A2568}"/>
                </a:ext>
              </a:extLst>
            </p:cNvPr>
            <p:cNvSpPr/>
            <p:nvPr/>
          </p:nvSpPr>
          <p:spPr>
            <a:xfrm>
              <a:off x="2934462" y="2177033"/>
              <a:ext cx="8770620" cy="0"/>
            </a:xfrm>
            <a:custGeom>
              <a:avLst/>
              <a:gdLst/>
              <a:ahLst/>
              <a:cxnLst/>
              <a:rect l="l" t="t" r="r" b="b"/>
              <a:pathLst>
                <a:path w="8770620">
                  <a:moveTo>
                    <a:pt x="0" y="0"/>
                  </a:moveTo>
                  <a:lnTo>
                    <a:pt x="8770619" y="0"/>
                  </a:lnTo>
                </a:path>
              </a:pathLst>
            </a:custGeom>
            <a:ln w="38100">
              <a:solidFill>
                <a:srgbClr val="79A8A3"/>
              </a:solidFill>
            </a:ln>
          </p:spPr>
          <p:txBody>
            <a:bodyPr wrap="square" lIns="0" tIns="0" rIns="0" bIns="0" rtlCol="0"/>
            <a:lstStyle/>
            <a:p>
              <a:endParaRPr/>
            </a:p>
          </p:txBody>
        </p:sp>
      </p:grpSp>
      <p:sp>
        <p:nvSpPr>
          <p:cNvPr id="7" name="object 7" descr="$PPTXTitle">
            <a:extLst>
              <a:ext uri="{FF2B5EF4-FFF2-40B4-BE49-F238E27FC236}">
                <a16:creationId xmlns:a16="http://schemas.microsoft.com/office/drawing/2014/main" id="{B94752B8-55E1-2311-DD69-8D2C91EAF758}"/>
              </a:ext>
            </a:extLst>
          </p:cNvPr>
          <p:cNvSpPr txBox="1">
            <a:spLocks noGrp="1"/>
          </p:cNvSpPr>
          <p:nvPr>
            <p:ph type="title"/>
          </p:nvPr>
        </p:nvSpPr>
        <p:spPr>
          <a:xfrm>
            <a:off x="1981960" y="589229"/>
            <a:ext cx="10210040" cy="690574"/>
          </a:xfrm>
          <a:prstGeom prst="rect">
            <a:avLst/>
          </a:prstGeom>
        </p:spPr>
        <p:txBody>
          <a:bodyPr vert="horz" wrap="square" lIns="0" tIns="13335" rIns="0" bIns="0" rtlCol="0">
            <a:spAutoFit/>
          </a:bodyPr>
          <a:lstStyle/>
          <a:p>
            <a:pPr marL="12700">
              <a:lnSpc>
                <a:spcPct val="100000"/>
              </a:lnSpc>
              <a:spcBef>
                <a:spcPts val="105"/>
              </a:spcBef>
              <a:tabLst>
                <a:tab pos="1043305" algn="l"/>
              </a:tabLst>
            </a:pPr>
            <a:r>
              <a:rPr lang="en-IN" sz="4400" b="0" spc="-50" dirty="0">
                <a:solidFill>
                  <a:srgbClr val="464A56"/>
                </a:solidFill>
                <a:latin typeface="Cambria"/>
                <a:cs typeface="Cambria"/>
              </a:rPr>
              <a:t>3</a:t>
            </a:r>
            <a:r>
              <a:rPr sz="4400" b="0" dirty="0">
                <a:solidFill>
                  <a:srgbClr val="464A56"/>
                </a:solidFill>
                <a:latin typeface="Cambria"/>
                <a:cs typeface="Cambria"/>
              </a:rPr>
              <a:t>	</a:t>
            </a:r>
            <a:r>
              <a:rPr lang="en-IN" sz="4400" dirty="0"/>
              <a:t>Frontier (Open List)</a:t>
            </a:r>
            <a:endParaRPr sz="4400" dirty="0">
              <a:latin typeface="Cambria"/>
              <a:cs typeface="Cambria"/>
            </a:endParaRPr>
          </a:p>
        </p:txBody>
      </p:sp>
      <p:graphicFrame>
        <p:nvGraphicFramePr>
          <p:cNvPr id="6" name="Table 5">
            <a:extLst>
              <a:ext uri="{FF2B5EF4-FFF2-40B4-BE49-F238E27FC236}">
                <a16:creationId xmlns:a16="http://schemas.microsoft.com/office/drawing/2014/main" id="{A05A7DA0-866E-6B08-5BB7-20DA9053B3F3}"/>
              </a:ext>
            </a:extLst>
          </p:cNvPr>
          <p:cNvGraphicFramePr>
            <a:graphicFrameLocks noGrp="1"/>
          </p:cNvGraphicFramePr>
          <p:nvPr>
            <p:extLst>
              <p:ext uri="{D42A27DB-BD31-4B8C-83A1-F6EECF244321}">
                <p14:modId xmlns:p14="http://schemas.microsoft.com/office/powerpoint/2010/main" val="2815624315"/>
              </p:ext>
            </p:extLst>
          </p:nvPr>
        </p:nvGraphicFramePr>
        <p:xfrm>
          <a:off x="3005583" y="4084020"/>
          <a:ext cx="8731250" cy="2072640"/>
        </p:xfrm>
        <a:graphic>
          <a:graphicData uri="http://schemas.openxmlformats.org/drawingml/2006/table">
            <a:tbl>
              <a:tblPr/>
              <a:tblGrid>
                <a:gridCol w="4365625">
                  <a:extLst>
                    <a:ext uri="{9D8B030D-6E8A-4147-A177-3AD203B41FA5}">
                      <a16:colId xmlns:a16="http://schemas.microsoft.com/office/drawing/2014/main" val="393299877"/>
                    </a:ext>
                  </a:extLst>
                </a:gridCol>
                <a:gridCol w="4365625">
                  <a:extLst>
                    <a:ext uri="{9D8B030D-6E8A-4147-A177-3AD203B41FA5}">
                      <a16:colId xmlns:a16="http://schemas.microsoft.com/office/drawing/2014/main" val="1117633837"/>
                    </a:ext>
                  </a:extLst>
                </a:gridCol>
              </a:tblGrid>
              <a:tr h="0">
                <a:tc>
                  <a:txBody>
                    <a:bodyPr/>
                    <a:lstStyle/>
                    <a:p>
                      <a:pPr>
                        <a:buNone/>
                      </a:pPr>
                      <a:r>
                        <a:rPr lang="en-IN" sz="2800" b="1" dirty="0"/>
                        <a:t>Algorithm</a:t>
                      </a:r>
                    </a:p>
                  </a:txBody>
                  <a:tcPr anchor="ctr">
                    <a:lnL>
                      <a:noFill/>
                    </a:lnL>
                    <a:lnR>
                      <a:noFill/>
                    </a:lnR>
                    <a:lnT>
                      <a:noFill/>
                    </a:lnT>
                    <a:lnB>
                      <a:noFill/>
                    </a:lnB>
                    <a:noFill/>
                  </a:tcPr>
                </a:tc>
                <a:tc>
                  <a:txBody>
                    <a:bodyPr/>
                    <a:lstStyle/>
                    <a:p>
                      <a:pPr>
                        <a:buNone/>
                      </a:pPr>
                      <a:r>
                        <a:rPr lang="en-US" sz="2800" b="1"/>
                        <a:t>Which leaf node is chosen?</a:t>
                      </a:r>
                    </a:p>
                  </a:txBody>
                  <a:tcPr anchor="ctr">
                    <a:lnL>
                      <a:noFill/>
                    </a:lnL>
                    <a:lnR>
                      <a:noFill/>
                    </a:lnR>
                    <a:lnT>
                      <a:noFill/>
                    </a:lnT>
                    <a:lnB>
                      <a:noFill/>
                    </a:lnB>
                    <a:noFill/>
                  </a:tcPr>
                </a:tc>
                <a:extLst>
                  <a:ext uri="{0D108BD9-81ED-4DB2-BD59-A6C34878D82A}">
                    <a16:rowId xmlns:a16="http://schemas.microsoft.com/office/drawing/2014/main" val="4236450108"/>
                  </a:ext>
                </a:extLst>
              </a:tr>
              <a:tr h="0">
                <a:tc>
                  <a:txBody>
                    <a:bodyPr/>
                    <a:lstStyle/>
                    <a:p>
                      <a:pPr>
                        <a:buNone/>
                      </a:pPr>
                      <a:r>
                        <a:rPr lang="en-IN" sz="2800" b="1"/>
                        <a:t>BFS</a:t>
                      </a:r>
                    </a:p>
                  </a:txBody>
                  <a:tcPr anchor="ctr">
                    <a:lnL>
                      <a:noFill/>
                    </a:lnL>
                    <a:lnR>
                      <a:noFill/>
                    </a:lnR>
                    <a:lnT>
                      <a:noFill/>
                    </a:lnT>
                    <a:lnB>
                      <a:noFill/>
                    </a:lnB>
                    <a:noFill/>
                  </a:tcPr>
                </a:tc>
                <a:tc>
                  <a:txBody>
                    <a:bodyPr/>
                    <a:lstStyle/>
                    <a:p>
                      <a:pPr>
                        <a:buNone/>
                      </a:pPr>
                      <a:r>
                        <a:rPr lang="en-IN" sz="2800" b="1" dirty="0"/>
                        <a:t>Oldest node</a:t>
                      </a:r>
                    </a:p>
                  </a:txBody>
                  <a:tcPr anchor="ctr">
                    <a:lnL>
                      <a:noFill/>
                    </a:lnL>
                    <a:lnR>
                      <a:noFill/>
                    </a:lnR>
                    <a:lnT>
                      <a:noFill/>
                    </a:lnT>
                    <a:lnB>
                      <a:noFill/>
                    </a:lnB>
                    <a:noFill/>
                  </a:tcPr>
                </a:tc>
                <a:extLst>
                  <a:ext uri="{0D108BD9-81ED-4DB2-BD59-A6C34878D82A}">
                    <a16:rowId xmlns:a16="http://schemas.microsoft.com/office/drawing/2014/main" val="1090103521"/>
                  </a:ext>
                </a:extLst>
              </a:tr>
              <a:tr h="0">
                <a:tc>
                  <a:txBody>
                    <a:bodyPr/>
                    <a:lstStyle/>
                    <a:p>
                      <a:pPr>
                        <a:buNone/>
                      </a:pPr>
                      <a:r>
                        <a:rPr lang="en-IN" sz="2800" b="1"/>
                        <a:t>DFS</a:t>
                      </a:r>
                    </a:p>
                  </a:txBody>
                  <a:tcPr anchor="ctr">
                    <a:lnL>
                      <a:noFill/>
                    </a:lnL>
                    <a:lnR>
                      <a:noFill/>
                    </a:lnR>
                    <a:lnT>
                      <a:noFill/>
                    </a:lnT>
                    <a:lnB>
                      <a:noFill/>
                    </a:lnB>
                    <a:noFill/>
                  </a:tcPr>
                </a:tc>
                <a:tc>
                  <a:txBody>
                    <a:bodyPr/>
                    <a:lstStyle/>
                    <a:p>
                      <a:pPr>
                        <a:buNone/>
                      </a:pPr>
                      <a:r>
                        <a:rPr lang="en-IN" sz="2800" b="1"/>
                        <a:t>Newest node</a:t>
                      </a:r>
                    </a:p>
                  </a:txBody>
                  <a:tcPr anchor="ctr">
                    <a:lnL>
                      <a:noFill/>
                    </a:lnL>
                    <a:lnR>
                      <a:noFill/>
                    </a:lnR>
                    <a:lnT>
                      <a:noFill/>
                    </a:lnT>
                    <a:lnB>
                      <a:noFill/>
                    </a:lnB>
                    <a:noFill/>
                  </a:tcPr>
                </a:tc>
                <a:extLst>
                  <a:ext uri="{0D108BD9-81ED-4DB2-BD59-A6C34878D82A}">
                    <a16:rowId xmlns:a16="http://schemas.microsoft.com/office/drawing/2014/main" val="550911009"/>
                  </a:ext>
                </a:extLst>
              </a:tr>
              <a:tr h="0">
                <a:tc>
                  <a:txBody>
                    <a:bodyPr/>
                    <a:lstStyle/>
                    <a:p>
                      <a:pPr>
                        <a:buNone/>
                      </a:pPr>
                      <a:r>
                        <a:rPr lang="en-IN" sz="2800" b="1"/>
                        <a:t>UCS</a:t>
                      </a:r>
                    </a:p>
                  </a:txBody>
                  <a:tcPr anchor="ctr">
                    <a:lnL>
                      <a:noFill/>
                    </a:lnL>
                    <a:lnR>
                      <a:noFill/>
                    </a:lnR>
                    <a:lnT>
                      <a:noFill/>
                    </a:lnT>
                    <a:lnB>
                      <a:noFill/>
                    </a:lnB>
                    <a:noFill/>
                  </a:tcPr>
                </a:tc>
                <a:tc>
                  <a:txBody>
                    <a:bodyPr/>
                    <a:lstStyle/>
                    <a:p>
                      <a:pPr>
                        <a:buNone/>
                      </a:pPr>
                      <a:r>
                        <a:rPr lang="en-IN" sz="2800" b="1" dirty="0"/>
                        <a:t>Lowest cost node</a:t>
                      </a:r>
                    </a:p>
                  </a:txBody>
                  <a:tcPr anchor="ctr">
                    <a:lnL>
                      <a:noFill/>
                    </a:lnL>
                    <a:lnR>
                      <a:noFill/>
                    </a:lnR>
                    <a:lnT>
                      <a:noFill/>
                    </a:lnT>
                    <a:lnB>
                      <a:noFill/>
                    </a:lnB>
                    <a:noFill/>
                  </a:tcPr>
                </a:tc>
                <a:extLst>
                  <a:ext uri="{0D108BD9-81ED-4DB2-BD59-A6C34878D82A}">
                    <a16:rowId xmlns:a16="http://schemas.microsoft.com/office/drawing/2014/main" val="1399545001"/>
                  </a:ext>
                </a:extLst>
              </a:tr>
            </a:tbl>
          </a:graphicData>
        </a:graphic>
      </p:graphicFrame>
      <p:sp>
        <p:nvSpPr>
          <p:cNvPr id="10" name="TextBox 9">
            <a:extLst>
              <a:ext uri="{FF2B5EF4-FFF2-40B4-BE49-F238E27FC236}">
                <a16:creationId xmlns:a16="http://schemas.microsoft.com/office/drawing/2014/main" id="{96509095-AAB0-D692-1C99-63B09171151E}"/>
              </a:ext>
            </a:extLst>
          </p:cNvPr>
          <p:cNvSpPr txBox="1"/>
          <p:nvPr/>
        </p:nvSpPr>
        <p:spPr>
          <a:xfrm>
            <a:off x="2988650" y="2450814"/>
            <a:ext cx="8212750" cy="830997"/>
          </a:xfrm>
          <a:prstGeom prst="rect">
            <a:avLst/>
          </a:prstGeom>
          <a:noFill/>
        </p:spPr>
        <p:txBody>
          <a:bodyPr wrap="square">
            <a:spAutoFit/>
          </a:bodyPr>
          <a:lstStyle/>
          <a:p>
            <a:r>
              <a:rPr lang="en-US" sz="2400" dirty="0"/>
              <a:t>Leaf nodes are the options, the frontier is the option list, and the search algorithm decides which option to try next.</a:t>
            </a:r>
            <a:endParaRPr lang="en-IN" sz="2400" dirty="0"/>
          </a:p>
        </p:txBody>
      </p:sp>
    </p:spTree>
    <p:extLst>
      <p:ext uri="{BB962C8B-B14F-4D97-AF65-F5344CB8AC3E}">
        <p14:creationId xmlns:p14="http://schemas.microsoft.com/office/powerpoint/2010/main" val="33653986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AD790F-8C97-C6B7-B777-BDAE1E2F33F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334AEB7-4DA1-FCDD-2F1E-C0905EE62D27}"/>
              </a:ext>
            </a:extLst>
          </p:cNvPr>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FDFBF7"/>
          </a:solidFill>
        </p:spPr>
        <p:txBody>
          <a:bodyPr wrap="square" lIns="0" tIns="0" rIns="0" bIns="0" rtlCol="0"/>
          <a:lstStyle/>
          <a:p>
            <a:endParaRPr/>
          </a:p>
        </p:txBody>
      </p:sp>
      <p:grpSp>
        <p:nvGrpSpPr>
          <p:cNvPr id="3" name="object 3">
            <a:extLst>
              <a:ext uri="{FF2B5EF4-FFF2-40B4-BE49-F238E27FC236}">
                <a16:creationId xmlns:a16="http://schemas.microsoft.com/office/drawing/2014/main" id="{E4D9C2C0-4C9B-CAC7-F9C9-257BE88382B2}"/>
              </a:ext>
            </a:extLst>
          </p:cNvPr>
          <p:cNvGrpSpPr/>
          <p:nvPr/>
        </p:nvGrpSpPr>
        <p:grpSpPr>
          <a:xfrm>
            <a:off x="424984" y="432816"/>
            <a:ext cx="11280098" cy="6123432"/>
            <a:chOff x="424984" y="432816"/>
            <a:chExt cx="11280098" cy="6123432"/>
          </a:xfrm>
        </p:grpSpPr>
        <p:pic>
          <p:nvPicPr>
            <p:cNvPr id="4" name="object 4">
              <a:extLst>
                <a:ext uri="{FF2B5EF4-FFF2-40B4-BE49-F238E27FC236}">
                  <a16:creationId xmlns:a16="http://schemas.microsoft.com/office/drawing/2014/main" id="{3A654243-7726-DCDF-BA52-FD0F474D55E3}"/>
                </a:ext>
              </a:extLst>
            </p:cNvPr>
            <p:cNvPicPr/>
            <p:nvPr/>
          </p:nvPicPr>
          <p:blipFill>
            <a:blip r:embed="rId2" cstate="print"/>
            <a:stretch>
              <a:fillRect/>
            </a:stretch>
          </p:blipFill>
          <p:spPr>
            <a:xfrm>
              <a:off x="424984" y="432816"/>
              <a:ext cx="3459183" cy="6123432"/>
            </a:xfrm>
            <a:prstGeom prst="rect">
              <a:avLst/>
            </a:prstGeom>
          </p:spPr>
        </p:pic>
        <p:sp>
          <p:nvSpPr>
            <p:cNvPr id="5" name="object 5">
              <a:extLst>
                <a:ext uri="{FF2B5EF4-FFF2-40B4-BE49-F238E27FC236}">
                  <a16:creationId xmlns:a16="http://schemas.microsoft.com/office/drawing/2014/main" id="{E5FF6770-91B4-5F62-96A5-7541D2C6CDAC}"/>
                </a:ext>
              </a:extLst>
            </p:cNvPr>
            <p:cNvSpPr/>
            <p:nvPr/>
          </p:nvSpPr>
          <p:spPr>
            <a:xfrm>
              <a:off x="2934462" y="2177033"/>
              <a:ext cx="8770620" cy="0"/>
            </a:xfrm>
            <a:custGeom>
              <a:avLst/>
              <a:gdLst/>
              <a:ahLst/>
              <a:cxnLst/>
              <a:rect l="l" t="t" r="r" b="b"/>
              <a:pathLst>
                <a:path w="8770620">
                  <a:moveTo>
                    <a:pt x="0" y="0"/>
                  </a:moveTo>
                  <a:lnTo>
                    <a:pt x="8770619" y="0"/>
                  </a:lnTo>
                </a:path>
              </a:pathLst>
            </a:custGeom>
            <a:ln w="38100">
              <a:solidFill>
                <a:srgbClr val="79A8A3"/>
              </a:solidFill>
            </a:ln>
          </p:spPr>
          <p:txBody>
            <a:bodyPr wrap="square" lIns="0" tIns="0" rIns="0" bIns="0" rtlCol="0"/>
            <a:lstStyle/>
            <a:p>
              <a:endParaRPr/>
            </a:p>
          </p:txBody>
        </p:sp>
      </p:grpSp>
      <p:sp>
        <p:nvSpPr>
          <p:cNvPr id="7" name="object 7" descr="$PPTXTitle">
            <a:extLst>
              <a:ext uri="{FF2B5EF4-FFF2-40B4-BE49-F238E27FC236}">
                <a16:creationId xmlns:a16="http://schemas.microsoft.com/office/drawing/2014/main" id="{F1AC45E7-4612-B4E3-327D-06D0051A5CA6}"/>
              </a:ext>
            </a:extLst>
          </p:cNvPr>
          <p:cNvSpPr txBox="1">
            <a:spLocks noGrp="1"/>
          </p:cNvSpPr>
          <p:nvPr>
            <p:ph type="title"/>
          </p:nvPr>
        </p:nvSpPr>
        <p:spPr>
          <a:xfrm>
            <a:off x="1981960" y="589229"/>
            <a:ext cx="10210040" cy="1367682"/>
          </a:xfrm>
          <a:prstGeom prst="rect">
            <a:avLst/>
          </a:prstGeom>
        </p:spPr>
        <p:txBody>
          <a:bodyPr vert="horz" wrap="square" lIns="0" tIns="13335" rIns="0" bIns="0" rtlCol="0">
            <a:spAutoFit/>
          </a:bodyPr>
          <a:lstStyle/>
          <a:p>
            <a:pPr marL="12700">
              <a:spcBef>
                <a:spcPts val="105"/>
              </a:spcBef>
              <a:tabLst>
                <a:tab pos="1043305" algn="l"/>
              </a:tabLst>
            </a:pPr>
            <a:r>
              <a:rPr lang="en-US" sz="4400" b="0" spc="-50" dirty="0">
                <a:solidFill>
                  <a:srgbClr val="464A56"/>
                </a:solidFill>
                <a:latin typeface="Cambria"/>
                <a:cs typeface="Cambria"/>
              </a:rPr>
              <a:t>4</a:t>
            </a:r>
            <a:r>
              <a:rPr sz="4400" b="0" dirty="0">
                <a:solidFill>
                  <a:srgbClr val="464A56"/>
                </a:solidFill>
                <a:latin typeface="Cambria"/>
                <a:cs typeface="Cambria"/>
              </a:rPr>
              <a:t>	</a:t>
            </a:r>
            <a:r>
              <a:rPr lang="en-US" sz="4400" dirty="0"/>
              <a:t>🧠 ONE-LINE MEMORY TRICK</a:t>
            </a:r>
            <a:br>
              <a:rPr lang="en-US" sz="4400" dirty="0"/>
            </a:br>
            <a:endParaRPr sz="4400" dirty="0">
              <a:latin typeface="Cambria"/>
              <a:cs typeface="Cambria"/>
            </a:endParaRPr>
          </a:p>
        </p:txBody>
      </p:sp>
      <p:sp>
        <p:nvSpPr>
          <p:cNvPr id="8" name="TextBox 7">
            <a:extLst>
              <a:ext uri="{FF2B5EF4-FFF2-40B4-BE49-F238E27FC236}">
                <a16:creationId xmlns:a16="http://schemas.microsoft.com/office/drawing/2014/main" id="{542F677E-9DA3-5EA0-3032-AAC7F08DE2C6}"/>
              </a:ext>
            </a:extLst>
          </p:cNvPr>
          <p:cNvSpPr txBox="1"/>
          <p:nvPr/>
        </p:nvSpPr>
        <p:spPr>
          <a:xfrm>
            <a:off x="3048000" y="2690335"/>
            <a:ext cx="7391400" cy="2554545"/>
          </a:xfrm>
          <a:prstGeom prst="rect">
            <a:avLst/>
          </a:prstGeom>
          <a:noFill/>
        </p:spPr>
        <p:txBody>
          <a:bodyPr wrap="square">
            <a:spAutoFit/>
          </a:bodyPr>
          <a:lstStyle/>
          <a:p>
            <a:r>
              <a:rPr lang="en-US" sz="3200" dirty="0"/>
              <a:t>Search Tree → structure of possibilities</a:t>
            </a:r>
          </a:p>
          <a:p>
            <a:r>
              <a:rPr lang="en-US" sz="3200" dirty="0"/>
              <a:t>Node → record with memory</a:t>
            </a:r>
          </a:p>
          <a:p>
            <a:r>
              <a:rPr lang="en-US" sz="3200" dirty="0"/>
              <a:t>Expand → generate children</a:t>
            </a:r>
          </a:p>
          <a:p>
            <a:r>
              <a:rPr lang="en-US" sz="3200" dirty="0"/>
              <a:t>Leaf → not expanded yet</a:t>
            </a:r>
          </a:p>
          <a:p>
            <a:r>
              <a:rPr lang="en-US" sz="3200" dirty="0"/>
              <a:t>Frontier → all leaves together</a:t>
            </a:r>
          </a:p>
        </p:txBody>
      </p:sp>
    </p:spTree>
    <p:extLst>
      <p:ext uri="{BB962C8B-B14F-4D97-AF65-F5344CB8AC3E}">
        <p14:creationId xmlns:p14="http://schemas.microsoft.com/office/powerpoint/2010/main" val="20250574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30C15D-0994-879F-833B-25C04A9796A3}"/>
              </a:ext>
            </a:extLst>
          </p:cNvPr>
          <p:cNvSpPr>
            <a:spLocks noGrp="1"/>
          </p:cNvSpPr>
          <p:nvPr>
            <p:ph type="title"/>
          </p:nvPr>
        </p:nvSpPr>
        <p:spPr>
          <a:xfrm>
            <a:off x="1028700" y="2514600"/>
            <a:ext cx="10134600" cy="738664"/>
          </a:xfrm>
        </p:spPr>
        <p:txBody>
          <a:bodyPr/>
          <a:lstStyle/>
          <a:p>
            <a:pPr algn="ctr"/>
            <a:r>
              <a:rPr lang="en-IN" sz="4800" dirty="0"/>
              <a:t>Tree-Search Algorithm</a:t>
            </a:r>
          </a:p>
        </p:txBody>
      </p:sp>
    </p:spTree>
    <p:extLst>
      <p:ext uri="{BB962C8B-B14F-4D97-AF65-F5344CB8AC3E}">
        <p14:creationId xmlns:p14="http://schemas.microsoft.com/office/powerpoint/2010/main" val="27211445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7D9B11A-0092-9925-1523-D35E640A6D0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893A27F6-EAEA-7D4B-175A-FA05BFB68D75}"/>
              </a:ext>
            </a:extLst>
          </p:cNvPr>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FDFBF7"/>
          </a:solidFill>
        </p:spPr>
        <p:txBody>
          <a:bodyPr wrap="square" lIns="0" tIns="0" rIns="0" bIns="0" rtlCol="0"/>
          <a:lstStyle/>
          <a:p>
            <a:endParaRPr/>
          </a:p>
        </p:txBody>
      </p:sp>
      <p:grpSp>
        <p:nvGrpSpPr>
          <p:cNvPr id="3" name="object 3">
            <a:extLst>
              <a:ext uri="{FF2B5EF4-FFF2-40B4-BE49-F238E27FC236}">
                <a16:creationId xmlns:a16="http://schemas.microsoft.com/office/drawing/2014/main" id="{5F6D9B3A-2554-6A80-1BE4-F445A2C58F2D}"/>
              </a:ext>
            </a:extLst>
          </p:cNvPr>
          <p:cNvGrpSpPr/>
          <p:nvPr/>
        </p:nvGrpSpPr>
        <p:grpSpPr>
          <a:xfrm>
            <a:off x="424984" y="432816"/>
            <a:ext cx="11280098" cy="6123432"/>
            <a:chOff x="424984" y="432816"/>
            <a:chExt cx="11280098" cy="6123432"/>
          </a:xfrm>
        </p:grpSpPr>
        <p:pic>
          <p:nvPicPr>
            <p:cNvPr id="4" name="object 4">
              <a:extLst>
                <a:ext uri="{FF2B5EF4-FFF2-40B4-BE49-F238E27FC236}">
                  <a16:creationId xmlns:a16="http://schemas.microsoft.com/office/drawing/2014/main" id="{81F2A973-E675-B134-F26D-077D4BCF7AF8}"/>
                </a:ext>
              </a:extLst>
            </p:cNvPr>
            <p:cNvPicPr/>
            <p:nvPr/>
          </p:nvPicPr>
          <p:blipFill>
            <a:blip r:embed="rId2" cstate="print"/>
            <a:stretch>
              <a:fillRect/>
            </a:stretch>
          </p:blipFill>
          <p:spPr>
            <a:xfrm>
              <a:off x="424984" y="432816"/>
              <a:ext cx="3459183" cy="6123432"/>
            </a:xfrm>
            <a:prstGeom prst="rect">
              <a:avLst/>
            </a:prstGeom>
          </p:spPr>
        </p:pic>
        <p:sp>
          <p:nvSpPr>
            <p:cNvPr id="5" name="object 5">
              <a:extLst>
                <a:ext uri="{FF2B5EF4-FFF2-40B4-BE49-F238E27FC236}">
                  <a16:creationId xmlns:a16="http://schemas.microsoft.com/office/drawing/2014/main" id="{C6D26561-3C41-417D-A560-D0512766BE74}"/>
                </a:ext>
              </a:extLst>
            </p:cNvPr>
            <p:cNvSpPr/>
            <p:nvPr/>
          </p:nvSpPr>
          <p:spPr>
            <a:xfrm>
              <a:off x="2934462" y="2177033"/>
              <a:ext cx="8770620" cy="0"/>
            </a:xfrm>
            <a:custGeom>
              <a:avLst/>
              <a:gdLst/>
              <a:ahLst/>
              <a:cxnLst/>
              <a:rect l="l" t="t" r="r" b="b"/>
              <a:pathLst>
                <a:path w="8770620">
                  <a:moveTo>
                    <a:pt x="0" y="0"/>
                  </a:moveTo>
                  <a:lnTo>
                    <a:pt x="8770619" y="0"/>
                  </a:lnTo>
                </a:path>
              </a:pathLst>
            </a:custGeom>
            <a:ln w="38100">
              <a:solidFill>
                <a:srgbClr val="79A8A3"/>
              </a:solidFill>
            </a:ln>
          </p:spPr>
          <p:txBody>
            <a:bodyPr wrap="square" lIns="0" tIns="0" rIns="0" bIns="0" rtlCol="0"/>
            <a:lstStyle/>
            <a:p>
              <a:endParaRPr/>
            </a:p>
          </p:txBody>
        </p:sp>
      </p:grpSp>
      <p:sp>
        <p:nvSpPr>
          <p:cNvPr id="7" name="object 7" descr="$PPTXTitle">
            <a:extLst>
              <a:ext uri="{FF2B5EF4-FFF2-40B4-BE49-F238E27FC236}">
                <a16:creationId xmlns:a16="http://schemas.microsoft.com/office/drawing/2014/main" id="{94AD302E-3308-0F6F-CAA7-E3A2F0184672}"/>
              </a:ext>
            </a:extLst>
          </p:cNvPr>
          <p:cNvSpPr txBox="1">
            <a:spLocks noGrp="1"/>
          </p:cNvSpPr>
          <p:nvPr>
            <p:ph type="title"/>
          </p:nvPr>
        </p:nvSpPr>
        <p:spPr>
          <a:xfrm>
            <a:off x="1981960" y="589229"/>
            <a:ext cx="10210040" cy="690574"/>
          </a:xfrm>
          <a:prstGeom prst="rect">
            <a:avLst/>
          </a:prstGeom>
        </p:spPr>
        <p:txBody>
          <a:bodyPr vert="horz" wrap="square" lIns="0" tIns="13335" rIns="0" bIns="0" rtlCol="0">
            <a:spAutoFit/>
          </a:bodyPr>
          <a:lstStyle/>
          <a:p>
            <a:pPr marL="12700">
              <a:spcBef>
                <a:spcPts val="105"/>
              </a:spcBef>
              <a:tabLst>
                <a:tab pos="1043305" algn="l"/>
              </a:tabLst>
            </a:pPr>
            <a:r>
              <a:rPr lang="en-US" sz="4400" b="0" spc="-50" dirty="0">
                <a:solidFill>
                  <a:srgbClr val="464A56"/>
                </a:solidFill>
                <a:latin typeface="Cambria"/>
                <a:cs typeface="Cambria"/>
              </a:rPr>
              <a:t>4</a:t>
            </a:r>
            <a:r>
              <a:rPr sz="4400" b="0" dirty="0">
                <a:solidFill>
                  <a:srgbClr val="464A56"/>
                </a:solidFill>
                <a:latin typeface="Cambria"/>
                <a:cs typeface="Cambria"/>
              </a:rPr>
              <a:t>	</a:t>
            </a:r>
            <a:r>
              <a:rPr lang="en-US" sz="4400" dirty="0"/>
              <a:t>Why Do We Need Graph Search?</a:t>
            </a:r>
            <a:endParaRPr sz="4400" dirty="0">
              <a:latin typeface="Cambria"/>
              <a:cs typeface="Cambria"/>
            </a:endParaRPr>
          </a:p>
        </p:txBody>
      </p:sp>
      <p:sp>
        <p:nvSpPr>
          <p:cNvPr id="8" name="TextBox 7">
            <a:extLst>
              <a:ext uri="{FF2B5EF4-FFF2-40B4-BE49-F238E27FC236}">
                <a16:creationId xmlns:a16="http://schemas.microsoft.com/office/drawing/2014/main" id="{FDA745E6-1A6B-72C7-F45C-5EDBA7CBC46D}"/>
              </a:ext>
            </a:extLst>
          </p:cNvPr>
          <p:cNvSpPr txBox="1"/>
          <p:nvPr/>
        </p:nvSpPr>
        <p:spPr>
          <a:xfrm>
            <a:off x="3048000" y="2690335"/>
            <a:ext cx="7391400" cy="2554545"/>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Arial" panose="020B0604020202020204" pitchFamily="34" charset="0"/>
              </a:rPr>
              <a:t>Tree Search may explore the </a:t>
            </a:r>
            <a:r>
              <a:rPr kumimoji="0" lang="en-US" altLang="en-US" sz="3200" b="1" i="0" u="none" strike="noStrike" cap="none" normalizeH="0" baseline="0" dirty="0">
                <a:ln>
                  <a:noFill/>
                </a:ln>
                <a:solidFill>
                  <a:schemeClr val="tx1"/>
                </a:solidFill>
                <a:effectLst/>
                <a:latin typeface="Arial" panose="020B0604020202020204" pitchFamily="34" charset="0"/>
              </a:rPr>
              <a:t>same state multiple times</a:t>
            </a:r>
            <a:endParaRPr kumimoji="0" lang="en-US" altLang="en-US" sz="3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Arial" panose="020B0604020202020204" pitchFamily="34" charset="0"/>
              </a:rPr>
              <a:t>Causes </a:t>
            </a:r>
            <a:r>
              <a:rPr kumimoji="0" lang="en-US" altLang="en-US" sz="3200" b="1" i="0" u="none" strike="noStrike" cap="none" normalizeH="0" baseline="0" dirty="0">
                <a:ln>
                  <a:noFill/>
                </a:ln>
                <a:solidFill>
                  <a:schemeClr val="tx1"/>
                </a:solidFill>
                <a:effectLst/>
                <a:latin typeface="Arial" panose="020B0604020202020204" pitchFamily="34" charset="0"/>
              </a:rPr>
              <a:t>redundant paths</a:t>
            </a:r>
            <a:r>
              <a:rPr kumimoji="0" lang="en-US" altLang="en-US" sz="3200" b="0" i="0" u="none" strike="noStrike" cap="none" normalizeH="0" baseline="0" dirty="0">
                <a:ln>
                  <a:noFill/>
                </a:ln>
                <a:solidFill>
                  <a:schemeClr val="tx1"/>
                </a:solidFill>
                <a:effectLst/>
                <a:latin typeface="Arial" panose="020B0604020202020204" pitchFamily="34" charset="0"/>
              </a:rPr>
              <a:t> and wasted computation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Arial" panose="020B0604020202020204" pitchFamily="34" charset="0"/>
              </a:rPr>
              <a:t>Solution: </a:t>
            </a:r>
            <a:r>
              <a:rPr kumimoji="0" lang="en-US" altLang="en-US" sz="3200" b="1" i="0" u="none" strike="noStrike" cap="none" normalizeH="0" baseline="0" dirty="0">
                <a:ln>
                  <a:noFill/>
                </a:ln>
                <a:solidFill>
                  <a:schemeClr val="tx1"/>
                </a:solidFill>
                <a:effectLst/>
                <a:latin typeface="Arial" panose="020B0604020202020204" pitchFamily="34" charset="0"/>
              </a:rPr>
              <a:t>Remember visited states</a:t>
            </a: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543307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B6E51E-AA4A-8517-BA99-E6AA4DBB9B2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04AA3B0-1D85-8D49-A636-88D67D1214BC}"/>
              </a:ext>
            </a:extLst>
          </p:cNvPr>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FDFBF7"/>
          </a:solidFill>
        </p:spPr>
        <p:txBody>
          <a:bodyPr wrap="square" lIns="0" tIns="0" rIns="0" bIns="0" rtlCol="0"/>
          <a:lstStyle/>
          <a:p>
            <a:endParaRPr/>
          </a:p>
        </p:txBody>
      </p:sp>
      <p:grpSp>
        <p:nvGrpSpPr>
          <p:cNvPr id="3" name="object 3">
            <a:extLst>
              <a:ext uri="{FF2B5EF4-FFF2-40B4-BE49-F238E27FC236}">
                <a16:creationId xmlns:a16="http://schemas.microsoft.com/office/drawing/2014/main" id="{A5E93531-EE59-ED85-5505-BFB4F0AF442B}"/>
              </a:ext>
            </a:extLst>
          </p:cNvPr>
          <p:cNvGrpSpPr/>
          <p:nvPr/>
        </p:nvGrpSpPr>
        <p:grpSpPr>
          <a:xfrm>
            <a:off x="424984" y="432816"/>
            <a:ext cx="11280098" cy="6123432"/>
            <a:chOff x="424984" y="432816"/>
            <a:chExt cx="11280098" cy="6123432"/>
          </a:xfrm>
        </p:grpSpPr>
        <p:pic>
          <p:nvPicPr>
            <p:cNvPr id="4" name="object 4">
              <a:extLst>
                <a:ext uri="{FF2B5EF4-FFF2-40B4-BE49-F238E27FC236}">
                  <a16:creationId xmlns:a16="http://schemas.microsoft.com/office/drawing/2014/main" id="{539F9E0B-B90B-4958-2397-807EEBDFA03D}"/>
                </a:ext>
              </a:extLst>
            </p:cNvPr>
            <p:cNvPicPr/>
            <p:nvPr/>
          </p:nvPicPr>
          <p:blipFill>
            <a:blip r:embed="rId2" cstate="print"/>
            <a:stretch>
              <a:fillRect/>
            </a:stretch>
          </p:blipFill>
          <p:spPr>
            <a:xfrm>
              <a:off x="424984" y="432816"/>
              <a:ext cx="3459183" cy="6123432"/>
            </a:xfrm>
            <a:prstGeom prst="rect">
              <a:avLst/>
            </a:prstGeom>
          </p:spPr>
        </p:pic>
        <p:sp>
          <p:nvSpPr>
            <p:cNvPr id="5" name="object 5">
              <a:extLst>
                <a:ext uri="{FF2B5EF4-FFF2-40B4-BE49-F238E27FC236}">
                  <a16:creationId xmlns:a16="http://schemas.microsoft.com/office/drawing/2014/main" id="{D6D5F425-DB22-D1BF-A433-161258655597}"/>
                </a:ext>
              </a:extLst>
            </p:cNvPr>
            <p:cNvSpPr/>
            <p:nvPr/>
          </p:nvSpPr>
          <p:spPr>
            <a:xfrm>
              <a:off x="2934462" y="2177033"/>
              <a:ext cx="8770620" cy="0"/>
            </a:xfrm>
            <a:custGeom>
              <a:avLst/>
              <a:gdLst/>
              <a:ahLst/>
              <a:cxnLst/>
              <a:rect l="l" t="t" r="r" b="b"/>
              <a:pathLst>
                <a:path w="8770620">
                  <a:moveTo>
                    <a:pt x="0" y="0"/>
                  </a:moveTo>
                  <a:lnTo>
                    <a:pt x="8770619" y="0"/>
                  </a:lnTo>
                </a:path>
              </a:pathLst>
            </a:custGeom>
            <a:ln w="38100">
              <a:solidFill>
                <a:srgbClr val="79A8A3"/>
              </a:solidFill>
            </a:ln>
          </p:spPr>
          <p:txBody>
            <a:bodyPr wrap="square" lIns="0" tIns="0" rIns="0" bIns="0" rtlCol="0"/>
            <a:lstStyle/>
            <a:p>
              <a:endParaRPr/>
            </a:p>
          </p:txBody>
        </p:sp>
      </p:grpSp>
      <p:sp>
        <p:nvSpPr>
          <p:cNvPr id="7" name="object 7" descr="$PPTXTitle">
            <a:extLst>
              <a:ext uri="{FF2B5EF4-FFF2-40B4-BE49-F238E27FC236}">
                <a16:creationId xmlns:a16="http://schemas.microsoft.com/office/drawing/2014/main" id="{EEBB785D-0238-957C-F28B-0AA0476099A1}"/>
              </a:ext>
            </a:extLst>
          </p:cNvPr>
          <p:cNvSpPr txBox="1">
            <a:spLocks noGrp="1"/>
          </p:cNvSpPr>
          <p:nvPr>
            <p:ph type="title"/>
          </p:nvPr>
        </p:nvSpPr>
        <p:spPr>
          <a:xfrm>
            <a:off x="1981960" y="589229"/>
            <a:ext cx="10210040" cy="690574"/>
          </a:xfrm>
          <a:prstGeom prst="rect">
            <a:avLst/>
          </a:prstGeom>
        </p:spPr>
        <p:txBody>
          <a:bodyPr vert="horz" wrap="square" lIns="0" tIns="13335" rIns="0" bIns="0" rtlCol="0">
            <a:spAutoFit/>
          </a:bodyPr>
          <a:lstStyle/>
          <a:p>
            <a:pPr marL="12700">
              <a:spcBef>
                <a:spcPts val="105"/>
              </a:spcBef>
              <a:tabLst>
                <a:tab pos="1043305" algn="l"/>
              </a:tabLst>
            </a:pPr>
            <a:r>
              <a:rPr lang="en-US" sz="4400" b="0" spc="-50" dirty="0">
                <a:solidFill>
                  <a:srgbClr val="464A56"/>
                </a:solidFill>
                <a:latin typeface="Cambria"/>
                <a:cs typeface="Cambria"/>
              </a:rPr>
              <a:t>4</a:t>
            </a:r>
            <a:r>
              <a:rPr sz="4400" b="0" dirty="0">
                <a:solidFill>
                  <a:srgbClr val="464A56"/>
                </a:solidFill>
                <a:latin typeface="Cambria"/>
                <a:cs typeface="Cambria"/>
              </a:rPr>
              <a:t>	</a:t>
            </a:r>
            <a:r>
              <a:rPr lang="en-US" sz="4400" dirty="0"/>
              <a:t>Tree Search vs Graph Search</a:t>
            </a:r>
            <a:endParaRPr sz="4400" dirty="0">
              <a:latin typeface="Cambria"/>
              <a:cs typeface="Cambria"/>
            </a:endParaRPr>
          </a:p>
        </p:txBody>
      </p:sp>
      <p:graphicFrame>
        <p:nvGraphicFramePr>
          <p:cNvPr id="6" name="Table 5">
            <a:extLst>
              <a:ext uri="{FF2B5EF4-FFF2-40B4-BE49-F238E27FC236}">
                <a16:creationId xmlns:a16="http://schemas.microsoft.com/office/drawing/2014/main" id="{803C68E3-2169-2B96-59F4-0E61FBCA9842}"/>
              </a:ext>
            </a:extLst>
          </p:cNvPr>
          <p:cNvGraphicFramePr>
            <a:graphicFrameLocks noGrp="1"/>
          </p:cNvGraphicFramePr>
          <p:nvPr>
            <p:extLst>
              <p:ext uri="{D42A27DB-BD31-4B8C-83A1-F6EECF244321}">
                <p14:modId xmlns:p14="http://schemas.microsoft.com/office/powerpoint/2010/main" val="4122904645"/>
              </p:ext>
            </p:extLst>
          </p:nvPr>
        </p:nvGraphicFramePr>
        <p:xfrm>
          <a:off x="1730375" y="2802255"/>
          <a:ext cx="8731250" cy="2804160"/>
        </p:xfrm>
        <a:graphic>
          <a:graphicData uri="http://schemas.openxmlformats.org/drawingml/2006/table">
            <a:tbl>
              <a:tblPr/>
              <a:tblGrid>
                <a:gridCol w="4365625">
                  <a:extLst>
                    <a:ext uri="{9D8B030D-6E8A-4147-A177-3AD203B41FA5}">
                      <a16:colId xmlns:a16="http://schemas.microsoft.com/office/drawing/2014/main" val="206404311"/>
                    </a:ext>
                  </a:extLst>
                </a:gridCol>
                <a:gridCol w="4365625">
                  <a:extLst>
                    <a:ext uri="{9D8B030D-6E8A-4147-A177-3AD203B41FA5}">
                      <a16:colId xmlns:a16="http://schemas.microsoft.com/office/drawing/2014/main" val="2801503989"/>
                    </a:ext>
                  </a:extLst>
                </a:gridCol>
              </a:tblGrid>
              <a:tr h="0">
                <a:tc>
                  <a:txBody>
                    <a:bodyPr/>
                    <a:lstStyle/>
                    <a:p>
                      <a:pPr>
                        <a:buNone/>
                      </a:pPr>
                      <a:r>
                        <a:rPr lang="en-IN" sz="3200"/>
                        <a:t>Tree Search</a:t>
                      </a:r>
                    </a:p>
                  </a:txBody>
                  <a:tcPr anchor="ctr">
                    <a:lnL>
                      <a:noFill/>
                    </a:lnL>
                    <a:lnR>
                      <a:noFill/>
                    </a:lnR>
                    <a:lnT>
                      <a:noFill/>
                    </a:lnT>
                    <a:lnB>
                      <a:noFill/>
                    </a:lnB>
                    <a:noFill/>
                  </a:tcPr>
                </a:tc>
                <a:tc>
                  <a:txBody>
                    <a:bodyPr/>
                    <a:lstStyle/>
                    <a:p>
                      <a:pPr>
                        <a:buNone/>
                      </a:pPr>
                      <a:r>
                        <a:rPr lang="en-IN" sz="3200"/>
                        <a:t>Graph Search</a:t>
                      </a:r>
                    </a:p>
                  </a:txBody>
                  <a:tcPr anchor="ctr">
                    <a:lnL>
                      <a:noFill/>
                    </a:lnL>
                    <a:lnR>
                      <a:noFill/>
                    </a:lnR>
                    <a:lnT>
                      <a:noFill/>
                    </a:lnT>
                    <a:lnB>
                      <a:noFill/>
                    </a:lnB>
                    <a:noFill/>
                  </a:tcPr>
                </a:tc>
                <a:extLst>
                  <a:ext uri="{0D108BD9-81ED-4DB2-BD59-A6C34878D82A}">
                    <a16:rowId xmlns:a16="http://schemas.microsoft.com/office/drawing/2014/main" val="1138762766"/>
                  </a:ext>
                </a:extLst>
              </a:tr>
              <a:tr h="0">
                <a:tc>
                  <a:txBody>
                    <a:bodyPr/>
                    <a:lstStyle/>
                    <a:p>
                      <a:pPr>
                        <a:buNone/>
                      </a:pPr>
                      <a:r>
                        <a:rPr lang="en-IN" sz="3200"/>
                        <a:t>May repeat states</a:t>
                      </a:r>
                    </a:p>
                  </a:txBody>
                  <a:tcPr anchor="ctr">
                    <a:lnL>
                      <a:noFill/>
                    </a:lnL>
                    <a:lnR>
                      <a:noFill/>
                    </a:lnR>
                    <a:lnT>
                      <a:noFill/>
                    </a:lnT>
                    <a:lnB>
                      <a:noFill/>
                    </a:lnB>
                    <a:noFill/>
                  </a:tcPr>
                </a:tc>
                <a:tc>
                  <a:txBody>
                    <a:bodyPr/>
                    <a:lstStyle/>
                    <a:p>
                      <a:pPr>
                        <a:buNone/>
                      </a:pPr>
                      <a:r>
                        <a:rPr lang="en-IN" sz="3200"/>
                        <a:t>Avoids repeated states</a:t>
                      </a:r>
                    </a:p>
                  </a:txBody>
                  <a:tcPr anchor="ctr">
                    <a:lnL>
                      <a:noFill/>
                    </a:lnL>
                    <a:lnR>
                      <a:noFill/>
                    </a:lnR>
                    <a:lnT>
                      <a:noFill/>
                    </a:lnT>
                    <a:lnB>
                      <a:noFill/>
                    </a:lnB>
                    <a:noFill/>
                  </a:tcPr>
                </a:tc>
                <a:extLst>
                  <a:ext uri="{0D108BD9-81ED-4DB2-BD59-A6C34878D82A}">
                    <a16:rowId xmlns:a16="http://schemas.microsoft.com/office/drawing/2014/main" val="1032438162"/>
                  </a:ext>
                </a:extLst>
              </a:tr>
              <a:tr h="0">
                <a:tc>
                  <a:txBody>
                    <a:bodyPr/>
                    <a:lstStyle/>
                    <a:p>
                      <a:pPr>
                        <a:buNone/>
                      </a:pPr>
                      <a:r>
                        <a:rPr lang="en-US" sz="3200" dirty="0"/>
                        <a:t>No memory of visited nodes</a:t>
                      </a:r>
                    </a:p>
                  </a:txBody>
                  <a:tcPr anchor="ctr">
                    <a:lnL>
                      <a:noFill/>
                    </a:lnL>
                    <a:lnR>
                      <a:noFill/>
                    </a:lnR>
                    <a:lnT>
                      <a:noFill/>
                    </a:lnT>
                    <a:lnB>
                      <a:noFill/>
                    </a:lnB>
                    <a:noFill/>
                  </a:tcPr>
                </a:tc>
                <a:tc>
                  <a:txBody>
                    <a:bodyPr/>
                    <a:lstStyle/>
                    <a:p>
                      <a:pPr>
                        <a:buNone/>
                      </a:pPr>
                      <a:r>
                        <a:rPr lang="en-IN" sz="3200"/>
                        <a:t>Uses explored set</a:t>
                      </a:r>
                    </a:p>
                  </a:txBody>
                  <a:tcPr anchor="ctr">
                    <a:lnL>
                      <a:noFill/>
                    </a:lnL>
                    <a:lnR>
                      <a:noFill/>
                    </a:lnR>
                    <a:lnT>
                      <a:noFill/>
                    </a:lnT>
                    <a:lnB>
                      <a:noFill/>
                    </a:lnB>
                    <a:noFill/>
                  </a:tcPr>
                </a:tc>
                <a:extLst>
                  <a:ext uri="{0D108BD9-81ED-4DB2-BD59-A6C34878D82A}">
                    <a16:rowId xmlns:a16="http://schemas.microsoft.com/office/drawing/2014/main" val="3931297812"/>
                  </a:ext>
                </a:extLst>
              </a:tr>
              <a:tr h="0">
                <a:tc>
                  <a:txBody>
                    <a:bodyPr/>
                    <a:lstStyle/>
                    <a:p>
                      <a:pPr>
                        <a:buNone/>
                      </a:pPr>
                      <a:r>
                        <a:rPr lang="en-IN" sz="3200"/>
                        <a:t>Less efficient</a:t>
                      </a:r>
                    </a:p>
                  </a:txBody>
                  <a:tcPr anchor="ctr">
                    <a:lnL>
                      <a:noFill/>
                    </a:lnL>
                    <a:lnR>
                      <a:noFill/>
                    </a:lnR>
                    <a:lnT>
                      <a:noFill/>
                    </a:lnT>
                    <a:lnB>
                      <a:noFill/>
                    </a:lnB>
                    <a:noFill/>
                  </a:tcPr>
                </a:tc>
                <a:tc>
                  <a:txBody>
                    <a:bodyPr/>
                    <a:lstStyle/>
                    <a:p>
                      <a:pPr>
                        <a:buNone/>
                      </a:pPr>
                      <a:r>
                        <a:rPr lang="en-IN" sz="3200" dirty="0"/>
                        <a:t>More efficient</a:t>
                      </a:r>
                    </a:p>
                  </a:txBody>
                  <a:tcPr anchor="ctr">
                    <a:lnL>
                      <a:noFill/>
                    </a:lnL>
                    <a:lnR>
                      <a:noFill/>
                    </a:lnR>
                    <a:lnT>
                      <a:noFill/>
                    </a:lnT>
                    <a:lnB>
                      <a:noFill/>
                    </a:lnB>
                    <a:noFill/>
                  </a:tcPr>
                </a:tc>
                <a:extLst>
                  <a:ext uri="{0D108BD9-81ED-4DB2-BD59-A6C34878D82A}">
                    <a16:rowId xmlns:a16="http://schemas.microsoft.com/office/drawing/2014/main" val="455912282"/>
                  </a:ext>
                </a:extLst>
              </a:tr>
            </a:tbl>
          </a:graphicData>
        </a:graphic>
      </p:graphicFrame>
    </p:spTree>
    <p:extLst>
      <p:ext uri="{BB962C8B-B14F-4D97-AF65-F5344CB8AC3E}">
        <p14:creationId xmlns:p14="http://schemas.microsoft.com/office/powerpoint/2010/main" val="20931082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FEB48C-F2B7-A92B-D6A2-0777D8EC4C47}"/>
            </a:ext>
          </a:extLst>
        </p:cNvPr>
        <p:cNvGrpSpPr/>
        <p:nvPr/>
      </p:nvGrpSpPr>
      <p:grpSpPr>
        <a:xfrm>
          <a:off x="0" y="0"/>
          <a:ext cx="0" cy="0"/>
          <a:chOff x="0" y="0"/>
          <a:chExt cx="0" cy="0"/>
        </a:xfrm>
      </p:grpSpPr>
      <p:grpSp>
        <p:nvGrpSpPr>
          <p:cNvPr id="3" name="object 3">
            <a:extLst>
              <a:ext uri="{FF2B5EF4-FFF2-40B4-BE49-F238E27FC236}">
                <a16:creationId xmlns:a16="http://schemas.microsoft.com/office/drawing/2014/main" id="{8B501621-A63E-A55A-F39D-BB52ABF87C56}"/>
              </a:ext>
            </a:extLst>
          </p:cNvPr>
          <p:cNvGrpSpPr/>
          <p:nvPr/>
        </p:nvGrpSpPr>
        <p:grpSpPr>
          <a:xfrm>
            <a:off x="424984" y="432816"/>
            <a:ext cx="11280098" cy="6123432"/>
            <a:chOff x="424984" y="432816"/>
            <a:chExt cx="11280098" cy="6123432"/>
          </a:xfrm>
        </p:grpSpPr>
        <p:pic>
          <p:nvPicPr>
            <p:cNvPr id="4" name="object 4">
              <a:extLst>
                <a:ext uri="{FF2B5EF4-FFF2-40B4-BE49-F238E27FC236}">
                  <a16:creationId xmlns:a16="http://schemas.microsoft.com/office/drawing/2014/main" id="{7C0CA25A-0BB0-7587-8AAE-4DAF269BB6A2}"/>
                </a:ext>
              </a:extLst>
            </p:cNvPr>
            <p:cNvPicPr/>
            <p:nvPr/>
          </p:nvPicPr>
          <p:blipFill>
            <a:blip r:embed="rId2" cstate="print"/>
            <a:stretch>
              <a:fillRect/>
            </a:stretch>
          </p:blipFill>
          <p:spPr>
            <a:xfrm>
              <a:off x="424984" y="432816"/>
              <a:ext cx="3459183" cy="6123432"/>
            </a:xfrm>
            <a:prstGeom prst="rect">
              <a:avLst/>
            </a:prstGeom>
          </p:spPr>
        </p:pic>
        <p:sp>
          <p:nvSpPr>
            <p:cNvPr id="5" name="object 5">
              <a:extLst>
                <a:ext uri="{FF2B5EF4-FFF2-40B4-BE49-F238E27FC236}">
                  <a16:creationId xmlns:a16="http://schemas.microsoft.com/office/drawing/2014/main" id="{462A347B-CBA5-0081-2E0A-CDA33A3C1375}"/>
                </a:ext>
              </a:extLst>
            </p:cNvPr>
            <p:cNvSpPr/>
            <p:nvPr/>
          </p:nvSpPr>
          <p:spPr>
            <a:xfrm>
              <a:off x="2934462" y="2177033"/>
              <a:ext cx="8770620" cy="0"/>
            </a:xfrm>
            <a:custGeom>
              <a:avLst/>
              <a:gdLst/>
              <a:ahLst/>
              <a:cxnLst/>
              <a:rect l="l" t="t" r="r" b="b"/>
              <a:pathLst>
                <a:path w="8770620">
                  <a:moveTo>
                    <a:pt x="0" y="0"/>
                  </a:moveTo>
                  <a:lnTo>
                    <a:pt x="8770619" y="0"/>
                  </a:lnTo>
                </a:path>
              </a:pathLst>
            </a:custGeom>
            <a:ln w="38100">
              <a:solidFill>
                <a:srgbClr val="79A8A3"/>
              </a:solidFill>
            </a:ln>
          </p:spPr>
          <p:txBody>
            <a:bodyPr wrap="square" lIns="0" tIns="0" rIns="0" bIns="0" rtlCol="0"/>
            <a:lstStyle/>
            <a:p>
              <a:endParaRPr/>
            </a:p>
          </p:txBody>
        </p:sp>
      </p:grpSp>
      <p:sp>
        <p:nvSpPr>
          <p:cNvPr id="7" name="object 7" descr="$PPTXTitle">
            <a:extLst>
              <a:ext uri="{FF2B5EF4-FFF2-40B4-BE49-F238E27FC236}">
                <a16:creationId xmlns:a16="http://schemas.microsoft.com/office/drawing/2014/main" id="{4830005A-9725-1D4A-DA2A-147AA327B5D8}"/>
              </a:ext>
            </a:extLst>
          </p:cNvPr>
          <p:cNvSpPr txBox="1">
            <a:spLocks noGrp="1"/>
          </p:cNvSpPr>
          <p:nvPr>
            <p:ph type="title"/>
          </p:nvPr>
        </p:nvSpPr>
        <p:spPr>
          <a:xfrm>
            <a:off x="1981960" y="589229"/>
            <a:ext cx="10210040" cy="690574"/>
          </a:xfrm>
          <a:prstGeom prst="rect">
            <a:avLst/>
          </a:prstGeom>
        </p:spPr>
        <p:txBody>
          <a:bodyPr vert="horz" wrap="square" lIns="0" tIns="13335" rIns="0" bIns="0" rtlCol="0">
            <a:spAutoFit/>
          </a:bodyPr>
          <a:lstStyle/>
          <a:p>
            <a:pPr marL="12700">
              <a:lnSpc>
                <a:spcPct val="100000"/>
              </a:lnSpc>
              <a:spcBef>
                <a:spcPts val="105"/>
              </a:spcBef>
              <a:tabLst>
                <a:tab pos="1043305" algn="l"/>
              </a:tabLst>
            </a:pPr>
            <a:r>
              <a:rPr lang="en-US" sz="4400" b="0" spc="-50" dirty="0">
                <a:solidFill>
                  <a:srgbClr val="464A56"/>
                </a:solidFill>
                <a:latin typeface="Cambria"/>
                <a:cs typeface="Cambria"/>
              </a:rPr>
              <a:t>7</a:t>
            </a:r>
            <a:r>
              <a:rPr sz="4400" b="0" dirty="0">
                <a:solidFill>
                  <a:srgbClr val="464A56"/>
                </a:solidFill>
                <a:latin typeface="Cambria"/>
                <a:cs typeface="Cambria"/>
              </a:rPr>
              <a:t>	</a:t>
            </a:r>
            <a:r>
              <a:rPr lang="en-IN" sz="4400" dirty="0"/>
              <a:t> Graph Search Algorithm</a:t>
            </a:r>
            <a:endParaRPr sz="4400" dirty="0">
              <a:latin typeface="Cambria"/>
              <a:cs typeface="Cambria"/>
            </a:endParaRPr>
          </a:p>
        </p:txBody>
      </p:sp>
      <p:sp>
        <p:nvSpPr>
          <p:cNvPr id="9" name="object 5">
            <a:extLst>
              <a:ext uri="{FF2B5EF4-FFF2-40B4-BE49-F238E27FC236}">
                <a16:creationId xmlns:a16="http://schemas.microsoft.com/office/drawing/2014/main" id="{A9C12AC2-7BE6-B103-6241-FCEAC7CAA87C}"/>
              </a:ext>
            </a:extLst>
          </p:cNvPr>
          <p:cNvSpPr txBox="1"/>
          <p:nvPr/>
        </p:nvSpPr>
        <p:spPr>
          <a:xfrm>
            <a:off x="2514600" y="2514600"/>
            <a:ext cx="9252416" cy="3502882"/>
          </a:xfrm>
          <a:prstGeom prst="rect">
            <a:avLst/>
          </a:prstGeom>
        </p:spPr>
        <p:txBody>
          <a:bodyPr vert="horz" wrap="square" lIns="0" tIns="177165" rIns="0" bIns="0" rtlCol="0">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Start with initial node in frontier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Remove a node from frontier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Add it to explored set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Expand node and generate children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Discard repeated states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Stop when goal is found</a:t>
            </a:r>
          </a:p>
        </p:txBody>
      </p:sp>
    </p:spTree>
    <p:extLst>
      <p:ext uri="{BB962C8B-B14F-4D97-AF65-F5344CB8AC3E}">
        <p14:creationId xmlns:p14="http://schemas.microsoft.com/office/powerpoint/2010/main" val="42720559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79B69E0-5BCC-D3F0-2EA2-68C3BE05110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5090597-7F19-8050-B6EB-DF73695490D3}"/>
              </a:ext>
            </a:extLst>
          </p:cNvPr>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FDFBF7"/>
          </a:solidFill>
        </p:spPr>
        <p:txBody>
          <a:bodyPr wrap="square" lIns="0" tIns="0" rIns="0" bIns="0" rtlCol="0"/>
          <a:lstStyle/>
          <a:p>
            <a:endParaRPr/>
          </a:p>
        </p:txBody>
      </p:sp>
      <p:grpSp>
        <p:nvGrpSpPr>
          <p:cNvPr id="3" name="object 3">
            <a:extLst>
              <a:ext uri="{FF2B5EF4-FFF2-40B4-BE49-F238E27FC236}">
                <a16:creationId xmlns:a16="http://schemas.microsoft.com/office/drawing/2014/main" id="{6A06BE39-D6DF-8BB9-66E2-17E683858FA8}"/>
              </a:ext>
            </a:extLst>
          </p:cNvPr>
          <p:cNvGrpSpPr/>
          <p:nvPr/>
        </p:nvGrpSpPr>
        <p:grpSpPr>
          <a:xfrm>
            <a:off x="424984" y="432816"/>
            <a:ext cx="11280098" cy="6123432"/>
            <a:chOff x="424984" y="432816"/>
            <a:chExt cx="11280098" cy="6123432"/>
          </a:xfrm>
        </p:grpSpPr>
        <p:pic>
          <p:nvPicPr>
            <p:cNvPr id="4" name="object 4">
              <a:extLst>
                <a:ext uri="{FF2B5EF4-FFF2-40B4-BE49-F238E27FC236}">
                  <a16:creationId xmlns:a16="http://schemas.microsoft.com/office/drawing/2014/main" id="{CD272A90-69E7-5916-E354-2C91578D9B52}"/>
                </a:ext>
              </a:extLst>
            </p:cNvPr>
            <p:cNvPicPr/>
            <p:nvPr/>
          </p:nvPicPr>
          <p:blipFill>
            <a:blip r:embed="rId2" cstate="print"/>
            <a:stretch>
              <a:fillRect/>
            </a:stretch>
          </p:blipFill>
          <p:spPr>
            <a:xfrm>
              <a:off x="424984" y="432816"/>
              <a:ext cx="3459183" cy="6123432"/>
            </a:xfrm>
            <a:prstGeom prst="rect">
              <a:avLst/>
            </a:prstGeom>
          </p:spPr>
        </p:pic>
        <p:sp>
          <p:nvSpPr>
            <p:cNvPr id="5" name="object 5">
              <a:extLst>
                <a:ext uri="{FF2B5EF4-FFF2-40B4-BE49-F238E27FC236}">
                  <a16:creationId xmlns:a16="http://schemas.microsoft.com/office/drawing/2014/main" id="{B7E11BD8-B6A8-18A4-84FA-E603C065BE3E}"/>
                </a:ext>
              </a:extLst>
            </p:cNvPr>
            <p:cNvSpPr/>
            <p:nvPr/>
          </p:nvSpPr>
          <p:spPr>
            <a:xfrm>
              <a:off x="2934462" y="2177033"/>
              <a:ext cx="8770620" cy="0"/>
            </a:xfrm>
            <a:custGeom>
              <a:avLst/>
              <a:gdLst/>
              <a:ahLst/>
              <a:cxnLst/>
              <a:rect l="l" t="t" r="r" b="b"/>
              <a:pathLst>
                <a:path w="8770620">
                  <a:moveTo>
                    <a:pt x="0" y="0"/>
                  </a:moveTo>
                  <a:lnTo>
                    <a:pt x="8770619" y="0"/>
                  </a:lnTo>
                </a:path>
              </a:pathLst>
            </a:custGeom>
            <a:ln w="38100">
              <a:solidFill>
                <a:srgbClr val="79A8A3"/>
              </a:solidFill>
            </a:ln>
          </p:spPr>
          <p:txBody>
            <a:bodyPr wrap="square" lIns="0" tIns="0" rIns="0" bIns="0" rtlCol="0"/>
            <a:lstStyle/>
            <a:p>
              <a:endParaRPr/>
            </a:p>
          </p:txBody>
        </p:sp>
      </p:grpSp>
      <p:sp>
        <p:nvSpPr>
          <p:cNvPr id="7" name="object 7" descr="$PPTXTitle">
            <a:extLst>
              <a:ext uri="{FF2B5EF4-FFF2-40B4-BE49-F238E27FC236}">
                <a16:creationId xmlns:a16="http://schemas.microsoft.com/office/drawing/2014/main" id="{6EFAE58C-C466-78F2-8312-B8B7C4B002B7}"/>
              </a:ext>
            </a:extLst>
          </p:cNvPr>
          <p:cNvSpPr txBox="1">
            <a:spLocks noGrp="1"/>
          </p:cNvSpPr>
          <p:nvPr>
            <p:ph type="title"/>
          </p:nvPr>
        </p:nvSpPr>
        <p:spPr>
          <a:xfrm>
            <a:off x="1981960" y="589229"/>
            <a:ext cx="10210040" cy="690574"/>
          </a:xfrm>
          <a:prstGeom prst="rect">
            <a:avLst/>
          </a:prstGeom>
        </p:spPr>
        <p:txBody>
          <a:bodyPr vert="horz" wrap="square" lIns="0" tIns="13335" rIns="0" bIns="0" rtlCol="0">
            <a:spAutoFit/>
          </a:bodyPr>
          <a:lstStyle/>
          <a:p>
            <a:pPr marL="12700">
              <a:spcBef>
                <a:spcPts val="105"/>
              </a:spcBef>
              <a:tabLst>
                <a:tab pos="1043305" algn="l"/>
              </a:tabLst>
            </a:pPr>
            <a:r>
              <a:rPr lang="en-US" sz="4400" b="0" spc="-50" dirty="0">
                <a:solidFill>
                  <a:srgbClr val="464A56"/>
                </a:solidFill>
                <a:latin typeface="Cambria"/>
                <a:cs typeface="Cambria"/>
              </a:rPr>
              <a:t>4</a:t>
            </a:r>
            <a:r>
              <a:rPr sz="4400" b="0" dirty="0">
                <a:solidFill>
                  <a:srgbClr val="464A56"/>
                </a:solidFill>
                <a:latin typeface="Cambria"/>
                <a:cs typeface="Cambria"/>
              </a:rPr>
              <a:t>	</a:t>
            </a:r>
            <a:r>
              <a:rPr lang="en-IN" sz="4400" dirty="0"/>
              <a:t> Child Node Generation</a:t>
            </a:r>
            <a:endParaRPr sz="4400" dirty="0">
              <a:latin typeface="Cambria"/>
              <a:cs typeface="Cambria"/>
            </a:endParaRPr>
          </a:p>
        </p:txBody>
      </p:sp>
      <p:sp>
        <p:nvSpPr>
          <p:cNvPr id="8" name="TextBox 7">
            <a:extLst>
              <a:ext uri="{FF2B5EF4-FFF2-40B4-BE49-F238E27FC236}">
                <a16:creationId xmlns:a16="http://schemas.microsoft.com/office/drawing/2014/main" id="{4C3AF8F8-A74D-E9AE-3BF8-2C18053534C1}"/>
              </a:ext>
            </a:extLst>
          </p:cNvPr>
          <p:cNvSpPr txBox="1"/>
          <p:nvPr/>
        </p:nvSpPr>
        <p:spPr>
          <a:xfrm>
            <a:off x="2514600" y="2506163"/>
            <a:ext cx="9906000" cy="3108543"/>
          </a:xfrm>
          <a:prstGeom prst="rect">
            <a:avLst/>
          </a:prstGeom>
          <a:noFill/>
        </p:spPr>
        <p:txBody>
          <a:bodyPr wrap="square">
            <a:spAutoFit/>
          </a:bodyPr>
          <a:lstStyle/>
          <a:p>
            <a:r>
              <a:rPr lang="en-US" sz="2800" dirty="0"/>
              <a:t>function CHILD-NODE(problem, parent, action) returns a node</a:t>
            </a:r>
          </a:p>
          <a:p>
            <a:r>
              <a:rPr lang="en-US" sz="2800" dirty="0"/>
              <a:t>    STATE = </a:t>
            </a:r>
            <a:r>
              <a:rPr lang="en-US" sz="2800" dirty="0" err="1"/>
              <a:t>problem.RESULT</a:t>
            </a:r>
            <a:r>
              <a:rPr lang="en-US" sz="2800" dirty="0"/>
              <a:t>(</a:t>
            </a:r>
            <a:r>
              <a:rPr lang="en-US" sz="2800" dirty="0" err="1"/>
              <a:t>parent.STATE</a:t>
            </a:r>
            <a:r>
              <a:rPr lang="en-US" sz="2800" dirty="0"/>
              <a:t>, action)</a:t>
            </a:r>
          </a:p>
          <a:p>
            <a:r>
              <a:rPr lang="en-US" sz="2800" dirty="0"/>
              <a:t>    PARENT = parent</a:t>
            </a:r>
          </a:p>
          <a:p>
            <a:r>
              <a:rPr lang="en-US" sz="2800" dirty="0"/>
              <a:t>    ACTION = action</a:t>
            </a:r>
          </a:p>
          <a:p>
            <a:r>
              <a:rPr lang="en-US" sz="2800" dirty="0"/>
              <a:t>    PATH-COST = </a:t>
            </a:r>
            <a:r>
              <a:rPr lang="en-US" sz="2800" dirty="0" err="1"/>
              <a:t>parent.PATH</a:t>
            </a:r>
            <a:r>
              <a:rPr lang="en-US" sz="2800" dirty="0"/>
              <a:t>-COST + </a:t>
            </a:r>
            <a:r>
              <a:rPr lang="en-US" sz="2800" dirty="0" err="1"/>
              <a:t>problem.STEP</a:t>
            </a:r>
            <a:r>
              <a:rPr lang="en-US" sz="2800" dirty="0"/>
              <a:t>-COST(</a:t>
            </a:r>
            <a:r>
              <a:rPr lang="en-US" sz="2800" dirty="0" err="1"/>
              <a:t>parent.STATE</a:t>
            </a:r>
            <a:r>
              <a:rPr lang="en-US" sz="2800" dirty="0"/>
              <a:t>, action)</a:t>
            </a:r>
          </a:p>
        </p:txBody>
      </p:sp>
    </p:spTree>
    <p:extLst>
      <p:ext uri="{BB962C8B-B14F-4D97-AF65-F5344CB8AC3E}">
        <p14:creationId xmlns:p14="http://schemas.microsoft.com/office/powerpoint/2010/main" val="9062107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39160E-C7B5-8A07-2FA4-14F9842A631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F6276AB-ACE7-7F4F-D937-DA162E7F8D08}"/>
              </a:ext>
            </a:extLst>
          </p:cNvPr>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FDFBF7"/>
          </a:solidFill>
        </p:spPr>
        <p:txBody>
          <a:bodyPr wrap="square" lIns="0" tIns="0" rIns="0" bIns="0" rtlCol="0"/>
          <a:lstStyle/>
          <a:p>
            <a:endParaRPr/>
          </a:p>
        </p:txBody>
      </p:sp>
      <p:grpSp>
        <p:nvGrpSpPr>
          <p:cNvPr id="3" name="object 3">
            <a:extLst>
              <a:ext uri="{FF2B5EF4-FFF2-40B4-BE49-F238E27FC236}">
                <a16:creationId xmlns:a16="http://schemas.microsoft.com/office/drawing/2014/main" id="{E698CBBA-7F32-9213-778C-31223CF7BCB1}"/>
              </a:ext>
            </a:extLst>
          </p:cNvPr>
          <p:cNvGrpSpPr/>
          <p:nvPr/>
        </p:nvGrpSpPr>
        <p:grpSpPr>
          <a:xfrm>
            <a:off x="424984" y="432816"/>
            <a:ext cx="11280098" cy="6123432"/>
            <a:chOff x="424984" y="432816"/>
            <a:chExt cx="11280098" cy="6123432"/>
          </a:xfrm>
        </p:grpSpPr>
        <p:pic>
          <p:nvPicPr>
            <p:cNvPr id="4" name="object 4">
              <a:extLst>
                <a:ext uri="{FF2B5EF4-FFF2-40B4-BE49-F238E27FC236}">
                  <a16:creationId xmlns:a16="http://schemas.microsoft.com/office/drawing/2014/main" id="{C21C07EF-7CC3-8DD0-6713-8C2B2B28D48F}"/>
                </a:ext>
              </a:extLst>
            </p:cNvPr>
            <p:cNvPicPr/>
            <p:nvPr/>
          </p:nvPicPr>
          <p:blipFill>
            <a:blip r:embed="rId2" cstate="print"/>
            <a:stretch>
              <a:fillRect/>
            </a:stretch>
          </p:blipFill>
          <p:spPr>
            <a:xfrm>
              <a:off x="424984" y="432816"/>
              <a:ext cx="3459183" cy="6123432"/>
            </a:xfrm>
            <a:prstGeom prst="rect">
              <a:avLst/>
            </a:prstGeom>
          </p:spPr>
        </p:pic>
        <p:sp>
          <p:nvSpPr>
            <p:cNvPr id="5" name="object 5">
              <a:extLst>
                <a:ext uri="{FF2B5EF4-FFF2-40B4-BE49-F238E27FC236}">
                  <a16:creationId xmlns:a16="http://schemas.microsoft.com/office/drawing/2014/main" id="{2DF4E16D-477F-BCEA-332F-87298B0B6E7D}"/>
                </a:ext>
              </a:extLst>
            </p:cNvPr>
            <p:cNvSpPr/>
            <p:nvPr/>
          </p:nvSpPr>
          <p:spPr>
            <a:xfrm>
              <a:off x="2934462" y="2177033"/>
              <a:ext cx="8770620" cy="0"/>
            </a:xfrm>
            <a:custGeom>
              <a:avLst/>
              <a:gdLst/>
              <a:ahLst/>
              <a:cxnLst/>
              <a:rect l="l" t="t" r="r" b="b"/>
              <a:pathLst>
                <a:path w="8770620">
                  <a:moveTo>
                    <a:pt x="0" y="0"/>
                  </a:moveTo>
                  <a:lnTo>
                    <a:pt x="8770619" y="0"/>
                  </a:lnTo>
                </a:path>
              </a:pathLst>
            </a:custGeom>
            <a:ln w="38100">
              <a:solidFill>
                <a:srgbClr val="79A8A3"/>
              </a:solidFill>
            </a:ln>
          </p:spPr>
          <p:txBody>
            <a:bodyPr wrap="square" lIns="0" tIns="0" rIns="0" bIns="0" rtlCol="0"/>
            <a:lstStyle/>
            <a:p>
              <a:endParaRPr/>
            </a:p>
          </p:txBody>
        </p:sp>
      </p:grpSp>
      <p:sp>
        <p:nvSpPr>
          <p:cNvPr id="7" name="object 7" descr="$PPTXTitle">
            <a:extLst>
              <a:ext uri="{FF2B5EF4-FFF2-40B4-BE49-F238E27FC236}">
                <a16:creationId xmlns:a16="http://schemas.microsoft.com/office/drawing/2014/main" id="{67C82EC9-8419-B6ED-ACBC-75DB219CC8C5}"/>
              </a:ext>
            </a:extLst>
          </p:cNvPr>
          <p:cNvSpPr txBox="1">
            <a:spLocks noGrp="1"/>
          </p:cNvSpPr>
          <p:nvPr>
            <p:ph type="title"/>
          </p:nvPr>
        </p:nvSpPr>
        <p:spPr>
          <a:xfrm>
            <a:off x="1981960" y="589229"/>
            <a:ext cx="10210040" cy="690574"/>
          </a:xfrm>
          <a:prstGeom prst="rect">
            <a:avLst/>
          </a:prstGeom>
        </p:spPr>
        <p:txBody>
          <a:bodyPr vert="horz" wrap="square" lIns="0" tIns="13335" rIns="0" bIns="0" rtlCol="0">
            <a:spAutoFit/>
          </a:bodyPr>
          <a:lstStyle/>
          <a:p>
            <a:pPr marL="12700">
              <a:spcBef>
                <a:spcPts val="105"/>
              </a:spcBef>
              <a:tabLst>
                <a:tab pos="1043305" algn="l"/>
              </a:tabLst>
            </a:pPr>
            <a:r>
              <a:rPr lang="en-US" sz="4400" b="0" spc="-50" dirty="0">
                <a:solidFill>
                  <a:srgbClr val="464A56"/>
                </a:solidFill>
                <a:latin typeface="Cambria"/>
                <a:cs typeface="Cambria"/>
              </a:rPr>
              <a:t>4</a:t>
            </a:r>
            <a:r>
              <a:rPr sz="4400" b="0" dirty="0">
                <a:solidFill>
                  <a:srgbClr val="464A56"/>
                </a:solidFill>
                <a:latin typeface="Cambria"/>
                <a:cs typeface="Cambria"/>
              </a:rPr>
              <a:t>	</a:t>
            </a:r>
            <a:r>
              <a:rPr lang="en-IN" sz="4400" dirty="0"/>
              <a:t> Frontier and Queues</a:t>
            </a:r>
            <a:endParaRPr sz="4400" dirty="0">
              <a:latin typeface="Cambria"/>
              <a:cs typeface="Cambria"/>
            </a:endParaRPr>
          </a:p>
        </p:txBody>
      </p:sp>
      <p:graphicFrame>
        <p:nvGraphicFramePr>
          <p:cNvPr id="6" name="Table 5">
            <a:extLst>
              <a:ext uri="{FF2B5EF4-FFF2-40B4-BE49-F238E27FC236}">
                <a16:creationId xmlns:a16="http://schemas.microsoft.com/office/drawing/2014/main" id="{6F685B2B-9108-1AC6-9180-DE1BADBB7C60}"/>
              </a:ext>
            </a:extLst>
          </p:cNvPr>
          <p:cNvGraphicFramePr>
            <a:graphicFrameLocks noGrp="1"/>
          </p:cNvGraphicFramePr>
          <p:nvPr>
            <p:extLst>
              <p:ext uri="{D42A27DB-BD31-4B8C-83A1-F6EECF244321}">
                <p14:modId xmlns:p14="http://schemas.microsoft.com/office/powerpoint/2010/main" val="964845511"/>
              </p:ext>
            </p:extLst>
          </p:nvPr>
        </p:nvGraphicFramePr>
        <p:xfrm>
          <a:off x="1786678" y="2255975"/>
          <a:ext cx="8618644" cy="4018640"/>
        </p:xfrm>
        <a:graphic>
          <a:graphicData uri="http://schemas.openxmlformats.org/drawingml/2006/table">
            <a:tbl>
              <a:tblPr/>
              <a:tblGrid>
                <a:gridCol w="4309322">
                  <a:extLst>
                    <a:ext uri="{9D8B030D-6E8A-4147-A177-3AD203B41FA5}">
                      <a16:colId xmlns:a16="http://schemas.microsoft.com/office/drawing/2014/main" val="3550873518"/>
                    </a:ext>
                  </a:extLst>
                </a:gridCol>
                <a:gridCol w="4309322">
                  <a:extLst>
                    <a:ext uri="{9D8B030D-6E8A-4147-A177-3AD203B41FA5}">
                      <a16:colId xmlns:a16="http://schemas.microsoft.com/office/drawing/2014/main" val="2255790448"/>
                    </a:ext>
                  </a:extLst>
                </a:gridCol>
              </a:tblGrid>
              <a:tr h="361043">
                <a:tc>
                  <a:txBody>
                    <a:bodyPr/>
                    <a:lstStyle/>
                    <a:p>
                      <a:pPr>
                        <a:buNone/>
                      </a:pPr>
                      <a:r>
                        <a:rPr lang="en-IN" sz="2400"/>
                        <a:t>Queue Type</a:t>
                      </a:r>
                    </a:p>
                  </a:txBody>
                  <a:tcPr marL="90261" marR="90261" marT="45130" marB="45130" anchor="ctr">
                    <a:lnL>
                      <a:noFill/>
                    </a:lnL>
                    <a:lnR>
                      <a:noFill/>
                    </a:lnR>
                    <a:lnT>
                      <a:noFill/>
                    </a:lnT>
                    <a:lnB>
                      <a:noFill/>
                    </a:lnB>
                    <a:noFill/>
                  </a:tcPr>
                </a:tc>
                <a:tc>
                  <a:txBody>
                    <a:bodyPr/>
                    <a:lstStyle/>
                    <a:p>
                      <a:pPr>
                        <a:buNone/>
                      </a:pPr>
                      <a:r>
                        <a:rPr lang="en-IN" sz="2400"/>
                        <a:t>Behavior</a:t>
                      </a:r>
                    </a:p>
                  </a:txBody>
                  <a:tcPr marL="90261" marR="90261" marT="45130" marB="45130" anchor="ctr">
                    <a:lnL>
                      <a:noFill/>
                    </a:lnL>
                    <a:lnR>
                      <a:noFill/>
                    </a:lnR>
                    <a:lnT>
                      <a:noFill/>
                    </a:lnT>
                    <a:lnB>
                      <a:noFill/>
                    </a:lnB>
                    <a:noFill/>
                  </a:tcPr>
                </a:tc>
                <a:extLst>
                  <a:ext uri="{0D108BD9-81ED-4DB2-BD59-A6C34878D82A}">
                    <a16:rowId xmlns:a16="http://schemas.microsoft.com/office/drawing/2014/main" val="620974525"/>
                  </a:ext>
                </a:extLst>
              </a:tr>
              <a:tr h="631825">
                <a:tc>
                  <a:txBody>
                    <a:bodyPr/>
                    <a:lstStyle/>
                    <a:p>
                      <a:pPr>
                        <a:buNone/>
                      </a:pPr>
                      <a:r>
                        <a:rPr lang="en-IN" sz="2400"/>
                        <a:t>FIFO Queue</a:t>
                      </a:r>
                    </a:p>
                  </a:txBody>
                  <a:tcPr marL="90261" marR="90261" marT="45130" marB="45130" anchor="ctr">
                    <a:lnL>
                      <a:noFill/>
                    </a:lnL>
                    <a:lnR>
                      <a:noFill/>
                    </a:lnR>
                    <a:lnT>
                      <a:noFill/>
                    </a:lnT>
                    <a:lnB>
                      <a:noFill/>
                    </a:lnB>
                    <a:noFill/>
                  </a:tcPr>
                </a:tc>
                <a:tc>
                  <a:txBody>
                    <a:bodyPr/>
                    <a:lstStyle/>
                    <a:p>
                      <a:pPr>
                        <a:buNone/>
                      </a:pPr>
                      <a:r>
                        <a:rPr lang="en-US" sz="2400" dirty="0"/>
                        <a:t>First-in, first-out → expands oldest node first (Breadth-First Search)</a:t>
                      </a:r>
                    </a:p>
                  </a:txBody>
                  <a:tcPr marL="90261" marR="90261" marT="45130" marB="45130" anchor="ctr">
                    <a:lnL>
                      <a:noFill/>
                    </a:lnL>
                    <a:lnR>
                      <a:noFill/>
                    </a:lnR>
                    <a:lnT>
                      <a:noFill/>
                    </a:lnT>
                    <a:lnB>
                      <a:noFill/>
                    </a:lnB>
                    <a:noFill/>
                  </a:tcPr>
                </a:tc>
                <a:extLst>
                  <a:ext uri="{0D108BD9-81ED-4DB2-BD59-A6C34878D82A}">
                    <a16:rowId xmlns:a16="http://schemas.microsoft.com/office/drawing/2014/main" val="2454535885"/>
                  </a:ext>
                </a:extLst>
              </a:tr>
              <a:tr h="631825">
                <a:tc>
                  <a:txBody>
                    <a:bodyPr/>
                    <a:lstStyle/>
                    <a:p>
                      <a:pPr>
                        <a:buNone/>
                      </a:pPr>
                      <a:r>
                        <a:rPr lang="en-IN" sz="2400"/>
                        <a:t>LIFO Queue</a:t>
                      </a:r>
                    </a:p>
                  </a:txBody>
                  <a:tcPr marL="90261" marR="90261" marT="45130" marB="45130" anchor="ctr">
                    <a:lnL>
                      <a:noFill/>
                    </a:lnL>
                    <a:lnR>
                      <a:noFill/>
                    </a:lnR>
                    <a:lnT>
                      <a:noFill/>
                    </a:lnT>
                    <a:lnB>
                      <a:noFill/>
                    </a:lnB>
                    <a:noFill/>
                  </a:tcPr>
                </a:tc>
                <a:tc>
                  <a:txBody>
                    <a:bodyPr/>
                    <a:lstStyle/>
                    <a:p>
                      <a:pPr>
                        <a:buNone/>
                      </a:pPr>
                      <a:r>
                        <a:rPr lang="en-US" sz="2400"/>
                        <a:t>Last-in, first-out → expands newest node first (Depth-First Search / Stack)</a:t>
                      </a:r>
                    </a:p>
                  </a:txBody>
                  <a:tcPr marL="90261" marR="90261" marT="45130" marB="45130" anchor="ctr">
                    <a:lnL>
                      <a:noFill/>
                    </a:lnL>
                    <a:lnR>
                      <a:noFill/>
                    </a:lnR>
                    <a:lnT>
                      <a:noFill/>
                    </a:lnT>
                    <a:lnB>
                      <a:noFill/>
                    </a:lnB>
                    <a:noFill/>
                  </a:tcPr>
                </a:tc>
                <a:extLst>
                  <a:ext uri="{0D108BD9-81ED-4DB2-BD59-A6C34878D82A}">
                    <a16:rowId xmlns:a16="http://schemas.microsoft.com/office/drawing/2014/main" val="2037726325"/>
                  </a:ext>
                </a:extLst>
              </a:tr>
              <a:tr h="902607">
                <a:tc>
                  <a:txBody>
                    <a:bodyPr/>
                    <a:lstStyle/>
                    <a:p>
                      <a:pPr>
                        <a:buNone/>
                      </a:pPr>
                      <a:r>
                        <a:rPr lang="en-IN" sz="2400"/>
                        <a:t>Priority Queue</a:t>
                      </a:r>
                    </a:p>
                  </a:txBody>
                  <a:tcPr marL="90261" marR="90261" marT="45130" marB="45130" anchor="ctr">
                    <a:lnL>
                      <a:noFill/>
                    </a:lnL>
                    <a:lnR>
                      <a:noFill/>
                    </a:lnR>
                    <a:lnT>
                      <a:noFill/>
                    </a:lnT>
                    <a:lnB>
                      <a:noFill/>
                    </a:lnB>
                    <a:noFill/>
                  </a:tcPr>
                </a:tc>
                <a:tc>
                  <a:txBody>
                    <a:bodyPr/>
                    <a:lstStyle/>
                    <a:p>
                      <a:pPr>
                        <a:buNone/>
                      </a:pPr>
                      <a:r>
                        <a:rPr lang="en-US" sz="2400" dirty="0"/>
                        <a:t>Expands node with </a:t>
                      </a:r>
                      <a:r>
                        <a:rPr lang="en-US" sz="2400" b="1" dirty="0"/>
                        <a:t>highest priority</a:t>
                      </a:r>
                      <a:r>
                        <a:rPr lang="en-US" sz="2400" dirty="0"/>
                        <a:t> according to an evaluation function (e.g., A*)</a:t>
                      </a:r>
                    </a:p>
                  </a:txBody>
                  <a:tcPr marL="90261" marR="90261" marT="45130" marB="45130" anchor="ctr">
                    <a:lnL>
                      <a:noFill/>
                    </a:lnL>
                    <a:lnR>
                      <a:noFill/>
                    </a:lnR>
                    <a:lnT>
                      <a:noFill/>
                    </a:lnT>
                    <a:lnB>
                      <a:noFill/>
                    </a:lnB>
                    <a:noFill/>
                  </a:tcPr>
                </a:tc>
                <a:extLst>
                  <a:ext uri="{0D108BD9-81ED-4DB2-BD59-A6C34878D82A}">
                    <a16:rowId xmlns:a16="http://schemas.microsoft.com/office/drawing/2014/main" val="933225804"/>
                  </a:ext>
                </a:extLst>
              </a:tr>
            </a:tbl>
          </a:graphicData>
        </a:graphic>
      </p:graphicFrame>
    </p:spTree>
    <p:extLst>
      <p:ext uri="{BB962C8B-B14F-4D97-AF65-F5344CB8AC3E}">
        <p14:creationId xmlns:p14="http://schemas.microsoft.com/office/powerpoint/2010/main" val="30718277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3F7CF2-C166-078E-FA92-AC7B66520D8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4419DAD-8FA3-B292-F19A-C2C5B61977F7}"/>
              </a:ext>
            </a:extLst>
          </p:cNvPr>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FDFBF7"/>
          </a:solidFill>
        </p:spPr>
        <p:txBody>
          <a:bodyPr wrap="square" lIns="0" tIns="0" rIns="0" bIns="0" rtlCol="0"/>
          <a:lstStyle/>
          <a:p>
            <a:endParaRPr/>
          </a:p>
        </p:txBody>
      </p:sp>
      <p:grpSp>
        <p:nvGrpSpPr>
          <p:cNvPr id="3" name="object 3">
            <a:extLst>
              <a:ext uri="{FF2B5EF4-FFF2-40B4-BE49-F238E27FC236}">
                <a16:creationId xmlns:a16="http://schemas.microsoft.com/office/drawing/2014/main" id="{7C8FA578-274B-3C19-8C54-15273B8CC211}"/>
              </a:ext>
            </a:extLst>
          </p:cNvPr>
          <p:cNvGrpSpPr/>
          <p:nvPr/>
        </p:nvGrpSpPr>
        <p:grpSpPr>
          <a:xfrm>
            <a:off x="424984" y="432816"/>
            <a:ext cx="11280098" cy="6123432"/>
            <a:chOff x="424984" y="432816"/>
            <a:chExt cx="11280098" cy="6123432"/>
          </a:xfrm>
        </p:grpSpPr>
        <p:pic>
          <p:nvPicPr>
            <p:cNvPr id="4" name="object 4">
              <a:extLst>
                <a:ext uri="{FF2B5EF4-FFF2-40B4-BE49-F238E27FC236}">
                  <a16:creationId xmlns:a16="http://schemas.microsoft.com/office/drawing/2014/main" id="{0EB636C7-3CA4-608C-38A7-33716080122B}"/>
                </a:ext>
              </a:extLst>
            </p:cNvPr>
            <p:cNvPicPr/>
            <p:nvPr/>
          </p:nvPicPr>
          <p:blipFill>
            <a:blip r:embed="rId2" cstate="print"/>
            <a:stretch>
              <a:fillRect/>
            </a:stretch>
          </p:blipFill>
          <p:spPr>
            <a:xfrm>
              <a:off x="424984" y="432816"/>
              <a:ext cx="3459183" cy="6123432"/>
            </a:xfrm>
            <a:prstGeom prst="rect">
              <a:avLst/>
            </a:prstGeom>
          </p:spPr>
        </p:pic>
        <p:sp>
          <p:nvSpPr>
            <p:cNvPr id="5" name="object 5">
              <a:extLst>
                <a:ext uri="{FF2B5EF4-FFF2-40B4-BE49-F238E27FC236}">
                  <a16:creationId xmlns:a16="http://schemas.microsoft.com/office/drawing/2014/main" id="{2546D3E1-909A-3DE3-B5DD-A83570B661BA}"/>
                </a:ext>
              </a:extLst>
            </p:cNvPr>
            <p:cNvSpPr/>
            <p:nvPr/>
          </p:nvSpPr>
          <p:spPr>
            <a:xfrm>
              <a:off x="2934462" y="2177033"/>
              <a:ext cx="8770620" cy="0"/>
            </a:xfrm>
            <a:custGeom>
              <a:avLst/>
              <a:gdLst/>
              <a:ahLst/>
              <a:cxnLst/>
              <a:rect l="l" t="t" r="r" b="b"/>
              <a:pathLst>
                <a:path w="8770620">
                  <a:moveTo>
                    <a:pt x="0" y="0"/>
                  </a:moveTo>
                  <a:lnTo>
                    <a:pt x="8770619" y="0"/>
                  </a:lnTo>
                </a:path>
              </a:pathLst>
            </a:custGeom>
            <a:ln w="38100">
              <a:solidFill>
                <a:srgbClr val="79A8A3"/>
              </a:solidFill>
            </a:ln>
          </p:spPr>
          <p:txBody>
            <a:bodyPr wrap="square" lIns="0" tIns="0" rIns="0" bIns="0" rtlCol="0"/>
            <a:lstStyle/>
            <a:p>
              <a:endParaRPr/>
            </a:p>
          </p:txBody>
        </p:sp>
      </p:grpSp>
      <p:sp>
        <p:nvSpPr>
          <p:cNvPr id="7" name="object 7" descr="$PPTXTitle">
            <a:extLst>
              <a:ext uri="{FF2B5EF4-FFF2-40B4-BE49-F238E27FC236}">
                <a16:creationId xmlns:a16="http://schemas.microsoft.com/office/drawing/2014/main" id="{9462D300-1216-C6AD-A2F6-631EF0CA075C}"/>
              </a:ext>
            </a:extLst>
          </p:cNvPr>
          <p:cNvSpPr txBox="1">
            <a:spLocks noGrp="1"/>
          </p:cNvSpPr>
          <p:nvPr>
            <p:ph type="title"/>
          </p:nvPr>
        </p:nvSpPr>
        <p:spPr>
          <a:xfrm>
            <a:off x="1981960" y="589229"/>
            <a:ext cx="10210040" cy="690574"/>
          </a:xfrm>
          <a:prstGeom prst="rect">
            <a:avLst/>
          </a:prstGeom>
        </p:spPr>
        <p:txBody>
          <a:bodyPr vert="horz" wrap="square" lIns="0" tIns="13335" rIns="0" bIns="0" rtlCol="0">
            <a:spAutoFit/>
          </a:bodyPr>
          <a:lstStyle/>
          <a:p>
            <a:pPr marL="12700">
              <a:spcBef>
                <a:spcPts val="105"/>
              </a:spcBef>
              <a:tabLst>
                <a:tab pos="1043305" algn="l"/>
              </a:tabLst>
            </a:pPr>
            <a:r>
              <a:rPr lang="en-US" sz="4400" b="0" spc="-50" dirty="0">
                <a:solidFill>
                  <a:srgbClr val="464A56"/>
                </a:solidFill>
                <a:latin typeface="Cambria"/>
                <a:cs typeface="Cambria"/>
              </a:rPr>
              <a:t>4</a:t>
            </a:r>
            <a:r>
              <a:rPr sz="4400" b="0" dirty="0">
                <a:solidFill>
                  <a:srgbClr val="464A56"/>
                </a:solidFill>
                <a:latin typeface="Cambria"/>
                <a:cs typeface="Cambria"/>
              </a:rPr>
              <a:t>	</a:t>
            </a:r>
            <a:r>
              <a:rPr lang="en-IN" sz="4400" dirty="0"/>
              <a:t>Example:</a:t>
            </a:r>
            <a:endParaRPr sz="4400" dirty="0">
              <a:latin typeface="Cambria"/>
              <a:cs typeface="Cambria"/>
            </a:endParaRPr>
          </a:p>
        </p:txBody>
      </p:sp>
      <p:sp>
        <p:nvSpPr>
          <p:cNvPr id="8" name="TextBox 7">
            <a:extLst>
              <a:ext uri="{FF2B5EF4-FFF2-40B4-BE49-F238E27FC236}">
                <a16:creationId xmlns:a16="http://schemas.microsoft.com/office/drawing/2014/main" id="{B12B4B96-47BC-BCFB-280D-90533B7305A8}"/>
              </a:ext>
            </a:extLst>
          </p:cNvPr>
          <p:cNvSpPr txBox="1"/>
          <p:nvPr/>
        </p:nvSpPr>
        <p:spPr>
          <a:xfrm>
            <a:off x="3048000" y="2362200"/>
            <a:ext cx="7391400" cy="4031873"/>
          </a:xfrm>
          <a:prstGeom prst="rect">
            <a:avLst/>
          </a:prstGeom>
          <a:noFill/>
        </p:spPr>
        <p:txBody>
          <a:bodyPr wrap="square">
            <a:spAutoFit/>
          </a:bodyPr>
          <a:lstStyle/>
          <a:p>
            <a:r>
              <a:rPr lang="en-US" sz="3200" dirty="0"/>
              <a:t>Frontier = [A, B, C]</a:t>
            </a:r>
          </a:p>
          <a:p>
            <a:r>
              <a:rPr lang="en-US" sz="3200" dirty="0"/>
              <a:t>BFS (FIFO) → Pop </a:t>
            </a:r>
            <a:r>
              <a:rPr lang="en-US" sz="3200" b="1" dirty="0"/>
              <a:t>A</a:t>
            </a:r>
            <a:endParaRPr lang="en-US" sz="3200" dirty="0"/>
          </a:p>
          <a:p>
            <a:r>
              <a:rPr lang="en-US" sz="3200" dirty="0"/>
              <a:t>DFS (LIFO) → Pop </a:t>
            </a:r>
            <a:r>
              <a:rPr lang="en-US" sz="3200" b="1" dirty="0"/>
              <a:t>C</a:t>
            </a:r>
            <a:endParaRPr lang="en-US" sz="3200" dirty="0"/>
          </a:p>
          <a:p>
            <a:r>
              <a:rPr lang="en-US" sz="3200" dirty="0"/>
              <a:t>UCS (Priority) → Pop node with </a:t>
            </a:r>
            <a:r>
              <a:rPr lang="en-US" sz="3200" b="1" dirty="0"/>
              <a:t>lowest path cost</a:t>
            </a:r>
          </a:p>
          <a:p>
            <a:endParaRPr lang="en-US" sz="3200" dirty="0"/>
          </a:p>
          <a:p>
            <a:r>
              <a:rPr lang="en-US" sz="3200" dirty="0"/>
              <a:t>So the choice of queue type defines the </a:t>
            </a:r>
            <a:r>
              <a:rPr lang="en-US" sz="3200" b="1" dirty="0"/>
              <a:t>behavior of the search algorithm</a:t>
            </a:r>
            <a:r>
              <a:rPr lang="en-US" sz="3200" dirty="0"/>
              <a:t>.</a:t>
            </a:r>
          </a:p>
        </p:txBody>
      </p:sp>
    </p:spTree>
    <p:extLst>
      <p:ext uri="{BB962C8B-B14F-4D97-AF65-F5344CB8AC3E}">
        <p14:creationId xmlns:p14="http://schemas.microsoft.com/office/powerpoint/2010/main" val="18172549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66D12D-2AB6-A760-14B1-4CB2793F8AB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3E3BF79-E63B-B041-FBB4-53A8036DFF56}"/>
              </a:ext>
            </a:extLst>
          </p:cNvPr>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FDFBF7"/>
          </a:solidFill>
        </p:spPr>
        <p:txBody>
          <a:bodyPr wrap="square" lIns="0" tIns="0" rIns="0" bIns="0" rtlCol="0"/>
          <a:lstStyle/>
          <a:p>
            <a:endParaRPr/>
          </a:p>
        </p:txBody>
      </p:sp>
      <p:grpSp>
        <p:nvGrpSpPr>
          <p:cNvPr id="3" name="object 3">
            <a:extLst>
              <a:ext uri="{FF2B5EF4-FFF2-40B4-BE49-F238E27FC236}">
                <a16:creationId xmlns:a16="http://schemas.microsoft.com/office/drawing/2014/main" id="{4438E182-4084-04AE-B786-6C602DC61639}"/>
              </a:ext>
            </a:extLst>
          </p:cNvPr>
          <p:cNvGrpSpPr/>
          <p:nvPr/>
        </p:nvGrpSpPr>
        <p:grpSpPr>
          <a:xfrm>
            <a:off x="424984" y="432816"/>
            <a:ext cx="11280098" cy="6123432"/>
            <a:chOff x="424984" y="432816"/>
            <a:chExt cx="11280098" cy="6123432"/>
          </a:xfrm>
        </p:grpSpPr>
        <p:pic>
          <p:nvPicPr>
            <p:cNvPr id="4" name="object 4">
              <a:extLst>
                <a:ext uri="{FF2B5EF4-FFF2-40B4-BE49-F238E27FC236}">
                  <a16:creationId xmlns:a16="http://schemas.microsoft.com/office/drawing/2014/main" id="{B18180DC-3A96-2F59-5571-1CA565F64964}"/>
                </a:ext>
              </a:extLst>
            </p:cNvPr>
            <p:cNvPicPr/>
            <p:nvPr/>
          </p:nvPicPr>
          <p:blipFill>
            <a:blip r:embed="rId2" cstate="print"/>
            <a:stretch>
              <a:fillRect/>
            </a:stretch>
          </p:blipFill>
          <p:spPr>
            <a:xfrm>
              <a:off x="424984" y="432816"/>
              <a:ext cx="3459183" cy="6123432"/>
            </a:xfrm>
            <a:prstGeom prst="rect">
              <a:avLst/>
            </a:prstGeom>
          </p:spPr>
        </p:pic>
        <p:sp>
          <p:nvSpPr>
            <p:cNvPr id="5" name="object 5">
              <a:extLst>
                <a:ext uri="{FF2B5EF4-FFF2-40B4-BE49-F238E27FC236}">
                  <a16:creationId xmlns:a16="http://schemas.microsoft.com/office/drawing/2014/main" id="{0601EB20-B06A-5036-32F8-B18CA293125D}"/>
                </a:ext>
              </a:extLst>
            </p:cNvPr>
            <p:cNvSpPr/>
            <p:nvPr/>
          </p:nvSpPr>
          <p:spPr>
            <a:xfrm>
              <a:off x="2934462" y="2177033"/>
              <a:ext cx="8770620" cy="0"/>
            </a:xfrm>
            <a:custGeom>
              <a:avLst/>
              <a:gdLst/>
              <a:ahLst/>
              <a:cxnLst/>
              <a:rect l="l" t="t" r="r" b="b"/>
              <a:pathLst>
                <a:path w="8770620">
                  <a:moveTo>
                    <a:pt x="0" y="0"/>
                  </a:moveTo>
                  <a:lnTo>
                    <a:pt x="8770619" y="0"/>
                  </a:lnTo>
                </a:path>
              </a:pathLst>
            </a:custGeom>
            <a:ln w="38100">
              <a:solidFill>
                <a:srgbClr val="79A8A3"/>
              </a:solidFill>
            </a:ln>
          </p:spPr>
          <p:txBody>
            <a:bodyPr wrap="square" lIns="0" tIns="0" rIns="0" bIns="0" rtlCol="0"/>
            <a:lstStyle/>
            <a:p>
              <a:endParaRPr/>
            </a:p>
          </p:txBody>
        </p:sp>
      </p:grpSp>
      <p:sp>
        <p:nvSpPr>
          <p:cNvPr id="7" name="object 7" descr="$PPTXTitle">
            <a:extLst>
              <a:ext uri="{FF2B5EF4-FFF2-40B4-BE49-F238E27FC236}">
                <a16:creationId xmlns:a16="http://schemas.microsoft.com/office/drawing/2014/main" id="{67D66C63-9569-39A4-DBBF-9139E7922251}"/>
              </a:ext>
            </a:extLst>
          </p:cNvPr>
          <p:cNvSpPr txBox="1">
            <a:spLocks noGrp="1"/>
          </p:cNvSpPr>
          <p:nvPr>
            <p:ph type="title"/>
          </p:nvPr>
        </p:nvSpPr>
        <p:spPr>
          <a:xfrm>
            <a:off x="1981960" y="589229"/>
            <a:ext cx="10210040" cy="690574"/>
          </a:xfrm>
          <a:prstGeom prst="rect">
            <a:avLst/>
          </a:prstGeom>
        </p:spPr>
        <p:txBody>
          <a:bodyPr vert="horz" wrap="square" lIns="0" tIns="13335" rIns="0" bIns="0" rtlCol="0">
            <a:spAutoFit/>
          </a:bodyPr>
          <a:lstStyle/>
          <a:p>
            <a:pPr marL="12700">
              <a:spcBef>
                <a:spcPts val="105"/>
              </a:spcBef>
              <a:tabLst>
                <a:tab pos="1043305" algn="l"/>
              </a:tabLst>
            </a:pPr>
            <a:r>
              <a:rPr lang="en-US" sz="4400" b="0" spc="-50" dirty="0">
                <a:solidFill>
                  <a:srgbClr val="464A56"/>
                </a:solidFill>
                <a:latin typeface="Cambria"/>
                <a:cs typeface="Cambria"/>
              </a:rPr>
              <a:t>4</a:t>
            </a:r>
            <a:r>
              <a:rPr sz="4400" b="0" dirty="0">
                <a:solidFill>
                  <a:srgbClr val="464A56"/>
                </a:solidFill>
                <a:latin typeface="Cambria"/>
                <a:cs typeface="Cambria"/>
              </a:rPr>
              <a:t>	</a:t>
            </a:r>
            <a:r>
              <a:rPr lang="en-IN" sz="4400" dirty="0"/>
              <a:t>Explored Set (Closed List)</a:t>
            </a:r>
            <a:endParaRPr sz="4400" dirty="0">
              <a:latin typeface="Cambria"/>
              <a:cs typeface="Cambria"/>
            </a:endParaRPr>
          </a:p>
        </p:txBody>
      </p:sp>
      <p:sp>
        <p:nvSpPr>
          <p:cNvPr id="8" name="TextBox 7">
            <a:extLst>
              <a:ext uri="{FF2B5EF4-FFF2-40B4-BE49-F238E27FC236}">
                <a16:creationId xmlns:a16="http://schemas.microsoft.com/office/drawing/2014/main" id="{FDC47D19-D9F1-30B3-B0AB-0C571F5F0C22}"/>
              </a:ext>
            </a:extLst>
          </p:cNvPr>
          <p:cNvSpPr txBox="1"/>
          <p:nvPr/>
        </p:nvSpPr>
        <p:spPr>
          <a:xfrm>
            <a:off x="3048000" y="2362200"/>
            <a:ext cx="7391400" cy="3046988"/>
          </a:xfrm>
          <a:prstGeom prst="rect">
            <a:avLst/>
          </a:prstGeom>
          <a:noFill/>
        </p:spPr>
        <p:txBody>
          <a:bodyPr wrap="square">
            <a:spAutoFit/>
          </a:bodyPr>
          <a:lstStyle/>
          <a:p>
            <a:r>
              <a:rPr lang="en-US" sz="3200" dirty="0"/>
              <a:t>Prevent revisiting the </a:t>
            </a:r>
            <a:r>
              <a:rPr lang="en-US" sz="3200" b="1" dirty="0"/>
              <a:t>same state</a:t>
            </a:r>
            <a:r>
              <a:rPr lang="en-US" sz="3200" dirty="0"/>
              <a:t> multiple times</a:t>
            </a:r>
          </a:p>
          <a:p>
            <a:r>
              <a:rPr lang="en-US" sz="3200" dirty="0"/>
              <a:t>Avoid </a:t>
            </a:r>
            <a:r>
              <a:rPr lang="en-US" sz="3200" b="1" dirty="0"/>
              <a:t>loops and redundancy</a:t>
            </a:r>
            <a:endParaRPr lang="en-US" sz="3200" dirty="0"/>
          </a:p>
          <a:p>
            <a:r>
              <a:rPr lang="en-US" sz="3200" b="1" dirty="0"/>
              <a:t>Implementation:</a:t>
            </a:r>
          </a:p>
          <a:p>
            <a:r>
              <a:rPr lang="en-US" sz="3200" dirty="0"/>
              <a:t>Use a </a:t>
            </a:r>
            <a:r>
              <a:rPr lang="en-US" sz="3200" b="1" dirty="0"/>
              <a:t>hash table</a:t>
            </a:r>
            <a:r>
              <a:rPr lang="en-US" sz="3200" dirty="0"/>
              <a:t> → fast lookup, O(1) average time</a:t>
            </a:r>
          </a:p>
        </p:txBody>
      </p:sp>
    </p:spTree>
    <p:extLst>
      <p:ext uri="{BB962C8B-B14F-4D97-AF65-F5344CB8AC3E}">
        <p14:creationId xmlns:p14="http://schemas.microsoft.com/office/powerpoint/2010/main" val="3272949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04460F-FBB3-17E7-425D-B2A15343EDA8}"/>
            </a:ext>
          </a:extLst>
        </p:cNvPr>
        <p:cNvGrpSpPr/>
        <p:nvPr/>
      </p:nvGrpSpPr>
      <p:grpSpPr>
        <a:xfrm>
          <a:off x="0" y="0"/>
          <a:ext cx="0" cy="0"/>
          <a:chOff x="0" y="0"/>
          <a:chExt cx="0" cy="0"/>
        </a:xfrm>
      </p:grpSpPr>
      <p:grpSp>
        <p:nvGrpSpPr>
          <p:cNvPr id="3" name="object 3">
            <a:extLst>
              <a:ext uri="{FF2B5EF4-FFF2-40B4-BE49-F238E27FC236}">
                <a16:creationId xmlns:a16="http://schemas.microsoft.com/office/drawing/2014/main" id="{826D5A72-9ECA-A9F8-801B-50FA7106DB2B}"/>
              </a:ext>
            </a:extLst>
          </p:cNvPr>
          <p:cNvGrpSpPr/>
          <p:nvPr/>
        </p:nvGrpSpPr>
        <p:grpSpPr>
          <a:xfrm>
            <a:off x="424984" y="432816"/>
            <a:ext cx="11280098" cy="6123432"/>
            <a:chOff x="424984" y="432816"/>
            <a:chExt cx="11280098" cy="6123432"/>
          </a:xfrm>
        </p:grpSpPr>
        <p:pic>
          <p:nvPicPr>
            <p:cNvPr id="4" name="object 4">
              <a:extLst>
                <a:ext uri="{FF2B5EF4-FFF2-40B4-BE49-F238E27FC236}">
                  <a16:creationId xmlns:a16="http://schemas.microsoft.com/office/drawing/2014/main" id="{051422AD-CDE8-1DC8-6E37-055EA6127677}"/>
                </a:ext>
              </a:extLst>
            </p:cNvPr>
            <p:cNvPicPr/>
            <p:nvPr/>
          </p:nvPicPr>
          <p:blipFill>
            <a:blip r:embed="rId2" cstate="print"/>
            <a:stretch>
              <a:fillRect/>
            </a:stretch>
          </p:blipFill>
          <p:spPr>
            <a:xfrm>
              <a:off x="424984" y="432816"/>
              <a:ext cx="3459183" cy="6123432"/>
            </a:xfrm>
            <a:prstGeom prst="rect">
              <a:avLst/>
            </a:prstGeom>
          </p:spPr>
        </p:pic>
        <p:sp>
          <p:nvSpPr>
            <p:cNvPr id="5" name="object 5">
              <a:extLst>
                <a:ext uri="{FF2B5EF4-FFF2-40B4-BE49-F238E27FC236}">
                  <a16:creationId xmlns:a16="http://schemas.microsoft.com/office/drawing/2014/main" id="{68ADF69C-0CAA-4C64-0986-4E9C18F1FAC9}"/>
                </a:ext>
              </a:extLst>
            </p:cNvPr>
            <p:cNvSpPr/>
            <p:nvPr/>
          </p:nvSpPr>
          <p:spPr>
            <a:xfrm>
              <a:off x="2934462" y="2177033"/>
              <a:ext cx="8770620" cy="0"/>
            </a:xfrm>
            <a:custGeom>
              <a:avLst/>
              <a:gdLst/>
              <a:ahLst/>
              <a:cxnLst/>
              <a:rect l="l" t="t" r="r" b="b"/>
              <a:pathLst>
                <a:path w="8770620">
                  <a:moveTo>
                    <a:pt x="0" y="0"/>
                  </a:moveTo>
                  <a:lnTo>
                    <a:pt x="8770619" y="0"/>
                  </a:lnTo>
                </a:path>
              </a:pathLst>
            </a:custGeom>
            <a:ln w="38100">
              <a:solidFill>
                <a:srgbClr val="79A8A3"/>
              </a:solidFill>
            </a:ln>
          </p:spPr>
          <p:txBody>
            <a:bodyPr wrap="square" lIns="0" tIns="0" rIns="0" bIns="0" rtlCol="0"/>
            <a:lstStyle/>
            <a:p>
              <a:endParaRPr/>
            </a:p>
          </p:txBody>
        </p:sp>
      </p:grpSp>
      <p:sp>
        <p:nvSpPr>
          <p:cNvPr id="7" name="object 7" descr="$PPTXTitle">
            <a:extLst>
              <a:ext uri="{FF2B5EF4-FFF2-40B4-BE49-F238E27FC236}">
                <a16:creationId xmlns:a16="http://schemas.microsoft.com/office/drawing/2014/main" id="{E00283BF-81DD-6ED4-7538-6B73E11225C4}"/>
              </a:ext>
            </a:extLst>
          </p:cNvPr>
          <p:cNvSpPr txBox="1">
            <a:spLocks noGrp="1"/>
          </p:cNvSpPr>
          <p:nvPr>
            <p:ph type="title"/>
          </p:nvPr>
        </p:nvSpPr>
        <p:spPr>
          <a:xfrm>
            <a:off x="1981960" y="589229"/>
            <a:ext cx="10210040" cy="690574"/>
          </a:xfrm>
          <a:prstGeom prst="rect">
            <a:avLst/>
          </a:prstGeom>
        </p:spPr>
        <p:txBody>
          <a:bodyPr vert="horz" wrap="square" lIns="0" tIns="13335" rIns="0" bIns="0" rtlCol="0">
            <a:spAutoFit/>
          </a:bodyPr>
          <a:lstStyle/>
          <a:p>
            <a:pPr marL="12700">
              <a:lnSpc>
                <a:spcPct val="100000"/>
              </a:lnSpc>
              <a:spcBef>
                <a:spcPts val="105"/>
              </a:spcBef>
              <a:tabLst>
                <a:tab pos="1043305" algn="l"/>
              </a:tabLst>
            </a:pPr>
            <a:r>
              <a:rPr lang="en-US" sz="4400" b="0" spc="-50" dirty="0">
                <a:solidFill>
                  <a:srgbClr val="464A56"/>
                </a:solidFill>
                <a:latin typeface="Cambria"/>
                <a:cs typeface="Cambria"/>
              </a:rPr>
              <a:t>7</a:t>
            </a:r>
            <a:r>
              <a:rPr sz="4400" b="0" dirty="0">
                <a:solidFill>
                  <a:srgbClr val="464A56"/>
                </a:solidFill>
                <a:latin typeface="Cambria"/>
                <a:cs typeface="Cambria"/>
              </a:rPr>
              <a:t>	</a:t>
            </a:r>
            <a:r>
              <a:rPr lang="en-IN" sz="4400" dirty="0"/>
              <a:t> Problem: State Equality</a:t>
            </a:r>
            <a:endParaRPr sz="4400" dirty="0">
              <a:latin typeface="Cambria"/>
              <a:cs typeface="Cambria"/>
            </a:endParaRPr>
          </a:p>
        </p:txBody>
      </p:sp>
      <p:sp>
        <p:nvSpPr>
          <p:cNvPr id="9" name="object 5">
            <a:extLst>
              <a:ext uri="{FF2B5EF4-FFF2-40B4-BE49-F238E27FC236}">
                <a16:creationId xmlns:a16="http://schemas.microsoft.com/office/drawing/2014/main" id="{6AC800BC-8930-328A-9799-29A2AA464CB9}"/>
              </a:ext>
            </a:extLst>
          </p:cNvPr>
          <p:cNvSpPr txBox="1"/>
          <p:nvPr/>
        </p:nvSpPr>
        <p:spPr>
          <a:xfrm>
            <a:off x="2514600" y="2514600"/>
            <a:ext cx="9252416" cy="3502882"/>
          </a:xfrm>
          <a:prstGeom prst="rect">
            <a:avLst/>
          </a:prstGeom>
        </p:spPr>
        <p:txBody>
          <a:bodyPr vert="horz" wrap="square" lIns="0" tIns="177165" rIns="0" bIns="0" rtlCol="0">
            <a:spAutoFit/>
          </a:bodyPr>
          <a:lstStyle/>
          <a:p>
            <a:r>
              <a:rPr lang="en-US" sz="3600" dirty="0"/>
              <a:t>Sometimes states </a:t>
            </a:r>
            <a:r>
              <a:rPr lang="en-US" sz="3600" b="1" dirty="0"/>
              <a:t>look different but are the same logically</a:t>
            </a:r>
            <a:r>
              <a:rPr lang="en-US" sz="3600" dirty="0"/>
              <a:t>:</a:t>
            </a:r>
          </a:p>
          <a:p>
            <a:r>
              <a:rPr lang="en-US" sz="3600" dirty="0"/>
              <a:t>Example:</a:t>
            </a:r>
          </a:p>
          <a:p>
            <a:r>
              <a:rPr lang="en-US" sz="3600" dirty="0"/>
              <a:t>{Bucharest, </a:t>
            </a:r>
            <a:r>
              <a:rPr lang="en-US" sz="3600" dirty="0" err="1"/>
              <a:t>Vaslui</a:t>
            </a:r>
            <a:r>
              <a:rPr lang="en-US" sz="3600" dirty="0"/>
              <a:t>, Urziceni}</a:t>
            </a:r>
          </a:p>
          <a:p>
            <a:r>
              <a:rPr lang="en-US" sz="3600" dirty="0"/>
              <a:t>{Urziceni, Bucharest, </a:t>
            </a:r>
            <a:r>
              <a:rPr lang="en-US" sz="3600" dirty="0" err="1"/>
              <a:t>Vaslui</a:t>
            </a:r>
            <a:r>
              <a:rPr lang="en-US" sz="3600" dirty="0"/>
              <a:t>}</a:t>
            </a:r>
          </a:p>
          <a:p>
            <a:r>
              <a:rPr lang="en-US" sz="3600" dirty="0"/>
              <a:t>These </a:t>
            </a:r>
            <a:r>
              <a:rPr lang="en-US" sz="3600" b="1" dirty="0"/>
              <a:t>must be considered identical</a:t>
            </a:r>
            <a:r>
              <a:rPr lang="en-US" sz="3600" dirty="0"/>
              <a:t>.</a:t>
            </a:r>
          </a:p>
        </p:txBody>
      </p:sp>
    </p:spTree>
    <p:extLst>
      <p:ext uri="{BB962C8B-B14F-4D97-AF65-F5344CB8AC3E}">
        <p14:creationId xmlns:p14="http://schemas.microsoft.com/office/powerpoint/2010/main" val="22163898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A02E50-C7F2-7A56-B699-1492782FA90E}"/>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1F61F0E-F25F-8023-BE8F-5C63D0194FB7}"/>
              </a:ext>
            </a:extLst>
          </p:cNvPr>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FDFBF7"/>
          </a:solidFill>
        </p:spPr>
        <p:txBody>
          <a:bodyPr wrap="square" lIns="0" tIns="0" rIns="0" bIns="0" rtlCol="0"/>
          <a:lstStyle/>
          <a:p>
            <a:endParaRPr/>
          </a:p>
        </p:txBody>
      </p:sp>
      <p:grpSp>
        <p:nvGrpSpPr>
          <p:cNvPr id="3" name="object 3">
            <a:extLst>
              <a:ext uri="{FF2B5EF4-FFF2-40B4-BE49-F238E27FC236}">
                <a16:creationId xmlns:a16="http://schemas.microsoft.com/office/drawing/2014/main" id="{9321BF40-BC51-0720-F402-803BCBCC1B82}"/>
              </a:ext>
            </a:extLst>
          </p:cNvPr>
          <p:cNvGrpSpPr/>
          <p:nvPr/>
        </p:nvGrpSpPr>
        <p:grpSpPr>
          <a:xfrm>
            <a:off x="424984" y="432816"/>
            <a:ext cx="11280098" cy="6123432"/>
            <a:chOff x="424984" y="432816"/>
            <a:chExt cx="11280098" cy="6123432"/>
          </a:xfrm>
        </p:grpSpPr>
        <p:pic>
          <p:nvPicPr>
            <p:cNvPr id="4" name="object 4">
              <a:extLst>
                <a:ext uri="{FF2B5EF4-FFF2-40B4-BE49-F238E27FC236}">
                  <a16:creationId xmlns:a16="http://schemas.microsoft.com/office/drawing/2014/main" id="{A4A8FB6C-209D-7B6A-20B4-4EEBD1308605}"/>
                </a:ext>
              </a:extLst>
            </p:cNvPr>
            <p:cNvPicPr/>
            <p:nvPr/>
          </p:nvPicPr>
          <p:blipFill>
            <a:blip r:embed="rId2" cstate="print"/>
            <a:stretch>
              <a:fillRect/>
            </a:stretch>
          </p:blipFill>
          <p:spPr>
            <a:xfrm>
              <a:off x="424984" y="432816"/>
              <a:ext cx="3459183" cy="6123432"/>
            </a:xfrm>
            <a:prstGeom prst="rect">
              <a:avLst/>
            </a:prstGeom>
          </p:spPr>
        </p:pic>
        <p:sp>
          <p:nvSpPr>
            <p:cNvPr id="5" name="object 5">
              <a:extLst>
                <a:ext uri="{FF2B5EF4-FFF2-40B4-BE49-F238E27FC236}">
                  <a16:creationId xmlns:a16="http://schemas.microsoft.com/office/drawing/2014/main" id="{8FACEFD0-1AA9-9A9C-54F9-81A556D01B1B}"/>
                </a:ext>
              </a:extLst>
            </p:cNvPr>
            <p:cNvSpPr/>
            <p:nvPr/>
          </p:nvSpPr>
          <p:spPr>
            <a:xfrm>
              <a:off x="2934462" y="2177033"/>
              <a:ext cx="8770620" cy="0"/>
            </a:xfrm>
            <a:custGeom>
              <a:avLst/>
              <a:gdLst/>
              <a:ahLst/>
              <a:cxnLst/>
              <a:rect l="l" t="t" r="r" b="b"/>
              <a:pathLst>
                <a:path w="8770620">
                  <a:moveTo>
                    <a:pt x="0" y="0"/>
                  </a:moveTo>
                  <a:lnTo>
                    <a:pt x="8770619" y="0"/>
                  </a:lnTo>
                </a:path>
              </a:pathLst>
            </a:custGeom>
            <a:ln w="38100">
              <a:solidFill>
                <a:srgbClr val="79A8A3"/>
              </a:solidFill>
            </a:ln>
          </p:spPr>
          <p:txBody>
            <a:bodyPr wrap="square" lIns="0" tIns="0" rIns="0" bIns="0" rtlCol="0"/>
            <a:lstStyle/>
            <a:p>
              <a:endParaRPr/>
            </a:p>
          </p:txBody>
        </p:sp>
      </p:grpSp>
      <p:sp>
        <p:nvSpPr>
          <p:cNvPr id="7" name="object 7" descr="$PPTXTitle">
            <a:extLst>
              <a:ext uri="{FF2B5EF4-FFF2-40B4-BE49-F238E27FC236}">
                <a16:creationId xmlns:a16="http://schemas.microsoft.com/office/drawing/2014/main" id="{AC2BDEEE-CC78-4149-2289-B992D8F4920A}"/>
              </a:ext>
            </a:extLst>
          </p:cNvPr>
          <p:cNvSpPr txBox="1">
            <a:spLocks noGrp="1"/>
          </p:cNvSpPr>
          <p:nvPr>
            <p:ph type="title"/>
          </p:nvPr>
        </p:nvSpPr>
        <p:spPr>
          <a:xfrm>
            <a:off x="1981960" y="589229"/>
            <a:ext cx="10210040" cy="690574"/>
          </a:xfrm>
          <a:prstGeom prst="rect">
            <a:avLst/>
          </a:prstGeom>
        </p:spPr>
        <p:txBody>
          <a:bodyPr vert="horz" wrap="square" lIns="0" tIns="13335" rIns="0" bIns="0" rtlCol="0">
            <a:spAutoFit/>
          </a:bodyPr>
          <a:lstStyle/>
          <a:p>
            <a:pPr marL="12700">
              <a:spcBef>
                <a:spcPts val="105"/>
              </a:spcBef>
              <a:tabLst>
                <a:tab pos="1043305" algn="l"/>
              </a:tabLst>
            </a:pPr>
            <a:r>
              <a:rPr lang="en-US" sz="4400" b="0" spc="-50" dirty="0">
                <a:solidFill>
                  <a:srgbClr val="464A56"/>
                </a:solidFill>
                <a:latin typeface="Cambria"/>
                <a:cs typeface="Cambria"/>
              </a:rPr>
              <a:t>4</a:t>
            </a:r>
            <a:r>
              <a:rPr sz="4400" b="0" dirty="0">
                <a:solidFill>
                  <a:srgbClr val="464A56"/>
                </a:solidFill>
                <a:latin typeface="Cambria"/>
                <a:cs typeface="Cambria"/>
              </a:rPr>
              <a:t>	</a:t>
            </a:r>
            <a:r>
              <a:rPr lang="en-IN" sz="4400" dirty="0"/>
              <a:t> Canonical Form</a:t>
            </a:r>
            <a:endParaRPr sz="4400" dirty="0">
              <a:latin typeface="Cambria"/>
              <a:cs typeface="Cambria"/>
            </a:endParaRPr>
          </a:p>
        </p:txBody>
      </p:sp>
      <p:sp>
        <p:nvSpPr>
          <p:cNvPr id="8" name="TextBox 7">
            <a:extLst>
              <a:ext uri="{FF2B5EF4-FFF2-40B4-BE49-F238E27FC236}">
                <a16:creationId xmlns:a16="http://schemas.microsoft.com/office/drawing/2014/main" id="{0875EE32-FBD9-6DF9-3CCD-DECA32FD95AF}"/>
              </a:ext>
            </a:extLst>
          </p:cNvPr>
          <p:cNvSpPr txBox="1"/>
          <p:nvPr/>
        </p:nvSpPr>
        <p:spPr>
          <a:xfrm>
            <a:off x="2514600" y="2506163"/>
            <a:ext cx="9906000" cy="3970318"/>
          </a:xfrm>
          <a:prstGeom prst="rect">
            <a:avLst/>
          </a:prstGeom>
          <a:noFill/>
        </p:spPr>
        <p:txBody>
          <a:bodyPr wrap="square">
            <a:spAutoFit/>
          </a:bodyPr>
          <a:lstStyle/>
          <a:p>
            <a:r>
              <a:rPr lang="en-US" sz="3600" dirty="0"/>
              <a:t>Represent each state in </a:t>
            </a:r>
            <a:r>
              <a:rPr lang="en-US" sz="3600" b="1" dirty="0"/>
              <a:t>one unique standard way</a:t>
            </a:r>
            <a:endParaRPr lang="en-US" sz="3600" dirty="0"/>
          </a:p>
          <a:p>
            <a:r>
              <a:rPr lang="en-US" sz="3600" dirty="0"/>
              <a:t>✔ Sorted list</a:t>
            </a:r>
          </a:p>
          <a:p>
            <a:r>
              <a:rPr lang="en-US" sz="3600" dirty="0"/>
              <a:t>✔ Bit-vector</a:t>
            </a:r>
          </a:p>
          <a:p>
            <a:r>
              <a:rPr lang="en-US" sz="3600" dirty="0"/>
              <a:t>✘ Unsorted list</a:t>
            </a:r>
          </a:p>
          <a:p>
            <a:r>
              <a:rPr lang="en-US" sz="3600" dirty="0"/>
              <a:t>This avoids storing duplicates and prevents unnecessary expansions.</a:t>
            </a:r>
          </a:p>
        </p:txBody>
      </p:sp>
    </p:spTree>
    <p:extLst>
      <p:ext uri="{BB962C8B-B14F-4D97-AF65-F5344CB8AC3E}">
        <p14:creationId xmlns:p14="http://schemas.microsoft.com/office/powerpoint/2010/main" val="26978011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444CAA-3F06-C616-58B5-2847C31CABCE}"/>
              </a:ext>
            </a:extLst>
          </p:cNvPr>
          <p:cNvSpPr>
            <a:spLocks noGrp="1"/>
          </p:cNvSpPr>
          <p:nvPr>
            <p:ph type="title"/>
          </p:nvPr>
        </p:nvSpPr>
        <p:spPr>
          <a:xfrm>
            <a:off x="1524000" y="2895600"/>
            <a:ext cx="10134600" cy="838200"/>
          </a:xfrm>
        </p:spPr>
        <p:txBody>
          <a:bodyPr/>
          <a:lstStyle/>
          <a:p>
            <a:r>
              <a:rPr lang="en-IN" dirty="0"/>
              <a:t>Measuring Problem-Solving Performance</a:t>
            </a:r>
          </a:p>
        </p:txBody>
      </p:sp>
    </p:spTree>
    <p:extLst>
      <p:ext uri="{BB962C8B-B14F-4D97-AF65-F5344CB8AC3E}">
        <p14:creationId xmlns:p14="http://schemas.microsoft.com/office/powerpoint/2010/main" val="23941867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8FB9C5-2382-A80A-9E67-E7A159D2A3D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F1153BB-AE2D-283B-5B7F-85073B24B026}"/>
              </a:ext>
            </a:extLst>
          </p:cNvPr>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FDFBF7"/>
          </a:solidFill>
        </p:spPr>
        <p:txBody>
          <a:bodyPr wrap="square" lIns="0" tIns="0" rIns="0" bIns="0" rtlCol="0"/>
          <a:lstStyle/>
          <a:p>
            <a:endParaRPr/>
          </a:p>
        </p:txBody>
      </p:sp>
      <p:grpSp>
        <p:nvGrpSpPr>
          <p:cNvPr id="3" name="object 3">
            <a:extLst>
              <a:ext uri="{FF2B5EF4-FFF2-40B4-BE49-F238E27FC236}">
                <a16:creationId xmlns:a16="http://schemas.microsoft.com/office/drawing/2014/main" id="{EB302127-FF23-5A6D-1005-4157755AC3AB}"/>
              </a:ext>
            </a:extLst>
          </p:cNvPr>
          <p:cNvGrpSpPr/>
          <p:nvPr/>
        </p:nvGrpSpPr>
        <p:grpSpPr>
          <a:xfrm>
            <a:off x="424984" y="432816"/>
            <a:ext cx="11280098" cy="6123432"/>
            <a:chOff x="424984" y="432816"/>
            <a:chExt cx="11280098" cy="6123432"/>
          </a:xfrm>
        </p:grpSpPr>
        <p:pic>
          <p:nvPicPr>
            <p:cNvPr id="4" name="object 4">
              <a:extLst>
                <a:ext uri="{FF2B5EF4-FFF2-40B4-BE49-F238E27FC236}">
                  <a16:creationId xmlns:a16="http://schemas.microsoft.com/office/drawing/2014/main" id="{88A72A36-1B5E-60DE-0D1B-DB1502A52790}"/>
                </a:ext>
              </a:extLst>
            </p:cNvPr>
            <p:cNvPicPr/>
            <p:nvPr/>
          </p:nvPicPr>
          <p:blipFill>
            <a:blip r:embed="rId2" cstate="print"/>
            <a:stretch>
              <a:fillRect/>
            </a:stretch>
          </p:blipFill>
          <p:spPr>
            <a:xfrm>
              <a:off x="424984" y="432816"/>
              <a:ext cx="3459183" cy="6123432"/>
            </a:xfrm>
            <a:prstGeom prst="rect">
              <a:avLst/>
            </a:prstGeom>
          </p:spPr>
        </p:pic>
        <p:sp>
          <p:nvSpPr>
            <p:cNvPr id="5" name="object 5">
              <a:extLst>
                <a:ext uri="{FF2B5EF4-FFF2-40B4-BE49-F238E27FC236}">
                  <a16:creationId xmlns:a16="http://schemas.microsoft.com/office/drawing/2014/main" id="{6B13B915-E2DB-5A77-C373-A02BF1C5069E}"/>
                </a:ext>
              </a:extLst>
            </p:cNvPr>
            <p:cNvSpPr/>
            <p:nvPr/>
          </p:nvSpPr>
          <p:spPr>
            <a:xfrm>
              <a:off x="2934462" y="2177033"/>
              <a:ext cx="8770620" cy="0"/>
            </a:xfrm>
            <a:custGeom>
              <a:avLst/>
              <a:gdLst/>
              <a:ahLst/>
              <a:cxnLst/>
              <a:rect l="l" t="t" r="r" b="b"/>
              <a:pathLst>
                <a:path w="8770620">
                  <a:moveTo>
                    <a:pt x="0" y="0"/>
                  </a:moveTo>
                  <a:lnTo>
                    <a:pt x="8770619" y="0"/>
                  </a:lnTo>
                </a:path>
              </a:pathLst>
            </a:custGeom>
            <a:ln w="38100">
              <a:solidFill>
                <a:srgbClr val="79A8A3"/>
              </a:solidFill>
            </a:ln>
          </p:spPr>
          <p:txBody>
            <a:bodyPr wrap="square" lIns="0" tIns="0" rIns="0" bIns="0" rtlCol="0"/>
            <a:lstStyle/>
            <a:p>
              <a:endParaRPr/>
            </a:p>
          </p:txBody>
        </p:sp>
      </p:grpSp>
      <p:sp>
        <p:nvSpPr>
          <p:cNvPr id="7" name="object 7" descr="$PPTXTitle">
            <a:extLst>
              <a:ext uri="{FF2B5EF4-FFF2-40B4-BE49-F238E27FC236}">
                <a16:creationId xmlns:a16="http://schemas.microsoft.com/office/drawing/2014/main" id="{19629282-A708-8469-2D95-18E1A0334F23}"/>
              </a:ext>
            </a:extLst>
          </p:cNvPr>
          <p:cNvSpPr txBox="1">
            <a:spLocks noGrp="1"/>
          </p:cNvSpPr>
          <p:nvPr>
            <p:ph type="title"/>
          </p:nvPr>
        </p:nvSpPr>
        <p:spPr>
          <a:xfrm>
            <a:off x="1981960" y="589229"/>
            <a:ext cx="10210040" cy="1121461"/>
          </a:xfrm>
          <a:prstGeom prst="rect">
            <a:avLst/>
          </a:prstGeom>
        </p:spPr>
        <p:txBody>
          <a:bodyPr vert="horz" wrap="square" lIns="0" tIns="13335" rIns="0" bIns="0" rtlCol="0">
            <a:spAutoFit/>
          </a:bodyPr>
          <a:lstStyle/>
          <a:p>
            <a:pPr marL="12700">
              <a:spcBef>
                <a:spcPts val="105"/>
              </a:spcBef>
              <a:tabLst>
                <a:tab pos="1043305" algn="l"/>
              </a:tabLst>
            </a:pPr>
            <a:r>
              <a:rPr lang="en-US" sz="3600" b="0" spc="-50" dirty="0">
                <a:solidFill>
                  <a:srgbClr val="464A56"/>
                </a:solidFill>
                <a:latin typeface="Cambria"/>
                <a:cs typeface="Cambria"/>
              </a:rPr>
              <a:t>4</a:t>
            </a:r>
            <a:r>
              <a:rPr sz="3600" b="0" dirty="0">
                <a:solidFill>
                  <a:srgbClr val="464A56"/>
                </a:solidFill>
                <a:latin typeface="Cambria"/>
                <a:cs typeface="Cambria"/>
              </a:rPr>
              <a:t>	</a:t>
            </a:r>
            <a:r>
              <a:rPr lang="en-IN" sz="3600" dirty="0"/>
              <a:t> </a:t>
            </a:r>
            <a:r>
              <a:rPr lang="en-US" sz="3600" dirty="0"/>
              <a:t>When evaluating a search algorithm, we consider four main criteria:</a:t>
            </a:r>
            <a:endParaRPr sz="3600" dirty="0">
              <a:latin typeface="Cambria"/>
              <a:cs typeface="Cambria"/>
            </a:endParaRPr>
          </a:p>
        </p:txBody>
      </p:sp>
      <p:sp>
        <p:nvSpPr>
          <p:cNvPr id="8" name="TextBox 7">
            <a:extLst>
              <a:ext uri="{FF2B5EF4-FFF2-40B4-BE49-F238E27FC236}">
                <a16:creationId xmlns:a16="http://schemas.microsoft.com/office/drawing/2014/main" id="{91EEFA3F-CBD6-539F-991B-37EB45801841}"/>
              </a:ext>
            </a:extLst>
          </p:cNvPr>
          <p:cNvSpPr txBox="1"/>
          <p:nvPr/>
        </p:nvSpPr>
        <p:spPr>
          <a:xfrm>
            <a:off x="2514600" y="2362200"/>
            <a:ext cx="9906000" cy="4031873"/>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1" i="0" u="none" strike="noStrike" cap="none" normalizeH="0" baseline="0" dirty="0">
                <a:ln>
                  <a:noFill/>
                </a:ln>
                <a:solidFill>
                  <a:schemeClr val="tx1"/>
                </a:solidFill>
                <a:effectLst/>
                <a:latin typeface="Arial" panose="020B0604020202020204" pitchFamily="34" charset="0"/>
              </a:rPr>
              <a:t>Completeness</a:t>
            </a:r>
            <a:endParaRPr kumimoji="0" lang="en-US" altLang="en-US" sz="3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Arial" panose="020B0604020202020204" pitchFamily="34" charset="0"/>
              </a:rPr>
              <a:t>Will it </a:t>
            </a:r>
            <a:r>
              <a:rPr kumimoji="0" lang="en-US" altLang="en-US" sz="3200" b="1" i="0" u="none" strike="noStrike" cap="none" normalizeH="0" baseline="0" dirty="0">
                <a:ln>
                  <a:noFill/>
                </a:ln>
                <a:solidFill>
                  <a:schemeClr val="tx1"/>
                </a:solidFill>
                <a:effectLst/>
                <a:latin typeface="Arial" panose="020B0604020202020204" pitchFamily="34" charset="0"/>
              </a:rPr>
              <a:t>always find a solution</a:t>
            </a:r>
            <a:r>
              <a:rPr kumimoji="0" lang="en-US" altLang="en-US" sz="3200" b="0" i="0" u="none" strike="noStrike" cap="none" normalizeH="0" baseline="0" dirty="0">
                <a:ln>
                  <a:noFill/>
                </a:ln>
                <a:solidFill>
                  <a:schemeClr val="tx1"/>
                </a:solidFill>
                <a:effectLst/>
                <a:latin typeface="Arial" panose="020B0604020202020204" pitchFamily="34" charset="0"/>
              </a:rPr>
              <a:t> if one exists?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Arial" panose="020B0604020202020204" pitchFamily="34" charset="0"/>
              </a:rPr>
              <a:t>Example: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Arial" panose="020B0604020202020204" pitchFamily="34" charset="0"/>
              </a:rPr>
              <a:t>BFS → ✅ Complete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Arial" panose="020B0604020202020204" pitchFamily="34" charset="0"/>
              </a:rPr>
              <a:t>DFS → ❌ May fail in infinite spaces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1" i="0" u="none" strike="noStrike" cap="none" normalizeH="0" baseline="0" dirty="0">
                <a:ln>
                  <a:noFill/>
                </a:ln>
                <a:solidFill>
                  <a:schemeClr val="tx1"/>
                </a:solidFill>
                <a:effectLst/>
                <a:latin typeface="Arial" panose="020B0604020202020204" pitchFamily="34" charset="0"/>
              </a:rPr>
              <a:t>Optimality</a:t>
            </a:r>
            <a:endParaRPr kumimoji="0" lang="en-US" altLang="en-US" sz="3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Arial" panose="020B0604020202020204" pitchFamily="34" charset="0"/>
              </a:rPr>
              <a:t>Will it find the </a:t>
            </a:r>
            <a:r>
              <a:rPr kumimoji="0" lang="en-US" altLang="en-US" sz="3200" b="1" i="0" u="none" strike="noStrike" cap="none" normalizeH="0" baseline="0" dirty="0">
                <a:ln>
                  <a:noFill/>
                </a:ln>
                <a:solidFill>
                  <a:schemeClr val="tx1"/>
                </a:solidFill>
                <a:effectLst/>
                <a:latin typeface="Arial" panose="020B0604020202020204" pitchFamily="34" charset="0"/>
              </a:rPr>
              <a:t>best solution</a:t>
            </a:r>
            <a:r>
              <a:rPr kumimoji="0" lang="en-US" altLang="en-US" sz="32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Arial" panose="020B0604020202020204" pitchFamily="34" charset="0"/>
              </a:rPr>
              <a:t>“Best” = shortest path, lowest cost, etc.</a:t>
            </a:r>
          </a:p>
        </p:txBody>
      </p:sp>
    </p:spTree>
    <p:extLst>
      <p:ext uri="{BB962C8B-B14F-4D97-AF65-F5344CB8AC3E}">
        <p14:creationId xmlns:p14="http://schemas.microsoft.com/office/powerpoint/2010/main" val="25129316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50FC-7085-6A8C-0292-B90011DC40C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835D2FB6-1DDB-6C23-6DE9-09D747E30C10}"/>
              </a:ext>
            </a:extLst>
          </p:cNvPr>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FDFBF7"/>
          </a:solidFill>
        </p:spPr>
        <p:txBody>
          <a:bodyPr wrap="square" lIns="0" tIns="0" rIns="0" bIns="0" rtlCol="0"/>
          <a:lstStyle/>
          <a:p>
            <a:endParaRPr/>
          </a:p>
        </p:txBody>
      </p:sp>
      <p:grpSp>
        <p:nvGrpSpPr>
          <p:cNvPr id="3" name="object 3">
            <a:extLst>
              <a:ext uri="{FF2B5EF4-FFF2-40B4-BE49-F238E27FC236}">
                <a16:creationId xmlns:a16="http://schemas.microsoft.com/office/drawing/2014/main" id="{EEFB5959-64B4-B6E7-35E3-14820F07C5E0}"/>
              </a:ext>
            </a:extLst>
          </p:cNvPr>
          <p:cNvGrpSpPr/>
          <p:nvPr/>
        </p:nvGrpSpPr>
        <p:grpSpPr>
          <a:xfrm>
            <a:off x="424984" y="432816"/>
            <a:ext cx="11280098" cy="6123432"/>
            <a:chOff x="424984" y="432816"/>
            <a:chExt cx="11280098" cy="6123432"/>
          </a:xfrm>
        </p:grpSpPr>
        <p:pic>
          <p:nvPicPr>
            <p:cNvPr id="4" name="object 4">
              <a:extLst>
                <a:ext uri="{FF2B5EF4-FFF2-40B4-BE49-F238E27FC236}">
                  <a16:creationId xmlns:a16="http://schemas.microsoft.com/office/drawing/2014/main" id="{8AD65CF6-5B88-55C7-8EA9-C305114FC457}"/>
                </a:ext>
              </a:extLst>
            </p:cNvPr>
            <p:cNvPicPr/>
            <p:nvPr/>
          </p:nvPicPr>
          <p:blipFill>
            <a:blip r:embed="rId2" cstate="print"/>
            <a:stretch>
              <a:fillRect/>
            </a:stretch>
          </p:blipFill>
          <p:spPr>
            <a:xfrm>
              <a:off x="424984" y="432816"/>
              <a:ext cx="3459183" cy="6123432"/>
            </a:xfrm>
            <a:prstGeom prst="rect">
              <a:avLst/>
            </a:prstGeom>
          </p:spPr>
        </p:pic>
        <p:sp>
          <p:nvSpPr>
            <p:cNvPr id="5" name="object 5">
              <a:extLst>
                <a:ext uri="{FF2B5EF4-FFF2-40B4-BE49-F238E27FC236}">
                  <a16:creationId xmlns:a16="http://schemas.microsoft.com/office/drawing/2014/main" id="{952B18AB-542F-CD30-4007-97F3F9ABFB3F}"/>
                </a:ext>
              </a:extLst>
            </p:cNvPr>
            <p:cNvSpPr/>
            <p:nvPr/>
          </p:nvSpPr>
          <p:spPr>
            <a:xfrm>
              <a:off x="2934462" y="2177033"/>
              <a:ext cx="8770620" cy="0"/>
            </a:xfrm>
            <a:custGeom>
              <a:avLst/>
              <a:gdLst/>
              <a:ahLst/>
              <a:cxnLst/>
              <a:rect l="l" t="t" r="r" b="b"/>
              <a:pathLst>
                <a:path w="8770620">
                  <a:moveTo>
                    <a:pt x="0" y="0"/>
                  </a:moveTo>
                  <a:lnTo>
                    <a:pt x="8770619" y="0"/>
                  </a:lnTo>
                </a:path>
              </a:pathLst>
            </a:custGeom>
            <a:ln w="38100">
              <a:solidFill>
                <a:srgbClr val="79A8A3"/>
              </a:solidFill>
            </a:ln>
          </p:spPr>
          <p:txBody>
            <a:bodyPr wrap="square" lIns="0" tIns="0" rIns="0" bIns="0" rtlCol="0"/>
            <a:lstStyle/>
            <a:p>
              <a:endParaRPr/>
            </a:p>
          </p:txBody>
        </p:sp>
      </p:grpSp>
      <p:sp>
        <p:nvSpPr>
          <p:cNvPr id="7" name="object 7" descr="$PPTXTitle">
            <a:extLst>
              <a:ext uri="{FF2B5EF4-FFF2-40B4-BE49-F238E27FC236}">
                <a16:creationId xmlns:a16="http://schemas.microsoft.com/office/drawing/2014/main" id="{2D9B3BC0-9AD5-56B2-4253-9C790680D0C7}"/>
              </a:ext>
            </a:extLst>
          </p:cNvPr>
          <p:cNvSpPr txBox="1">
            <a:spLocks noGrp="1"/>
          </p:cNvSpPr>
          <p:nvPr>
            <p:ph type="title"/>
          </p:nvPr>
        </p:nvSpPr>
        <p:spPr>
          <a:xfrm>
            <a:off x="1981960" y="589229"/>
            <a:ext cx="10210040" cy="1244571"/>
          </a:xfrm>
          <a:prstGeom prst="rect">
            <a:avLst/>
          </a:prstGeom>
        </p:spPr>
        <p:txBody>
          <a:bodyPr vert="horz" wrap="square" lIns="0" tIns="13335" rIns="0" bIns="0" rtlCol="0">
            <a:spAutoFit/>
          </a:bodyPr>
          <a:lstStyle/>
          <a:p>
            <a:pPr marL="12700">
              <a:spcBef>
                <a:spcPts val="105"/>
              </a:spcBef>
              <a:tabLst>
                <a:tab pos="1043305" algn="l"/>
              </a:tabLst>
            </a:pPr>
            <a:r>
              <a:rPr lang="en-US" sz="4400" b="0" spc="-50" dirty="0">
                <a:solidFill>
                  <a:srgbClr val="464A56"/>
                </a:solidFill>
                <a:latin typeface="Cambria"/>
                <a:cs typeface="Cambria"/>
              </a:rPr>
              <a:t>4    </a:t>
            </a:r>
            <a:r>
              <a:rPr lang="en-US" sz="3600" dirty="0"/>
              <a:t>When evaluating a search algorithm, we consider four main criteria:</a:t>
            </a:r>
            <a:endParaRPr sz="4400" dirty="0">
              <a:latin typeface="Cambria"/>
              <a:cs typeface="Cambria"/>
            </a:endParaRPr>
          </a:p>
        </p:txBody>
      </p:sp>
      <p:sp>
        <p:nvSpPr>
          <p:cNvPr id="8" name="TextBox 7">
            <a:extLst>
              <a:ext uri="{FF2B5EF4-FFF2-40B4-BE49-F238E27FC236}">
                <a16:creationId xmlns:a16="http://schemas.microsoft.com/office/drawing/2014/main" id="{F89AB660-E584-35EB-6C24-2D26B4F54DAD}"/>
              </a:ext>
            </a:extLst>
          </p:cNvPr>
          <p:cNvSpPr txBox="1"/>
          <p:nvPr/>
        </p:nvSpPr>
        <p:spPr>
          <a:xfrm>
            <a:off x="2514600" y="2362200"/>
            <a:ext cx="9190482" cy="4031873"/>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1" i="0" u="none" strike="noStrike" cap="none" normalizeH="0" baseline="0" dirty="0">
                <a:ln>
                  <a:noFill/>
                </a:ln>
                <a:solidFill>
                  <a:schemeClr val="tx1"/>
                </a:solidFill>
                <a:effectLst/>
                <a:latin typeface="Arial" panose="020B0604020202020204" pitchFamily="34" charset="0"/>
              </a:rPr>
              <a:t>Time Complexity</a:t>
            </a:r>
            <a:endParaRPr kumimoji="0" lang="en-US" altLang="en-US" sz="3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Arial" panose="020B0604020202020204" pitchFamily="34" charset="0"/>
              </a:rPr>
              <a:t>How many nodes are generated during the search</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Arial" panose="020B0604020202020204" pitchFamily="34" charset="0"/>
              </a:rPr>
              <a:t>Measured as </a:t>
            </a:r>
            <a:r>
              <a:rPr kumimoji="0" lang="en-US" altLang="en-US" sz="3200" b="1" i="0" u="none" strike="noStrike" cap="none" normalizeH="0" baseline="0" dirty="0">
                <a:ln>
                  <a:noFill/>
                </a:ln>
                <a:solidFill>
                  <a:schemeClr val="tx1"/>
                </a:solidFill>
                <a:effectLst/>
                <a:latin typeface="Arial" panose="020B0604020202020204" pitchFamily="34" charset="0"/>
              </a:rPr>
              <a:t>number of node expansions</a:t>
            </a:r>
            <a:r>
              <a:rPr kumimoji="0" lang="en-US" altLang="en-US" sz="3200" b="0" i="0" u="none" strike="noStrike" cap="none" normalizeH="0" baseline="0" dirty="0">
                <a:ln>
                  <a:noFill/>
                </a:ln>
                <a:solidFill>
                  <a:schemeClr val="tx1"/>
                </a:solidFill>
                <a:effectLst/>
                <a:latin typeface="Arial" panose="020B0604020202020204" pitchFamily="34" charset="0"/>
              </a:rPr>
              <a:t>, not real time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1" i="0" u="none" strike="noStrike" cap="none" normalizeH="0" baseline="0" dirty="0">
                <a:ln>
                  <a:noFill/>
                </a:ln>
                <a:solidFill>
                  <a:schemeClr val="tx1"/>
                </a:solidFill>
                <a:effectLst/>
                <a:latin typeface="Arial" panose="020B0604020202020204" pitchFamily="34" charset="0"/>
              </a:rPr>
              <a:t>Space Complexity</a:t>
            </a:r>
            <a:endParaRPr kumimoji="0" lang="en-US" altLang="en-US" sz="3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Arial" panose="020B0604020202020204" pitchFamily="34" charset="0"/>
              </a:rPr>
              <a:t>How much memory is required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Arial" panose="020B0604020202020204" pitchFamily="34" charset="0"/>
              </a:rPr>
              <a:t>Maximum nodes stored = frontier + explored set</a:t>
            </a:r>
          </a:p>
        </p:txBody>
      </p:sp>
    </p:spTree>
    <p:extLst>
      <p:ext uri="{BB962C8B-B14F-4D97-AF65-F5344CB8AC3E}">
        <p14:creationId xmlns:p14="http://schemas.microsoft.com/office/powerpoint/2010/main" val="31899992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4534F5-0C02-EE3A-B93E-547B0CEEB12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7B1444A-473A-0747-53DD-EE41E0B4CCF0}"/>
              </a:ext>
            </a:extLst>
          </p:cNvPr>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FDFBF7"/>
          </a:solidFill>
        </p:spPr>
        <p:txBody>
          <a:bodyPr wrap="square" lIns="0" tIns="0" rIns="0" bIns="0" rtlCol="0"/>
          <a:lstStyle/>
          <a:p>
            <a:endParaRPr/>
          </a:p>
        </p:txBody>
      </p:sp>
      <p:grpSp>
        <p:nvGrpSpPr>
          <p:cNvPr id="3" name="object 3">
            <a:extLst>
              <a:ext uri="{FF2B5EF4-FFF2-40B4-BE49-F238E27FC236}">
                <a16:creationId xmlns:a16="http://schemas.microsoft.com/office/drawing/2014/main" id="{9601A29D-EF75-953B-12D6-5D55E8D62A0D}"/>
              </a:ext>
            </a:extLst>
          </p:cNvPr>
          <p:cNvGrpSpPr/>
          <p:nvPr/>
        </p:nvGrpSpPr>
        <p:grpSpPr>
          <a:xfrm>
            <a:off x="424984" y="432816"/>
            <a:ext cx="11280098" cy="6123432"/>
            <a:chOff x="424984" y="432816"/>
            <a:chExt cx="11280098" cy="6123432"/>
          </a:xfrm>
        </p:grpSpPr>
        <p:pic>
          <p:nvPicPr>
            <p:cNvPr id="4" name="object 4">
              <a:extLst>
                <a:ext uri="{FF2B5EF4-FFF2-40B4-BE49-F238E27FC236}">
                  <a16:creationId xmlns:a16="http://schemas.microsoft.com/office/drawing/2014/main" id="{B1B6EDB4-D02F-93D2-DA02-12458EDC5292}"/>
                </a:ext>
              </a:extLst>
            </p:cNvPr>
            <p:cNvPicPr/>
            <p:nvPr/>
          </p:nvPicPr>
          <p:blipFill>
            <a:blip r:embed="rId2" cstate="print"/>
            <a:stretch>
              <a:fillRect/>
            </a:stretch>
          </p:blipFill>
          <p:spPr>
            <a:xfrm>
              <a:off x="424984" y="432816"/>
              <a:ext cx="3459183" cy="6123432"/>
            </a:xfrm>
            <a:prstGeom prst="rect">
              <a:avLst/>
            </a:prstGeom>
          </p:spPr>
        </p:pic>
        <p:sp>
          <p:nvSpPr>
            <p:cNvPr id="5" name="object 5">
              <a:extLst>
                <a:ext uri="{FF2B5EF4-FFF2-40B4-BE49-F238E27FC236}">
                  <a16:creationId xmlns:a16="http://schemas.microsoft.com/office/drawing/2014/main" id="{DB6B46EE-CCD0-4DB7-76F6-B220A7CD97ED}"/>
                </a:ext>
              </a:extLst>
            </p:cNvPr>
            <p:cNvSpPr/>
            <p:nvPr/>
          </p:nvSpPr>
          <p:spPr>
            <a:xfrm>
              <a:off x="2934462" y="2177033"/>
              <a:ext cx="8770620" cy="0"/>
            </a:xfrm>
            <a:custGeom>
              <a:avLst/>
              <a:gdLst/>
              <a:ahLst/>
              <a:cxnLst/>
              <a:rect l="l" t="t" r="r" b="b"/>
              <a:pathLst>
                <a:path w="8770620">
                  <a:moveTo>
                    <a:pt x="0" y="0"/>
                  </a:moveTo>
                  <a:lnTo>
                    <a:pt x="8770619" y="0"/>
                  </a:lnTo>
                </a:path>
              </a:pathLst>
            </a:custGeom>
            <a:ln w="38100">
              <a:solidFill>
                <a:srgbClr val="79A8A3"/>
              </a:solidFill>
            </a:ln>
          </p:spPr>
          <p:txBody>
            <a:bodyPr wrap="square" lIns="0" tIns="0" rIns="0" bIns="0" rtlCol="0"/>
            <a:lstStyle/>
            <a:p>
              <a:endParaRPr/>
            </a:p>
          </p:txBody>
        </p:sp>
      </p:grpSp>
      <p:sp>
        <p:nvSpPr>
          <p:cNvPr id="7" name="object 7" descr="$PPTXTitle">
            <a:extLst>
              <a:ext uri="{FF2B5EF4-FFF2-40B4-BE49-F238E27FC236}">
                <a16:creationId xmlns:a16="http://schemas.microsoft.com/office/drawing/2014/main" id="{C591B5C0-8A3C-F142-04AE-786437A84ECB}"/>
              </a:ext>
            </a:extLst>
          </p:cNvPr>
          <p:cNvSpPr txBox="1">
            <a:spLocks noGrp="1"/>
          </p:cNvSpPr>
          <p:nvPr>
            <p:ph type="title"/>
          </p:nvPr>
        </p:nvSpPr>
        <p:spPr>
          <a:xfrm>
            <a:off x="1981960" y="589229"/>
            <a:ext cx="10210040" cy="690574"/>
          </a:xfrm>
          <a:prstGeom prst="rect">
            <a:avLst/>
          </a:prstGeom>
        </p:spPr>
        <p:txBody>
          <a:bodyPr vert="horz" wrap="square" lIns="0" tIns="13335" rIns="0" bIns="0" rtlCol="0">
            <a:spAutoFit/>
          </a:bodyPr>
          <a:lstStyle/>
          <a:p>
            <a:pPr marL="12700">
              <a:spcBef>
                <a:spcPts val="105"/>
              </a:spcBef>
              <a:tabLst>
                <a:tab pos="1043305" algn="l"/>
              </a:tabLst>
            </a:pPr>
            <a:r>
              <a:rPr lang="en-US" sz="4400" b="0" spc="-50" dirty="0">
                <a:solidFill>
                  <a:srgbClr val="464A56"/>
                </a:solidFill>
                <a:latin typeface="Cambria"/>
                <a:cs typeface="Cambria"/>
              </a:rPr>
              <a:t>4</a:t>
            </a:r>
            <a:r>
              <a:rPr sz="4400" b="0" dirty="0">
                <a:solidFill>
                  <a:srgbClr val="464A56"/>
                </a:solidFill>
                <a:latin typeface="Cambria"/>
                <a:cs typeface="Cambria"/>
              </a:rPr>
              <a:t>	</a:t>
            </a:r>
            <a:r>
              <a:rPr lang="en-IN" sz="4400" dirty="0"/>
              <a:t> 1. What is Completeness?</a:t>
            </a:r>
            <a:endParaRPr sz="4400" dirty="0">
              <a:latin typeface="Cambria"/>
              <a:cs typeface="Cambria"/>
            </a:endParaRPr>
          </a:p>
        </p:txBody>
      </p:sp>
      <p:sp>
        <p:nvSpPr>
          <p:cNvPr id="8" name="TextBox 7">
            <a:extLst>
              <a:ext uri="{FF2B5EF4-FFF2-40B4-BE49-F238E27FC236}">
                <a16:creationId xmlns:a16="http://schemas.microsoft.com/office/drawing/2014/main" id="{CFD50B34-7AA4-C19B-127D-A5653368264D}"/>
              </a:ext>
            </a:extLst>
          </p:cNvPr>
          <p:cNvSpPr txBox="1"/>
          <p:nvPr/>
        </p:nvSpPr>
        <p:spPr>
          <a:xfrm>
            <a:off x="2514600" y="2506163"/>
            <a:ext cx="9906000" cy="1384995"/>
          </a:xfrm>
          <a:prstGeom prst="rect">
            <a:avLst/>
          </a:prstGeom>
          <a:noFill/>
        </p:spPr>
        <p:txBody>
          <a:bodyPr wrap="square">
            <a:spAutoFit/>
          </a:bodyPr>
          <a:lstStyle/>
          <a:p>
            <a:r>
              <a:rPr lang="en-US" sz="2800" b="1" dirty="0"/>
              <a:t>If a solution exists, is the algorithm guaranteed to find it?"</a:t>
            </a:r>
            <a:r>
              <a:rPr lang="en-US" sz="2800" dirty="0"/>
              <a:t> </a:t>
            </a:r>
          </a:p>
          <a:p>
            <a:r>
              <a:rPr lang="en-US" sz="2800" dirty="0"/>
              <a:t>If the answer is </a:t>
            </a:r>
            <a:r>
              <a:rPr lang="en-US" sz="2800" b="1" dirty="0"/>
              <a:t>Yes</a:t>
            </a:r>
            <a:r>
              <a:rPr lang="en-US" sz="2800" dirty="0"/>
              <a:t>, the algorithm is </a:t>
            </a:r>
            <a:r>
              <a:rPr lang="en-US" sz="2800" b="1" dirty="0"/>
              <a:t>Complete</a:t>
            </a:r>
            <a:endParaRPr lang="en-US" sz="2800" dirty="0"/>
          </a:p>
        </p:txBody>
      </p:sp>
    </p:spTree>
    <p:extLst>
      <p:ext uri="{BB962C8B-B14F-4D97-AF65-F5344CB8AC3E}">
        <p14:creationId xmlns:p14="http://schemas.microsoft.com/office/powerpoint/2010/main" val="30337163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9B9257-9258-3FBD-234D-51A0B745DC0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6A6CDC97-5FB0-AC82-E6A9-EFB25CDEE6F5}"/>
              </a:ext>
            </a:extLst>
          </p:cNvPr>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FDFBF7"/>
          </a:solidFill>
        </p:spPr>
        <p:txBody>
          <a:bodyPr wrap="square" lIns="0" tIns="0" rIns="0" bIns="0" rtlCol="0"/>
          <a:lstStyle/>
          <a:p>
            <a:endParaRPr/>
          </a:p>
        </p:txBody>
      </p:sp>
      <p:grpSp>
        <p:nvGrpSpPr>
          <p:cNvPr id="3" name="object 3">
            <a:extLst>
              <a:ext uri="{FF2B5EF4-FFF2-40B4-BE49-F238E27FC236}">
                <a16:creationId xmlns:a16="http://schemas.microsoft.com/office/drawing/2014/main" id="{06A26C5E-B7E9-AF82-802D-91E8F71DE070}"/>
              </a:ext>
            </a:extLst>
          </p:cNvPr>
          <p:cNvGrpSpPr/>
          <p:nvPr/>
        </p:nvGrpSpPr>
        <p:grpSpPr>
          <a:xfrm>
            <a:off x="424984" y="432816"/>
            <a:ext cx="11280098" cy="6123432"/>
            <a:chOff x="424984" y="432816"/>
            <a:chExt cx="11280098" cy="6123432"/>
          </a:xfrm>
        </p:grpSpPr>
        <p:pic>
          <p:nvPicPr>
            <p:cNvPr id="4" name="object 4">
              <a:extLst>
                <a:ext uri="{FF2B5EF4-FFF2-40B4-BE49-F238E27FC236}">
                  <a16:creationId xmlns:a16="http://schemas.microsoft.com/office/drawing/2014/main" id="{6D9A7B1D-C553-3119-BCD5-A59829252B3A}"/>
                </a:ext>
              </a:extLst>
            </p:cNvPr>
            <p:cNvPicPr/>
            <p:nvPr/>
          </p:nvPicPr>
          <p:blipFill>
            <a:blip r:embed="rId2" cstate="print"/>
            <a:stretch>
              <a:fillRect/>
            </a:stretch>
          </p:blipFill>
          <p:spPr>
            <a:xfrm>
              <a:off x="424984" y="432816"/>
              <a:ext cx="3459183" cy="6123432"/>
            </a:xfrm>
            <a:prstGeom prst="rect">
              <a:avLst/>
            </a:prstGeom>
          </p:spPr>
        </p:pic>
        <p:sp>
          <p:nvSpPr>
            <p:cNvPr id="5" name="object 5">
              <a:extLst>
                <a:ext uri="{FF2B5EF4-FFF2-40B4-BE49-F238E27FC236}">
                  <a16:creationId xmlns:a16="http://schemas.microsoft.com/office/drawing/2014/main" id="{97B4FA9F-2B97-9F36-CACA-0F28D261F13C}"/>
                </a:ext>
              </a:extLst>
            </p:cNvPr>
            <p:cNvSpPr/>
            <p:nvPr/>
          </p:nvSpPr>
          <p:spPr>
            <a:xfrm>
              <a:off x="2934462" y="2177033"/>
              <a:ext cx="8770620" cy="0"/>
            </a:xfrm>
            <a:custGeom>
              <a:avLst/>
              <a:gdLst/>
              <a:ahLst/>
              <a:cxnLst/>
              <a:rect l="l" t="t" r="r" b="b"/>
              <a:pathLst>
                <a:path w="8770620">
                  <a:moveTo>
                    <a:pt x="0" y="0"/>
                  </a:moveTo>
                  <a:lnTo>
                    <a:pt x="8770619" y="0"/>
                  </a:lnTo>
                </a:path>
              </a:pathLst>
            </a:custGeom>
            <a:ln w="38100">
              <a:solidFill>
                <a:srgbClr val="79A8A3"/>
              </a:solidFill>
            </a:ln>
          </p:spPr>
          <p:txBody>
            <a:bodyPr wrap="square" lIns="0" tIns="0" rIns="0" bIns="0" rtlCol="0"/>
            <a:lstStyle/>
            <a:p>
              <a:endParaRPr/>
            </a:p>
          </p:txBody>
        </p:sp>
      </p:grpSp>
      <p:sp>
        <p:nvSpPr>
          <p:cNvPr id="7" name="object 7" descr="$PPTXTitle">
            <a:extLst>
              <a:ext uri="{FF2B5EF4-FFF2-40B4-BE49-F238E27FC236}">
                <a16:creationId xmlns:a16="http://schemas.microsoft.com/office/drawing/2014/main" id="{2B272BE3-49BB-540D-6B9D-62E97627FFEE}"/>
              </a:ext>
            </a:extLst>
          </p:cNvPr>
          <p:cNvSpPr txBox="1">
            <a:spLocks noGrp="1"/>
          </p:cNvSpPr>
          <p:nvPr>
            <p:ph type="title"/>
          </p:nvPr>
        </p:nvSpPr>
        <p:spPr>
          <a:xfrm>
            <a:off x="1981960" y="589229"/>
            <a:ext cx="10210040" cy="1367682"/>
          </a:xfrm>
          <a:prstGeom prst="rect">
            <a:avLst/>
          </a:prstGeom>
        </p:spPr>
        <p:txBody>
          <a:bodyPr vert="horz" wrap="square" lIns="0" tIns="13335" rIns="0" bIns="0" rtlCol="0">
            <a:spAutoFit/>
          </a:bodyPr>
          <a:lstStyle/>
          <a:p>
            <a:pPr marL="12700">
              <a:spcBef>
                <a:spcPts val="105"/>
              </a:spcBef>
              <a:tabLst>
                <a:tab pos="1043305" algn="l"/>
              </a:tabLst>
            </a:pPr>
            <a:r>
              <a:rPr lang="en-US" sz="4400" b="0" spc="-50" dirty="0">
                <a:solidFill>
                  <a:srgbClr val="464A56"/>
                </a:solidFill>
                <a:latin typeface="Cambria"/>
                <a:cs typeface="Cambria"/>
              </a:rPr>
              <a:t>4</a:t>
            </a:r>
            <a:r>
              <a:rPr sz="4400" b="0" dirty="0">
                <a:solidFill>
                  <a:srgbClr val="464A56"/>
                </a:solidFill>
                <a:latin typeface="Cambria"/>
                <a:cs typeface="Cambria"/>
              </a:rPr>
              <a:t>	</a:t>
            </a:r>
            <a:r>
              <a:rPr lang="en-IN" sz="4400" dirty="0"/>
              <a:t> </a:t>
            </a:r>
            <a:r>
              <a:rPr lang="en-US" sz="4400" dirty="0"/>
              <a:t>The Analogy: The Treasure in the Library</a:t>
            </a:r>
            <a:endParaRPr sz="4400" dirty="0">
              <a:latin typeface="Cambria"/>
              <a:cs typeface="Cambria"/>
            </a:endParaRPr>
          </a:p>
        </p:txBody>
      </p:sp>
      <p:sp>
        <p:nvSpPr>
          <p:cNvPr id="8" name="TextBox 7">
            <a:extLst>
              <a:ext uri="{FF2B5EF4-FFF2-40B4-BE49-F238E27FC236}">
                <a16:creationId xmlns:a16="http://schemas.microsoft.com/office/drawing/2014/main" id="{F62B6045-0DFB-8C81-EED8-E397B95E1262}"/>
              </a:ext>
            </a:extLst>
          </p:cNvPr>
          <p:cNvSpPr txBox="1"/>
          <p:nvPr/>
        </p:nvSpPr>
        <p:spPr>
          <a:xfrm>
            <a:off x="2514600" y="2506163"/>
            <a:ext cx="9906000" cy="954107"/>
          </a:xfrm>
          <a:prstGeom prst="rect">
            <a:avLst/>
          </a:prstGeom>
          <a:noFill/>
        </p:spPr>
        <p:txBody>
          <a:bodyPr wrap="square">
            <a:spAutoFit/>
          </a:bodyPr>
          <a:lstStyle/>
          <a:p>
            <a:r>
              <a:rPr lang="en-US" sz="2800" dirty="0"/>
              <a:t>Imagine you are looking for a specific book (The Goal) in a library.</a:t>
            </a:r>
          </a:p>
        </p:txBody>
      </p:sp>
    </p:spTree>
    <p:extLst>
      <p:ext uri="{BB962C8B-B14F-4D97-AF65-F5344CB8AC3E}">
        <p14:creationId xmlns:p14="http://schemas.microsoft.com/office/powerpoint/2010/main" val="196590917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9EEC02-C000-28EC-C659-9BC379229E8F}"/>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2FAF4C2-2E03-0C27-9408-38D7865EC84B}"/>
              </a:ext>
            </a:extLst>
          </p:cNvPr>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FDFBF7"/>
          </a:solidFill>
        </p:spPr>
        <p:txBody>
          <a:bodyPr wrap="square" lIns="0" tIns="0" rIns="0" bIns="0" rtlCol="0"/>
          <a:lstStyle/>
          <a:p>
            <a:endParaRPr/>
          </a:p>
        </p:txBody>
      </p:sp>
      <p:grpSp>
        <p:nvGrpSpPr>
          <p:cNvPr id="3" name="object 3">
            <a:extLst>
              <a:ext uri="{FF2B5EF4-FFF2-40B4-BE49-F238E27FC236}">
                <a16:creationId xmlns:a16="http://schemas.microsoft.com/office/drawing/2014/main" id="{75D1F4C8-950C-0F5A-4860-9C04252D5C98}"/>
              </a:ext>
            </a:extLst>
          </p:cNvPr>
          <p:cNvGrpSpPr/>
          <p:nvPr/>
        </p:nvGrpSpPr>
        <p:grpSpPr>
          <a:xfrm>
            <a:off x="424984" y="432816"/>
            <a:ext cx="11280098" cy="6123432"/>
            <a:chOff x="424984" y="432816"/>
            <a:chExt cx="11280098" cy="6123432"/>
          </a:xfrm>
        </p:grpSpPr>
        <p:pic>
          <p:nvPicPr>
            <p:cNvPr id="4" name="object 4">
              <a:extLst>
                <a:ext uri="{FF2B5EF4-FFF2-40B4-BE49-F238E27FC236}">
                  <a16:creationId xmlns:a16="http://schemas.microsoft.com/office/drawing/2014/main" id="{E6AE6C67-8B47-1FF4-138D-FBA317FB552C}"/>
                </a:ext>
              </a:extLst>
            </p:cNvPr>
            <p:cNvPicPr/>
            <p:nvPr/>
          </p:nvPicPr>
          <p:blipFill>
            <a:blip r:embed="rId2" cstate="print"/>
            <a:stretch>
              <a:fillRect/>
            </a:stretch>
          </p:blipFill>
          <p:spPr>
            <a:xfrm>
              <a:off x="424984" y="432816"/>
              <a:ext cx="3459183" cy="6123432"/>
            </a:xfrm>
            <a:prstGeom prst="rect">
              <a:avLst/>
            </a:prstGeom>
          </p:spPr>
        </p:pic>
        <p:sp>
          <p:nvSpPr>
            <p:cNvPr id="5" name="object 5">
              <a:extLst>
                <a:ext uri="{FF2B5EF4-FFF2-40B4-BE49-F238E27FC236}">
                  <a16:creationId xmlns:a16="http://schemas.microsoft.com/office/drawing/2014/main" id="{56F22C5C-0D6C-5B13-E0AF-FD31EFE1172B}"/>
                </a:ext>
              </a:extLst>
            </p:cNvPr>
            <p:cNvSpPr/>
            <p:nvPr/>
          </p:nvSpPr>
          <p:spPr>
            <a:xfrm>
              <a:off x="2934462" y="2177033"/>
              <a:ext cx="8770620" cy="0"/>
            </a:xfrm>
            <a:custGeom>
              <a:avLst/>
              <a:gdLst/>
              <a:ahLst/>
              <a:cxnLst/>
              <a:rect l="l" t="t" r="r" b="b"/>
              <a:pathLst>
                <a:path w="8770620">
                  <a:moveTo>
                    <a:pt x="0" y="0"/>
                  </a:moveTo>
                  <a:lnTo>
                    <a:pt x="8770619" y="0"/>
                  </a:lnTo>
                </a:path>
              </a:pathLst>
            </a:custGeom>
            <a:ln w="38100">
              <a:solidFill>
                <a:srgbClr val="79A8A3"/>
              </a:solidFill>
            </a:ln>
          </p:spPr>
          <p:txBody>
            <a:bodyPr wrap="square" lIns="0" tIns="0" rIns="0" bIns="0" rtlCol="0"/>
            <a:lstStyle/>
            <a:p>
              <a:endParaRPr/>
            </a:p>
          </p:txBody>
        </p:sp>
      </p:grpSp>
      <p:sp>
        <p:nvSpPr>
          <p:cNvPr id="7" name="object 7" descr="$PPTXTitle">
            <a:extLst>
              <a:ext uri="{FF2B5EF4-FFF2-40B4-BE49-F238E27FC236}">
                <a16:creationId xmlns:a16="http://schemas.microsoft.com/office/drawing/2014/main" id="{9F8EAF2C-9B47-3BB8-5E8C-A55503C26146}"/>
              </a:ext>
            </a:extLst>
          </p:cNvPr>
          <p:cNvSpPr txBox="1">
            <a:spLocks noGrp="1"/>
          </p:cNvSpPr>
          <p:nvPr>
            <p:ph type="title"/>
          </p:nvPr>
        </p:nvSpPr>
        <p:spPr>
          <a:xfrm>
            <a:off x="1981960" y="589229"/>
            <a:ext cx="10210040" cy="1367682"/>
          </a:xfrm>
          <a:prstGeom prst="rect">
            <a:avLst/>
          </a:prstGeom>
        </p:spPr>
        <p:txBody>
          <a:bodyPr vert="horz" wrap="square" lIns="0" tIns="13335" rIns="0" bIns="0" rtlCol="0">
            <a:spAutoFit/>
          </a:bodyPr>
          <a:lstStyle/>
          <a:p>
            <a:pPr marL="12700">
              <a:spcBef>
                <a:spcPts val="105"/>
              </a:spcBef>
              <a:tabLst>
                <a:tab pos="1043305" algn="l"/>
              </a:tabLst>
            </a:pPr>
            <a:r>
              <a:rPr lang="en-US" sz="4400" b="0" spc="-50" dirty="0">
                <a:solidFill>
                  <a:srgbClr val="464A56"/>
                </a:solidFill>
                <a:latin typeface="Cambria"/>
                <a:cs typeface="Cambria"/>
              </a:rPr>
              <a:t>4</a:t>
            </a:r>
            <a:r>
              <a:rPr sz="4400" b="0" dirty="0">
                <a:solidFill>
                  <a:srgbClr val="464A56"/>
                </a:solidFill>
                <a:latin typeface="Cambria"/>
                <a:cs typeface="Cambria"/>
              </a:rPr>
              <a:t>	</a:t>
            </a:r>
            <a:r>
              <a:rPr lang="en-IN" sz="4400" dirty="0"/>
              <a:t> </a:t>
            </a:r>
            <a:r>
              <a:rPr lang="en-US" sz="4400" dirty="0"/>
              <a:t>The Analogy: The Treasure in the Library (</a:t>
            </a:r>
            <a:r>
              <a:rPr lang="en-IN" sz="4400" dirty="0"/>
              <a:t>The BFS Approach)</a:t>
            </a:r>
            <a:endParaRPr sz="4400" dirty="0">
              <a:latin typeface="Cambria"/>
              <a:cs typeface="Cambria"/>
            </a:endParaRPr>
          </a:p>
        </p:txBody>
      </p:sp>
      <p:sp>
        <p:nvSpPr>
          <p:cNvPr id="8" name="TextBox 7">
            <a:extLst>
              <a:ext uri="{FF2B5EF4-FFF2-40B4-BE49-F238E27FC236}">
                <a16:creationId xmlns:a16="http://schemas.microsoft.com/office/drawing/2014/main" id="{5EE68197-C1AF-434D-7AB2-385115A90509}"/>
              </a:ext>
            </a:extLst>
          </p:cNvPr>
          <p:cNvSpPr txBox="1"/>
          <p:nvPr/>
        </p:nvSpPr>
        <p:spPr>
          <a:xfrm>
            <a:off x="2514600" y="2506163"/>
            <a:ext cx="8915400" cy="2308324"/>
          </a:xfrm>
          <a:prstGeom prst="rect">
            <a:avLst/>
          </a:prstGeom>
          <a:noFill/>
        </p:spPr>
        <p:txBody>
          <a:bodyPr wrap="square">
            <a:spAutoFit/>
          </a:bodyPr>
          <a:lstStyle/>
          <a:p>
            <a:r>
              <a:rPr lang="en-US" sz="3600" dirty="0"/>
              <a:t>You check every single book on the first shelf, then every book on the second shelf, and so on. Even if the library is huge, if the book is there, you </a:t>
            </a:r>
            <a:r>
              <a:rPr lang="en-US" sz="3600" b="1" dirty="0"/>
              <a:t>will</a:t>
            </a:r>
            <a:r>
              <a:rPr lang="en-US" sz="3600" dirty="0"/>
              <a:t> eventually touch it.</a:t>
            </a:r>
          </a:p>
        </p:txBody>
      </p:sp>
    </p:spTree>
    <p:extLst>
      <p:ext uri="{BB962C8B-B14F-4D97-AF65-F5344CB8AC3E}">
        <p14:creationId xmlns:p14="http://schemas.microsoft.com/office/powerpoint/2010/main" val="29040888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33FFEB-0ACD-CD10-748E-242129CE2AF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83207C2-EAB8-837B-59A3-0BA35E59CBD7}"/>
              </a:ext>
            </a:extLst>
          </p:cNvPr>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FDFBF7"/>
          </a:solidFill>
        </p:spPr>
        <p:txBody>
          <a:bodyPr wrap="square" lIns="0" tIns="0" rIns="0" bIns="0" rtlCol="0"/>
          <a:lstStyle/>
          <a:p>
            <a:endParaRPr/>
          </a:p>
        </p:txBody>
      </p:sp>
      <p:grpSp>
        <p:nvGrpSpPr>
          <p:cNvPr id="3" name="object 3">
            <a:extLst>
              <a:ext uri="{FF2B5EF4-FFF2-40B4-BE49-F238E27FC236}">
                <a16:creationId xmlns:a16="http://schemas.microsoft.com/office/drawing/2014/main" id="{07874929-BCC1-73F5-93F3-DDA7F9B749C1}"/>
              </a:ext>
            </a:extLst>
          </p:cNvPr>
          <p:cNvGrpSpPr/>
          <p:nvPr/>
        </p:nvGrpSpPr>
        <p:grpSpPr>
          <a:xfrm>
            <a:off x="424984" y="432816"/>
            <a:ext cx="11280098" cy="6123432"/>
            <a:chOff x="424984" y="432816"/>
            <a:chExt cx="11280098" cy="6123432"/>
          </a:xfrm>
        </p:grpSpPr>
        <p:pic>
          <p:nvPicPr>
            <p:cNvPr id="4" name="object 4">
              <a:extLst>
                <a:ext uri="{FF2B5EF4-FFF2-40B4-BE49-F238E27FC236}">
                  <a16:creationId xmlns:a16="http://schemas.microsoft.com/office/drawing/2014/main" id="{6CE4743A-CBB3-A5CE-4788-B5825DC6EB93}"/>
                </a:ext>
              </a:extLst>
            </p:cNvPr>
            <p:cNvPicPr/>
            <p:nvPr/>
          </p:nvPicPr>
          <p:blipFill>
            <a:blip r:embed="rId2" cstate="print"/>
            <a:stretch>
              <a:fillRect/>
            </a:stretch>
          </p:blipFill>
          <p:spPr>
            <a:xfrm>
              <a:off x="424984" y="432816"/>
              <a:ext cx="3459183" cy="6123432"/>
            </a:xfrm>
            <a:prstGeom prst="rect">
              <a:avLst/>
            </a:prstGeom>
          </p:spPr>
        </p:pic>
        <p:sp>
          <p:nvSpPr>
            <p:cNvPr id="5" name="object 5">
              <a:extLst>
                <a:ext uri="{FF2B5EF4-FFF2-40B4-BE49-F238E27FC236}">
                  <a16:creationId xmlns:a16="http://schemas.microsoft.com/office/drawing/2014/main" id="{F621D5D6-C010-7147-4F74-F2DD6C911631}"/>
                </a:ext>
              </a:extLst>
            </p:cNvPr>
            <p:cNvSpPr/>
            <p:nvPr/>
          </p:nvSpPr>
          <p:spPr>
            <a:xfrm>
              <a:off x="2934462" y="2177033"/>
              <a:ext cx="8770620" cy="0"/>
            </a:xfrm>
            <a:custGeom>
              <a:avLst/>
              <a:gdLst/>
              <a:ahLst/>
              <a:cxnLst/>
              <a:rect l="l" t="t" r="r" b="b"/>
              <a:pathLst>
                <a:path w="8770620">
                  <a:moveTo>
                    <a:pt x="0" y="0"/>
                  </a:moveTo>
                  <a:lnTo>
                    <a:pt x="8770619" y="0"/>
                  </a:lnTo>
                </a:path>
              </a:pathLst>
            </a:custGeom>
            <a:ln w="38100">
              <a:solidFill>
                <a:srgbClr val="79A8A3"/>
              </a:solidFill>
            </a:ln>
          </p:spPr>
          <p:txBody>
            <a:bodyPr wrap="square" lIns="0" tIns="0" rIns="0" bIns="0" rtlCol="0"/>
            <a:lstStyle/>
            <a:p>
              <a:endParaRPr/>
            </a:p>
          </p:txBody>
        </p:sp>
      </p:grpSp>
      <p:sp>
        <p:nvSpPr>
          <p:cNvPr id="7" name="object 7" descr="$PPTXTitle">
            <a:extLst>
              <a:ext uri="{FF2B5EF4-FFF2-40B4-BE49-F238E27FC236}">
                <a16:creationId xmlns:a16="http://schemas.microsoft.com/office/drawing/2014/main" id="{5E547A14-D89C-81F6-656D-E19FC1889352}"/>
              </a:ext>
            </a:extLst>
          </p:cNvPr>
          <p:cNvSpPr txBox="1">
            <a:spLocks noGrp="1"/>
          </p:cNvSpPr>
          <p:nvPr>
            <p:ph type="title"/>
          </p:nvPr>
        </p:nvSpPr>
        <p:spPr>
          <a:xfrm>
            <a:off x="1981960" y="589229"/>
            <a:ext cx="10210040" cy="1367682"/>
          </a:xfrm>
          <a:prstGeom prst="rect">
            <a:avLst/>
          </a:prstGeom>
        </p:spPr>
        <p:txBody>
          <a:bodyPr vert="horz" wrap="square" lIns="0" tIns="13335" rIns="0" bIns="0" rtlCol="0">
            <a:spAutoFit/>
          </a:bodyPr>
          <a:lstStyle/>
          <a:p>
            <a:pPr marL="12700">
              <a:spcBef>
                <a:spcPts val="105"/>
              </a:spcBef>
              <a:tabLst>
                <a:tab pos="1043305" algn="l"/>
              </a:tabLst>
            </a:pPr>
            <a:r>
              <a:rPr lang="en-US" sz="4400" b="0" spc="-50" dirty="0">
                <a:solidFill>
                  <a:srgbClr val="464A56"/>
                </a:solidFill>
                <a:latin typeface="Cambria"/>
                <a:cs typeface="Cambria"/>
              </a:rPr>
              <a:t>4</a:t>
            </a:r>
            <a:r>
              <a:rPr sz="4400" b="0" dirty="0">
                <a:solidFill>
                  <a:srgbClr val="464A56"/>
                </a:solidFill>
                <a:latin typeface="Cambria"/>
                <a:cs typeface="Cambria"/>
              </a:rPr>
              <a:t>	</a:t>
            </a:r>
            <a:r>
              <a:rPr lang="en-IN" sz="4400" dirty="0"/>
              <a:t> </a:t>
            </a:r>
            <a:r>
              <a:rPr lang="en-US" sz="4400" dirty="0"/>
              <a:t>The Analogy: The Treasure in the Library (</a:t>
            </a:r>
            <a:r>
              <a:rPr lang="en-IN" sz="4400" dirty="0"/>
              <a:t>The DFS Approach)</a:t>
            </a:r>
            <a:endParaRPr sz="4400" dirty="0">
              <a:latin typeface="Cambria"/>
              <a:cs typeface="Cambria"/>
            </a:endParaRPr>
          </a:p>
        </p:txBody>
      </p:sp>
      <p:sp>
        <p:nvSpPr>
          <p:cNvPr id="8" name="TextBox 7">
            <a:extLst>
              <a:ext uri="{FF2B5EF4-FFF2-40B4-BE49-F238E27FC236}">
                <a16:creationId xmlns:a16="http://schemas.microsoft.com/office/drawing/2014/main" id="{67D6E560-69D6-9F7F-7DEF-4F7E270CEFC7}"/>
              </a:ext>
            </a:extLst>
          </p:cNvPr>
          <p:cNvSpPr txBox="1"/>
          <p:nvPr/>
        </p:nvSpPr>
        <p:spPr>
          <a:xfrm>
            <a:off x="2514600" y="2506163"/>
            <a:ext cx="8915400" cy="3416320"/>
          </a:xfrm>
          <a:prstGeom prst="rect">
            <a:avLst/>
          </a:prstGeom>
          <a:noFill/>
        </p:spPr>
        <p:txBody>
          <a:bodyPr wrap="square">
            <a:spAutoFit/>
          </a:bodyPr>
          <a:lstStyle/>
          <a:p>
            <a:r>
              <a:rPr lang="en-US" sz="3600" dirty="0"/>
              <a:t>You pick one corner and follow the shelves deeper and deeper into the basement. If the basement goes down forever (infinite stairs), you might keep walking down those stairs forever and </a:t>
            </a:r>
            <a:r>
              <a:rPr lang="en-US" sz="3600" b="1" dirty="0"/>
              <a:t>never</a:t>
            </a:r>
            <a:r>
              <a:rPr lang="en-US" sz="3600" dirty="0"/>
              <a:t> see the book sitting on the ground floor.</a:t>
            </a:r>
          </a:p>
        </p:txBody>
      </p:sp>
    </p:spTree>
    <p:extLst>
      <p:ext uri="{BB962C8B-B14F-4D97-AF65-F5344CB8AC3E}">
        <p14:creationId xmlns:p14="http://schemas.microsoft.com/office/powerpoint/2010/main" val="219316745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0092AF-FE3F-153C-3877-C52A3FF958F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6DBE9856-1BBD-F112-80BC-F097ADA90ECD}"/>
              </a:ext>
            </a:extLst>
          </p:cNvPr>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FDFBF7"/>
          </a:solidFill>
        </p:spPr>
        <p:txBody>
          <a:bodyPr wrap="square" lIns="0" tIns="0" rIns="0" bIns="0" rtlCol="0"/>
          <a:lstStyle/>
          <a:p>
            <a:endParaRPr/>
          </a:p>
        </p:txBody>
      </p:sp>
      <p:grpSp>
        <p:nvGrpSpPr>
          <p:cNvPr id="3" name="object 3">
            <a:extLst>
              <a:ext uri="{FF2B5EF4-FFF2-40B4-BE49-F238E27FC236}">
                <a16:creationId xmlns:a16="http://schemas.microsoft.com/office/drawing/2014/main" id="{D470DEC5-5062-6A11-A4F9-6A113EC0DB62}"/>
              </a:ext>
            </a:extLst>
          </p:cNvPr>
          <p:cNvGrpSpPr/>
          <p:nvPr/>
        </p:nvGrpSpPr>
        <p:grpSpPr>
          <a:xfrm>
            <a:off x="424984" y="432816"/>
            <a:ext cx="11280098" cy="6123432"/>
            <a:chOff x="424984" y="432816"/>
            <a:chExt cx="11280098" cy="6123432"/>
          </a:xfrm>
        </p:grpSpPr>
        <p:pic>
          <p:nvPicPr>
            <p:cNvPr id="4" name="object 4">
              <a:extLst>
                <a:ext uri="{FF2B5EF4-FFF2-40B4-BE49-F238E27FC236}">
                  <a16:creationId xmlns:a16="http://schemas.microsoft.com/office/drawing/2014/main" id="{13315EBE-225A-505C-7243-3CFF67A632BF}"/>
                </a:ext>
              </a:extLst>
            </p:cNvPr>
            <p:cNvPicPr/>
            <p:nvPr/>
          </p:nvPicPr>
          <p:blipFill>
            <a:blip r:embed="rId2" cstate="print"/>
            <a:stretch>
              <a:fillRect/>
            </a:stretch>
          </p:blipFill>
          <p:spPr>
            <a:xfrm>
              <a:off x="424984" y="432816"/>
              <a:ext cx="3459183" cy="6123432"/>
            </a:xfrm>
            <a:prstGeom prst="rect">
              <a:avLst/>
            </a:prstGeom>
          </p:spPr>
        </p:pic>
        <p:sp>
          <p:nvSpPr>
            <p:cNvPr id="5" name="object 5">
              <a:extLst>
                <a:ext uri="{FF2B5EF4-FFF2-40B4-BE49-F238E27FC236}">
                  <a16:creationId xmlns:a16="http://schemas.microsoft.com/office/drawing/2014/main" id="{42F91300-A4C9-2F71-20DF-2267871F01C3}"/>
                </a:ext>
              </a:extLst>
            </p:cNvPr>
            <p:cNvSpPr/>
            <p:nvPr/>
          </p:nvSpPr>
          <p:spPr>
            <a:xfrm>
              <a:off x="2934462" y="2177033"/>
              <a:ext cx="8770620" cy="0"/>
            </a:xfrm>
            <a:custGeom>
              <a:avLst/>
              <a:gdLst/>
              <a:ahLst/>
              <a:cxnLst/>
              <a:rect l="l" t="t" r="r" b="b"/>
              <a:pathLst>
                <a:path w="8770620">
                  <a:moveTo>
                    <a:pt x="0" y="0"/>
                  </a:moveTo>
                  <a:lnTo>
                    <a:pt x="8770619" y="0"/>
                  </a:lnTo>
                </a:path>
              </a:pathLst>
            </a:custGeom>
            <a:ln w="38100">
              <a:solidFill>
                <a:srgbClr val="79A8A3"/>
              </a:solidFill>
            </a:ln>
          </p:spPr>
          <p:txBody>
            <a:bodyPr wrap="square" lIns="0" tIns="0" rIns="0" bIns="0" rtlCol="0"/>
            <a:lstStyle/>
            <a:p>
              <a:endParaRPr/>
            </a:p>
          </p:txBody>
        </p:sp>
      </p:grpSp>
      <p:sp>
        <p:nvSpPr>
          <p:cNvPr id="7" name="object 7" descr="$PPTXTitle">
            <a:extLst>
              <a:ext uri="{FF2B5EF4-FFF2-40B4-BE49-F238E27FC236}">
                <a16:creationId xmlns:a16="http://schemas.microsoft.com/office/drawing/2014/main" id="{3DF65732-7AC0-D0BD-6324-D3409BE86E00}"/>
              </a:ext>
            </a:extLst>
          </p:cNvPr>
          <p:cNvSpPr txBox="1">
            <a:spLocks noGrp="1"/>
          </p:cNvSpPr>
          <p:nvPr>
            <p:ph type="title"/>
          </p:nvPr>
        </p:nvSpPr>
        <p:spPr>
          <a:xfrm>
            <a:off x="1981960" y="589229"/>
            <a:ext cx="10210040" cy="690574"/>
          </a:xfrm>
          <a:prstGeom prst="rect">
            <a:avLst/>
          </a:prstGeom>
        </p:spPr>
        <p:txBody>
          <a:bodyPr vert="horz" wrap="square" lIns="0" tIns="13335" rIns="0" bIns="0" rtlCol="0">
            <a:spAutoFit/>
          </a:bodyPr>
          <a:lstStyle/>
          <a:p>
            <a:pPr marL="12700">
              <a:spcBef>
                <a:spcPts val="105"/>
              </a:spcBef>
              <a:tabLst>
                <a:tab pos="1043305" algn="l"/>
              </a:tabLst>
            </a:pPr>
            <a:r>
              <a:rPr lang="en-US" sz="4400" b="0" spc="-50" dirty="0">
                <a:solidFill>
                  <a:srgbClr val="464A56"/>
                </a:solidFill>
                <a:latin typeface="Cambria"/>
                <a:cs typeface="Cambria"/>
              </a:rPr>
              <a:t>4</a:t>
            </a:r>
            <a:r>
              <a:rPr sz="4400" b="0" dirty="0">
                <a:solidFill>
                  <a:srgbClr val="464A56"/>
                </a:solidFill>
                <a:latin typeface="Cambria"/>
                <a:cs typeface="Cambria"/>
              </a:rPr>
              <a:t>	</a:t>
            </a:r>
            <a:r>
              <a:rPr lang="en-IN" sz="4400" dirty="0"/>
              <a:t> The Comparison</a:t>
            </a:r>
            <a:endParaRPr sz="4400" dirty="0">
              <a:latin typeface="Cambria"/>
              <a:cs typeface="Cambria"/>
            </a:endParaRPr>
          </a:p>
        </p:txBody>
      </p:sp>
      <p:graphicFrame>
        <p:nvGraphicFramePr>
          <p:cNvPr id="6" name="Table 5">
            <a:extLst>
              <a:ext uri="{FF2B5EF4-FFF2-40B4-BE49-F238E27FC236}">
                <a16:creationId xmlns:a16="http://schemas.microsoft.com/office/drawing/2014/main" id="{3274FC25-AF19-EB1D-E237-6FBBAC5F9FDA}"/>
              </a:ext>
            </a:extLst>
          </p:cNvPr>
          <p:cNvGraphicFramePr>
            <a:graphicFrameLocks noGrp="1"/>
          </p:cNvGraphicFramePr>
          <p:nvPr>
            <p:extLst>
              <p:ext uri="{D42A27DB-BD31-4B8C-83A1-F6EECF244321}">
                <p14:modId xmlns:p14="http://schemas.microsoft.com/office/powerpoint/2010/main" val="1509321896"/>
              </p:ext>
            </p:extLst>
          </p:nvPr>
        </p:nvGraphicFramePr>
        <p:xfrm>
          <a:off x="2590800" y="2325315"/>
          <a:ext cx="8618646" cy="2921364"/>
        </p:xfrm>
        <a:graphic>
          <a:graphicData uri="http://schemas.openxmlformats.org/drawingml/2006/table">
            <a:tbl>
              <a:tblPr/>
              <a:tblGrid>
                <a:gridCol w="1752600">
                  <a:extLst>
                    <a:ext uri="{9D8B030D-6E8A-4147-A177-3AD203B41FA5}">
                      <a16:colId xmlns:a16="http://schemas.microsoft.com/office/drawing/2014/main" val="4280111035"/>
                    </a:ext>
                  </a:extLst>
                </a:gridCol>
                <a:gridCol w="2514600">
                  <a:extLst>
                    <a:ext uri="{9D8B030D-6E8A-4147-A177-3AD203B41FA5}">
                      <a16:colId xmlns:a16="http://schemas.microsoft.com/office/drawing/2014/main" val="172042649"/>
                    </a:ext>
                  </a:extLst>
                </a:gridCol>
                <a:gridCol w="4351446">
                  <a:extLst>
                    <a:ext uri="{9D8B030D-6E8A-4147-A177-3AD203B41FA5}">
                      <a16:colId xmlns:a16="http://schemas.microsoft.com/office/drawing/2014/main" val="2998585911"/>
                    </a:ext>
                  </a:extLst>
                </a:gridCol>
              </a:tblGrid>
              <a:tr h="391130">
                <a:tc>
                  <a:txBody>
                    <a:bodyPr/>
                    <a:lstStyle/>
                    <a:p>
                      <a:pPr rtl="0">
                        <a:buNone/>
                      </a:pPr>
                      <a:r>
                        <a:rPr lang="en-IN" sz="2400" b="1">
                          <a:solidFill>
                            <a:srgbClr val="1F1F1F"/>
                          </a:solidFill>
                          <a:effectLst/>
                          <a:latin typeface="Google Sans Text"/>
                        </a:rPr>
                        <a:t>Algorithm</a:t>
                      </a:r>
                      <a:endParaRPr lang="en-IN" sz="2400">
                        <a:solidFill>
                          <a:srgbClr val="1F1F1F"/>
                        </a:solidFill>
                        <a:effectLst/>
                        <a:latin typeface="Google Sans Text"/>
                      </a:endParaRPr>
                    </a:p>
                  </a:txBody>
                  <a:tcPr marL="90261" marR="90261" marT="60174" marB="6017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2400" b="1" dirty="0">
                          <a:solidFill>
                            <a:srgbClr val="1F1F1F"/>
                          </a:solidFill>
                          <a:effectLst/>
                          <a:latin typeface="Google Sans Text"/>
                        </a:rPr>
                        <a:t>Is it Complete?</a:t>
                      </a:r>
                      <a:endParaRPr lang="en-IN" sz="2400" dirty="0">
                        <a:solidFill>
                          <a:srgbClr val="1F1F1F"/>
                        </a:solidFill>
                        <a:effectLst/>
                        <a:latin typeface="Google Sans Text"/>
                      </a:endParaRPr>
                    </a:p>
                  </a:txBody>
                  <a:tcPr marL="90261" marR="90261" marT="60174" marB="6017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2400" b="1">
                          <a:solidFill>
                            <a:srgbClr val="1F1F1F"/>
                          </a:solidFill>
                          <a:effectLst/>
                          <a:latin typeface="Google Sans Text"/>
                        </a:rPr>
                        <a:t>The Reason</a:t>
                      </a:r>
                      <a:endParaRPr lang="en-IN" sz="2400">
                        <a:solidFill>
                          <a:srgbClr val="1F1F1F"/>
                        </a:solidFill>
                        <a:effectLst/>
                        <a:latin typeface="Google Sans Text"/>
                      </a:endParaRPr>
                    </a:p>
                  </a:txBody>
                  <a:tcPr marL="90261" marR="90261" marT="60174" marB="6017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721039119"/>
                  </a:ext>
                </a:extLst>
              </a:tr>
              <a:tr h="661912">
                <a:tc>
                  <a:txBody>
                    <a:bodyPr/>
                    <a:lstStyle/>
                    <a:p>
                      <a:pPr rtl="0">
                        <a:buNone/>
                      </a:pPr>
                      <a:r>
                        <a:rPr lang="en-IN" sz="2400" b="1">
                          <a:solidFill>
                            <a:srgbClr val="1F1F1F"/>
                          </a:solidFill>
                          <a:effectLst/>
                          <a:latin typeface="Google Sans Text"/>
                        </a:rPr>
                        <a:t>BFS</a:t>
                      </a:r>
                      <a:endParaRPr lang="en-IN" sz="2400">
                        <a:solidFill>
                          <a:srgbClr val="1F1F1F"/>
                        </a:solidFill>
                        <a:effectLst/>
                        <a:latin typeface="Google Sans Text"/>
                      </a:endParaRPr>
                    </a:p>
                  </a:txBody>
                  <a:tcPr marL="90261" marR="90261" marT="60174" marB="6017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2400" b="1" dirty="0">
                          <a:solidFill>
                            <a:srgbClr val="1F1F1F"/>
                          </a:solidFill>
                          <a:effectLst/>
                          <a:latin typeface="Google Sans Text"/>
                        </a:rPr>
                        <a:t>✅ YES</a:t>
                      </a:r>
                      <a:endParaRPr lang="en-IN" sz="2400" dirty="0">
                        <a:solidFill>
                          <a:srgbClr val="1F1F1F"/>
                        </a:solidFill>
                        <a:effectLst/>
                        <a:latin typeface="Google Sans Text"/>
                      </a:endParaRPr>
                    </a:p>
                  </a:txBody>
                  <a:tcPr marL="90261" marR="90261" marT="60174" marB="6017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2400">
                          <a:solidFill>
                            <a:srgbClr val="1F1F1F"/>
                          </a:solidFill>
                          <a:effectLst/>
                          <a:latin typeface="Google Sans Text"/>
                        </a:rPr>
                        <a:t>It explores the tree level-by-level. It never skips a floor.</a:t>
                      </a:r>
                    </a:p>
                  </a:txBody>
                  <a:tcPr marL="90261" marR="90261" marT="60174" marB="6017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425937751"/>
                  </a:ext>
                </a:extLst>
              </a:tr>
              <a:tr h="1474258">
                <a:tc>
                  <a:txBody>
                    <a:bodyPr/>
                    <a:lstStyle/>
                    <a:p>
                      <a:pPr rtl="0">
                        <a:buNone/>
                      </a:pPr>
                      <a:r>
                        <a:rPr lang="en-IN" sz="2400" b="1">
                          <a:solidFill>
                            <a:srgbClr val="1F1F1F"/>
                          </a:solidFill>
                          <a:effectLst/>
                          <a:latin typeface="Google Sans Text"/>
                        </a:rPr>
                        <a:t>DFS</a:t>
                      </a:r>
                      <a:endParaRPr lang="en-IN" sz="2400">
                        <a:solidFill>
                          <a:srgbClr val="1F1F1F"/>
                        </a:solidFill>
                        <a:effectLst/>
                        <a:latin typeface="Google Sans Text"/>
                      </a:endParaRPr>
                    </a:p>
                  </a:txBody>
                  <a:tcPr marL="90261" marR="90261" marT="60174" marB="6017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2400" b="1">
                          <a:solidFill>
                            <a:srgbClr val="1F1F1F"/>
                          </a:solidFill>
                          <a:effectLst/>
                          <a:latin typeface="Google Sans Text"/>
                        </a:rPr>
                        <a:t>❌ NO</a:t>
                      </a:r>
                      <a:endParaRPr lang="en-IN" sz="2400">
                        <a:solidFill>
                          <a:srgbClr val="1F1F1F"/>
                        </a:solidFill>
                        <a:effectLst/>
                        <a:latin typeface="Google Sans Text"/>
                      </a:endParaRPr>
                    </a:p>
                  </a:txBody>
                  <a:tcPr marL="90261" marR="90261" marT="60174" marB="6017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2400" dirty="0">
                          <a:solidFill>
                            <a:srgbClr val="1F1F1F"/>
                          </a:solidFill>
                          <a:effectLst/>
                          <a:latin typeface="Google Sans Text"/>
                        </a:rPr>
                        <a:t>It can get stuck in an </a:t>
                      </a:r>
                      <a:r>
                        <a:rPr lang="en-US" sz="2400" b="1" dirty="0">
                          <a:solidFill>
                            <a:srgbClr val="1F1F1F"/>
                          </a:solidFill>
                          <a:effectLst/>
                          <a:latin typeface="Google Sans Text"/>
                        </a:rPr>
                        <a:t>infinite path</a:t>
                      </a:r>
                      <a:r>
                        <a:rPr lang="en-US" sz="2400" dirty="0">
                          <a:solidFill>
                            <a:srgbClr val="1F1F1F"/>
                          </a:solidFill>
                          <a:effectLst/>
                          <a:latin typeface="Google Sans Text"/>
                        </a:rPr>
                        <a:t>. If one branch never ends, DFS will follow it forever and never "backtrack" to the goal.</a:t>
                      </a:r>
                    </a:p>
                  </a:txBody>
                  <a:tcPr marL="90261" marR="90261" marT="60174" marB="6017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957817209"/>
                  </a:ext>
                </a:extLst>
              </a:tr>
            </a:tbl>
          </a:graphicData>
        </a:graphic>
      </p:graphicFrame>
    </p:spTree>
    <p:extLst>
      <p:ext uri="{BB962C8B-B14F-4D97-AF65-F5344CB8AC3E}">
        <p14:creationId xmlns:p14="http://schemas.microsoft.com/office/powerpoint/2010/main" val="207966407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58209F-5017-6606-60FB-1D3F1218ED80}"/>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8D2D3F9-DA2A-F669-12A1-A5B2D38E75D1}"/>
              </a:ext>
            </a:extLst>
          </p:cNvPr>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FDFBF7"/>
          </a:solidFill>
        </p:spPr>
        <p:txBody>
          <a:bodyPr wrap="square" lIns="0" tIns="0" rIns="0" bIns="0" rtlCol="0"/>
          <a:lstStyle/>
          <a:p>
            <a:endParaRPr/>
          </a:p>
        </p:txBody>
      </p:sp>
      <p:grpSp>
        <p:nvGrpSpPr>
          <p:cNvPr id="3" name="object 3">
            <a:extLst>
              <a:ext uri="{FF2B5EF4-FFF2-40B4-BE49-F238E27FC236}">
                <a16:creationId xmlns:a16="http://schemas.microsoft.com/office/drawing/2014/main" id="{ECCBD777-CF5B-FF5D-5540-B690C53666F8}"/>
              </a:ext>
            </a:extLst>
          </p:cNvPr>
          <p:cNvGrpSpPr/>
          <p:nvPr/>
        </p:nvGrpSpPr>
        <p:grpSpPr>
          <a:xfrm>
            <a:off x="424984" y="432816"/>
            <a:ext cx="11280098" cy="6123432"/>
            <a:chOff x="424984" y="432816"/>
            <a:chExt cx="11280098" cy="6123432"/>
          </a:xfrm>
        </p:grpSpPr>
        <p:pic>
          <p:nvPicPr>
            <p:cNvPr id="4" name="object 4">
              <a:extLst>
                <a:ext uri="{FF2B5EF4-FFF2-40B4-BE49-F238E27FC236}">
                  <a16:creationId xmlns:a16="http://schemas.microsoft.com/office/drawing/2014/main" id="{73DD0190-75A0-94F5-8409-1F2D00F53E92}"/>
                </a:ext>
              </a:extLst>
            </p:cNvPr>
            <p:cNvPicPr/>
            <p:nvPr/>
          </p:nvPicPr>
          <p:blipFill>
            <a:blip r:embed="rId2" cstate="print"/>
            <a:stretch>
              <a:fillRect/>
            </a:stretch>
          </p:blipFill>
          <p:spPr>
            <a:xfrm>
              <a:off x="424984" y="432816"/>
              <a:ext cx="3459183" cy="6123432"/>
            </a:xfrm>
            <a:prstGeom prst="rect">
              <a:avLst/>
            </a:prstGeom>
          </p:spPr>
        </p:pic>
        <p:sp>
          <p:nvSpPr>
            <p:cNvPr id="5" name="object 5">
              <a:extLst>
                <a:ext uri="{FF2B5EF4-FFF2-40B4-BE49-F238E27FC236}">
                  <a16:creationId xmlns:a16="http://schemas.microsoft.com/office/drawing/2014/main" id="{0031E388-DE07-0715-8F9B-08F53E2564AD}"/>
                </a:ext>
              </a:extLst>
            </p:cNvPr>
            <p:cNvSpPr/>
            <p:nvPr/>
          </p:nvSpPr>
          <p:spPr>
            <a:xfrm>
              <a:off x="2934462" y="2177033"/>
              <a:ext cx="8770620" cy="0"/>
            </a:xfrm>
            <a:custGeom>
              <a:avLst/>
              <a:gdLst/>
              <a:ahLst/>
              <a:cxnLst/>
              <a:rect l="l" t="t" r="r" b="b"/>
              <a:pathLst>
                <a:path w="8770620">
                  <a:moveTo>
                    <a:pt x="0" y="0"/>
                  </a:moveTo>
                  <a:lnTo>
                    <a:pt x="8770619" y="0"/>
                  </a:lnTo>
                </a:path>
              </a:pathLst>
            </a:custGeom>
            <a:ln w="38100">
              <a:solidFill>
                <a:srgbClr val="79A8A3"/>
              </a:solidFill>
            </a:ln>
          </p:spPr>
          <p:txBody>
            <a:bodyPr wrap="square" lIns="0" tIns="0" rIns="0" bIns="0" rtlCol="0"/>
            <a:lstStyle/>
            <a:p>
              <a:endParaRPr/>
            </a:p>
          </p:txBody>
        </p:sp>
      </p:grpSp>
      <p:sp>
        <p:nvSpPr>
          <p:cNvPr id="7" name="object 7" descr="$PPTXTitle">
            <a:extLst>
              <a:ext uri="{FF2B5EF4-FFF2-40B4-BE49-F238E27FC236}">
                <a16:creationId xmlns:a16="http://schemas.microsoft.com/office/drawing/2014/main" id="{F1A90418-BFB9-44B6-3714-1DF7F52362B7}"/>
              </a:ext>
            </a:extLst>
          </p:cNvPr>
          <p:cNvSpPr txBox="1">
            <a:spLocks noGrp="1"/>
          </p:cNvSpPr>
          <p:nvPr>
            <p:ph type="title"/>
          </p:nvPr>
        </p:nvSpPr>
        <p:spPr>
          <a:xfrm>
            <a:off x="1981960" y="589229"/>
            <a:ext cx="10210040" cy="690574"/>
          </a:xfrm>
          <a:prstGeom prst="rect">
            <a:avLst/>
          </a:prstGeom>
        </p:spPr>
        <p:txBody>
          <a:bodyPr vert="horz" wrap="square" lIns="0" tIns="13335" rIns="0" bIns="0" rtlCol="0">
            <a:spAutoFit/>
          </a:bodyPr>
          <a:lstStyle/>
          <a:p>
            <a:pPr marL="12700">
              <a:spcBef>
                <a:spcPts val="105"/>
              </a:spcBef>
              <a:tabLst>
                <a:tab pos="1043305" algn="l"/>
              </a:tabLst>
            </a:pPr>
            <a:r>
              <a:rPr lang="en-US" sz="4400" b="0" spc="-50" dirty="0">
                <a:solidFill>
                  <a:srgbClr val="464A56"/>
                </a:solidFill>
                <a:latin typeface="Cambria"/>
                <a:cs typeface="Cambria"/>
              </a:rPr>
              <a:t>4</a:t>
            </a:r>
            <a:r>
              <a:rPr sz="4400" b="0" dirty="0">
                <a:solidFill>
                  <a:srgbClr val="464A56"/>
                </a:solidFill>
                <a:latin typeface="Cambria"/>
                <a:cs typeface="Cambria"/>
              </a:rPr>
              <a:t>	</a:t>
            </a:r>
            <a:r>
              <a:rPr lang="en-IN" sz="4400" dirty="0"/>
              <a:t> Classroom Discussion Point</a:t>
            </a:r>
            <a:endParaRPr sz="4400" dirty="0">
              <a:latin typeface="Cambria"/>
              <a:cs typeface="Cambria"/>
            </a:endParaRPr>
          </a:p>
        </p:txBody>
      </p:sp>
      <p:sp>
        <p:nvSpPr>
          <p:cNvPr id="8" name="TextBox 7">
            <a:extLst>
              <a:ext uri="{FF2B5EF4-FFF2-40B4-BE49-F238E27FC236}">
                <a16:creationId xmlns:a16="http://schemas.microsoft.com/office/drawing/2014/main" id="{CD9E7A82-36D1-7F33-A9D0-7D576DF021CD}"/>
              </a:ext>
            </a:extLst>
          </p:cNvPr>
          <p:cNvSpPr txBox="1"/>
          <p:nvPr/>
        </p:nvSpPr>
        <p:spPr>
          <a:xfrm>
            <a:off x="2514600" y="2506163"/>
            <a:ext cx="8915400" cy="1754326"/>
          </a:xfrm>
          <a:prstGeom prst="rect">
            <a:avLst/>
          </a:prstGeom>
          <a:noFill/>
        </p:spPr>
        <p:txBody>
          <a:bodyPr wrap="square">
            <a:spAutoFit/>
          </a:bodyPr>
          <a:lstStyle/>
          <a:p>
            <a:r>
              <a:rPr lang="en-US" sz="3600" b="1" dirty="0"/>
              <a:t>Question:</a:t>
            </a:r>
            <a:r>
              <a:rPr lang="en-US" sz="3600" dirty="0"/>
              <a:t> "What if the state space is </a:t>
            </a:r>
            <a:r>
              <a:rPr lang="en-US" sz="3600" b="1" dirty="0"/>
              <a:t>finite</a:t>
            </a:r>
            <a:r>
              <a:rPr lang="en-US" sz="3600" dirty="0"/>
              <a:t> (the library has a bottom floor)? Is DFS complete then?"</a:t>
            </a:r>
          </a:p>
        </p:txBody>
      </p:sp>
    </p:spTree>
    <p:extLst>
      <p:ext uri="{BB962C8B-B14F-4D97-AF65-F5344CB8AC3E}">
        <p14:creationId xmlns:p14="http://schemas.microsoft.com/office/powerpoint/2010/main" val="381507817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36EE80-C65C-B4DB-7C92-B105331B515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0BCCE67-984F-5867-C498-ACC53F1C0BB9}"/>
              </a:ext>
            </a:extLst>
          </p:cNvPr>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FDFBF7"/>
          </a:solidFill>
        </p:spPr>
        <p:txBody>
          <a:bodyPr wrap="square" lIns="0" tIns="0" rIns="0" bIns="0" rtlCol="0"/>
          <a:lstStyle/>
          <a:p>
            <a:endParaRPr/>
          </a:p>
        </p:txBody>
      </p:sp>
      <p:grpSp>
        <p:nvGrpSpPr>
          <p:cNvPr id="3" name="object 3">
            <a:extLst>
              <a:ext uri="{FF2B5EF4-FFF2-40B4-BE49-F238E27FC236}">
                <a16:creationId xmlns:a16="http://schemas.microsoft.com/office/drawing/2014/main" id="{34577F13-DDFF-9DC0-3BBC-82091F367305}"/>
              </a:ext>
            </a:extLst>
          </p:cNvPr>
          <p:cNvGrpSpPr/>
          <p:nvPr/>
        </p:nvGrpSpPr>
        <p:grpSpPr>
          <a:xfrm>
            <a:off x="424984" y="432816"/>
            <a:ext cx="11280098" cy="6123432"/>
            <a:chOff x="424984" y="432816"/>
            <a:chExt cx="11280098" cy="6123432"/>
          </a:xfrm>
        </p:grpSpPr>
        <p:pic>
          <p:nvPicPr>
            <p:cNvPr id="4" name="object 4">
              <a:extLst>
                <a:ext uri="{FF2B5EF4-FFF2-40B4-BE49-F238E27FC236}">
                  <a16:creationId xmlns:a16="http://schemas.microsoft.com/office/drawing/2014/main" id="{795166C4-6BFA-F818-E3E1-C6822D5E647C}"/>
                </a:ext>
              </a:extLst>
            </p:cNvPr>
            <p:cNvPicPr/>
            <p:nvPr/>
          </p:nvPicPr>
          <p:blipFill>
            <a:blip r:embed="rId2" cstate="print"/>
            <a:stretch>
              <a:fillRect/>
            </a:stretch>
          </p:blipFill>
          <p:spPr>
            <a:xfrm>
              <a:off x="424984" y="432816"/>
              <a:ext cx="3459183" cy="6123432"/>
            </a:xfrm>
            <a:prstGeom prst="rect">
              <a:avLst/>
            </a:prstGeom>
          </p:spPr>
        </p:pic>
        <p:sp>
          <p:nvSpPr>
            <p:cNvPr id="5" name="object 5">
              <a:extLst>
                <a:ext uri="{FF2B5EF4-FFF2-40B4-BE49-F238E27FC236}">
                  <a16:creationId xmlns:a16="http://schemas.microsoft.com/office/drawing/2014/main" id="{11FFCFEA-95AF-3578-A249-9748B7786124}"/>
                </a:ext>
              </a:extLst>
            </p:cNvPr>
            <p:cNvSpPr/>
            <p:nvPr/>
          </p:nvSpPr>
          <p:spPr>
            <a:xfrm>
              <a:off x="2934462" y="2177033"/>
              <a:ext cx="8770620" cy="0"/>
            </a:xfrm>
            <a:custGeom>
              <a:avLst/>
              <a:gdLst/>
              <a:ahLst/>
              <a:cxnLst/>
              <a:rect l="l" t="t" r="r" b="b"/>
              <a:pathLst>
                <a:path w="8770620">
                  <a:moveTo>
                    <a:pt x="0" y="0"/>
                  </a:moveTo>
                  <a:lnTo>
                    <a:pt x="8770619" y="0"/>
                  </a:lnTo>
                </a:path>
              </a:pathLst>
            </a:custGeom>
            <a:ln w="38100">
              <a:solidFill>
                <a:srgbClr val="79A8A3"/>
              </a:solidFill>
            </a:ln>
          </p:spPr>
          <p:txBody>
            <a:bodyPr wrap="square" lIns="0" tIns="0" rIns="0" bIns="0" rtlCol="0"/>
            <a:lstStyle/>
            <a:p>
              <a:endParaRPr/>
            </a:p>
          </p:txBody>
        </p:sp>
      </p:grpSp>
      <p:sp>
        <p:nvSpPr>
          <p:cNvPr id="7" name="object 7" descr="$PPTXTitle">
            <a:extLst>
              <a:ext uri="{FF2B5EF4-FFF2-40B4-BE49-F238E27FC236}">
                <a16:creationId xmlns:a16="http://schemas.microsoft.com/office/drawing/2014/main" id="{414C0843-0794-3CB6-17FD-9D7349FA2BAF}"/>
              </a:ext>
            </a:extLst>
          </p:cNvPr>
          <p:cNvSpPr txBox="1">
            <a:spLocks noGrp="1"/>
          </p:cNvSpPr>
          <p:nvPr>
            <p:ph type="title"/>
          </p:nvPr>
        </p:nvSpPr>
        <p:spPr>
          <a:xfrm>
            <a:off x="1981960" y="589229"/>
            <a:ext cx="10210040" cy="690574"/>
          </a:xfrm>
          <a:prstGeom prst="rect">
            <a:avLst/>
          </a:prstGeom>
        </p:spPr>
        <p:txBody>
          <a:bodyPr vert="horz" wrap="square" lIns="0" tIns="13335" rIns="0" bIns="0" rtlCol="0">
            <a:spAutoFit/>
          </a:bodyPr>
          <a:lstStyle/>
          <a:p>
            <a:pPr marL="12700">
              <a:spcBef>
                <a:spcPts val="105"/>
              </a:spcBef>
              <a:tabLst>
                <a:tab pos="1043305" algn="l"/>
              </a:tabLst>
            </a:pPr>
            <a:r>
              <a:rPr lang="en-US" sz="4400" b="0" spc="-50" dirty="0">
                <a:solidFill>
                  <a:srgbClr val="464A56"/>
                </a:solidFill>
                <a:latin typeface="Cambria"/>
                <a:cs typeface="Cambria"/>
              </a:rPr>
              <a:t>4</a:t>
            </a:r>
            <a:r>
              <a:rPr sz="4400" b="0" dirty="0">
                <a:solidFill>
                  <a:srgbClr val="464A56"/>
                </a:solidFill>
                <a:latin typeface="Cambria"/>
                <a:cs typeface="Cambria"/>
              </a:rPr>
              <a:t>	</a:t>
            </a:r>
            <a:r>
              <a:rPr lang="en-IN" sz="4400" dirty="0"/>
              <a:t> 2. What is Optimality?</a:t>
            </a:r>
            <a:endParaRPr sz="4400" dirty="0">
              <a:latin typeface="Cambria"/>
              <a:cs typeface="Cambria"/>
            </a:endParaRPr>
          </a:p>
        </p:txBody>
      </p:sp>
      <p:sp>
        <p:nvSpPr>
          <p:cNvPr id="8" name="TextBox 7">
            <a:extLst>
              <a:ext uri="{FF2B5EF4-FFF2-40B4-BE49-F238E27FC236}">
                <a16:creationId xmlns:a16="http://schemas.microsoft.com/office/drawing/2014/main" id="{6323DD18-6769-D1A0-5684-F6EC0EB4150B}"/>
              </a:ext>
            </a:extLst>
          </p:cNvPr>
          <p:cNvSpPr txBox="1"/>
          <p:nvPr/>
        </p:nvSpPr>
        <p:spPr>
          <a:xfrm>
            <a:off x="2514600" y="2506163"/>
            <a:ext cx="9448800" cy="3046988"/>
          </a:xfrm>
          <a:prstGeom prst="rect">
            <a:avLst/>
          </a:prstGeom>
          <a:noFill/>
        </p:spPr>
        <p:txBody>
          <a:bodyPr wrap="square">
            <a:spAutoFit/>
          </a:bodyPr>
          <a:lstStyle/>
          <a:p>
            <a:r>
              <a:rPr lang="en-US" sz="3200" dirty="0"/>
              <a:t>"If there are multiple ways to solve the problem, will the algorithm find the best one?“</a:t>
            </a:r>
          </a:p>
          <a:p>
            <a:endParaRPr lang="en-US" sz="3200" dirty="0"/>
          </a:p>
          <a:p>
            <a:r>
              <a:rPr lang="en-US" sz="3200" dirty="0"/>
              <a:t>In AI, "Best" usually means:</a:t>
            </a:r>
          </a:p>
          <a:p>
            <a:r>
              <a:rPr lang="en-US" sz="3200" dirty="0"/>
              <a:t>The </a:t>
            </a:r>
            <a:r>
              <a:rPr lang="en-US" sz="3200" b="1" dirty="0"/>
              <a:t>shortest</a:t>
            </a:r>
            <a:r>
              <a:rPr lang="en-US" sz="3200" dirty="0"/>
              <a:t> path (fewer steps).</a:t>
            </a:r>
          </a:p>
          <a:p>
            <a:r>
              <a:rPr lang="en-US" sz="3200" dirty="0"/>
              <a:t>The </a:t>
            </a:r>
            <a:r>
              <a:rPr lang="en-US" sz="3200" b="1" dirty="0"/>
              <a:t>cheapest</a:t>
            </a:r>
            <a:r>
              <a:rPr lang="en-US" sz="3200" dirty="0"/>
              <a:t> path (less fuel or money).</a:t>
            </a:r>
          </a:p>
        </p:txBody>
      </p:sp>
    </p:spTree>
    <p:extLst>
      <p:ext uri="{BB962C8B-B14F-4D97-AF65-F5344CB8AC3E}">
        <p14:creationId xmlns:p14="http://schemas.microsoft.com/office/powerpoint/2010/main" val="396027921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4705CE-EE9C-C259-CBF7-B601B3124DE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2AD7B36-5209-B02F-2AA9-8BA9D67C7FDD}"/>
              </a:ext>
            </a:extLst>
          </p:cNvPr>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FDFBF7"/>
          </a:solidFill>
        </p:spPr>
        <p:txBody>
          <a:bodyPr wrap="square" lIns="0" tIns="0" rIns="0" bIns="0" rtlCol="0"/>
          <a:lstStyle/>
          <a:p>
            <a:endParaRPr/>
          </a:p>
        </p:txBody>
      </p:sp>
      <p:grpSp>
        <p:nvGrpSpPr>
          <p:cNvPr id="3" name="object 3">
            <a:extLst>
              <a:ext uri="{FF2B5EF4-FFF2-40B4-BE49-F238E27FC236}">
                <a16:creationId xmlns:a16="http://schemas.microsoft.com/office/drawing/2014/main" id="{ED5710D2-AC2E-C461-B583-09F3D1050CA7}"/>
              </a:ext>
            </a:extLst>
          </p:cNvPr>
          <p:cNvGrpSpPr/>
          <p:nvPr/>
        </p:nvGrpSpPr>
        <p:grpSpPr>
          <a:xfrm>
            <a:off x="424984" y="432816"/>
            <a:ext cx="11280098" cy="6123432"/>
            <a:chOff x="424984" y="432816"/>
            <a:chExt cx="11280098" cy="6123432"/>
          </a:xfrm>
        </p:grpSpPr>
        <p:pic>
          <p:nvPicPr>
            <p:cNvPr id="4" name="object 4">
              <a:extLst>
                <a:ext uri="{FF2B5EF4-FFF2-40B4-BE49-F238E27FC236}">
                  <a16:creationId xmlns:a16="http://schemas.microsoft.com/office/drawing/2014/main" id="{0D970181-0EDF-BEAB-DBC7-9C2F1B804869}"/>
                </a:ext>
              </a:extLst>
            </p:cNvPr>
            <p:cNvPicPr/>
            <p:nvPr/>
          </p:nvPicPr>
          <p:blipFill>
            <a:blip r:embed="rId2" cstate="print"/>
            <a:stretch>
              <a:fillRect/>
            </a:stretch>
          </p:blipFill>
          <p:spPr>
            <a:xfrm>
              <a:off x="424984" y="432816"/>
              <a:ext cx="3459183" cy="6123432"/>
            </a:xfrm>
            <a:prstGeom prst="rect">
              <a:avLst/>
            </a:prstGeom>
          </p:spPr>
        </p:pic>
        <p:sp>
          <p:nvSpPr>
            <p:cNvPr id="5" name="object 5">
              <a:extLst>
                <a:ext uri="{FF2B5EF4-FFF2-40B4-BE49-F238E27FC236}">
                  <a16:creationId xmlns:a16="http://schemas.microsoft.com/office/drawing/2014/main" id="{CB793EC2-A66C-372C-DD40-4520449E7215}"/>
                </a:ext>
              </a:extLst>
            </p:cNvPr>
            <p:cNvSpPr/>
            <p:nvPr/>
          </p:nvSpPr>
          <p:spPr>
            <a:xfrm>
              <a:off x="2934462" y="2177033"/>
              <a:ext cx="8770620" cy="0"/>
            </a:xfrm>
            <a:custGeom>
              <a:avLst/>
              <a:gdLst/>
              <a:ahLst/>
              <a:cxnLst/>
              <a:rect l="l" t="t" r="r" b="b"/>
              <a:pathLst>
                <a:path w="8770620">
                  <a:moveTo>
                    <a:pt x="0" y="0"/>
                  </a:moveTo>
                  <a:lnTo>
                    <a:pt x="8770619" y="0"/>
                  </a:lnTo>
                </a:path>
              </a:pathLst>
            </a:custGeom>
            <a:ln w="38100">
              <a:solidFill>
                <a:srgbClr val="79A8A3"/>
              </a:solidFill>
            </a:ln>
          </p:spPr>
          <p:txBody>
            <a:bodyPr wrap="square" lIns="0" tIns="0" rIns="0" bIns="0" rtlCol="0"/>
            <a:lstStyle/>
            <a:p>
              <a:endParaRPr/>
            </a:p>
          </p:txBody>
        </p:sp>
      </p:grpSp>
      <p:sp>
        <p:nvSpPr>
          <p:cNvPr id="7" name="object 7" descr="$PPTXTitle">
            <a:extLst>
              <a:ext uri="{FF2B5EF4-FFF2-40B4-BE49-F238E27FC236}">
                <a16:creationId xmlns:a16="http://schemas.microsoft.com/office/drawing/2014/main" id="{36C624E4-683F-7DA6-3D15-EC662F71C970}"/>
              </a:ext>
            </a:extLst>
          </p:cNvPr>
          <p:cNvSpPr txBox="1">
            <a:spLocks noGrp="1"/>
          </p:cNvSpPr>
          <p:nvPr>
            <p:ph type="title"/>
          </p:nvPr>
        </p:nvSpPr>
        <p:spPr>
          <a:xfrm>
            <a:off x="1981960" y="589229"/>
            <a:ext cx="10210040" cy="690574"/>
          </a:xfrm>
          <a:prstGeom prst="rect">
            <a:avLst/>
          </a:prstGeom>
        </p:spPr>
        <p:txBody>
          <a:bodyPr vert="horz" wrap="square" lIns="0" tIns="13335" rIns="0" bIns="0" rtlCol="0">
            <a:spAutoFit/>
          </a:bodyPr>
          <a:lstStyle/>
          <a:p>
            <a:pPr marL="12700">
              <a:spcBef>
                <a:spcPts val="105"/>
              </a:spcBef>
              <a:tabLst>
                <a:tab pos="1043305" algn="l"/>
              </a:tabLst>
            </a:pPr>
            <a:r>
              <a:rPr lang="en-US" sz="4400" b="0" spc="-50" dirty="0">
                <a:solidFill>
                  <a:srgbClr val="464A56"/>
                </a:solidFill>
                <a:latin typeface="Cambria"/>
                <a:cs typeface="Cambria"/>
              </a:rPr>
              <a:t>4</a:t>
            </a:r>
            <a:r>
              <a:rPr sz="4400" b="0" dirty="0">
                <a:solidFill>
                  <a:srgbClr val="464A56"/>
                </a:solidFill>
                <a:latin typeface="Cambria"/>
                <a:cs typeface="Cambria"/>
              </a:rPr>
              <a:t>	</a:t>
            </a:r>
            <a:r>
              <a:rPr lang="en-IN" sz="4400" dirty="0"/>
              <a:t> </a:t>
            </a:r>
            <a:r>
              <a:rPr lang="en-US" sz="4400" dirty="0"/>
              <a:t>The Story: The Two Pizza Shops</a:t>
            </a:r>
            <a:endParaRPr sz="4400" dirty="0">
              <a:latin typeface="Cambria"/>
              <a:cs typeface="Cambria"/>
            </a:endParaRPr>
          </a:p>
        </p:txBody>
      </p:sp>
      <p:sp>
        <p:nvSpPr>
          <p:cNvPr id="8" name="TextBox 7">
            <a:extLst>
              <a:ext uri="{FF2B5EF4-FFF2-40B4-BE49-F238E27FC236}">
                <a16:creationId xmlns:a16="http://schemas.microsoft.com/office/drawing/2014/main" id="{AB71952C-791D-0332-91A5-4A918B77769D}"/>
              </a:ext>
            </a:extLst>
          </p:cNvPr>
          <p:cNvSpPr txBox="1"/>
          <p:nvPr/>
        </p:nvSpPr>
        <p:spPr>
          <a:xfrm>
            <a:off x="2514600" y="2506163"/>
            <a:ext cx="9906000" cy="954107"/>
          </a:xfrm>
          <a:prstGeom prst="rect">
            <a:avLst/>
          </a:prstGeom>
          <a:noFill/>
        </p:spPr>
        <p:txBody>
          <a:bodyPr wrap="square">
            <a:spAutoFit/>
          </a:bodyPr>
          <a:lstStyle/>
          <a:p>
            <a:r>
              <a:rPr lang="en-US" sz="2800" dirty="0"/>
              <a:t>Imagine you are hungry. There is a Pizza Shop </a:t>
            </a:r>
            <a:r>
              <a:rPr lang="en-US" sz="2800" b="1" dirty="0"/>
              <a:t>2 blocks away</a:t>
            </a:r>
            <a:r>
              <a:rPr lang="en-US" sz="2800" dirty="0"/>
              <a:t>, and another one </a:t>
            </a:r>
            <a:r>
              <a:rPr lang="en-US" sz="2800" b="1" dirty="0"/>
              <a:t>10 blocks away</a:t>
            </a:r>
            <a:r>
              <a:rPr lang="en-US" sz="2800" dirty="0"/>
              <a:t>.</a:t>
            </a:r>
          </a:p>
        </p:txBody>
      </p:sp>
    </p:spTree>
    <p:extLst>
      <p:ext uri="{BB962C8B-B14F-4D97-AF65-F5344CB8AC3E}">
        <p14:creationId xmlns:p14="http://schemas.microsoft.com/office/powerpoint/2010/main" val="424020455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5DEF3D-093B-EC67-AE3C-98083026DB6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0B2D569-2CE6-59DB-4F05-EC570A99D18D}"/>
              </a:ext>
            </a:extLst>
          </p:cNvPr>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FDFBF7"/>
          </a:solidFill>
        </p:spPr>
        <p:txBody>
          <a:bodyPr wrap="square" lIns="0" tIns="0" rIns="0" bIns="0" rtlCol="0"/>
          <a:lstStyle/>
          <a:p>
            <a:endParaRPr/>
          </a:p>
        </p:txBody>
      </p:sp>
      <p:grpSp>
        <p:nvGrpSpPr>
          <p:cNvPr id="3" name="object 3">
            <a:extLst>
              <a:ext uri="{FF2B5EF4-FFF2-40B4-BE49-F238E27FC236}">
                <a16:creationId xmlns:a16="http://schemas.microsoft.com/office/drawing/2014/main" id="{61DD3AC1-9952-F2A4-0E6A-F6317D15ED2D}"/>
              </a:ext>
            </a:extLst>
          </p:cNvPr>
          <p:cNvGrpSpPr/>
          <p:nvPr/>
        </p:nvGrpSpPr>
        <p:grpSpPr>
          <a:xfrm>
            <a:off x="424984" y="432816"/>
            <a:ext cx="11280098" cy="6123432"/>
            <a:chOff x="424984" y="432816"/>
            <a:chExt cx="11280098" cy="6123432"/>
          </a:xfrm>
        </p:grpSpPr>
        <p:pic>
          <p:nvPicPr>
            <p:cNvPr id="4" name="object 4">
              <a:extLst>
                <a:ext uri="{FF2B5EF4-FFF2-40B4-BE49-F238E27FC236}">
                  <a16:creationId xmlns:a16="http://schemas.microsoft.com/office/drawing/2014/main" id="{A25AA739-E582-2072-4436-2D6E3685D51E}"/>
                </a:ext>
              </a:extLst>
            </p:cNvPr>
            <p:cNvPicPr/>
            <p:nvPr/>
          </p:nvPicPr>
          <p:blipFill>
            <a:blip r:embed="rId2" cstate="print"/>
            <a:stretch>
              <a:fillRect/>
            </a:stretch>
          </p:blipFill>
          <p:spPr>
            <a:xfrm>
              <a:off x="424984" y="432816"/>
              <a:ext cx="3459183" cy="6123432"/>
            </a:xfrm>
            <a:prstGeom prst="rect">
              <a:avLst/>
            </a:prstGeom>
          </p:spPr>
        </p:pic>
        <p:sp>
          <p:nvSpPr>
            <p:cNvPr id="5" name="object 5">
              <a:extLst>
                <a:ext uri="{FF2B5EF4-FFF2-40B4-BE49-F238E27FC236}">
                  <a16:creationId xmlns:a16="http://schemas.microsoft.com/office/drawing/2014/main" id="{6D97EE76-C52B-3C90-7E24-A513A3A9366E}"/>
                </a:ext>
              </a:extLst>
            </p:cNvPr>
            <p:cNvSpPr/>
            <p:nvPr/>
          </p:nvSpPr>
          <p:spPr>
            <a:xfrm>
              <a:off x="2934462" y="2177033"/>
              <a:ext cx="8770620" cy="0"/>
            </a:xfrm>
            <a:custGeom>
              <a:avLst/>
              <a:gdLst/>
              <a:ahLst/>
              <a:cxnLst/>
              <a:rect l="l" t="t" r="r" b="b"/>
              <a:pathLst>
                <a:path w="8770620">
                  <a:moveTo>
                    <a:pt x="0" y="0"/>
                  </a:moveTo>
                  <a:lnTo>
                    <a:pt x="8770619" y="0"/>
                  </a:lnTo>
                </a:path>
              </a:pathLst>
            </a:custGeom>
            <a:ln w="38100">
              <a:solidFill>
                <a:srgbClr val="79A8A3"/>
              </a:solidFill>
            </a:ln>
          </p:spPr>
          <p:txBody>
            <a:bodyPr wrap="square" lIns="0" tIns="0" rIns="0" bIns="0" rtlCol="0"/>
            <a:lstStyle/>
            <a:p>
              <a:endParaRPr/>
            </a:p>
          </p:txBody>
        </p:sp>
      </p:grpSp>
      <p:sp>
        <p:nvSpPr>
          <p:cNvPr id="7" name="object 7" descr="$PPTXTitle">
            <a:extLst>
              <a:ext uri="{FF2B5EF4-FFF2-40B4-BE49-F238E27FC236}">
                <a16:creationId xmlns:a16="http://schemas.microsoft.com/office/drawing/2014/main" id="{4F73FA0E-C39D-8C66-7A12-3C2E80C4331B}"/>
              </a:ext>
            </a:extLst>
          </p:cNvPr>
          <p:cNvSpPr txBox="1">
            <a:spLocks noGrp="1"/>
          </p:cNvSpPr>
          <p:nvPr>
            <p:ph type="title"/>
          </p:nvPr>
        </p:nvSpPr>
        <p:spPr>
          <a:xfrm>
            <a:off x="1981960" y="589229"/>
            <a:ext cx="10210040" cy="1367682"/>
          </a:xfrm>
          <a:prstGeom prst="rect">
            <a:avLst/>
          </a:prstGeom>
        </p:spPr>
        <p:txBody>
          <a:bodyPr vert="horz" wrap="square" lIns="0" tIns="13335" rIns="0" bIns="0" rtlCol="0">
            <a:spAutoFit/>
          </a:bodyPr>
          <a:lstStyle/>
          <a:p>
            <a:pPr marL="12700">
              <a:spcBef>
                <a:spcPts val="105"/>
              </a:spcBef>
              <a:tabLst>
                <a:tab pos="1043305" algn="l"/>
              </a:tabLst>
            </a:pPr>
            <a:r>
              <a:rPr lang="en-US" sz="4400" b="0" spc="-50" dirty="0">
                <a:solidFill>
                  <a:srgbClr val="464A56"/>
                </a:solidFill>
                <a:latin typeface="Cambria"/>
                <a:cs typeface="Cambria"/>
              </a:rPr>
              <a:t>4</a:t>
            </a:r>
            <a:r>
              <a:rPr sz="4400" b="0" dirty="0">
                <a:solidFill>
                  <a:srgbClr val="464A56"/>
                </a:solidFill>
                <a:latin typeface="Cambria"/>
                <a:cs typeface="Cambria"/>
              </a:rPr>
              <a:t>	</a:t>
            </a:r>
            <a:r>
              <a:rPr lang="en-IN" sz="4400" dirty="0"/>
              <a:t> </a:t>
            </a:r>
            <a:r>
              <a:rPr lang="en-US" sz="4400" dirty="0"/>
              <a:t>The Analogy: </a:t>
            </a:r>
            <a:r>
              <a:rPr lang="en-IN" sz="4400" dirty="0"/>
              <a:t>The Two Pizza Shops</a:t>
            </a:r>
            <a:r>
              <a:rPr lang="en-US" sz="4400" dirty="0"/>
              <a:t> (</a:t>
            </a:r>
            <a:r>
              <a:rPr lang="en-IN" sz="4400" dirty="0"/>
              <a:t>The BFS Approach)</a:t>
            </a:r>
            <a:endParaRPr sz="4400" dirty="0">
              <a:latin typeface="Cambria"/>
              <a:cs typeface="Cambria"/>
            </a:endParaRPr>
          </a:p>
        </p:txBody>
      </p:sp>
      <p:sp>
        <p:nvSpPr>
          <p:cNvPr id="8" name="TextBox 7">
            <a:extLst>
              <a:ext uri="{FF2B5EF4-FFF2-40B4-BE49-F238E27FC236}">
                <a16:creationId xmlns:a16="http://schemas.microsoft.com/office/drawing/2014/main" id="{3D2AF0CE-640F-645C-5FD9-0E691591816C}"/>
              </a:ext>
            </a:extLst>
          </p:cNvPr>
          <p:cNvSpPr txBox="1"/>
          <p:nvPr/>
        </p:nvSpPr>
        <p:spPr>
          <a:xfrm>
            <a:off x="2514600" y="2506163"/>
            <a:ext cx="8915400" cy="2308324"/>
          </a:xfrm>
          <a:prstGeom prst="rect">
            <a:avLst/>
          </a:prstGeom>
          <a:noFill/>
        </p:spPr>
        <p:txBody>
          <a:bodyPr wrap="square">
            <a:spAutoFit/>
          </a:bodyPr>
          <a:lstStyle/>
          <a:p>
            <a:r>
              <a:rPr lang="en-US" sz="3600" b="1" dirty="0"/>
              <a:t>The BFS Approach:</a:t>
            </a:r>
            <a:r>
              <a:rPr lang="en-US" sz="3600" dirty="0"/>
              <a:t> BFS looks at everything 1 block away, then everything 2 blocks away. It finds the shop 2 blocks away first. </a:t>
            </a:r>
            <a:r>
              <a:rPr lang="en-US" sz="3600" b="1" dirty="0"/>
              <a:t>BFS is a perfectionist.</a:t>
            </a:r>
            <a:endParaRPr lang="en-US" sz="3600" dirty="0"/>
          </a:p>
        </p:txBody>
      </p:sp>
    </p:spTree>
    <p:extLst>
      <p:ext uri="{BB962C8B-B14F-4D97-AF65-F5344CB8AC3E}">
        <p14:creationId xmlns:p14="http://schemas.microsoft.com/office/powerpoint/2010/main" val="44498021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6C0D22-1E1A-5732-5BD8-718173E5002E}"/>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F5540AC-C6D5-C1BE-4944-86CDA29CD5F3}"/>
              </a:ext>
            </a:extLst>
          </p:cNvPr>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FDFBF7"/>
          </a:solidFill>
        </p:spPr>
        <p:txBody>
          <a:bodyPr wrap="square" lIns="0" tIns="0" rIns="0" bIns="0" rtlCol="0"/>
          <a:lstStyle/>
          <a:p>
            <a:endParaRPr/>
          </a:p>
        </p:txBody>
      </p:sp>
      <p:grpSp>
        <p:nvGrpSpPr>
          <p:cNvPr id="3" name="object 3">
            <a:extLst>
              <a:ext uri="{FF2B5EF4-FFF2-40B4-BE49-F238E27FC236}">
                <a16:creationId xmlns:a16="http://schemas.microsoft.com/office/drawing/2014/main" id="{743CDBD0-6C34-DD50-FCF9-90392698F4C3}"/>
              </a:ext>
            </a:extLst>
          </p:cNvPr>
          <p:cNvGrpSpPr/>
          <p:nvPr/>
        </p:nvGrpSpPr>
        <p:grpSpPr>
          <a:xfrm>
            <a:off x="424984" y="432816"/>
            <a:ext cx="11280098" cy="6123432"/>
            <a:chOff x="424984" y="432816"/>
            <a:chExt cx="11280098" cy="6123432"/>
          </a:xfrm>
        </p:grpSpPr>
        <p:pic>
          <p:nvPicPr>
            <p:cNvPr id="4" name="object 4">
              <a:extLst>
                <a:ext uri="{FF2B5EF4-FFF2-40B4-BE49-F238E27FC236}">
                  <a16:creationId xmlns:a16="http://schemas.microsoft.com/office/drawing/2014/main" id="{318859E5-15F0-C510-6142-937625865200}"/>
                </a:ext>
              </a:extLst>
            </p:cNvPr>
            <p:cNvPicPr/>
            <p:nvPr/>
          </p:nvPicPr>
          <p:blipFill>
            <a:blip r:embed="rId2" cstate="print"/>
            <a:stretch>
              <a:fillRect/>
            </a:stretch>
          </p:blipFill>
          <p:spPr>
            <a:xfrm>
              <a:off x="424984" y="432816"/>
              <a:ext cx="3459183" cy="6123432"/>
            </a:xfrm>
            <a:prstGeom prst="rect">
              <a:avLst/>
            </a:prstGeom>
          </p:spPr>
        </p:pic>
        <p:sp>
          <p:nvSpPr>
            <p:cNvPr id="5" name="object 5">
              <a:extLst>
                <a:ext uri="{FF2B5EF4-FFF2-40B4-BE49-F238E27FC236}">
                  <a16:creationId xmlns:a16="http://schemas.microsoft.com/office/drawing/2014/main" id="{3554774A-9C21-5B1E-5E63-9210151BECE8}"/>
                </a:ext>
              </a:extLst>
            </p:cNvPr>
            <p:cNvSpPr/>
            <p:nvPr/>
          </p:nvSpPr>
          <p:spPr>
            <a:xfrm>
              <a:off x="2934462" y="2177033"/>
              <a:ext cx="8770620" cy="0"/>
            </a:xfrm>
            <a:custGeom>
              <a:avLst/>
              <a:gdLst/>
              <a:ahLst/>
              <a:cxnLst/>
              <a:rect l="l" t="t" r="r" b="b"/>
              <a:pathLst>
                <a:path w="8770620">
                  <a:moveTo>
                    <a:pt x="0" y="0"/>
                  </a:moveTo>
                  <a:lnTo>
                    <a:pt x="8770619" y="0"/>
                  </a:lnTo>
                </a:path>
              </a:pathLst>
            </a:custGeom>
            <a:ln w="38100">
              <a:solidFill>
                <a:srgbClr val="79A8A3"/>
              </a:solidFill>
            </a:ln>
          </p:spPr>
          <p:txBody>
            <a:bodyPr wrap="square" lIns="0" tIns="0" rIns="0" bIns="0" rtlCol="0"/>
            <a:lstStyle/>
            <a:p>
              <a:endParaRPr/>
            </a:p>
          </p:txBody>
        </p:sp>
      </p:grpSp>
      <p:sp>
        <p:nvSpPr>
          <p:cNvPr id="7" name="object 7" descr="$PPTXTitle">
            <a:extLst>
              <a:ext uri="{FF2B5EF4-FFF2-40B4-BE49-F238E27FC236}">
                <a16:creationId xmlns:a16="http://schemas.microsoft.com/office/drawing/2014/main" id="{A1C05606-7134-3E03-9D95-544BF60A6898}"/>
              </a:ext>
            </a:extLst>
          </p:cNvPr>
          <p:cNvSpPr txBox="1">
            <a:spLocks noGrp="1"/>
          </p:cNvSpPr>
          <p:nvPr>
            <p:ph type="title"/>
          </p:nvPr>
        </p:nvSpPr>
        <p:spPr>
          <a:xfrm>
            <a:off x="1981960" y="589229"/>
            <a:ext cx="10210040" cy="1367682"/>
          </a:xfrm>
          <a:prstGeom prst="rect">
            <a:avLst/>
          </a:prstGeom>
        </p:spPr>
        <p:txBody>
          <a:bodyPr vert="horz" wrap="square" lIns="0" tIns="13335" rIns="0" bIns="0" rtlCol="0">
            <a:spAutoFit/>
          </a:bodyPr>
          <a:lstStyle/>
          <a:p>
            <a:pPr marL="12700">
              <a:spcBef>
                <a:spcPts val="105"/>
              </a:spcBef>
              <a:tabLst>
                <a:tab pos="1043305" algn="l"/>
              </a:tabLst>
            </a:pPr>
            <a:r>
              <a:rPr lang="en-US" sz="4400" b="0" spc="-50" dirty="0">
                <a:solidFill>
                  <a:srgbClr val="464A56"/>
                </a:solidFill>
                <a:latin typeface="Cambria"/>
                <a:cs typeface="Cambria"/>
              </a:rPr>
              <a:t>4</a:t>
            </a:r>
            <a:r>
              <a:rPr lang="en-US" sz="4400" b="0" dirty="0">
                <a:solidFill>
                  <a:srgbClr val="464A56"/>
                </a:solidFill>
                <a:latin typeface="Cambria"/>
                <a:cs typeface="Cambria"/>
              </a:rPr>
              <a:t>	</a:t>
            </a:r>
            <a:r>
              <a:rPr lang="en-US" sz="4400" dirty="0"/>
              <a:t> The Analogy: The Two Pizza Shops (The DFS Approach)</a:t>
            </a:r>
            <a:endParaRPr sz="4400" dirty="0">
              <a:latin typeface="Cambria"/>
              <a:cs typeface="Cambria"/>
            </a:endParaRPr>
          </a:p>
        </p:txBody>
      </p:sp>
      <p:sp>
        <p:nvSpPr>
          <p:cNvPr id="8" name="TextBox 7">
            <a:extLst>
              <a:ext uri="{FF2B5EF4-FFF2-40B4-BE49-F238E27FC236}">
                <a16:creationId xmlns:a16="http://schemas.microsoft.com/office/drawing/2014/main" id="{CEF6A824-84EC-B3B2-19AB-7EE61C6EC248}"/>
              </a:ext>
            </a:extLst>
          </p:cNvPr>
          <p:cNvSpPr txBox="1"/>
          <p:nvPr/>
        </p:nvSpPr>
        <p:spPr>
          <a:xfrm>
            <a:off x="2514600" y="2506163"/>
            <a:ext cx="8915400" cy="2862322"/>
          </a:xfrm>
          <a:prstGeom prst="rect">
            <a:avLst/>
          </a:prstGeom>
          <a:noFill/>
        </p:spPr>
        <p:txBody>
          <a:bodyPr wrap="square">
            <a:spAutoFit/>
          </a:bodyPr>
          <a:lstStyle/>
          <a:p>
            <a:r>
              <a:rPr lang="en-US" sz="3600" dirty="0"/>
              <a:t>DFS picks a direction and runs! It might run 10 blocks, find that pizza shop, and stop. It never even realized there was a closer one just around the corner. </a:t>
            </a:r>
            <a:r>
              <a:rPr lang="en-US" sz="3600" b="1" dirty="0"/>
              <a:t>DFS is just happy to finish.</a:t>
            </a:r>
            <a:endParaRPr lang="en-US" sz="3600" dirty="0"/>
          </a:p>
        </p:txBody>
      </p:sp>
    </p:spTree>
    <p:extLst>
      <p:ext uri="{BB962C8B-B14F-4D97-AF65-F5344CB8AC3E}">
        <p14:creationId xmlns:p14="http://schemas.microsoft.com/office/powerpoint/2010/main" val="168015238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4DCC31-E5CD-7CEE-A6E0-C2ACD205896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05BF2E2-EA1F-F0CC-4D9C-417CB01AD6AE}"/>
              </a:ext>
            </a:extLst>
          </p:cNvPr>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FDFBF7"/>
          </a:solidFill>
        </p:spPr>
        <p:txBody>
          <a:bodyPr wrap="square" lIns="0" tIns="0" rIns="0" bIns="0" rtlCol="0"/>
          <a:lstStyle/>
          <a:p>
            <a:endParaRPr/>
          </a:p>
        </p:txBody>
      </p:sp>
      <p:grpSp>
        <p:nvGrpSpPr>
          <p:cNvPr id="3" name="object 3">
            <a:extLst>
              <a:ext uri="{FF2B5EF4-FFF2-40B4-BE49-F238E27FC236}">
                <a16:creationId xmlns:a16="http://schemas.microsoft.com/office/drawing/2014/main" id="{DBA8112B-C401-1C30-B476-5D654860877F}"/>
              </a:ext>
            </a:extLst>
          </p:cNvPr>
          <p:cNvGrpSpPr/>
          <p:nvPr/>
        </p:nvGrpSpPr>
        <p:grpSpPr>
          <a:xfrm>
            <a:off x="424984" y="432816"/>
            <a:ext cx="11280098" cy="6123432"/>
            <a:chOff x="424984" y="432816"/>
            <a:chExt cx="11280098" cy="6123432"/>
          </a:xfrm>
        </p:grpSpPr>
        <p:pic>
          <p:nvPicPr>
            <p:cNvPr id="4" name="object 4">
              <a:extLst>
                <a:ext uri="{FF2B5EF4-FFF2-40B4-BE49-F238E27FC236}">
                  <a16:creationId xmlns:a16="http://schemas.microsoft.com/office/drawing/2014/main" id="{3D96D9FE-DE26-E1EB-0539-3275C3704848}"/>
                </a:ext>
              </a:extLst>
            </p:cNvPr>
            <p:cNvPicPr/>
            <p:nvPr/>
          </p:nvPicPr>
          <p:blipFill>
            <a:blip r:embed="rId2" cstate="print"/>
            <a:stretch>
              <a:fillRect/>
            </a:stretch>
          </p:blipFill>
          <p:spPr>
            <a:xfrm>
              <a:off x="424984" y="432816"/>
              <a:ext cx="3459183" cy="6123432"/>
            </a:xfrm>
            <a:prstGeom prst="rect">
              <a:avLst/>
            </a:prstGeom>
          </p:spPr>
        </p:pic>
        <p:sp>
          <p:nvSpPr>
            <p:cNvPr id="5" name="object 5">
              <a:extLst>
                <a:ext uri="{FF2B5EF4-FFF2-40B4-BE49-F238E27FC236}">
                  <a16:creationId xmlns:a16="http://schemas.microsoft.com/office/drawing/2014/main" id="{C53120C9-7307-E2B5-DEBC-D8A5A57E4829}"/>
                </a:ext>
              </a:extLst>
            </p:cNvPr>
            <p:cNvSpPr/>
            <p:nvPr/>
          </p:nvSpPr>
          <p:spPr>
            <a:xfrm>
              <a:off x="2934462" y="2177033"/>
              <a:ext cx="8770620" cy="0"/>
            </a:xfrm>
            <a:custGeom>
              <a:avLst/>
              <a:gdLst/>
              <a:ahLst/>
              <a:cxnLst/>
              <a:rect l="l" t="t" r="r" b="b"/>
              <a:pathLst>
                <a:path w="8770620">
                  <a:moveTo>
                    <a:pt x="0" y="0"/>
                  </a:moveTo>
                  <a:lnTo>
                    <a:pt x="8770619" y="0"/>
                  </a:lnTo>
                </a:path>
              </a:pathLst>
            </a:custGeom>
            <a:ln w="38100">
              <a:solidFill>
                <a:srgbClr val="79A8A3"/>
              </a:solidFill>
            </a:ln>
          </p:spPr>
          <p:txBody>
            <a:bodyPr wrap="square" lIns="0" tIns="0" rIns="0" bIns="0" rtlCol="0"/>
            <a:lstStyle/>
            <a:p>
              <a:endParaRPr/>
            </a:p>
          </p:txBody>
        </p:sp>
      </p:grpSp>
      <p:sp>
        <p:nvSpPr>
          <p:cNvPr id="7" name="object 7" descr="$PPTXTitle">
            <a:extLst>
              <a:ext uri="{FF2B5EF4-FFF2-40B4-BE49-F238E27FC236}">
                <a16:creationId xmlns:a16="http://schemas.microsoft.com/office/drawing/2014/main" id="{56D8CE8F-9E6F-E819-6FDE-25FDFB688956}"/>
              </a:ext>
            </a:extLst>
          </p:cNvPr>
          <p:cNvSpPr txBox="1">
            <a:spLocks noGrp="1"/>
          </p:cNvSpPr>
          <p:nvPr>
            <p:ph type="title"/>
          </p:nvPr>
        </p:nvSpPr>
        <p:spPr>
          <a:xfrm>
            <a:off x="1981960" y="589229"/>
            <a:ext cx="10210040" cy="690574"/>
          </a:xfrm>
          <a:prstGeom prst="rect">
            <a:avLst/>
          </a:prstGeom>
        </p:spPr>
        <p:txBody>
          <a:bodyPr vert="horz" wrap="square" lIns="0" tIns="13335" rIns="0" bIns="0" rtlCol="0">
            <a:spAutoFit/>
          </a:bodyPr>
          <a:lstStyle/>
          <a:p>
            <a:pPr marL="12700">
              <a:spcBef>
                <a:spcPts val="105"/>
              </a:spcBef>
              <a:tabLst>
                <a:tab pos="1043305" algn="l"/>
              </a:tabLst>
            </a:pPr>
            <a:r>
              <a:rPr lang="en-US" sz="4400" b="0" spc="-50" dirty="0">
                <a:solidFill>
                  <a:srgbClr val="464A56"/>
                </a:solidFill>
                <a:latin typeface="Cambria"/>
                <a:cs typeface="Cambria"/>
              </a:rPr>
              <a:t>4</a:t>
            </a:r>
            <a:r>
              <a:rPr sz="4400" b="0" dirty="0">
                <a:solidFill>
                  <a:srgbClr val="464A56"/>
                </a:solidFill>
                <a:latin typeface="Cambria"/>
                <a:cs typeface="Cambria"/>
              </a:rPr>
              <a:t>	</a:t>
            </a:r>
            <a:r>
              <a:rPr lang="en-IN" sz="4400" dirty="0"/>
              <a:t> The Comparison</a:t>
            </a:r>
            <a:endParaRPr sz="4400" dirty="0">
              <a:latin typeface="Cambria"/>
              <a:cs typeface="Cambria"/>
            </a:endParaRPr>
          </a:p>
        </p:txBody>
      </p:sp>
      <p:graphicFrame>
        <p:nvGraphicFramePr>
          <p:cNvPr id="8" name="Table 7">
            <a:extLst>
              <a:ext uri="{FF2B5EF4-FFF2-40B4-BE49-F238E27FC236}">
                <a16:creationId xmlns:a16="http://schemas.microsoft.com/office/drawing/2014/main" id="{D5F62552-1ECE-65B0-6BCA-650E19F06D8C}"/>
              </a:ext>
            </a:extLst>
          </p:cNvPr>
          <p:cNvGraphicFramePr>
            <a:graphicFrameLocks noGrp="1"/>
          </p:cNvGraphicFramePr>
          <p:nvPr>
            <p:extLst>
              <p:ext uri="{D42A27DB-BD31-4B8C-83A1-F6EECF244321}">
                <p14:modId xmlns:p14="http://schemas.microsoft.com/office/powerpoint/2010/main" val="3701842495"/>
              </p:ext>
            </p:extLst>
          </p:nvPr>
        </p:nvGraphicFramePr>
        <p:xfrm>
          <a:off x="2547145" y="2242109"/>
          <a:ext cx="8654255" cy="4314134"/>
        </p:xfrm>
        <a:graphic>
          <a:graphicData uri="http://schemas.openxmlformats.org/drawingml/2006/table">
            <a:tbl>
              <a:tblPr/>
              <a:tblGrid>
                <a:gridCol w="1446892">
                  <a:extLst>
                    <a:ext uri="{9D8B030D-6E8A-4147-A177-3AD203B41FA5}">
                      <a16:colId xmlns:a16="http://schemas.microsoft.com/office/drawing/2014/main" val="3540784364"/>
                    </a:ext>
                  </a:extLst>
                </a:gridCol>
                <a:gridCol w="2415682">
                  <a:extLst>
                    <a:ext uri="{9D8B030D-6E8A-4147-A177-3AD203B41FA5}">
                      <a16:colId xmlns:a16="http://schemas.microsoft.com/office/drawing/2014/main" val="3581331519"/>
                    </a:ext>
                  </a:extLst>
                </a:gridCol>
                <a:gridCol w="4791681">
                  <a:extLst>
                    <a:ext uri="{9D8B030D-6E8A-4147-A177-3AD203B41FA5}">
                      <a16:colId xmlns:a16="http://schemas.microsoft.com/office/drawing/2014/main" val="2793705776"/>
                    </a:ext>
                  </a:extLst>
                </a:gridCol>
              </a:tblGrid>
              <a:tr h="624763">
                <a:tc>
                  <a:txBody>
                    <a:bodyPr/>
                    <a:lstStyle/>
                    <a:p>
                      <a:pPr rtl="0">
                        <a:buNone/>
                      </a:pPr>
                      <a:r>
                        <a:rPr lang="en-IN" sz="2400" b="1">
                          <a:solidFill>
                            <a:srgbClr val="1F1F1F"/>
                          </a:solidFill>
                          <a:effectLst/>
                          <a:latin typeface="Google Sans Text"/>
                        </a:rPr>
                        <a:t>Algorithm</a:t>
                      </a:r>
                      <a:endParaRPr lang="en-IN" sz="2400">
                        <a:solidFill>
                          <a:srgbClr val="1F1F1F"/>
                        </a:solidFill>
                        <a:effectLst/>
                        <a:latin typeface="Google Sans Text"/>
                      </a:endParaRPr>
                    </a:p>
                  </a:txBody>
                  <a:tcPr marL="74332" marR="74332" marT="49555" marB="49555"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2400" b="1">
                          <a:solidFill>
                            <a:srgbClr val="1F1F1F"/>
                          </a:solidFill>
                          <a:effectLst/>
                          <a:latin typeface="Google Sans Text"/>
                        </a:rPr>
                        <a:t>Is it Optimal?</a:t>
                      </a:r>
                      <a:endParaRPr lang="en-IN" sz="2400">
                        <a:solidFill>
                          <a:srgbClr val="1F1F1F"/>
                        </a:solidFill>
                        <a:effectLst/>
                        <a:latin typeface="Google Sans Text"/>
                      </a:endParaRPr>
                    </a:p>
                  </a:txBody>
                  <a:tcPr marL="74332" marR="74332" marT="49555" marB="49555"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2400" b="1">
                          <a:solidFill>
                            <a:srgbClr val="1F1F1F"/>
                          </a:solidFill>
                          <a:effectLst/>
                          <a:latin typeface="Google Sans Text"/>
                        </a:rPr>
                        <a:t>The Reason</a:t>
                      </a:r>
                      <a:endParaRPr lang="en-IN" sz="2400">
                        <a:solidFill>
                          <a:srgbClr val="1F1F1F"/>
                        </a:solidFill>
                        <a:effectLst/>
                        <a:latin typeface="Google Sans Text"/>
                      </a:endParaRPr>
                    </a:p>
                  </a:txBody>
                  <a:tcPr marL="74332" marR="74332" marT="49555" marB="49555"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532456844"/>
                  </a:ext>
                </a:extLst>
              </a:tr>
              <a:tr h="1658144">
                <a:tc>
                  <a:txBody>
                    <a:bodyPr/>
                    <a:lstStyle/>
                    <a:p>
                      <a:pPr rtl="0">
                        <a:buNone/>
                      </a:pPr>
                      <a:r>
                        <a:rPr lang="en-IN" sz="2400" b="1">
                          <a:solidFill>
                            <a:srgbClr val="1F1F1F"/>
                          </a:solidFill>
                          <a:effectLst/>
                          <a:latin typeface="Google Sans Text"/>
                        </a:rPr>
                        <a:t>BFS</a:t>
                      </a:r>
                      <a:endParaRPr lang="en-IN" sz="2400">
                        <a:solidFill>
                          <a:srgbClr val="1F1F1F"/>
                        </a:solidFill>
                        <a:effectLst/>
                        <a:latin typeface="Google Sans Text"/>
                      </a:endParaRPr>
                    </a:p>
                  </a:txBody>
                  <a:tcPr marL="74332" marR="74332" marT="49555" marB="49555"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2400" b="1" dirty="0">
                          <a:solidFill>
                            <a:srgbClr val="1F1F1F"/>
                          </a:solidFill>
                          <a:effectLst/>
                          <a:latin typeface="Google Sans Text"/>
                        </a:rPr>
                        <a:t>✅ YES</a:t>
                      </a:r>
                      <a:endParaRPr lang="en-IN" sz="2400" dirty="0">
                        <a:solidFill>
                          <a:srgbClr val="1F1F1F"/>
                        </a:solidFill>
                        <a:effectLst/>
                        <a:latin typeface="Google Sans Text"/>
                      </a:endParaRPr>
                    </a:p>
                  </a:txBody>
                  <a:tcPr marL="74332" marR="74332" marT="49555" marB="49555"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2400">
                          <a:solidFill>
                            <a:srgbClr val="1F1F1F"/>
                          </a:solidFill>
                          <a:effectLst/>
                          <a:latin typeface="Google Sans Text"/>
                        </a:rPr>
                        <a:t>It explores all shallow paths before moving deeper. The first goal it hits </a:t>
                      </a:r>
                      <a:r>
                        <a:rPr lang="en-US" sz="2400" b="1">
                          <a:solidFill>
                            <a:srgbClr val="1F1F1F"/>
                          </a:solidFill>
                          <a:effectLst/>
                          <a:latin typeface="Google Sans Text"/>
                        </a:rPr>
                        <a:t>must</a:t>
                      </a:r>
                      <a:r>
                        <a:rPr lang="en-US" sz="2400">
                          <a:solidFill>
                            <a:srgbClr val="1F1F1F"/>
                          </a:solidFill>
                          <a:effectLst/>
                          <a:latin typeface="Google Sans Text"/>
                        </a:rPr>
                        <a:t> be the closest one.</a:t>
                      </a:r>
                    </a:p>
                  </a:txBody>
                  <a:tcPr marL="74332" marR="74332" marT="49555" marB="49555"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068249372"/>
                  </a:ext>
                </a:extLst>
              </a:tr>
              <a:tr h="2031227">
                <a:tc>
                  <a:txBody>
                    <a:bodyPr/>
                    <a:lstStyle/>
                    <a:p>
                      <a:pPr rtl="0">
                        <a:buNone/>
                      </a:pPr>
                      <a:r>
                        <a:rPr lang="en-IN" sz="2400" b="1">
                          <a:solidFill>
                            <a:srgbClr val="1F1F1F"/>
                          </a:solidFill>
                          <a:effectLst/>
                          <a:latin typeface="Google Sans Text"/>
                        </a:rPr>
                        <a:t>DFS</a:t>
                      </a:r>
                      <a:endParaRPr lang="en-IN" sz="2400">
                        <a:solidFill>
                          <a:srgbClr val="1F1F1F"/>
                        </a:solidFill>
                        <a:effectLst/>
                        <a:latin typeface="Google Sans Text"/>
                      </a:endParaRPr>
                    </a:p>
                  </a:txBody>
                  <a:tcPr marL="74332" marR="74332" marT="49555" marB="49555"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2400" b="1">
                          <a:solidFill>
                            <a:srgbClr val="1F1F1F"/>
                          </a:solidFill>
                          <a:effectLst/>
                          <a:latin typeface="Google Sans Text"/>
                        </a:rPr>
                        <a:t>❌ NO</a:t>
                      </a:r>
                      <a:endParaRPr lang="en-IN" sz="2400">
                        <a:solidFill>
                          <a:srgbClr val="1F1F1F"/>
                        </a:solidFill>
                        <a:effectLst/>
                        <a:latin typeface="Google Sans Text"/>
                      </a:endParaRPr>
                    </a:p>
                  </a:txBody>
                  <a:tcPr marL="74332" marR="74332" marT="49555" marB="49555"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2400" dirty="0">
                          <a:solidFill>
                            <a:srgbClr val="1F1F1F"/>
                          </a:solidFill>
                          <a:effectLst/>
                          <a:latin typeface="Google Sans Text"/>
                        </a:rPr>
                        <a:t>It might find a goal very deep in the tree and stop, completely missing a "better" goal that was just a few steps from the start.</a:t>
                      </a:r>
                    </a:p>
                  </a:txBody>
                  <a:tcPr marL="74332" marR="74332" marT="49555" marB="49555"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684070302"/>
                  </a:ext>
                </a:extLst>
              </a:tr>
            </a:tbl>
          </a:graphicData>
        </a:graphic>
      </p:graphicFrame>
    </p:spTree>
    <p:extLst>
      <p:ext uri="{BB962C8B-B14F-4D97-AF65-F5344CB8AC3E}">
        <p14:creationId xmlns:p14="http://schemas.microsoft.com/office/powerpoint/2010/main" val="42041058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E60458-9426-DFA1-7B3C-E8197817CAF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2DAC881-A5E0-B2FF-03A3-B9879473BAAC}"/>
              </a:ext>
            </a:extLst>
          </p:cNvPr>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FDFBF7"/>
          </a:solidFill>
        </p:spPr>
        <p:txBody>
          <a:bodyPr wrap="square" lIns="0" tIns="0" rIns="0" bIns="0" rtlCol="0"/>
          <a:lstStyle/>
          <a:p>
            <a:endParaRPr/>
          </a:p>
        </p:txBody>
      </p:sp>
      <p:grpSp>
        <p:nvGrpSpPr>
          <p:cNvPr id="3" name="object 3">
            <a:extLst>
              <a:ext uri="{FF2B5EF4-FFF2-40B4-BE49-F238E27FC236}">
                <a16:creationId xmlns:a16="http://schemas.microsoft.com/office/drawing/2014/main" id="{1DCBC795-E926-7CAD-05DA-E539FD4E19D4}"/>
              </a:ext>
            </a:extLst>
          </p:cNvPr>
          <p:cNvGrpSpPr/>
          <p:nvPr/>
        </p:nvGrpSpPr>
        <p:grpSpPr>
          <a:xfrm>
            <a:off x="424984" y="432816"/>
            <a:ext cx="11280098" cy="6123432"/>
            <a:chOff x="424984" y="432816"/>
            <a:chExt cx="11280098" cy="6123432"/>
          </a:xfrm>
        </p:grpSpPr>
        <p:pic>
          <p:nvPicPr>
            <p:cNvPr id="4" name="object 4">
              <a:extLst>
                <a:ext uri="{FF2B5EF4-FFF2-40B4-BE49-F238E27FC236}">
                  <a16:creationId xmlns:a16="http://schemas.microsoft.com/office/drawing/2014/main" id="{6BC34C91-42C3-0463-09C7-47180F406446}"/>
                </a:ext>
              </a:extLst>
            </p:cNvPr>
            <p:cNvPicPr/>
            <p:nvPr/>
          </p:nvPicPr>
          <p:blipFill>
            <a:blip r:embed="rId2" cstate="print"/>
            <a:stretch>
              <a:fillRect/>
            </a:stretch>
          </p:blipFill>
          <p:spPr>
            <a:xfrm>
              <a:off x="424984" y="432816"/>
              <a:ext cx="3459183" cy="6123432"/>
            </a:xfrm>
            <a:prstGeom prst="rect">
              <a:avLst/>
            </a:prstGeom>
          </p:spPr>
        </p:pic>
        <p:sp>
          <p:nvSpPr>
            <p:cNvPr id="5" name="object 5">
              <a:extLst>
                <a:ext uri="{FF2B5EF4-FFF2-40B4-BE49-F238E27FC236}">
                  <a16:creationId xmlns:a16="http://schemas.microsoft.com/office/drawing/2014/main" id="{570A15A6-F391-9BE3-91AB-7B721A3C5D93}"/>
                </a:ext>
              </a:extLst>
            </p:cNvPr>
            <p:cNvSpPr/>
            <p:nvPr/>
          </p:nvSpPr>
          <p:spPr>
            <a:xfrm>
              <a:off x="2934462" y="2177033"/>
              <a:ext cx="8770620" cy="0"/>
            </a:xfrm>
            <a:custGeom>
              <a:avLst/>
              <a:gdLst/>
              <a:ahLst/>
              <a:cxnLst/>
              <a:rect l="l" t="t" r="r" b="b"/>
              <a:pathLst>
                <a:path w="8770620">
                  <a:moveTo>
                    <a:pt x="0" y="0"/>
                  </a:moveTo>
                  <a:lnTo>
                    <a:pt x="8770619" y="0"/>
                  </a:lnTo>
                </a:path>
              </a:pathLst>
            </a:custGeom>
            <a:ln w="38100">
              <a:solidFill>
                <a:srgbClr val="79A8A3"/>
              </a:solidFill>
            </a:ln>
          </p:spPr>
          <p:txBody>
            <a:bodyPr wrap="square" lIns="0" tIns="0" rIns="0" bIns="0" rtlCol="0"/>
            <a:lstStyle/>
            <a:p>
              <a:endParaRPr/>
            </a:p>
          </p:txBody>
        </p:sp>
      </p:grpSp>
      <p:sp>
        <p:nvSpPr>
          <p:cNvPr id="7" name="object 7" descr="$PPTXTitle">
            <a:extLst>
              <a:ext uri="{FF2B5EF4-FFF2-40B4-BE49-F238E27FC236}">
                <a16:creationId xmlns:a16="http://schemas.microsoft.com/office/drawing/2014/main" id="{B6AD603D-B2B7-C3E9-FD55-99AB53835228}"/>
              </a:ext>
            </a:extLst>
          </p:cNvPr>
          <p:cNvSpPr txBox="1">
            <a:spLocks noGrp="1"/>
          </p:cNvSpPr>
          <p:nvPr>
            <p:ph type="title"/>
          </p:nvPr>
        </p:nvSpPr>
        <p:spPr>
          <a:xfrm>
            <a:off x="1981960" y="589229"/>
            <a:ext cx="10210040" cy="690574"/>
          </a:xfrm>
          <a:prstGeom prst="rect">
            <a:avLst/>
          </a:prstGeom>
        </p:spPr>
        <p:txBody>
          <a:bodyPr vert="horz" wrap="square" lIns="0" tIns="13335" rIns="0" bIns="0" rtlCol="0">
            <a:spAutoFit/>
          </a:bodyPr>
          <a:lstStyle/>
          <a:p>
            <a:pPr marL="12700">
              <a:spcBef>
                <a:spcPts val="105"/>
              </a:spcBef>
              <a:tabLst>
                <a:tab pos="1043305" algn="l"/>
              </a:tabLst>
            </a:pPr>
            <a:r>
              <a:rPr lang="en-US" sz="4400" b="0" spc="-50" dirty="0">
                <a:solidFill>
                  <a:srgbClr val="464A56"/>
                </a:solidFill>
                <a:latin typeface="Cambria"/>
                <a:cs typeface="Cambria"/>
              </a:rPr>
              <a:t>4</a:t>
            </a:r>
            <a:r>
              <a:rPr sz="4400" b="0" dirty="0">
                <a:solidFill>
                  <a:srgbClr val="464A56"/>
                </a:solidFill>
                <a:latin typeface="Cambria"/>
                <a:cs typeface="Cambria"/>
              </a:rPr>
              <a:t>	</a:t>
            </a:r>
            <a:r>
              <a:rPr lang="en-IN" sz="4400" dirty="0"/>
              <a:t> Classroom Discussion Point</a:t>
            </a:r>
            <a:endParaRPr sz="4400" dirty="0">
              <a:latin typeface="Cambria"/>
              <a:cs typeface="Cambria"/>
            </a:endParaRPr>
          </a:p>
        </p:txBody>
      </p:sp>
      <p:sp>
        <p:nvSpPr>
          <p:cNvPr id="8" name="TextBox 7">
            <a:extLst>
              <a:ext uri="{FF2B5EF4-FFF2-40B4-BE49-F238E27FC236}">
                <a16:creationId xmlns:a16="http://schemas.microsoft.com/office/drawing/2014/main" id="{5DDB8320-779C-EB52-2EA4-FC4238D6A3DE}"/>
              </a:ext>
            </a:extLst>
          </p:cNvPr>
          <p:cNvSpPr txBox="1"/>
          <p:nvPr/>
        </p:nvSpPr>
        <p:spPr>
          <a:xfrm>
            <a:off x="2514600" y="2506163"/>
            <a:ext cx="8915400" cy="1200329"/>
          </a:xfrm>
          <a:prstGeom prst="rect">
            <a:avLst/>
          </a:prstGeom>
          <a:noFill/>
        </p:spPr>
        <p:txBody>
          <a:bodyPr wrap="square">
            <a:spAutoFit/>
          </a:bodyPr>
          <a:lstStyle/>
          <a:p>
            <a:r>
              <a:rPr lang="en-US" sz="3600" dirty="0"/>
              <a:t>"Why does it matter if it's optimal? Isn't finding </a:t>
            </a:r>
            <a:r>
              <a:rPr lang="en-US" sz="3600" i="1" dirty="0"/>
              <a:t>any</a:t>
            </a:r>
            <a:r>
              <a:rPr lang="en-US" sz="3600" dirty="0"/>
              <a:t> exit good enough?"</a:t>
            </a:r>
          </a:p>
        </p:txBody>
      </p:sp>
    </p:spTree>
    <p:extLst>
      <p:ext uri="{BB962C8B-B14F-4D97-AF65-F5344CB8AC3E}">
        <p14:creationId xmlns:p14="http://schemas.microsoft.com/office/powerpoint/2010/main" val="378555587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7B2626-0A82-72A6-A7D3-11A22503C2E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EBE5A946-B64F-E15E-7CA9-CE7473688A8B}"/>
              </a:ext>
            </a:extLst>
          </p:cNvPr>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FDFBF7"/>
          </a:solidFill>
        </p:spPr>
        <p:txBody>
          <a:bodyPr wrap="square" lIns="0" tIns="0" rIns="0" bIns="0" rtlCol="0"/>
          <a:lstStyle/>
          <a:p>
            <a:endParaRPr/>
          </a:p>
        </p:txBody>
      </p:sp>
      <p:grpSp>
        <p:nvGrpSpPr>
          <p:cNvPr id="3" name="object 3">
            <a:extLst>
              <a:ext uri="{FF2B5EF4-FFF2-40B4-BE49-F238E27FC236}">
                <a16:creationId xmlns:a16="http://schemas.microsoft.com/office/drawing/2014/main" id="{E886D088-2D81-0020-4660-493120FDC908}"/>
              </a:ext>
            </a:extLst>
          </p:cNvPr>
          <p:cNvGrpSpPr/>
          <p:nvPr/>
        </p:nvGrpSpPr>
        <p:grpSpPr>
          <a:xfrm>
            <a:off x="424984" y="432816"/>
            <a:ext cx="11280098" cy="6123432"/>
            <a:chOff x="424984" y="432816"/>
            <a:chExt cx="11280098" cy="6123432"/>
          </a:xfrm>
        </p:grpSpPr>
        <p:pic>
          <p:nvPicPr>
            <p:cNvPr id="4" name="object 4">
              <a:extLst>
                <a:ext uri="{FF2B5EF4-FFF2-40B4-BE49-F238E27FC236}">
                  <a16:creationId xmlns:a16="http://schemas.microsoft.com/office/drawing/2014/main" id="{8861CFC2-57DE-85EE-B27D-E8C3527A777E}"/>
                </a:ext>
              </a:extLst>
            </p:cNvPr>
            <p:cNvPicPr/>
            <p:nvPr/>
          </p:nvPicPr>
          <p:blipFill>
            <a:blip r:embed="rId2" cstate="print"/>
            <a:stretch>
              <a:fillRect/>
            </a:stretch>
          </p:blipFill>
          <p:spPr>
            <a:xfrm>
              <a:off x="424984" y="432816"/>
              <a:ext cx="3459183" cy="6123432"/>
            </a:xfrm>
            <a:prstGeom prst="rect">
              <a:avLst/>
            </a:prstGeom>
          </p:spPr>
        </p:pic>
        <p:sp>
          <p:nvSpPr>
            <p:cNvPr id="5" name="object 5">
              <a:extLst>
                <a:ext uri="{FF2B5EF4-FFF2-40B4-BE49-F238E27FC236}">
                  <a16:creationId xmlns:a16="http://schemas.microsoft.com/office/drawing/2014/main" id="{8FF19D03-99BF-9963-9816-973D2F8DAE3D}"/>
                </a:ext>
              </a:extLst>
            </p:cNvPr>
            <p:cNvSpPr/>
            <p:nvPr/>
          </p:nvSpPr>
          <p:spPr>
            <a:xfrm>
              <a:off x="2934462" y="2177033"/>
              <a:ext cx="8770620" cy="0"/>
            </a:xfrm>
            <a:custGeom>
              <a:avLst/>
              <a:gdLst/>
              <a:ahLst/>
              <a:cxnLst/>
              <a:rect l="l" t="t" r="r" b="b"/>
              <a:pathLst>
                <a:path w="8770620">
                  <a:moveTo>
                    <a:pt x="0" y="0"/>
                  </a:moveTo>
                  <a:lnTo>
                    <a:pt x="8770619" y="0"/>
                  </a:lnTo>
                </a:path>
              </a:pathLst>
            </a:custGeom>
            <a:ln w="38100">
              <a:solidFill>
                <a:srgbClr val="79A8A3"/>
              </a:solidFill>
            </a:ln>
          </p:spPr>
          <p:txBody>
            <a:bodyPr wrap="square" lIns="0" tIns="0" rIns="0" bIns="0" rtlCol="0"/>
            <a:lstStyle/>
            <a:p>
              <a:endParaRPr/>
            </a:p>
          </p:txBody>
        </p:sp>
      </p:grpSp>
      <p:sp>
        <p:nvSpPr>
          <p:cNvPr id="7" name="object 7" descr="$PPTXTitle">
            <a:extLst>
              <a:ext uri="{FF2B5EF4-FFF2-40B4-BE49-F238E27FC236}">
                <a16:creationId xmlns:a16="http://schemas.microsoft.com/office/drawing/2014/main" id="{31133A45-8D36-740A-8CCB-816EE50E7FBB}"/>
              </a:ext>
            </a:extLst>
          </p:cNvPr>
          <p:cNvSpPr txBox="1">
            <a:spLocks noGrp="1"/>
          </p:cNvSpPr>
          <p:nvPr>
            <p:ph type="title"/>
          </p:nvPr>
        </p:nvSpPr>
        <p:spPr>
          <a:xfrm>
            <a:off x="1981960" y="589229"/>
            <a:ext cx="10210040" cy="690574"/>
          </a:xfrm>
          <a:prstGeom prst="rect">
            <a:avLst/>
          </a:prstGeom>
        </p:spPr>
        <p:txBody>
          <a:bodyPr vert="horz" wrap="square" lIns="0" tIns="13335" rIns="0" bIns="0" rtlCol="0">
            <a:spAutoFit/>
          </a:bodyPr>
          <a:lstStyle/>
          <a:p>
            <a:pPr marL="12700">
              <a:spcBef>
                <a:spcPts val="105"/>
              </a:spcBef>
              <a:tabLst>
                <a:tab pos="1043305" algn="l"/>
              </a:tabLst>
            </a:pPr>
            <a:r>
              <a:rPr lang="en-US" sz="4400" b="0" spc="-50" dirty="0">
                <a:solidFill>
                  <a:srgbClr val="464A56"/>
                </a:solidFill>
                <a:latin typeface="Cambria"/>
                <a:cs typeface="Cambria"/>
              </a:rPr>
              <a:t>4</a:t>
            </a:r>
            <a:r>
              <a:rPr sz="4400" b="0" dirty="0">
                <a:solidFill>
                  <a:srgbClr val="464A56"/>
                </a:solidFill>
                <a:latin typeface="Cambria"/>
                <a:cs typeface="Cambria"/>
              </a:rPr>
              <a:t>	</a:t>
            </a:r>
            <a:r>
              <a:rPr lang="en-IN" sz="4400" dirty="0"/>
              <a:t> 3. What is Time Complexity?</a:t>
            </a:r>
            <a:endParaRPr sz="4400" dirty="0">
              <a:latin typeface="Cambria"/>
              <a:cs typeface="Cambria"/>
            </a:endParaRPr>
          </a:p>
        </p:txBody>
      </p:sp>
      <p:sp>
        <p:nvSpPr>
          <p:cNvPr id="8" name="TextBox 7">
            <a:extLst>
              <a:ext uri="{FF2B5EF4-FFF2-40B4-BE49-F238E27FC236}">
                <a16:creationId xmlns:a16="http://schemas.microsoft.com/office/drawing/2014/main" id="{0E5EB130-931D-B853-D79D-02CE9171F2EB}"/>
              </a:ext>
            </a:extLst>
          </p:cNvPr>
          <p:cNvSpPr txBox="1"/>
          <p:nvPr/>
        </p:nvSpPr>
        <p:spPr>
          <a:xfrm>
            <a:off x="2514600" y="2506163"/>
            <a:ext cx="9448800" cy="2062103"/>
          </a:xfrm>
          <a:prstGeom prst="rect">
            <a:avLst/>
          </a:prstGeom>
          <a:noFill/>
        </p:spPr>
        <p:txBody>
          <a:bodyPr wrap="square">
            <a:spAutoFit/>
          </a:bodyPr>
          <a:lstStyle/>
          <a:p>
            <a:r>
              <a:rPr lang="en-US" sz="3200" b="1" dirty="0"/>
              <a:t>"How many nodes does the AI have to create (generate) before it finds the goal?"</a:t>
            </a:r>
            <a:r>
              <a:rPr lang="en-US" sz="3200" dirty="0"/>
              <a:t> The more nodes generated, the more work the CPU has to do.</a:t>
            </a:r>
          </a:p>
        </p:txBody>
      </p:sp>
    </p:spTree>
    <p:extLst>
      <p:ext uri="{BB962C8B-B14F-4D97-AF65-F5344CB8AC3E}">
        <p14:creationId xmlns:p14="http://schemas.microsoft.com/office/powerpoint/2010/main" val="250846431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06737B-DD21-8AF3-B241-DA762E632D5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9514538F-201D-573E-F5D9-8DF9AA4D7691}"/>
              </a:ext>
            </a:extLst>
          </p:cNvPr>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FDFBF7"/>
          </a:solidFill>
        </p:spPr>
        <p:txBody>
          <a:bodyPr wrap="square" lIns="0" tIns="0" rIns="0" bIns="0" rtlCol="0"/>
          <a:lstStyle/>
          <a:p>
            <a:endParaRPr/>
          </a:p>
        </p:txBody>
      </p:sp>
      <p:grpSp>
        <p:nvGrpSpPr>
          <p:cNvPr id="3" name="object 3">
            <a:extLst>
              <a:ext uri="{FF2B5EF4-FFF2-40B4-BE49-F238E27FC236}">
                <a16:creationId xmlns:a16="http://schemas.microsoft.com/office/drawing/2014/main" id="{DCD12F88-F362-7702-07E1-346EDF1F5702}"/>
              </a:ext>
            </a:extLst>
          </p:cNvPr>
          <p:cNvGrpSpPr/>
          <p:nvPr/>
        </p:nvGrpSpPr>
        <p:grpSpPr>
          <a:xfrm>
            <a:off x="424984" y="432816"/>
            <a:ext cx="11280098" cy="6123432"/>
            <a:chOff x="424984" y="432816"/>
            <a:chExt cx="11280098" cy="6123432"/>
          </a:xfrm>
        </p:grpSpPr>
        <p:pic>
          <p:nvPicPr>
            <p:cNvPr id="4" name="object 4">
              <a:extLst>
                <a:ext uri="{FF2B5EF4-FFF2-40B4-BE49-F238E27FC236}">
                  <a16:creationId xmlns:a16="http://schemas.microsoft.com/office/drawing/2014/main" id="{0B4C50A1-F57F-943A-3A42-9293A9D594AA}"/>
                </a:ext>
              </a:extLst>
            </p:cNvPr>
            <p:cNvPicPr/>
            <p:nvPr/>
          </p:nvPicPr>
          <p:blipFill>
            <a:blip r:embed="rId2" cstate="print"/>
            <a:stretch>
              <a:fillRect/>
            </a:stretch>
          </p:blipFill>
          <p:spPr>
            <a:xfrm>
              <a:off x="424984" y="432816"/>
              <a:ext cx="3459183" cy="6123432"/>
            </a:xfrm>
            <a:prstGeom prst="rect">
              <a:avLst/>
            </a:prstGeom>
          </p:spPr>
        </p:pic>
        <p:sp>
          <p:nvSpPr>
            <p:cNvPr id="5" name="object 5">
              <a:extLst>
                <a:ext uri="{FF2B5EF4-FFF2-40B4-BE49-F238E27FC236}">
                  <a16:creationId xmlns:a16="http://schemas.microsoft.com/office/drawing/2014/main" id="{929CA596-6308-0B4D-1CA7-27DDFDC50965}"/>
                </a:ext>
              </a:extLst>
            </p:cNvPr>
            <p:cNvSpPr/>
            <p:nvPr/>
          </p:nvSpPr>
          <p:spPr>
            <a:xfrm>
              <a:off x="2934462" y="2177033"/>
              <a:ext cx="8770620" cy="0"/>
            </a:xfrm>
            <a:custGeom>
              <a:avLst/>
              <a:gdLst/>
              <a:ahLst/>
              <a:cxnLst/>
              <a:rect l="l" t="t" r="r" b="b"/>
              <a:pathLst>
                <a:path w="8770620">
                  <a:moveTo>
                    <a:pt x="0" y="0"/>
                  </a:moveTo>
                  <a:lnTo>
                    <a:pt x="8770619" y="0"/>
                  </a:lnTo>
                </a:path>
              </a:pathLst>
            </a:custGeom>
            <a:ln w="38100">
              <a:solidFill>
                <a:srgbClr val="79A8A3"/>
              </a:solidFill>
            </a:ln>
          </p:spPr>
          <p:txBody>
            <a:bodyPr wrap="square" lIns="0" tIns="0" rIns="0" bIns="0" rtlCol="0"/>
            <a:lstStyle/>
            <a:p>
              <a:endParaRPr/>
            </a:p>
          </p:txBody>
        </p:sp>
      </p:grpSp>
      <p:sp>
        <p:nvSpPr>
          <p:cNvPr id="7" name="object 7" descr="$PPTXTitle">
            <a:extLst>
              <a:ext uri="{FF2B5EF4-FFF2-40B4-BE49-F238E27FC236}">
                <a16:creationId xmlns:a16="http://schemas.microsoft.com/office/drawing/2014/main" id="{894BFDF0-18DA-6BA2-574E-FFE94EC68CA9}"/>
              </a:ext>
            </a:extLst>
          </p:cNvPr>
          <p:cNvSpPr txBox="1">
            <a:spLocks noGrp="1"/>
          </p:cNvSpPr>
          <p:nvPr>
            <p:ph type="title"/>
          </p:nvPr>
        </p:nvSpPr>
        <p:spPr>
          <a:xfrm>
            <a:off x="1981960" y="589229"/>
            <a:ext cx="10210040" cy="690574"/>
          </a:xfrm>
          <a:prstGeom prst="rect">
            <a:avLst/>
          </a:prstGeom>
        </p:spPr>
        <p:txBody>
          <a:bodyPr vert="horz" wrap="square" lIns="0" tIns="13335" rIns="0" bIns="0" rtlCol="0">
            <a:spAutoFit/>
          </a:bodyPr>
          <a:lstStyle/>
          <a:p>
            <a:pPr marL="12700">
              <a:spcBef>
                <a:spcPts val="105"/>
              </a:spcBef>
              <a:tabLst>
                <a:tab pos="1043305" algn="l"/>
              </a:tabLst>
            </a:pPr>
            <a:r>
              <a:rPr lang="en-US" sz="4400" b="0" spc="-50" dirty="0">
                <a:solidFill>
                  <a:srgbClr val="464A56"/>
                </a:solidFill>
                <a:latin typeface="Cambria"/>
                <a:cs typeface="Cambria"/>
              </a:rPr>
              <a:t>4</a:t>
            </a:r>
            <a:r>
              <a:rPr sz="4400" b="0" dirty="0">
                <a:solidFill>
                  <a:srgbClr val="464A56"/>
                </a:solidFill>
                <a:latin typeface="Cambria"/>
                <a:cs typeface="Cambria"/>
              </a:rPr>
              <a:t>	</a:t>
            </a:r>
            <a:r>
              <a:rPr lang="en-IN" sz="4400" dirty="0"/>
              <a:t> The Variables</a:t>
            </a:r>
            <a:endParaRPr sz="4400" dirty="0">
              <a:latin typeface="Cambria"/>
              <a:cs typeface="Cambria"/>
            </a:endParaRPr>
          </a:p>
        </p:txBody>
      </p:sp>
      <p:sp>
        <p:nvSpPr>
          <p:cNvPr id="8" name="TextBox 7">
            <a:extLst>
              <a:ext uri="{FF2B5EF4-FFF2-40B4-BE49-F238E27FC236}">
                <a16:creationId xmlns:a16="http://schemas.microsoft.com/office/drawing/2014/main" id="{3CBAD9DC-ADE8-4F6C-5F8E-F6A86001012E}"/>
              </a:ext>
            </a:extLst>
          </p:cNvPr>
          <p:cNvSpPr txBox="1"/>
          <p:nvPr/>
        </p:nvSpPr>
        <p:spPr>
          <a:xfrm>
            <a:off x="2514600" y="2506163"/>
            <a:ext cx="9906000" cy="2246769"/>
          </a:xfrm>
          <a:prstGeom prst="rect">
            <a:avLst/>
          </a:prstGeom>
          <a:noFill/>
        </p:spPr>
        <p:txBody>
          <a:bodyPr wrap="square">
            <a:spAutoFit/>
          </a:bodyPr>
          <a:lstStyle/>
          <a:p>
            <a:r>
              <a:rPr lang="en-US" sz="2800" dirty="0"/>
              <a:t>To calculate this, we use the three variables we learned:</a:t>
            </a:r>
          </a:p>
          <a:p>
            <a:endParaRPr lang="en-US" sz="2800" dirty="0"/>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ea typeface="Google Sans Text"/>
              </a:rPr>
              <a:t>b</a:t>
            </a:r>
            <a:r>
              <a:rPr kumimoji="0" lang="en-US" altLang="en-US" sz="2800" b="0" i="0" u="none" strike="noStrike" cap="none" normalizeH="0" baseline="0" dirty="0">
                <a:ln>
                  <a:noFill/>
                </a:ln>
                <a:solidFill>
                  <a:schemeClr val="tx1"/>
                </a:solidFill>
                <a:effectLst/>
                <a:latin typeface="Arial" panose="020B0604020202020204" pitchFamily="34" charset="0"/>
                <a:ea typeface="Google Sans Text"/>
              </a:rPr>
              <a:t>: Branching Factor (How many choices per node?)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ea typeface="Google Sans Text"/>
              </a:rPr>
              <a:t>d</a:t>
            </a:r>
            <a:r>
              <a:rPr kumimoji="0" lang="en-US" altLang="en-US" sz="2800" b="0" i="0" u="none" strike="noStrike" cap="none" normalizeH="0" baseline="0" dirty="0">
                <a:ln>
                  <a:noFill/>
                </a:ln>
                <a:solidFill>
                  <a:schemeClr val="tx1"/>
                </a:solidFill>
                <a:effectLst/>
                <a:latin typeface="Arial" panose="020B0604020202020204" pitchFamily="34" charset="0"/>
                <a:ea typeface="Google Sans Text"/>
              </a:rPr>
              <a:t>: Depth (How many steps to the goal?)</a:t>
            </a:r>
            <a:endParaRPr kumimoji="0" lang="en-US" altLang="en-US" sz="2800" b="0" i="0" u="none" strike="noStrike" cap="none" normalizeH="0" baseline="0" dirty="0">
              <a:ln>
                <a:noFill/>
              </a:ln>
              <a:solidFill>
                <a:schemeClr val="tx1"/>
              </a:solidFill>
              <a:effectLst/>
              <a:latin typeface="Arial" panose="020B0604020202020204" pitchFamily="34" charset="0"/>
            </a:endParaRPr>
          </a:p>
          <a:p>
            <a:endParaRPr lang="en-US" sz="2800" dirty="0"/>
          </a:p>
        </p:txBody>
      </p:sp>
    </p:spTree>
    <p:extLst>
      <p:ext uri="{BB962C8B-B14F-4D97-AF65-F5344CB8AC3E}">
        <p14:creationId xmlns:p14="http://schemas.microsoft.com/office/powerpoint/2010/main" val="416523899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9A301B-E4EA-1F36-53C0-31B4F738A01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986BE400-8F1D-ACB3-302B-93D4C9E0FD8C}"/>
              </a:ext>
            </a:extLst>
          </p:cNvPr>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FDFBF7"/>
          </a:solidFill>
        </p:spPr>
        <p:txBody>
          <a:bodyPr wrap="square" lIns="0" tIns="0" rIns="0" bIns="0" rtlCol="0"/>
          <a:lstStyle/>
          <a:p>
            <a:endParaRPr/>
          </a:p>
        </p:txBody>
      </p:sp>
      <p:grpSp>
        <p:nvGrpSpPr>
          <p:cNvPr id="3" name="object 3">
            <a:extLst>
              <a:ext uri="{FF2B5EF4-FFF2-40B4-BE49-F238E27FC236}">
                <a16:creationId xmlns:a16="http://schemas.microsoft.com/office/drawing/2014/main" id="{74F3523E-2D11-6C73-1E88-CDAB72C93801}"/>
              </a:ext>
            </a:extLst>
          </p:cNvPr>
          <p:cNvGrpSpPr/>
          <p:nvPr/>
        </p:nvGrpSpPr>
        <p:grpSpPr>
          <a:xfrm>
            <a:off x="424984" y="432816"/>
            <a:ext cx="11280098" cy="6123432"/>
            <a:chOff x="424984" y="432816"/>
            <a:chExt cx="11280098" cy="6123432"/>
          </a:xfrm>
        </p:grpSpPr>
        <p:pic>
          <p:nvPicPr>
            <p:cNvPr id="4" name="object 4">
              <a:extLst>
                <a:ext uri="{FF2B5EF4-FFF2-40B4-BE49-F238E27FC236}">
                  <a16:creationId xmlns:a16="http://schemas.microsoft.com/office/drawing/2014/main" id="{5704F34E-2B5E-9BD4-78C2-749C41FAA8AE}"/>
                </a:ext>
              </a:extLst>
            </p:cNvPr>
            <p:cNvPicPr/>
            <p:nvPr/>
          </p:nvPicPr>
          <p:blipFill>
            <a:blip r:embed="rId2" cstate="print"/>
            <a:stretch>
              <a:fillRect/>
            </a:stretch>
          </p:blipFill>
          <p:spPr>
            <a:xfrm>
              <a:off x="424984" y="432816"/>
              <a:ext cx="3459183" cy="6123432"/>
            </a:xfrm>
            <a:prstGeom prst="rect">
              <a:avLst/>
            </a:prstGeom>
          </p:spPr>
        </p:pic>
        <p:sp>
          <p:nvSpPr>
            <p:cNvPr id="5" name="object 5">
              <a:extLst>
                <a:ext uri="{FF2B5EF4-FFF2-40B4-BE49-F238E27FC236}">
                  <a16:creationId xmlns:a16="http://schemas.microsoft.com/office/drawing/2014/main" id="{4F06DFBE-CDC5-A3EA-A6EE-21DE46FE2082}"/>
                </a:ext>
              </a:extLst>
            </p:cNvPr>
            <p:cNvSpPr/>
            <p:nvPr/>
          </p:nvSpPr>
          <p:spPr>
            <a:xfrm>
              <a:off x="2934462" y="2177033"/>
              <a:ext cx="8770620" cy="0"/>
            </a:xfrm>
            <a:custGeom>
              <a:avLst/>
              <a:gdLst/>
              <a:ahLst/>
              <a:cxnLst/>
              <a:rect l="l" t="t" r="r" b="b"/>
              <a:pathLst>
                <a:path w="8770620">
                  <a:moveTo>
                    <a:pt x="0" y="0"/>
                  </a:moveTo>
                  <a:lnTo>
                    <a:pt x="8770619" y="0"/>
                  </a:lnTo>
                </a:path>
              </a:pathLst>
            </a:custGeom>
            <a:ln w="38100">
              <a:solidFill>
                <a:srgbClr val="79A8A3"/>
              </a:solidFill>
            </a:ln>
          </p:spPr>
          <p:txBody>
            <a:bodyPr wrap="square" lIns="0" tIns="0" rIns="0" bIns="0" rtlCol="0"/>
            <a:lstStyle/>
            <a:p>
              <a:endParaRPr/>
            </a:p>
          </p:txBody>
        </p:sp>
      </p:grpSp>
      <p:sp>
        <p:nvSpPr>
          <p:cNvPr id="7" name="object 7" descr="$PPTXTitle">
            <a:extLst>
              <a:ext uri="{FF2B5EF4-FFF2-40B4-BE49-F238E27FC236}">
                <a16:creationId xmlns:a16="http://schemas.microsoft.com/office/drawing/2014/main" id="{C55D9175-ED9F-F948-B606-16A197C9FC28}"/>
              </a:ext>
            </a:extLst>
          </p:cNvPr>
          <p:cNvSpPr txBox="1">
            <a:spLocks noGrp="1"/>
          </p:cNvSpPr>
          <p:nvPr>
            <p:ph type="title"/>
          </p:nvPr>
        </p:nvSpPr>
        <p:spPr>
          <a:xfrm>
            <a:off x="1981960" y="589229"/>
            <a:ext cx="10210040" cy="690574"/>
          </a:xfrm>
          <a:prstGeom prst="rect">
            <a:avLst/>
          </a:prstGeom>
        </p:spPr>
        <p:txBody>
          <a:bodyPr vert="horz" wrap="square" lIns="0" tIns="13335" rIns="0" bIns="0" rtlCol="0">
            <a:spAutoFit/>
          </a:bodyPr>
          <a:lstStyle/>
          <a:p>
            <a:pPr marL="12700" algn="l" rtl="0">
              <a:spcBef>
                <a:spcPts val="105"/>
              </a:spcBef>
              <a:tabLst>
                <a:tab pos="1043305" algn="l"/>
              </a:tabLst>
            </a:pPr>
            <a:r>
              <a:rPr lang="en-US" sz="4400" b="0" spc="-50" dirty="0">
                <a:solidFill>
                  <a:srgbClr val="464A56"/>
                </a:solidFill>
                <a:latin typeface="Cambria"/>
                <a:cs typeface="Cambria"/>
              </a:rPr>
              <a:t>4</a:t>
            </a:r>
            <a:r>
              <a:rPr sz="4400" b="0" dirty="0">
                <a:solidFill>
                  <a:srgbClr val="464A56"/>
                </a:solidFill>
                <a:latin typeface="Cambria"/>
                <a:cs typeface="Cambria"/>
              </a:rPr>
              <a:t>	</a:t>
            </a:r>
            <a:r>
              <a:rPr lang="en-IN" sz="4400" dirty="0"/>
              <a:t> Why it is Exponential </a:t>
            </a:r>
            <a:r>
              <a:rPr lang="en-US" altLang="en-US" sz="4400" b="0" dirty="0">
                <a:solidFill>
                  <a:schemeClr val="tx1"/>
                </a:solidFill>
                <a:latin typeface="Arial" panose="020B0604020202020204" pitchFamily="34" charset="0"/>
              </a:rPr>
              <a:t>𝑂(𝑏^𝑑)</a:t>
            </a:r>
            <a:endParaRPr sz="4400" dirty="0">
              <a:latin typeface="Cambria"/>
              <a:cs typeface="Cambria"/>
            </a:endParaRPr>
          </a:p>
        </p:txBody>
      </p:sp>
      <p:sp>
        <p:nvSpPr>
          <p:cNvPr id="8" name="TextBox 7">
            <a:extLst>
              <a:ext uri="{FF2B5EF4-FFF2-40B4-BE49-F238E27FC236}">
                <a16:creationId xmlns:a16="http://schemas.microsoft.com/office/drawing/2014/main" id="{97EF9D64-2CC4-CB73-B894-4D1545A77D91}"/>
              </a:ext>
            </a:extLst>
          </p:cNvPr>
          <p:cNvSpPr txBox="1"/>
          <p:nvPr/>
        </p:nvSpPr>
        <p:spPr>
          <a:xfrm>
            <a:off x="2514600" y="2506163"/>
            <a:ext cx="8915400" cy="1200329"/>
          </a:xfrm>
          <a:prstGeom prst="rect">
            <a:avLst/>
          </a:prstGeom>
          <a:noFill/>
        </p:spPr>
        <p:txBody>
          <a:bodyPr wrap="square">
            <a:spAutoFit/>
          </a:bodyPr>
          <a:lstStyle/>
          <a:p>
            <a:r>
              <a:rPr lang="en-US" sz="3600" dirty="0"/>
              <a:t>Every time we go one level deeper, the work doesn't just grow—it </a:t>
            </a:r>
            <a:r>
              <a:rPr lang="en-US" sz="3600" b="1" dirty="0"/>
              <a:t>multiplies</a:t>
            </a:r>
            <a:r>
              <a:rPr lang="en-US" sz="3600" dirty="0"/>
              <a:t>.</a:t>
            </a:r>
          </a:p>
        </p:txBody>
      </p:sp>
    </p:spTree>
    <p:extLst>
      <p:ext uri="{BB962C8B-B14F-4D97-AF65-F5344CB8AC3E}">
        <p14:creationId xmlns:p14="http://schemas.microsoft.com/office/powerpoint/2010/main" val="267966455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6F8A3A-3BF0-4BA8-A9F8-2AFD0FF813D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6277F03F-B811-7714-2A51-31482199C401}"/>
              </a:ext>
            </a:extLst>
          </p:cNvPr>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FDFBF7"/>
          </a:solidFill>
        </p:spPr>
        <p:txBody>
          <a:bodyPr wrap="square" lIns="0" tIns="0" rIns="0" bIns="0" rtlCol="0"/>
          <a:lstStyle/>
          <a:p>
            <a:endParaRPr/>
          </a:p>
        </p:txBody>
      </p:sp>
      <p:grpSp>
        <p:nvGrpSpPr>
          <p:cNvPr id="3" name="object 3">
            <a:extLst>
              <a:ext uri="{FF2B5EF4-FFF2-40B4-BE49-F238E27FC236}">
                <a16:creationId xmlns:a16="http://schemas.microsoft.com/office/drawing/2014/main" id="{E2D1BEDF-B813-1907-D9CD-A1372B08A76E}"/>
              </a:ext>
            </a:extLst>
          </p:cNvPr>
          <p:cNvGrpSpPr/>
          <p:nvPr/>
        </p:nvGrpSpPr>
        <p:grpSpPr>
          <a:xfrm>
            <a:off x="424984" y="432816"/>
            <a:ext cx="11280098" cy="6123432"/>
            <a:chOff x="424984" y="432816"/>
            <a:chExt cx="11280098" cy="6123432"/>
          </a:xfrm>
        </p:grpSpPr>
        <p:pic>
          <p:nvPicPr>
            <p:cNvPr id="4" name="object 4">
              <a:extLst>
                <a:ext uri="{FF2B5EF4-FFF2-40B4-BE49-F238E27FC236}">
                  <a16:creationId xmlns:a16="http://schemas.microsoft.com/office/drawing/2014/main" id="{81F6C2C1-1FF9-F510-9004-797F542F2F4F}"/>
                </a:ext>
              </a:extLst>
            </p:cNvPr>
            <p:cNvPicPr/>
            <p:nvPr/>
          </p:nvPicPr>
          <p:blipFill>
            <a:blip r:embed="rId2" cstate="print"/>
            <a:stretch>
              <a:fillRect/>
            </a:stretch>
          </p:blipFill>
          <p:spPr>
            <a:xfrm>
              <a:off x="424984" y="432816"/>
              <a:ext cx="3459183" cy="6123432"/>
            </a:xfrm>
            <a:prstGeom prst="rect">
              <a:avLst/>
            </a:prstGeom>
          </p:spPr>
        </p:pic>
        <p:sp>
          <p:nvSpPr>
            <p:cNvPr id="5" name="object 5">
              <a:extLst>
                <a:ext uri="{FF2B5EF4-FFF2-40B4-BE49-F238E27FC236}">
                  <a16:creationId xmlns:a16="http://schemas.microsoft.com/office/drawing/2014/main" id="{CA59708F-6E1B-B7CD-43EA-C749898DC3B4}"/>
                </a:ext>
              </a:extLst>
            </p:cNvPr>
            <p:cNvSpPr/>
            <p:nvPr/>
          </p:nvSpPr>
          <p:spPr>
            <a:xfrm>
              <a:off x="2934462" y="2177033"/>
              <a:ext cx="8770620" cy="0"/>
            </a:xfrm>
            <a:custGeom>
              <a:avLst/>
              <a:gdLst/>
              <a:ahLst/>
              <a:cxnLst/>
              <a:rect l="l" t="t" r="r" b="b"/>
              <a:pathLst>
                <a:path w="8770620">
                  <a:moveTo>
                    <a:pt x="0" y="0"/>
                  </a:moveTo>
                  <a:lnTo>
                    <a:pt x="8770619" y="0"/>
                  </a:lnTo>
                </a:path>
              </a:pathLst>
            </a:custGeom>
            <a:ln w="38100">
              <a:solidFill>
                <a:srgbClr val="79A8A3"/>
              </a:solidFill>
            </a:ln>
          </p:spPr>
          <p:txBody>
            <a:bodyPr wrap="square" lIns="0" tIns="0" rIns="0" bIns="0" rtlCol="0"/>
            <a:lstStyle/>
            <a:p>
              <a:endParaRPr/>
            </a:p>
          </p:txBody>
        </p:sp>
      </p:grpSp>
      <p:sp>
        <p:nvSpPr>
          <p:cNvPr id="7" name="object 7" descr="$PPTXTitle">
            <a:extLst>
              <a:ext uri="{FF2B5EF4-FFF2-40B4-BE49-F238E27FC236}">
                <a16:creationId xmlns:a16="http://schemas.microsoft.com/office/drawing/2014/main" id="{6AD01964-6480-6A0D-7323-E6321812B8BB}"/>
              </a:ext>
            </a:extLst>
          </p:cNvPr>
          <p:cNvSpPr txBox="1">
            <a:spLocks noGrp="1"/>
          </p:cNvSpPr>
          <p:nvPr>
            <p:ph type="title"/>
          </p:nvPr>
        </p:nvSpPr>
        <p:spPr>
          <a:xfrm>
            <a:off x="1981960" y="589229"/>
            <a:ext cx="10210040" cy="690574"/>
          </a:xfrm>
          <a:prstGeom prst="rect">
            <a:avLst/>
          </a:prstGeom>
        </p:spPr>
        <p:txBody>
          <a:bodyPr vert="horz" wrap="square" lIns="0" tIns="13335" rIns="0" bIns="0" rtlCol="0">
            <a:spAutoFit/>
          </a:bodyPr>
          <a:lstStyle/>
          <a:p>
            <a:pPr marL="12700" algn="l" rtl="0">
              <a:spcBef>
                <a:spcPts val="105"/>
              </a:spcBef>
              <a:tabLst>
                <a:tab pos="1043305" algn="l"/>
              </a:tabLst>
            </a:pPr>
            <a:r>
              <a:rPr lang="en-US" sz="4400" b="0" spc="-50" dirty="0">
                <a:solidFill>
                  <a:srgbClr val="464A56"/>
                </a:solidFill>
                <a:latin typeface="Cambria"/>
                <a:cs typeface="Cambria"/>
              </a:rPr>
              <a:t>4</a:t>
            </a:r>
            <a:r>
              <a:rPr sz="4400" b="0" dirty="0">
                <a:solidFill>
                  <a:srgbClr val="464A56"/>
                </a:solidFill>
                <a:latin typeface="Cambria"/>
                <a:cs typeface="Cambria"/>
              </a:rPr>
              <a:t>	</a:t>
            </a:r>
            <a:r>
              <a:rPr lang="en-IN" sz="4400" dirty="0">
                <a:solidFill>
                  <a:srgbClr val="C00000"/>
                </a:solidFill>
                <a:latin typeface="Cambria"/>
                <a:cs typeface="Cambria"/>
              </a:rPr>
              <a:t>Time Complexity in BFS</a:t>
            </a:r>
            <a:endParaRPr sz="4400" dirty="0">
              <a:solidFill>
                <a:srgbClr val="C00000"/>
              </a:solidFill>
              <a:latin typeface="Cambria"/>
              <a:cs typeface="Cambria"/>
            </a:endParaRPr>
          </a:p>
        </p:txBody>
      </p:sp>
      <p:sp>
        <p:nvSpPr>
          <p:cNvPr id="8" name="TextBox 7">
            <a:extLst>
              <a:ext uri="{FF2B5EF4-FFF2-40B4-BE49-F238E27FC236}">
                <a16:creationId xmlns:a16="http://schemas.microsoft.com/office/drawing/2014/main" id="{6614C798-F44F-549C-B2A6-25F3E6055F49}"/>
              </a:ext>
            </a:extLst>
          </p:cNvPr>
          <p:cNvSpPr txBox="1"/>
          <p:nvPr/>
        </p:nvSpPr>
        <p:spPr>
          <a:xfrm>
            <a:off x="2514600" y="2506163"/>
            <a:ext cx="8915400" cy="3416320"/>
          </a:xfrm>
          <a:prstGeom prst="rect">
            <a:avLst/>
          </a:prstGeom>
          <a:noFill/>
        </p:spPr>
        <p:txBody>
          <a:bodyPr wrap="square">
            <a:spAutoFit/>
          </a:bodyPr>
          <a:lstStyle/>
          <a:p>
            <a:r>
              <a:rPr lang="en-US" sz="3600" dirty="0"/>
              <a:t>Time complexity = number of nodes expanded</a:t>
            </a:r>
          </a:p>
          <a:p>
            <a:endParaRPr lang="en-US" sz="3600" dirty="0"/>
          </a:p>
          <a:p>
            <a:r>
              <a:rPr lang="en-US" sz="3600" dirty="0"/>
              <a:t>So BFS:</a:t>
            </a:r>
          </a:p>
          <a:p>
            <a:r>
              <a:rPr lang="en-US" sz="3600" dirty="0"/>
              <a:t>Expands all nodes up to depth </a:t>
            </a:r>
            <a:r>
              <a:rPr lang="en-US" sz="3600" b="1" dirty="0"/>
              <a:t>d</a:t>
            </a:r>
            <a:endParaRPr lang="en-US" sz="3600" dirty="0"/>
          </a:p>
          <a:p>
            <a:r>
              <a:rPr lang="en-US" sz="3600" dirty="0"/>
              <a:t>Hence </a:t>
            </a:r>
            <a:r>
              <a:rPr lang="en-US" sz="3600" b="1" dirty="0"/>
              <a:t>Time = O(</a:t>
            </a:r>
            <a:r>
              <a:rPr lang="en-US" sz="3600" b="1" dirty="0" err="1"/>
              <a:t>b^d</a:t>
            </a:r>
            <a:r>
              <a:rPr lang="en-US" sz="3600" b="1" dirty="0"/>
              <a:t>)</a:t>
            </a:r>
            <a:endParaRPr lang="en-US" sz="3600" dirty="0"/>
          </a:p>
        </p:txBody>
      </p:sp>
    </p:spTree>
    <p:extLst>
      <p:ext uri="{BB962C8B-B14F-4D97-AF65-F5344CB8AC3E}">
        <p14:creationId xmlns:p14="http://schemas.microsoft.com/office/powerpoint/2010/main" val="321648934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DD5AB3-5F08-DC90-4B9B-DBE65B725910}"/>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83448375-4474-9CF9-FB8B-D7A542A9B974}"/>
              </a:ext>
            </a:extLst>
          </p:cNvPr>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FDFBF7"/>
          </a:solidFill>
        </p:spPr>
        <p:txBody>
          <a:bodyPr wrap="square" lIns="0" tIns="0" rIns="0" bIns="0" rtlCol="0"/>
          <a:lstStyle/>
          <a:p>
            <a:endParaRPr/>
          </a:p>
        </p:txBody>
      </p:sp>
      <p:grpSp>
        <p:nvGrpSpPr>
          <p:cNvPr id="3" name="object 3">
            <a:extLst>
              <a:ext uri="{FF2B5EF4-FFF2-40B4-BE49-F238E27FC236}">
                <a16:creationId xmlns:a16="http://schemas.microsoft.com/office/drawing/2014/main" id="{1BEB7AB1-8C81-B603-E0B1-22C61A89CEE4}"/>
              </a:ext>
            </a:extLst>
          </p:cNvPr>
          <p:cNvGrpSpPr/>
          <p:nvPr/>
        </p:nvGrpSpPr>
        <p:grpSpPr>
          <a:xfrm>
            <a:off x="424984" y="432816"/>
            <a:ext cx="11280098" cy="6123432"/>
            <a:chOff x="424984" y="432816"/>
            <a:chExt cx="11280098" cy="6123432"/>
          </a:xfrm>
        </p:grpSpPr>
        <p:pic>
          <p:nvPicPr>
            <p:cNvPr id="4" name="object 4">
              <a:extLst>
                <a:ext uri="{FF2B5EF4-FFF2-40B4-BE49-F238E27FC236}">
                  <a16:creationId xmlns:a16="http://schemas.microsoft.com/office/drawing/2014/main" id="{E648289D-1AF7-1411-127A-75865A458625}"/>
                </a:ext>
              </a:extLst>
            </p:cNvPr>
            <p:cNvPicPr/>
            <p:nvPr/>
          </p:nvPicPr>
          <p:blipFill>
            <a:blip r:embed="rId2" cstate="print"/>
            <a:stretch>
              <a:fillRect/>
            </a:stretch>
          </p:blipFill>
          <p:spPr>
            <a:xfrm>
              <a:off x="424984" y="432816"/>
              <a:ext cx="3459183" cy="6123432"/>
            </a:xfrm>
            <a:prstGeom prst="rect">
              <a:avLst/>
            </a:prstGeom>
          </p:spPr>
        </p:pic>
        <p:sp>
          <p:nvSpPr>
            <p:cNvPr id="5" name="object 5">
              <a:extLst>
                <a:ext uri="{FF2B5EF4-FFF2-40B4-BE49-F238E27FC236}">
                  <a16:creationId xmlns:a16="http://schemas.microsoft.com/office/drawing/2014/main" id="{E806FDF0-7660-F32A-3825-D09A25660B14}"/>
                </a:ext>
              </a:extLst>
            </p:cNvPr>
            <p:cNvSpPr/>
            <p:nvPr/>
          </p:nvSpPr>
          <p:spPr>
            <a:xfrm>
              <a:off x="2934462" y="2177033"/>
              <a:ext cx="8770620" cy="0"/>
            </a:xfrm>
            <a:custGeom>
              <a:avLst/>
              <a:gdLst/>
              <a:ahLst/>
              <a:cxnLst/>
              <a:rect l="l" t="t" r="r" b="b"/>
              <a:pathLst>
                <a:path w="8770620">
                  <a:moveTo>
                    <a:pt x="0" y="0"/>
                  </a:moveTo>
                  <a:lnTo>
                    <a:pt x="8770619" y="0"/>
                  </a:lnTo>
                </a:path>
              </a:pathLst>
            </a:custGeom>
            <a:ln w="38100">
              <a:solidFill>
                <a:srgbClr val="79A8A3"/>
              </a:solidFill>
            </a:ln>
          </p:spPr>
          <p:txBody>
            <a:bodyPr wrap="square" lIns="0" tIns="0" rIns="0" bIns="0" rtlCol="0"/>
            <a:lstStyle/>
            <a:p>
              <a:endParaRPr/>
            </a:p>
          </p:txBody>
        </p:sp>
      </p:grpSp>
      <p:sp>
        <p:nvSpPr>
          <p:cNvPr id="7" name="object 7" descr="$PPTXTitle">
            <a:extLst>
              <a:ext uri="{FF2B5EF4-FFF2-40B4-BE49-F238E27FC236}">
                <a16:creationId xmlns:a16="http://schemas.microsoft.com/office/drawing/2014/main" id="{F363DD32-A915-5D70-C6E3-E31991490C1D}"/>
              </a:ext>
            </a:extLst>
          </p:cNvPr>
          <p:cNvSpPr txBox="1">
            <a:spLocks noGrp="1"/>
          </p:cNvSpPr>
          <p:nvPr>
            <p:ph type="title"/>
          </p:nvPr>
        </p:nvSpPr>
        <p:spPr>
          <a:xfrm>
            <a:off x="1981960" y="589229"/>
            <a:ext cx="10210040" cy="1367682"/>
          </a:xfrm>
          <a:prstGeom prst="rect">
            <a:avLst/>
          </a:prstGeom>
        </p:spPr>
        <p:txBody>
          <a:bodyPr vert="horz" wrap="square" lIns="0" tIns="13335" rIns="0" bIns="0" rtlCol="0">
            <a:spAutoFit/>
          </a:bodyPr>
          <a:lstStyle/>
          <a:p>
            <a:pPr marL="12700">
              <a:spcBef>
                <a:spcPts val="105"/>
              </a:spcBef>
              <a:tabLst>
                <a:tab pos="1043305" algn="l"/>
              </a:tabLst>
            </a:pPr>
            <a:r>
              <a:rPr lang="en-US" sz="4400" b="0" spc="-50" dirty="0">
                <a:solidFill>
                  <a:srgbClr val="464A56"/>
                </a:solidFill>
                <a:latin typeface="Cambria"/>
                <a:cs typeface="Cambria"/>
              </a:rPr>
              <a:t>4</a:t>
            </a:r>
            <a:r>
              <a:rPr lang="en-US" sz="4400" b="0" dirty="0">
                <a:solidFill>
                  <a:srgbClr val="464A56"/>
                </a:solidFill>
                <a:latin typeface="Cambria"/>
                <a:cs typeface="Cambria"/>
              </a:rPr>
              <a:t>	</a:t>
            </a:r>
            <a:r>
              <a:rPr lang="en-US" sz="4400" dirty="0"/>
              <a:t> </a:t>
            </a:r>
            <a:r>
              <a:rPr lang="en-IN" sz="4400" dirty="0"/>
              <a:t>The "3-Step" Growth (Visualizing b = 3)</a:t>
            </a:r>
            <a:endParaRPr sz="4400" dirty="0">
              <a:latin typeface="Cambria"/>
              <a:cs typeface="Cambria"/>
            </a:endParaRPr>
          </a:p>
        </p:txBody>
      </p:sp>
      <p:sp>
        <p:nvSpPr>
          <p:cNvPr id="8" name="TextBox 7">
            <a:extLst>
              <a:ext uri="{FF2B5EF4-FFF2-40B4-BE49-F238E27FC236}">
                <a16:creationId xmlns:a16="http://schemas.microsoft.com/office/drawing/2014/main" id="{A5C63272-97DB-805D-9EB7-1E8C9D583BE7}"/>
              </a:ext>
            </a:extLst>
          </p:cNvPr>
          <p:cNvSpPr txBox="1"/>
          <p:nvPr/>
        </p:nvSpPr>
        <p:spPr>
          <a:xfrm>
            <a:off x="1676400" y="2295002"/>
            <a:ext cx="9753600" cy="4031873"/>
          </a:xfrm>
          <a:prstGeom prst="rect">
            <a:avLst/>
          </a:prstGeom>
          <a:noFill/>
        </p:spPr>
        <p:txBody>
          <a:bodyPr wrap="square">
            <a:spAutoFit/>
          </a:bodyPr>
          <a:lstStyle/>
          <a:p>
            <a:r>
              <a:rPr lang="en-US" sz="3200" dirty="0"/>
              <a:t>Let's see how the work "piles up" as we go deeper:</a:t>
            </a:r>
          </a:p>
          <a:p>
            <a:endParaRPr lang="en-US" sz="3200" dirty="0"/>
          </a:p>
          <a:p>
            <a:r>
              <a:rPr lang="en-US" sz="3200" b="1" dirty="0"/>
              <a:t>Step 0 (The Start):</a:t>
            </a:r>
            <a:r>
              <a:rPr lang="en-US" sz="3200" dirty="0"/>
              <a:t> Just 1 node.</a:t>
            </a:r>
          </a:p>
          <a:p>
            <a:r>
              <a:rPr lang="en-US" sz="3200" b="1" dirty="0"/>
              <a:t>Step 1:</a:t>
            </a:r>
            <a:r>
              <a:rPr lang="en-US" sz="3200" dirty="0"/>
              <a:t> You explore </a:t>
            </a:r>
            <a:r>
              <a:rPr lang="en-US" sz="3200" b="1" dirty="0"/>
              <a:t>3</a:t>
            </a:r>
            <a:r>
              <a:rPr lang="en-US" sz="3200" dirty="0"/>
              <a:t> new nodes.</a:t>
            </a:r>
          </a:p>
          <a:p>
            <a:r>
              <a:rPr lang="en-US" sz="3200" b="1" dirty="0"/>
              <a:t>Step 2:</a:t>
            </a:r>
            <a:r>
              <a:rPr lang="en-US" sz="3200" dirty="0"/>
              <a:t> Each of those 3 nodes has 3 children... So 3 x 3 = 9 new nodes.</a:t>
            </a:r>
          </a:p>
          <a:p>
            <a:r>
              <a:rPr lang="en-US" sz="3200" b="1" dirty="0"/>
              <a:t>Step 3:</a:t>
            </a:r>
            <a:r>
              <a:rPr lang="en-US" sz="3200" dirty="0"/>
              <a:t> Each of those 9 nodes has 3 children... So 9 x 3 = 243 new nodes. </a:t>
            </a:r>
          </a:p>
        </p:txBody>
      </p:sp>
    </p:spTree>
    <p:extLst>
      <p:ext uri="{BB962C8B-B14F-4D97-AF65-F5344CB8AC3E}">
        <p14:creationId xmlns:p14="http://schemas.microsoft.com/office/powerpoint/2010/main" val="214902404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A25E83-62F4-4151-9068-07C88B23498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602621F-5B92-F8E3-4CC8-A86C36A6B14E}"/>
              </a:ext>
            </a:extLst>
          </p:cNvPr>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FDFBF7"/>
          </a:solidFill>
        </p:spPr>
        <p:txBody>
          <a:bodyPr wrap="square" lIns="0" tIns="0" rIns="0" bIns="0" rtlCol="0"/>
          <a:lstStyle/>
          <a:p>
            <a:endParaRPr/>
          </a:p>
        </p:txBody>
      </p:sp>
      <p:grpSp>
        <p:nvGrpSpPr>
          <p:cNvPr id="3" name="object 3">
            <a:extLst>
              <a:ext uri="{FF2B5EF4-FFF2-40B4-BE49-F238E27FC236}">
                <a16:creationId xmlns:a16="http://schemas.microsoft.com/office/drawing/2014/main" id="{145C6D3F-FB16-7457-0AAD-A3F6BC6BE7FD}"/>
              </a:ext>
            </a:extLst>
          </p:cNvPr>
          <p:cNvGrpSpPr/>
          <p:nvPr/>
        </p:nvGrpSpPr>
        <p:grpSpPr>
          <a:xfrm>
            <a:off x="424984" y="432816"/>
            <a:ext cx="11280098" cy="6123432"/>
            <a:chOff x="424984" y="432816"/>
            <a:chExt cx="11280098" cy="6123432"/>
          </a:xfrm>
        </p:grpSpPr>
        <p:pic>
          <p:nvPicPr>
            <p:cNvPr id="4" name="object 4">
              <a:extLst>
                <a:ext uri="{FF2B5EF4-FFF2-40B4-BE49-F238E27FC236}">
                  <a16:creationId xmlns:a16="http://schemas.microsoft.com/office/drawing/2014/main" id="{13892B8B-E74D-546A-576E-DB6316E27EA5}"/>
                </a:ext>
              </a:extLst>
            </p:cNvPr>
            <p:cNvPicPr/>
            <p:nvPr/>
          </p:nvPicPr>
          <p:blipFill>
            <a:blip r:embed="rId2" cstate="print"/>
            <a:stretch>
              <a:fillRect/>
            </a:stretch>
          </p:blipFill>
          <p:spPr>
            <a:xfrm>
              <a:off x="424984" y="432816"/>
              <a:ext cx="3459183" cy="6123432"/>
            </a:xfrm>
            <a:prstGeom prst="rect">
              <a:avLst/>
            </a:prstGeom>
          </p:spPr>
        </p:pic>
        <p:sp>
          <p:nvSpPr>
            <p:cNvPr id="5" name="object 5">
              <a:extLst>
                <a:ext uri="{FF2B5EF4-FFF2-40B4-BE49-F238E27FC236}">
                  <a16:creationId xmlns:a16="http://schemas.microsoft.com/office/drawing/2014/main" id="{E15810B5-E6F3-773A-2063-E4A8CC9F130F}"/>
                </a:ext>
              </a:extLst>
            </p:cNvPr>
            <p:cNvSpPr/>
            <p:nvPr/>
          </p:nvSpPr>
          <p:spPr>
            <a:xfrm>
              <a:off x="2934462" y="2177033"/>
              <a:ext cx="8770620" cy="0"/>
            </a:xfrm>
            <a:custGeom>
              <a:avLst/>
              <a:gdLst/>
              <a:ahLst/>
              <a:cxnLst/>
              <a:rect l="l" t="t" r="r" b="b"/>
              <a:pathLst>
                <a:path w="8770620">
                  <a:moveTo>
                    <a:pt x="0" y="0"/>
                  </a:moveTo>
                  <a:lnTo>
                    <a:pt x="8770619" y="0"/>
                  </a:lnTo>
                </a:path>
              </a:pathLst>
            </a:custGeom>
            <a:ln w="38100">
              <a:solidFill>
                <a:srgbClr val="79A8A3"/>
              </a:solidFill>
            </a:ln>
          </p:spPr>
          <p:txBody>
            <a:bodyPr wrap="square" lIns="0" tIns="0" rIns="0" bIns="0" rtlCol="0"/>
            <a:lstStyle/>
            <a:p>
              <a:endParaRPr/>
            </a:p>
          </p:txBody>
        </p:sp>
      </p:grpSp>
      <p:sp>
        <p:nvSpPr>
          <p:cNvPr id="7" name="object 7" descr="$PPTXTitle">
            <a:extLst>
              <a:ext uri="{FF2B5EF4-FFF2-40B4-BE49-F238E27FC236}">
                <a16:creationId xmlns:a16="http://schemas.microsoft.com/office/drawing/2014/main" id="{02F1EA4A-CF9C-0A6C-FE69-B3816CBE4A46}"/>
              </a:ext>
            </a:extLst>
          </p:cNvPr>
          <p:cNvSpPr txBox="1">
            <a:spLocks noGrp="1"/>
          </p:cNvSpPr>
          <p:nvPr>
            <p:ph type="title"/>
          </p:nvPr>
        </p:nvSpPr>
        <p:spPr>
          <a:xfrm>
            <a:off x="1981960" y="589229"/>
            <a:ext cx="10210040" cy="690574"/>
          </a:xfrm>
          <a:prstGeom prst="rect">
            <a:avLst/>
          </a:prstGeom>
        </p:spPr>
        <p:txBody>
          <a:bodyPr vert="horz" wrap="square" lIns="0" tIns="13335" rIns="0" bIns="0" rtlCol="0">
            <a:spAutoFit/>
          </a:bodyPr>
          <a:lstStyle/>
          <a:p>
            <a:pPr marL="12700">
              <a:spcBef>
                <a:spcPts val="105"/>
              </a:spcBef>
              <a:tabLst>
                <a:tab pos="1043305" algn="l"/>
              </a:tabLst>
            </a:pPr>
            <a:r>
              <a:rPr lang="en-US" sz="4400" b="0" spc="-50" dirty="0">
                <a:solidFill>
                  <a:srgbClr val="464A56"/>
                </a:solidFill>
                <a:latin typeface="Cambria"/>
                <a:cs typeface="Cambria"/>
              </a:rPr>
              <a:t>4</a:t>
            </a:r>
            <a:r>
              <a:rPr sz="4400" b="0" dirty="0">
                <a:solidFill>
                  <a:srgbClr val="464A56"/>
                </a:solidFill>
                <a:latin typeface="Cambria"/>
                <a:cs typeface="Cambria"/>
              </a:rPr>
              <a:t>	</a:t>
            </a:r>
            <a:r>
              <a:rPr lang="en-IN" sz="4400" dirty="0"/>
              <a:t> Classroom Discussion Point</a:t>
            </a:r>
            <a:endParaRPr sz="4400" dirty="0">
              <a:latin typeface="Cambria"/>
              <a:cs typeface="Cambria"/>
            </a:endParaRPr>
          </a:p>
        </p:txBody>
      </p:sp>
      <p:sp>
        <p:nvSpPr>
          <p:cNvPr id="8" name="TextBox 7">
            <a:extLst>
              <a:ext uri="{FF2B5EF4-FFF2-40B4-BE49-F238E27FC236}">
                <a16:creationId xmlns:a16="http://schemas.microsoft.com/office/drawing/2014/main" id="{B4060FA1-6EC1-91AF-6060-AE4FD8735B2F}"/>
              </a:ext>
            </a:extLst>
          </p:cNvPr>
          <p:cNvSpPr txBox="1"/>
          <p:nvPr/>
        </p:nvSpPr>
        <p:spPr>
          <a:xfrm>
            <a:off x="2514600" y="2506163"/>
            <a:ext cx="8915400" cy="2862322"/>
          </a:xfrm>
          <a:prstGeom prst="rect">
            <a:avLst/>
          </a:prstGeom>
          <a:noFill/>
        </p:spPr>
        <p:txBody>
          <a:bodyPr wrap="square">
            <a:spAutoFit/>
          </a:bodyPr>
          <a:lstStyle/>
          <a:p>
            <a:r>
              <a:rPr lang="en-US" sz="3600" dirty="0"/>
              <a:t>Ask the class: "If you are a robot and you have </a:t>
            </a:r>
            <a:r>
              <a:rPr lang="en-US" sz="3600" b="1" dirty="0"/>
              <a:t>2</a:t>
            </a:r>
            <a:r>
              <a:rPr lang="en-US" sz="3600" dirty="0"/>
              <a:t> choices (Left or Right) at every step (b = 2) and the exit is </a:t>
            </a:r>
            <a:r>
              <a:rPr lang="en-US" sz="3600" b="1" dirty="0"/>
              <a:t>4</a:t>
            </a:r>
            <a:r>
              <a:rPr lang="en-US" sz="3600" dirty="0"/>
              <a:t> steps away (d = 4) . how many nodes are waiting for you at that 4th step?"</a:t>
            </a:r>
          </a:p>
        </p:txBody>
      </p:sp>
    </p:spTree>
    <p:extLst>
      <p:ext uri="{BB962C8B-B14F-4D97-AF65-F5344CB8AC3E}">
        <p14:creationId xmlns:p14="http://schemas.microsoft.com/office/powerpoint/2010/main" val="13178493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0904A-DB79-FB3F-439C-FB7E6765B9F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0C9E422-0259-EF71-8837-CCFEA303C69E}"/>
              </a:ext>
            </a:extLst>
          </p:cNvPr>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FDFBF7"/>
          </a:solidFill>
        </p:spPr>
        <p:txBody>
          <a:bodyPr wrap="square" lIns="0" tIns="0" rIns="0" bIns="0" rtlCol="0"/>
          <a:lstStyle/>
          <a:p>
            <a:endParaRPr/>
          </a:p>
        </p:txBody>
      </p:sp>
      <p:grpSp>
        <p:nvGrpSpPr>
          <p:cNvPr id="3" name="object 3">
            <a:extLst>
              <a:ext uri="{FF2B5EF4-FFF2-40B4-BE49-F238E27FC236}">
                <a16:creationId xmlns:a16="http://schemas.microsoft.com/office/drawing/2014/main" id="{6100CC11-504E-B9F9-60E5-41B559615D40}"/>
              </a:ext>
            </a:extLst>
          </p:cNvPr>
          <p:cNvGrpSpPr/>
          <p:nvPr/>
        </p:nvGrpSpPr>
        <p:grpSpPr>
          <a:xfrm>
            <a:off x="424984" y="432816"/>
            <a:ext cx="11280098" cy="6123432"/>
            <a:chOff x="424984" y="432816"/>
            <a:chExt cx="11280098" cy="6123432"/>
          </a:xfrm>
        </p:grpSpPr>
        <p:pic>
          <p:nvPicPr>
            <p:cNvPr id="4" name="object 4">
              <a:extLst>
                <a:ext uri="{FF2B5EF4-FFF2-40B4-BE49-F238E27FC236}">
                  <a16:creationId xmlns:a16="http://schemas.microsoft.com/office/drawing/2014/main" id="{649041DF-76D0-08B1-F9D8-CCECF8615F81}"/>
                </a:ext>
              </a:extLst>
            </p:cNvPr>
            <p:cNvPicPr/>
            <p:nvPr/>
          </p:nvPicPr>
          <p:blipFill>
            <a:blip r:embed="rId2" cstate="print"/>
            <a:stretch>
              <a:fillRect/>
            </a:stretch>
          </p:blipFill>
          <p:spPr>
            <a:xfrm>
              <a:off x="424984" y="432816"/>
              <a:ext cx="3459183" cy="6123432"/>
            </a:xfrm>
            <a:prstGeom prst="rect">
              <a:avLst/>
            </a:prstGeom>
          </p:spPr>
        </p:pic>
        <p:sp>
          <p:nvSpPr>
            <p:cNvPr id="5" name="object 5">
              <a:extLst>
                <a:ext uri="{FF2B5EF4-FFF2-40B4-BE49-F238E27FC236}">
                  <a16:creationId xmlns:a16="http://schemas.microsoft.com/office/drawing/2014/main" id="{3078D6C8-1930-F2DB-56CD-1345C3A692A3}"/>
                </a:ext>
              </a:extLst>
            </p:cNvPr>
            <p:cNvSpPr/>
            <p:nvPr/>
          </p:nvSpPr>
          <p:spPr>
            <a:xfrm>
              <a:off x="2934462" y="2177033"/>
              <a:ext cx="8770620" cy="0"/>
            </a:xfrm>
            <a:custGeom>
              <a:avLst/>
              <a:gdLst/>
              <a:ahLst/>
              <a:cxnLst/>
              <a:rect l="l" t="t" r="r" b="b"/>
              <a:pathLst>
                <a:path w="8770620">
                  <a:moveTo>
                    <a:pt x="0" y="0"/>
                  </a:moveTo>
                  <a:lnTo>
                    <a:pt x="8770619" y="0"/>
                  </a:lnTo>
                </a:path>
              </a:pathLst>
            </a:custGeom>
            <a:ln w="38100">
              <a:solidFill>
                <a:srgbClr val="79A8A3"/>
              </a:solidFill>
            </a:ln>
          </p:spPr>
          <p:txBody>
            <a:bodyPr wrap="square" lIns="0" tIns="0" rIns="0" bIns="0" rtlCol="0"/>
            <a:lstStyle/>
            <a:p>
              <a:endParaRPr/>
            </a:p>
          </p:txBody>
        </p:sp>
      </p:grpSp>
      <p:sp>
        <p:nvSpPr>
          <p:cNvPr id="7" name="object 7" descr="$PPTXTitle">
            <a:extLst>
              <a:ext uri="{FF2B5EF4-FFF2-40B4-BE49-F238E27FC236}">
                <a16:creationId xmlns:a16="http://schemas.microsoft.com/office/drawing/2014/main" id="{D37B03E1-86AC-70F8-2A3A-422530E2BF13}"/>
              </a:ext>
            </a:extLst>
          </p:cNvPr>
          <p:cNvSpPr txBox="1">
            <a:spLocks noGrp="1"/>
          </p:cNvSpPr>
          <p:nvPr>
            <p:ph type="title"/>
          </p:nvPr>
        </p:nvSpPr>
        <p:spPr>
          <a:xfrm>
            <a:off x="1981960" y="589229"/>
            <a:ext cx="10210040" cy="690574"/>
          </a:xfrm>
          <a:prstGeom prst="rect">
            <a:avLst/>
          </a:prstGeom>
        </p:spPr>
        <p:txBody>
          <a:bodyPr vert="horz" wrap="square" lIns="0" tIns="13335" rIns="0" bIns="0" rtlCol="0">
            <a:spAutoFit/>
          </a:bodyPr>
          <a:lstStyle/>
          <a:p>
            <a:pPr marL="12700">
              <a:spcBef>
                <a:spcPts val="105"/>
              </a:spcBef>
              <a:tabLst>
                <a:tab pos="1043305" algn="l"/>
              </a:tabLst>
            </a:pPr>
            <a:r>
              <a:rPr lang="en-US" sz="4400" b="0" spc="-50" dirty="0">
                <a:solidFill>
                  <a:srgbClr val="464A56"/>
                </a:solidFill>
                <a:latin typeface="Cambria"/>
                <a:cs typeface="Cambria"/>
              </a:rPr>
              <a:t>4</a:t>
            </a:r>
            <a:r>
              <a:rPr sz="4400" b="0" dirty="0">
                <a:solidFill>
                  <a:srgbClr val="464A56"/>
                </a:solidFill>
                <a:latin typeface="Cambria"/>
                <a:cs typeface="Cambria"/>
              </a:rPr>
              <a:t>	</a:t>
            </a:r>
            <a:r>
              <a:rPr lang="en-IN" sz="4400" dirty="0"/>
              <a:t> 3. What is Space Complexity?</a:t>
            </a:r>
            <a:endParaRPr sz="4400" dirty="0">
              <a:latin typeface="Cambria"/>
              <a:cs typeface="Cambria"/>
            </a:endParaRPr>
          </a:p>
        </p:txBody>
      </p:sp>
      <p:sp>
        <p:nvSpPr>
          <p:cNvPr id="8" name="TextBox 7">
            <a:extLst>
              <a:ext uri="{FF2B5EF4-FFF2-40B4-BE49-F238E27FC236}">
                <a16:creationId xmlns:a16="http://schemas.microsoft.com/office/drawing/2014/main" id="{A92BB5F6-0742-5F8D-E1B9-826159A384C9}"/>
              </a:ext>
            </a:extLst>
          </p:cNvPr>
          <p:cNvSpPr txBox="1"/>
          <p:nvPr/>
        </p:nvSpPr>
        <p:spPr>
          <a:xfrm>
            <a:off x="2514600" y="2506163"/>
            <a:ext cx="9448800" cy="1077218"/>
          </a:xfrm>
          <a:prstGeom prst="rect">
            <a:avLst/>
          </a:prstGeom>
          <a:noFill/>
        </p:spPr>
        <p:txBody>
          <a:bodyPr wrap="square">
            <a:spAutoFit/>
          </a:bodyPr>
          <a:lstStyle/>
          <a:p>
            <a:r>
              <a:rPr lang="en-US" sz="3200" dirty="0"/>
              <a:t>"How much </a:t>
            </a:r>
            <a:r>
              <a:rPr lang="en-US" sz="3200" b="1" dirty="0"/>
              <a:t>Memory (RAM)</a:t>
            </a:r>
            <a:r>
              <a:rPr lang="en-US" sz="3200" dirty="0"/>
              <a:t> does the AI need to keep its 'To-Do List'?"</a:t>
            </a:r>
          </a:p>
        </p:txBody>
      </p:sp>
    </p:spTree>
    <p:extLst>
      <p:ext uri="{BB962C8B-B14F-4D97-AF65-F5344CB8AC3E}">
        <p14:creationId xmlns:p14="http://schemas.microsoft.com/office/powerpoint/2010/main" val="245590903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A9A537-AF45-22B5-6F4B-5931D5929F0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229639A-66B1-DAA5-7BF2-148A3602C687}"/>
              </a:ext>
            </a:extLst>
          </p:cNvPr>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FDFBF7"/>
          </a:solidFill>
        </p:spPr>
        <p:txBody>
          <a:bodyPr wrap="square" lIns="0" tIns="0" rIns="0" bIns="0" rtlCol="0"/>
          <a:lstStyle/>
          <a:p>
            <a:endParaRPr/>
          </a:p>
        </p:txBody>
      </p:sp>
      <p:grpSp>
        <p:nvGrpSpPr>
          <p:cNvPr id="3" name="object 3">
            <a:extLst>
              <a:ext uri="{FF2B5EF4-FFF2-40B4-BE49-F238E27FC236}">
                <a16:creationId xmlns:a16="http://schemas.microsoft.com/office/drawing/2014/main" id="{ABBB6D63-8FAC-E0D0-FD35-0CEDE99D8CCF}"/>
              </a:ext>
            </a:extLst>
          </p:cNvPr>
          <p:cNvGrpSpPr/>
          <p:nvPr/>
        </p:nvGrpSpPr>
        <p:grpSpPr>
          <a:xfrm>
            <a:off x="424984" y="432816"/>
            <a:ext cx="11280098" cy="6123432"/>
            <a:chOff x="424984" y="432816"/>
            <a:chExt cx="11280098" cy="6123432"/>
          </a:xfrm>
        </p:grpSpPr>
        <p:pic>
          <p:nvPicPr>
            <p:cNvPr id="4" name="object 4">
              <a:extLst>
                <a:ext uri="{FF2B5EF4-FFF2-40B4-BE49-F238E27FC236}">
                  <a16:creationId xmlns:a16="http://schemas.microsoft.com/office/drawing/2014/main" id="{34A25070-2FF5-A120-D877-D5C5E66C7D4E}"/>
                </a:ext>
              </a:extLst>
            </p:cNvPr>
            <p:cNvPicPr/>
            <p:nvPr/>
          </p:nvPicPr>
          <p:blipFill>
            <a:blip r:embed="rId2" cstate="print"/>
            <a:stretch>
              <a:fillRect/>
            </a:stretch>
          </p:blipFill>
          <p:spPr>
            <a:xfrm>
              <a:off x="424984" y="432816"/>
              <a:ext cx="3459183" cy="6123432"/>
            </a:xfrm>
            <a:prstGeom prst="rect">
              <a:avLst/>
            </a:prstGeom>
          </p:spPr>
        </p:pic>
        <p:sp>
          <p:nvSpPr>
            <p:cNvPr id="5" name="object 5">
              <a:extLst>
                <a:ext uri="{FF2B5EF4-FFF2-40B4-BE49-F238E27FC236}">
                  <a16:creationId xmlns:a16="http://schemas.microsoft.com/office/drawing/2014/main" id="{03D6D015-09FB-14EA-9295-092667928A4D}"/>
                </a:ext>
              </a:extLst>
            </p:cNvPr>
            <p:cNvSpPr/>
            <p:nvPr/>
          </p:nvSpPr>
          <p:spPr>
            <a:xfrm>
              <a:off x="2934462" y="2177033"/>
              <a:ext cx="8770620" cy="0"/>
            </a:xfrm>
            <a:custGeom>
              <a:avLst/>
              <a:gdLst/>
              <a:ahLst/>
              <a:cxnLst/>
              <a:rect l="l" t="t" r="r" b="b"/>
              <a:pathLst>
                <a:path w="8770620">
                  <a:moveTo>
                    <a:pt x="0" y="0"/>
                  </a:moveTo>
                  <a:lnTo>
                    <a:pt x="8770619" y="0"/>
                  </a:lnTo>
                </a:path>
              </a:pathLst>
            </a:custGeom>
            <a:ln w="38100">
              <a:solidFill>
                <a:srgbClr val="79A8A3"/>
              </a:solidFill>
            </a:ln>
          </p:spPr>
          <p:txBody>
            <a:bodyPr wrap="square" lIns="0" tIns="0" rIns="0" bIns="0" rtlCol="0"/>
            <a:lstStyle/>
            <a:p>
              <a:endParaRPr/>
            </a:p>
          </p:txBody>
        </p:sp>
      </p:grpSp>
      <p:sp>
        <p:nvSpPr>
          <p:cNvPr id="7" name="object 7" descr="$PPTXTitle">
            <a:extLst>
              <a:ext uri="{FF2B5EF4-FFF2-40B4-BE49-F238E27FC236}">
                <a16:creationId xmlns:a16="http://schemas.microsoft.com/office/drawing/2014/main" id="{3659E77A-1304-325B-3040-CDC2EC51F5B3}"/>
              </a:ext>
            </a:extLst>
          </p:cNvPr>
          <p:cNvSpPr txBox="1">
            <a:spLocks noGrp="1"/>
          </p:cNvSpPr>
          <p:nvPr>
            <p:ph type="title"/>
          </p:nvPr>
        </p:nvSpPr>
        <p:spPr>
          <a:xfrm>
            <a:off x="1981960" y="589229"/>
            <a:ext cx="10210040" cy="690574"/>
          </a:xfrm>
          <a:prstGeom prst="rect">
            <a:avLst/>
          </a:prstGeom>
        </p:spPr>
        <p:txBody>
          <a:bodyPr vert="horz" wrap="square" lIns="0" tIns="13335" rIns="0" bIns="0" rtlCol="0">
            <a:spAutoFit/>
          </a:bodyPr>
          <a:lstStyle/>
          <a:p>
            <a:pPr marL="12700">
              <a:spcBef>
                <a:spcPts val="105"/>
              </a:spcBef>
              <a:tabLst>
                <a:tab pos="1043305" algn="l"/>
              </a:tabLst>
            </a:pPr>
            <a:r>
              <a:rPr lang="en-US" sz="4400" b="0" spc="-50" dirty="0">
                <a:solidFill>
                  <a:srgbClr val="464A56"/>
                </a:solidFill>
                <a:latin typeface="Cambria"/>
                <a:cs typeface="Cambria"/>
              </a:rPr>
              <a:t>4</a:t>
            </a:r>
            <a:r>
              <a:rPr sz="4400" b="0" dirty="0">
                <a:solidFill>
                  <a:srgbClr val="464A56"/>
                </a:solidFill>
                <a:latin typeface="Cambria"/>
                <a:cs typeface="Cambria"/>
              </a:rPr>
              <a:t>	</a:t>
            </a:r>
            <a:r>
              <a:rPr lang="en-IN" sz="4400" dirty="0"/>
              <a:t> Why DFS is </a:t>
            </a:r>
            <a:r>
              <a:rPr lang="en-US" sz="4400" dirty="0"/>
              <a:t>O(b x m) (Linear)</a:t>
            </a:r>
            <a:r>
              <a:rPr lang="en-IN" sz="4400" dirty="0"/>
              <a:t> </a:t>
            </a:r>
            <a:endParaRPr sz="4400" dirty="0">
              <a:latin typeface="Cambria"/>
              <a:cs typeface="Cambria"/>
            </a:endParaRPr>
          </a:p>
        </p:txBody>
      </p:sp>
      <p:sp>
        <p:nvSpPr>
          <p:cNvPr id="8" name="TextBox 7">
            <a:extLst>
              <a:ext uri="{FF2B5EF4-FFF2-40B4-BE49-F238E27FC236}">
                <a16:creationId xmlns:a16="http://schemas.microsoft.com/office/drawing/2014/main" id="{DD6B5048-1EA0-D468-24D3-855836A16972}"/>
              </a:ext>
            </a:extLst>
          </p:cNvPr>
          <p:cNvSpPr txBox="1"/>
          <p:nvPr/>
        </p:nvSpPr>
        <p:spPr>
          <a:xfrm>
            <a:off x="2514600" y="2506163"/>
            <a:ext cx="9252416" cy="2554545"/>
          </a:xfrm>
          <a:prstGeom prst="rect">
            <a:avLst/>
          </a:prstGeom>
          <a:noFill/>
        </p:spPr>
        <p:txBody>
          <a:bodyPr wrap="square">
            <a:spAutoFit/>
          </a:bodyPr>
          <a:lstStyle/>
          <a:p>
            <a:r>
              <a:rPr lang="en-US" sz="3200" dirty="0"/>
              <a:t>DFS only needs to remember the path it is currently walking on. Once it hits a dead end, it "erases" that path from its mind and tries the next one.</a:t>
            </a:r>
          </a:p>
          <a:p>
            <a:r>
              <a:rPr lang="en-US" sz="3200" dirty="0"/>
              <a:t>The Math: O(b x m) (Linear)</a:t>
            </a:r>
          </a:p>
        </p:txBody>
      </p:sp>
    </p:spTree>
    <p:extLst>
      <p:ext uri="{BB962C8B-B14F-4D97-AF65-F5344CB8AC3E}">
        <p14:creationId xmlns:p14="http://schemas.microsoft.com/office/powerpoint/2010/main" val="303077706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32BA9F-6BAC-30D9-92E0-33A4675CD28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84971B0-9CA2-0305-AC4C-FF88AF1AF707}"/>
              </a:ext>
            </a:extLst>
          </p:cNvPr>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FDFBF7"/>
          </a:solidFill>
        </p:spPr>
        <p:txBody>
          <a:bodyPr wrap="square" lIns="0" tIns="0" rIns="0" bIns="0" rtlCol="0"/>
          <a:lstStyle/>
          <a:p>
            <a:endParaRPr/>
          </a:p>
        </p:txBody>
      </p:sp>
      <p:grpSp>
        <p:nvGrpSpPr>
          <p:cNvPr id="3" name="object 3">
            <a:extLst>
              <a:ext uri="{FF2B5EF4-FFF2-40B4-BE49-F238E27FC236}">
                <a16:creationId xmlns:a16="http://schemas.microsoft.com/office/drawing/2014/main" id="{D4403D5F-6735-7B6D-8A65-C5B862B51FD5}"/>
              </a:ext>
            </a:extLst>
          </p:cNvPr>
          <p:cNvGrpSpPr/>
          <p:nvPr/>
        </p:nvGrpSpPr>
        <p:grpSpPr>
          <a:xfrm>
            <a:off x="424984" y="432816"/>
            <a:ext cx="11280098" cy="6123432"/>
            <a:chOff x="424984" y="432816"/>
            <a:chExt cx="11280098" cy="6123432"/>
          </a:xfrm>
        </p:grpSpPr>
        <p:pic>
          <p:nvPicPr>
            <p:cNvPr id="4" name="object 4">
              <a:extLst>
                <a:ext uri="{FF2B5EF4-FFF2-40B4-BE49-F238E27FC236}">
                  <a16:creationId xmlns:a16="http://schemas.microsoft.com/office/drawing/2014/main" id="{11B1C23C-97B8-918C-6766-FE282BD14C4A}"/>
                </a:ext>
              </a:extLst>
            </p:cNvPr>
            <p:cNvPicPr/>
            <p:nvPr/>
          </p:nvPicPr>
          <p:blipFill>
            <a:blip r:embed="rId2" cstate="print"/>
            <a:stretch>
              <a:fillRect/>
            </a:stretch>
          </p:blipFill>
          <p:spPr>
            <a:xfrm>
              <a:off x="424984" y="432816"/>
              <a:ext cx="3459183" cy="6123432"/>
            </a:xfrm>
            <a:prstGeom prst="rect">
              <a:avLst/>
            </a:prstGeom>
          </p:spPr>
        </p:pic>
        <p:sp>
          <p:nvSpPr>
            <p:cNvPr id="5" name="object 5">
              <a:extLst>
                <a:ext uri="{FF2B5EF4-FFF2-40B4-BE49-F238E27FC236}">
                  <a16:creationId xmlns:a16="http://schemas.microsoft.com/office/drawing/2014/main" id="{577A31C4-9E8B-83CB-5EDA-53A6AD326D41}"/>
                </a:ext>
              </a:extLst>
            </p:cNvPr>
            <p:cNvSpPr/>
            <p:nvPr/>
          </p:nvSpPr>
          <p:spPr>
            <a:xfrm>
              <a:off x="2934462" y="2177033"/>
              <a:ext cx="8770620" cy="0"/>
            </a:xfrm>
            <a:custGeom>
              <a:avLst/>
              <a:gdLst/>
              <a:ahLst/>
              <a:cxnLst/>
              <a:rect l="l" t="t" r="r" b="b"/>
              <a:pathLst>
                <a:path w="8770620">
                  <a:moveTo>
                    <a:pt x="0" y="0"/>
                  </a:moveTo>
                  <a:lnTo>
                    <a:pt x="8770619" y="0"/>
                  </a:lnTo>
                </a:path>
              </a:pathLst>
            </a:custGeom>
            <a:ln w="38100">
              <a:solidFill>
                <a:srgbClr val="79A8A3"/>
              </a:solidFill>
            </a:ln>
          </p:spPr>
          <p:txBody>
            <a:bodyPr wrap="square" lIns="0" tIns="0" rIns="0" bIns="0" rtlCol="0"/>
            <a:lstStyle/>
            <a:p>
              <a:endParaRPr/>
            </a:p>
          </p:txBody>
        </p:sp>
      </p:grpSp>
      <p:sp>
        <p:nvSpPr>
          <p:cNvPr id="7" name="object 7" descr="$PPTXTitle">
            <a:extLst>
              <a:ext uri="{FF2B5EF4-FFF2-40B4-BE49-F238E27FC236}">
                <a16:creationId xmlns:a16="http://schemas.microsoft.com/office/drawing/2014/main" id="{C54E65B4-D1D8-653D-A3A9-1CD5E82763A9}"/>
              </a:ext>
            </a:extLst>
          </p:cNvPr>
          <p:cNvSpPr txBox="1">
            <a:spLocks noGrp="1"/>
          </p:cNvSpPr>
          <p:nvPr>
            <p:ph type="title"/>
          </p:nvPr>
        </p:nvSpPr>
        <p:spPr>
          <a:xfrm>
            <a:off x="1981960" y="589229"/>
            <a:ext cx="10210040" cy="690574"/>
          </a:xfrm>
          <a:prstGeom prst="rect">
            <a:avLst/>
          </a:prstGeom>
        </p:spPr>
        <p:txBody>
          <a:bodyPr vert="horz" wrap="square" lIns="0" tIns="13335" rIns="0" bIns="0" rtlCol="0">
            <a:spAutoFit/>
          </a:bodyPr>
          <a:lstStyle/>
          <a:p>
            <a:pPr marL="12700" algn="l" rtl="0">
              <a:spcBef>
                <a:spcPts val="105"/>
              </a:spcBef>
              <a:tabLst>
                <a:tab pos="1043305" algn="l"/>
              </a:tabLst>
            </a:pPr>
            <a:r>
              <a:rPr lang="en-US" sz="4400" b="0" spc="-50" dirty="0">
                <a:solidFill>
                  <a:srgbClr val="464A56"/>
                </a:solidFill>
                <a:latin typeface="Cambria"/>
                <a:cs typeface="Cambria"/>
              </a:rPr>
              <a:t>4</a:t>
            </a:r>
            <a:r>
              <a:rPr sz="4400" b="0" dirty="0">
                <a:solidFill>
                  <a:srgbClr val="464A56"/>
                </a:solidFill>
                <a:latin typeface="Cambria"/>
                <a:cs typeface="Cambria"/>
              </a:rPr>
              <a:t>	</a:t>
            </a:r>
            <a:r>
              <a:rPr lang="en-IN" sz="4400" dirty="0"/>
              <a:t> </a:t>
            </a:r>
            <a:r>
              <a:rPr lang="en-US" sz="4400" dirty="0"/>
              <a:t>The Comparison </a:t>
            </a:r>
            <a:endParaRPr sz="4400" dirty="0">
              <a:latin typeface="Cambria"/>
              <a:cs typeface="Cambria"/>
            </a:endParaRPr>
          </a:p>
        </p:txBody>
      </p:sp>
      <p:sp>
        <p:nvSpPr>
          <p:cNvPr id="8" name="TextBox 7">
            <a:extLst>
              <a:ext uri="{FF2B5EF4-FFF2-40B4-BE49-F238E27FC236}">
                <a16:creationId xmlns:a16="http://schemas.microsoft.com/office/drawing/2014/main" id="{015E4C4E-5888-2E4D-E507-C33EB6E9C94E}"/>
              </a:ext>
            </a:extLst>
          </p:cNvPr>
          <p:cNvSpPr txBox="1"/>
          <p:nvPr/>
        </p:nvSpPr>
        <p:spPr>
          <a:xfrm>
            <a:off x="2514600" y="2506163"/>
            <a:ext cx="8915400" cy="3970318"/>
          </a:xfrm>
          <a:prstGeom prst="rect">
            <a:avLst/>
          </a:prstGeom>
          <a:noFill/>
        </p:spPr>
        <p:txBody>
          <a:bodyPr wrap="square">
            <a:spAutoFit/>
          </a:bodyPr>
          <a:lstStyle/>
          <a:p>
            <a:r>
              <a:rPr lang="en-US" sz="3600" dirty="0"/>
              <a:t>If we have 10 choices (b=10) and the goal is 10 levels deep (d=10):</a:t>
            </a:r>
          </a:p>
          <a:p>
            <a:r>
              <a:rPr lang="en-US" sz="3600" dirty="0"/>
              <a:t>BFS "To-Do List" = 10^10 =10,000,000,000 items. (The computer explodes!)</a:t>
            </a:r>
          </a:p>
          <a:p>
            <a:r>
              <a:rPr lang="en-US" sz="3600" dirty="0"/>
              <a:t>DFS "To-Do List" = 10 x 10 =100 items. (Fits on a sticky note!)</a:t>
            </a:r>
          </a:p>
        </p:txBody>
      </p:sp>
    </p:spTree>
    <p:extLst>
      <p:ext uri="{BB962C8B-B14F-4D97-AF65-F5344CB8AC3E}">
        <p14:creationId xmlns:p14="http://schemas.microsoft.com/office/powerpoint/2010/main" val="260466318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B94C17-650F-76D5-A757-9D1101E6FEB0}"/>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5458ACF-E94E-492E-B4DA-E00EC827CD1E}"/>
              </a:ext>
            </a:extLst>
          </p:cNvPr>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FDFBF7"/>
          </a:solidFill>
        </p:spPr>
        <p:txBody>
          <a:bodyPr wrap="square" lIns="0" tIns="0" rIns="0" bIns="0" rtlCol="0"/>
          <a:lstStyle/>
          <a:p>
            <a:endParaRPr/>
          </a:p>
        </p:txBody>
      </p:sp>
      <p:grpSp>
        <p:nvGrpSpPr>
          <p:cNvPr id="3" name="object 3">
            <a:extLst>
              <a:ext uri="{FF2B5EF4-FFF2-40B4-BE49-F238E27FC236}">
                <a16:creationId xmlns:a16="http://schemas.microsoft.com/office/drawing/2014/main" id="{3B5FDDE0-C5C0-603D-071A-58236AA1D132}"/>
              </a:ext>
            </a:extLst>
          </p:cNvPr>
          <p:cNvGrpSpPr/>
          <p:nvPr/>
        </p:nvGrpSpPr>
        <p:grpSpPr>
          <a:xfrm>
            <a:off x="424984" y="432816"/>
            <a:ext cx="11280098" cy="6123432"/>
            <a:chOff x="424984" y="432816"/>
            <a:chExt cx="11280098" cy="6123432"/>
          </a:xfrm>
        </p:grpSpPr>
        <p:pic>
          <p:nvPicPr>
            <p:cNvPr id="4" name="object 4">
              <a:extLst>
                <a:ext uri="{FF2B5EF4-FFF2-40B4-BE49-F238E27FC236}">
                  <a16:creationId xmlns:a16="http://schemas.microsoft.com/office/drawing/2014/main" id="{0C365F49-7A87-7452-5506-18E368C54816}"/>
                </a:ext>
              </a:extLst>
            </p:cNvPr>
            <p:cNvPicPr/>
            <p:nvPr/>
          </p:nvPicPr>
          <p:blipFill>
            <a:blip r:embed="rId2" cstate="print"/>
            <a:stretch>
              <a:fillRect/>
            </a:stretch>
          </p:blipFill>
          <p:spPr>
            <a:xfrm>
              <a:off x="424984" y="432816"/>
              <a:ext cx="3459183" cy="6123432"/>
            </a:xfrm>
            <a:prstGeom prst="rect">
              <a:avLst/>
            </a:prstGeom>
          </p:spPr>
        </p:pic>
        <p:sp>
          <p:nvSpPr>
            <p:cNvPr id="5" name="object 5">
              <a:extLst>
                <a:ext uri="{FF2B5EF4-FFF2-40B4-BE49-F238E27FC236}">
                  <a16:creationId xmlns:a16="http://schemas.microsoft.com/office/drawing/2014/main" id="{C28C373A-406D-D68E-25CC-5D664E1473FB}"/>
                </a:ext>
              </a:extLst>
            </p:cNvPr>
            <p:cNvSpPr/>
            <p:nvPr/>
          </p:nvSpPr>
          <p:spPr>
            <a:xfrm>
              <a:off x="2934462" y="2177033"/>
              <a:ext cx="8770620" cy="0"/>
            </a:xfrm>
            <a:custGeom>
              <a:avLst/>
              <a:gdLst/>
              <a:ahLst/>
              <a:cxnLst/>
              <a:rect l="l" t="t" r="r" b="b"/>
              <a:pathLst>
                <a:path w="8770620">
                  <a:moveTo>
                    <a:pt x="0" y="0"/>
                  </a:moveTo>
                  <a:lnTo>
                    <a:pt x="8770619" y="0"/>
                  </a:lnTo>
                </a:path>
              </a:pathLst>
            </a:custGeom>
            <a:ln w="38100">
              <a:solidFill>
                <a:srgbClr val="79A8A3"/>
              </a:solidFill>
            </a:ln>
          </p:spPr>
          <p:txBody>
            <a:bodyPr wrap="square" lIns="0" tIns="0" rIns="0" bIns="0" rtlCol="0"/>
            <a:lstStyle/>
            <a:p>
              <a:endParaRPr/>
            </a:p>
          </p:txBody>
        </p:sp>
      </p:grpSp>
      <p:sp>
        <p:nvSpPr>
          <p:cNvPr id="7" name="object 7" descr="$PPTXTitle">
            <a:extLst>
              <a:ext uri="{FF2B5EF4-FFF2-40B4-BE49-F238E27FC236}">
                <a16:creationId xmlns:a16="http://schemas.microsoft.com/office/drawing/2014/main" id="{CFCCCD45-1B24-89C3-543F-D5E9B01E3FAB}"/>
              </a:ext>
            </a:extLst>
          </p:cNvPr>
          <p:cNvSpPr txBox="1">
            <a:spLocks noGrp="1"/>
          </p:cNvSpPr>
          <p:nvPr>
            <p:ph type="title"/>
          </p:nvPr>
        </p:nvSpPr>
        <p:spPr>
          <a:xfrm>
            <a:off x="1981960" y="589229"/>
            <a:ext cx="10210040" cy="690574"/>
          </a:xfrm>
          <a:prstGeom prst="rect">
            <a:avLst/>
          </a:prstGeom>
        </p:spPr>
        <p:txBody>
          <a:bodyPr vert="horz" wrap="square" lIns="0" tIns="13335" rIns="0" bIns="0" rtlCol="0">
            <a:spAutoFit/>
          </a:bodyPr>
          <a:lstStyle/>
          <a:p>
            <a:pPr marL="12700">
              <a:spcBef>
                <a:spcPts val="105"/>
              </a:spcBef>
              <a:tabLst>
                <a:tab pos="1043305" algn="l"/>
              </a:tabLst>
            </a:pPr>
            <a:r>
              <a:rPr lang="en-US" sz="4400" b="0" spc="-50" dirty="0">
                <a:solidFill>
                  <a:srgbClr val="464A56"/>
                </a:solidFill>
                <a:latin typeface="Cambria"/>
                <a:cs typeface="Cambria"/>
              </a:rPr>
              <a:t>4</a:t>
            </a:r>
            <a:r>
              <a:rPr sz="4400" b="0" dirty="0">
                <a:solidFill>
                  <a:srgbClr val="464A56"/>
                </a:solidFill>
                <a:latin typeface="Cambria"/>
                <a:cs typeface="Cambria"/>
              </a:rPr>
              <a:t>	</a:t>
            </a:r>
            <a:r>
              <a:rPr lang="en-IN" sz="4400" dirty="0"/>
              <a:t> Classroom Discussion Point</a:t>
            </a:r>
            <a:endParaRPr sz="4400" dirty="0">
              <a:latin typeface="Cambria"/>
              <a:cs typeface="Cambria"/>
            </a:endParaRPr>
          </a:p>
        </p:txBody>
      </p:sp>
      <p:sp>
        <p:nvSpPr>
          <p:cNvPr id="8" name="TextBox 7">
            <a:extLst>
              <a:ext uri="{FF2B5EF4-FFF2-40B4-BE49-F238E27FC236}">
                <a16:creationId xmlns:a16="http://schemas.microsoft.com/office/drawing/2014/main" id="{30B4A0DC-C072-7249-BD44-526E0A2C3275}"/>
              </a:ext>
            </a:extLst>
          </p:cNvPr>
          <p:cNvSpPr txBox="1"/>
          <p:nvPr/>
        </p:nvSpPr>
        <p:spPr>
          <a:xfrm>
            <a:off x="2514600" y="2506163"/>
            <a:ext cx="8915400" cy="1754326"/>
          </a:xfrm>
          <a:prstGeom prst="rect">
            <a:avLst/>
          </a:prstGeom>
          <a:noFill/>
        </p:spPr>
        <p:txBody>
          <a:bodyPr wrap="square">
            <a:spAutoFit/>
          </a:bodyPr>
          <a:lstStyle/>
          <a:p>
            <a:r>
              <a:rPr lang="en-US" sz="3600" dirty="0"/>
              <a:t>"If I have a computer with </a:t>
            </a:r>
            <a:r>
              <a:rPr lang="en-US" sz="3600" b="1" dirty="0"/>
              <a:t>very low RAM</a:t>
            </a:r>
            <a:r>
              <a:rPr lang="en-US" sz="3600" dirty="0"/>
              <a:t>, but a very fast processor, which algorithm should I pick? BFS or DFS?"</a:t>
            </a:r>
          </a:p>
        </p:txBody>
      </p:sp>
    </p:spTree>
    <p:extLst>
      <p:ext uri="{BB962C8B-B14F-4D97-AF65-F5344CB8AC3E}">
        <p14:creationId xmlns:p14="http://schemas.microsoft.com/office/powerpoint/2010/main" val="42570471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89F9E1-442F-E1C1-51BB-70BED1F2839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1B7CA69-B702-6A1A-4028-D3478A6EB0C8}"/>
              </a:ext>
            </a:extLst>
          </p:cNvPr>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FDFBF7"/>
          </a:solidFill>
        </p:spPr>
        <p:txBody>
          <a:bodyPr wrap="square" lIns="0" tIns="0" rIns="0" bIns="0" rtlCol="0"/>
          <a:lstStyle/>
          <a:p>
            <a:endParaRPr/>
          </a:p>
        </p:txBody>
      </p:sp>
      <p:grpSp>
        <p:nvGrpSpPr>
          <p:cNvPr id="3" name="object 3">
            <a:extLst>
              <a:ext uri="{FF2B5EF4-FFF2-40B4-BE49-F238E27FC236}">
                <a16:creationId xmlns:a16="http://schemas.microsoft.com/office/drawing/2014/main" id="{473CE64A-C8BB-3AC5-9C3D-4B0E101CD656}"/>
              </a:ext>
            </a:extLst>
          </p:cNvPr>
          <p:cNvGrpSpPr/>
          <p:nvPr/>
        </p:nvGrpSpPr>
        <p:grpSpPr>
          <a:xfrm>
            <a:off x="424984" y="432816"/>
            <a:ext cx="11280098" cy="6123432"/>
            <a:chOff x="424984" y="432816"/>
            <a:chExt cx="11280098" cy="6123432"/>
          </a:xfrm>
        </p:grpSpPr>
        <p:pic>
          <p:nvPicPr>
            <p:cNvPr id="4" name="object 4">
              <a:extLst>
                <a:ext uri="{FF2B5EF4-FFF2-40B4-BE49-F238E27FC236}">
                  <a16:creationId xmlns:a16="http://schemas.microsoft.com/office/drawing/2014/main" id="{3834185C-7017-9A61-1E23-EA83E7E387E5}"/>
                </a:ext>
              </a:extLst>
            </p:cNvPr>
            <p:cNvPicPr/>
            <p:nvPr/>
          </p:nvPicPr>
          <p:blipFill>
            <a:blip r:embed="rId2" cstate="print"/>
            <a:stretch>
              <a:fillRect/>
            </a:stretch>
          </p:blipFill>
          <p:spPr>
            <a:xfrm>
              <a:off x="424984" y="432816"/>
              <a:ext cx="3459183" cy="6123432"/>
            </a:xfrm>
            <a:prstGeom prst="rect">
              <a:avLst/>
            </a:prstGeom>
          </p:spPr>
        </p:pic>
        <p:sp>
          <p:nvSpPr>
            <p:cNvPr id="5" name="object 5">
              <a:extLst>
                <a:ext uri="{FF2B5EF4-FFF2-40B4-BE49-F238E27FC236}">
                  <a16:creationId xmlns:a16="http://schemas.microsoft.com/office/drawing/2014/main" id="{32AB1299-A6FD-9136-FC8C-2FDD3230199B}"/>
                </a:ext>
              </a:extLst>
            </p:cNvPr>
            <p:cNvSpPr/>
            <p:nvPr/>
          </p:nvSpPr>
          <p:spPr>
            <a:xfrm>
              <a:off x="2934462" y="2177033"/>
              <a:ext cx="8770620" cy="0"/>
            </a:xfrm>
            <a:custGeom>
              <a:avLst/>
              <a:gdLst/>
              <a:ahLst/>
              <a:cxnLst/>
              <a:rect l="l" t="t" r="r" b="b"/>
              <a:pathLst>
                <a:path w="8770620">
                  <a:moveTo>
                    <a:pt x="0" y="0"/>
                  </a:moveTo>
                  <a:lnTo>
                    <a:pt x="8770619" y="0"/>
                  </a:lnTo>
                </a:path>
              </a:pathLst>
            </a:custGeom>
            <a:ln w="38100">
              <a:solidFill>
                <a:srgbClr val="79A8A3"/>
              </a:solidFill>
            </a:ln>
          </p:spPr>
          <p:txBody>
            <a:bodyPr wrap="square" lIns="0" tIns="0" rIns="0" bIns="0" rtlCol="0"/>
            <a:lstStyle/>
            <a:p>
              <a:endParaRPr/>
            </a:p>
          </p:txBody>
        </p:sp>
      </p:grpSp>
      <p:sp>
        <p:nvSpPr>
          <p:cNvPr id="7" name="object 7" descr="$PPTXTitle">
            <a:extLst>
              <a:ext uri="{FF2B5EF4-FFF2-40B4-BE49-F238E27FC236}">
                <a16:creationId xmlns:a16="http://schemas.microsoft.com/office/drawing/2014/main" id="{09085628-C0FB-C04F-B582-075D640F2161}"/>
              </a:ext>
            </a:extLst>
          </p:cNvPr>
          <p:cNvSpPr txBox="1">
            <a:spLocks noGrp="1"/>
          </p:cNvSpPr>
          <p:nvPr>
            <p:ph type="title"/>
          </p:nvPr>
        </p:nvSpPr>
        <p:spPr>
          <a:xfrm>
            <a:off x="1981960" y="589229"/>
            <a:ext cx="10210040" cy="690574"/>
          </a:xfrm>
          <a:prstGeom prst="rect">
            <a:avLst/>
          </a:prstGeom>
        </p:spPr>
        <p:txBody>
          <a:bodyPr vert="horz" wrap="square" lIns="0" tIns="13335" rIns="0" bIns="0" rtlCol="0">
            <a:spAutoFit/>
          </a:bodyPr>
          <a:lstStyle/>
          <a:p>
            <a:pPr marL="12700">
              <a:spcBef>
                <a:spcPts val="105"/>
              </a:spcBef>
              <a:tabLst>
                <a:tab pos="1043305" algn="l"/>
              </a:tabLst>
            </a:pPr>
            <a:r>
              <a:rPr lang="en-US" sz="4400" b="0" spc="-50" dirty="0">
                <a:solidFill>
                  <a:srgbClr val="464A56"/>
                </a:solidFill>
                <a:latin typeface="Cambria"/>
                <a:cs typeface="Cambria"/>
              </a:rPr>
              <a:t>4</a:t>
            </a:r>
            <a:r>
              <a:rPr sz="4400" b="0" dirty="0">
                <a:solidFill>
                  <a:srgbClr val="464A56"/>
                </a:solidFill>
                <a:latin typeface="Cambria"/>
                <a:cs typeface="Cambria"/>
              </a:rPr>
              <a:t>	</a:t>
            </a:r>
            <a:r>
              <a:rPr lang="en-IN" sz="4400" dirty="0"/>
              <a:t> </a:t>
            </a:r>
            <a:r>
              <a:rPr lang="en-US" sz="4400" dirty="0"/>
              <a:t>Practice – Can the AI Survive?</a:t>
            </a:r>
            <a:endParaRPr sz="4400" dirty="0">
              <a:latin typeface="Cambria"/>
              <a:cs typeface="Cambria"/>
            </a:endParaRPr>
          </a:p>
        </p:txBody>
      </p:sp>
      <p:sp>
        <p:nvSpPr>
          <p:cNvPr id="8" name="TextBox 7">
            <a:extLst>
              <a:ext uri="{FF2B5EF4-FFF2-40B4-BE49-F238E27FC236}">
                <a16:creationId xmlns:a16="http://schemas.microsoft.com/office/drawing/2014/main" id="{0D673421-FA80-F295-FD93-F3E76C881661}"/>
              </a:ext>
            </a:extLst>
          </p:cNvPr>
          <p:cNvSpPr txBox="1"/>
          <p:nvPr/>
        </p:nvSpPr>
        <p:spPr>
          <a:xfrm>
            <a:off x="2514600" y="2506163"/>
            <a:ext cx="8915400" cy="5078313"/>
          </a:xfrm>
          <a:prstGeom prst="rect">
            <a:avLst/>
          </a:prstGeom>
          <a:noFill/>
        </p:spPr>
        <p:txBody>
          <a:bodyPr wrap="square">
            <a:spAutoFit/>
          </a:bodyPr>
          <a:lstStyle/>
          <a:p>
            <a:r>
              <a:rPr lang="en-US" sz="3600" b="1" dirty="0"/>
              <a:t>Question 1: The Time Challenge (Time Complexity)</a:t>
            </a:r>
          </a:p>
          <a:p>
            <a:r>
              <a:rPr lang="en-US" sz="3600" dirty="0"/>
              <a:t>"You are playing a game of Chess against an AI. In this game, at every turn, there are </a:t>
            </a:r>
            <a:r>
              <a:rPr lang="en-US" sz="3600" b="1" dirty="0"/>
              <a:t>10 possible moves (b = 10). </a:t>
            </a:r>
            <a:r>
              <a:rPr lang="en-US" sz="3600" dirty="0"/>
              <a:t>The AI wants to look </a:t>
            </a:r>
            <a:r>
              <a:rPr lang="en-US" sz="3600" b="1" dirty="0"/>
              <a:t>4 moves ahead (d = 4)</a:t>
            </a:r>
            <a:r>
              <a:rPr lang="en-US" sz="3600" dirty="0"/>
              <a:t> to find the best move."</a:t>
            </a:r>
          </a:p>
          <a:p>
            <a:r>
              <a:rPr lang="en-US" sz="3600" b="1" dirty="0"/>
              <a:t> </a:t>
            </a:r>
            <a:r>
              <a:rPr lang="en-US" sz="3600" dirty="0"/>
              <a:t> </a:t>
            </a:r>
          </a:p>
          <a:p>
            <a:r>
              <a:rPr lang="en-US" sz="3600" b="1" dirty="0"/>
              <a:t> </a:t>
            </a:r>
            <a:endParaRPr lang="en-US" sz="3600" dirty="0"/>
          </a:p>
        </p:txBody>
      </p:sp>
    </p:spTree>
    <p:extLst>
      <p:ext uri="{BB962C8B-B14F-4D97-AF65-F5344CB8AC3E}">
        <p14:creationId xmlns:p14="http://schemas.microsoft.com/office/powerpoint/2010/main" val="187273270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B79874-3362-F4D8-0DF2-6C4FA5E3D5A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FCBA633-8BDA-5927-AD21-6EBC44C19353}"/>
              </a:ext>
            </a:extLst>
          </p:cNvPr>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FDFBF7"/>
          </a:solidFill>
        </p:spPr>
        <p:txBody>
          <a:bodyPr wrap="square" lIns="0" tIns="0" rIns="0" bIns="0" rtlCol="0"/>
          <a:lstStyle/>
          <a:p>
            <a:endParaRPr/>
          </a:p>
        </p:txBody>
      </p:sp>
      <p:grpSp>
        <p:nvGrpSpPr>
          <p:cNvPr id="3" name="object 3">
            <a:extLst>
              <a:ext uri="{FF2B5EF4-FFF2-40B4-BE49-F238E27FC236}">
                <a16:creationId xmlns:a16="http://schemas.microsoft.com/office/drawing/2014/main" id="{1D2C90BB-B598-9563-2CC5-FA2AD01DF01F}"/>
              </a:ext>
            </a:extLst>
          </p:cNvPr>
          <p:cNvGrpSpPr/>
          <p:nvPr/>
        </p:nvGrpSpPr>
        <p:grpSpPr>
          <a:xfrm>
            <a:off x="424984" y="432816"/>
            <a:ext cx="11280098" cy="6123432"/>
            <a:chOff x="424984" y="432816"/>
            <a:chExt cx="11280098" cy="6123432"/>
          </a:xfrm>
        </p:grpSpPr>
        <p:pic>
          <p:nvPicPr>
            <p:cNvPr id="4" name="object 4">
              <a:extLst>
                <a:ext uri="{FF2B5EF4-FFF2-40B4-BE49-F238E27FC236}">
                  <a16:creationId xmlns:a16="http://schemas.microsoft.com/office/drawing/2014/main" id="{FE70C988-55B4-1C6E-AC78-DCA61A4A54BF}"/>
                </a:ext>
              </a:extLst>
            </p:cNvPr>
            <p:cNvPicPr/>
            <p:nvPr/>
          </p:nvPicPr>
          <p:blipFill>
            <a:blip r:embed="rId2" cstate="print"/>
            <a:stretch>
              <a:fillRect/>
            </a:stretch>
          </p:blipFill>
          <p:spPr>
            <a:xfrm>
              <a:off x="424984" y="432816"/>
              <a:ext cx="3459183" cy="6123432"/>
            </a:xfrm>
            <a:prstGeom prst="rect">
              <a:avLst/>
            </a:prstGeom>
          </p:spPr>
        </p:pic>
        <p:sp>
          <p:nvSpPr>
            <p:cNvPr id="5" name="object 5">
              <a:extLst>
                <a:ext uri="{FF2B5EF4-FFF2-40B4-BE49-F238E27FC236}">
                  <a16:creationId xmlns:a16="http://schemas.microsoft.com/office/drawing/2014/main" id="{F4971F6E-EA91-7748-3E74-BF59E326BA6E}"/>
                </a:ext>
              </a:extLst>
            </p:cNvPr>
            <p:cNvSpPr/>
            <p:nvPr/>
          </p:nvSpPr>
          <p:spPr>
            <a:xfrm>
              <a:off x="2934462" y="2177033"/>
              <a:ext cx="8770620" cy="0"/>
            </a:xfrm>
            <a:custGeom>
              <a:avLst/>
              <a:gdLst/>
              <a:ahLst/>
              <a:cxnLst/>
              <a:rect l="l" t="t" r="r" b="b"/>
              <a:pathLst>
                <a:path w="8770620">
                  <a:moveTo>
                    <a:pt x="0" y="0"/>
                  </a:moveTo>
                  <a:lnTo>
                    <a:pt x="8770619" y="0"/>
                  </a:lnTo>
                </a:path>
              </a:pathLst>
            </a:custGeom>
            <a:ln w="38100">
              <a:solidFill>
                <a:srgbClr val="79A8A3"/>
              </a:solidFill>
            </a:ln>
          </p:spPr>
          <p:txBody>
            <a:bodyPr wrap="square" lIns="0" tIns="0" rIns="0" bIns="0" rtlCol="0"/>
            <a:lstStyle/>
            <a:p>
              <a:endParaRPr/>
            </a:p>
          </p:txBody>
        </p:sp>
      </p:grpSp>
      <p:sp>
        <p:nvSpPr>
          <p:cNvPr id="7" name="object 7" descr="$PPTXTitle">
            <a:extLst>
              <a:ext uri="{FF2B5EF4-FFF2-40B4-BE49-F238E27FC236}">
                <a16:creationId xmlns:a16="http://schemas.microsoft.com/office/drawing/2014/main" id="{FC54421D-DFBE-AE43-C5F7-38B867F0F12C}"/>
              </a:ext>
            </a:extLst>
          </p:cNvPr>
          <p:cNvSpPr txBox="1">
            <a:spLocks noGrp="1"/>
          </p:cNvSpPr>
          <p:nvPr>
            <p:ph type="title"/>
          </p:nvPr>
        </p:nvSpPr>
        <p:spPr>
          <a:xfrm>
            <a:off x="1981960" y="589229"/>
            <a:ext cx="10210040" cy="690574"/>
          </a:xfrm>
          <a:prstGeom prst="rect">
            <a:avLst/>
          </a:prstGeom>
        </p:spPr>
        <p:txBody>
          <a:bodyPr vert="horz" wrap="square" lIns="0" tIns="13335" rIns="0" bIns="0" rtlCol="0">
            <a:spAutoFit/>
          </a:bodyPr>
          <a:lstStyle/>
          <a:p>
            <a:pPr marL="12700">
              <a:spcBef>
                <a:spcPts val="105"/>
              </a:spcBef>
              <a:tabLst>
                <a:tab pos="1043305" algn="l"/>
              </a:tabLst>
            </a:pPr>
            <a:r>
              <a:rPr lang="en-US" sz="4400" b="0" spc="-50" dirty="0">
                <a:solidFill>
                  <a:srgbClr val="464A56"/>
                </a:solidFill>
                <a:latin typeface="Cambria"/>
                <a:cs typeface="Cambria"/>
              </a:rPr>
              <a:t>4</a:t>
            </a:r>
            <a:r>
              <a:rPr sz="4400" b="0" dirty="0">
                <a:solidFill>
                  <a:srgbClr val="464A56"/>
                </a:solidFill>
                <a:latin typeface="Cambria"/>
                <a:cs typeface="Cambria"/>
              </a:rPr>
              <a:t>	</a:t>
            </a:r>
            <a:r>
              <a:rPr lang="en-IN" sz="4400" dirty="0"/>
              <a:t> </a:t>
            </a:r>
            <a:r>
              <a:rPr lang="en-US" sz="4400" dirty="0"/>
              <a:t>Practice – Can the AI Survive?</a:t>
            </a:r>
            <a:endParaRPr sz="4400" dirty="0">
              <a:latin typeface="Cambria"/>
              <a:cs typeface="Cambria"/>
            </a:endParaRPr>
          </a:p>
        </p:txBody>
      </p:sp>
      <p:sp>
        <p:nvSpPr>
          <p:cNvPr id="8" name="TextBox 7">
            <a:extLst>
              <a:ext uri="{FF2B5EF4-FFF2-40B4-BE49-F238E27FC236}">
                <a16:creationId xmlns:a16="http://schemas.microsoft.com/office/drawing/2014/main" id="{4D67155C-99D1-94B2-E847-A8E09E2E4DC3}"/>
              </a:ext>
            </a:extLst>
          </p:cNvPr>
          <p:cNvSpPr txBox="1"/>
          <p:nvPr/>
        </p:nvSpPr>
        <p:spPr>
          <a:xfrm>
            <a:off x="2514600" y="2506163"/>
            <a:ext cx="8915400" cy="3416320"/>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lang="en-US" sz="3600" b="1" dirty="0"/>
              <a:t>Task:</a:t>
            </a:r>
            <a:r>
              <a:rPr lang="en-US" sz="3600" dirty="0"/>
              <a:t> Using the formula </a:t>
            </a:r>
            <a:r>
              <a:rPr lang="en-US" sz="3600" b="1" dirty="0"/>
              <a:t>O(</a:t>
            </a:r>
            <a:r>
              <a:rPr lang="en-US" sz="3600" b="1" dirty="0" err="1"/>
              <a:t>b^d</a:t>
            </a:r>
            <a:r>
              <a:rPr lang="en-US" sz="3600" b="1" dirty="0"/>
              <a:t>) </a:t>
            </a:r>
            <a:r>
              <a:rPr kumimoji="0" lang="en-US" altLang="en-US" sz="3600" b="0" i="0" u="none" strike="noStrike" cap="none" normalizeH="0" baseline="0" dirty="0">
                <a:ln>
                  <a:noFill/>
                </a:ln>
                <a:solidFill>
                  <a:schemeClr val="tx1"/>
                </a:solidFill>
                <a:effectLst/>
                <a:latin typeface="Arial" panose="020B0604020202020204" pitchFamily="34" charset="0"/>
              </a:rPr>
              <a:t>how many total positions does the AI have to 'think about'?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1" i="0" u="none" strike="noStrike" cap="none" normalizeH="0" baseline="0" dirty="0">
                <a:ln>
                  <a:noFill/>
                </a:ln>
                <a:solidFill>
                  <a:schemeClr val="tx1"/>
                </a:solidFill>
                <a:effectLst/>
                <a:latin typeface="Arial" panose="020B0604020202020204" pitchFamily="34" charset="0"/>
              </a:rPr>
              <a:t>A)</a:t>
            </a:r>
            <a:r>
              <a:rPr kumimoji="0" lang="en-US" altLang="en-US" sz="3600" b="0" i="0" u="none" strike="noStrike" cap="none" normalizeH="0" baseline="0" dirty="0">
                <a:ln>
                  <a:noFill/>
                </a:ln>
                <a:solidFill>
                  <a:schemeClr val="tx1"/>
                </a:solidFill>
                <a:effectLst/>
                <a:latin typeface="Arial" panose="020B0604020202020204" pitchFamily="34" charset="0"/>
              </a:rPr>
              <a:t> 40 positions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1" i="0" u="none" strike="noStrike" cap="none" normalizeH="0" baseline="0" dirty="0">
                <a:ln>
                  <a:noFill/>
                </a:ln>
                <a:solidFill>
                  <a:schemeClr val="tx1"/>
                </a:solidFill>
                <a:effectLst/>
                <a:latin typeface="Arial" panose="020B0604020202020204" pitchFamily="34" charset="0"/>
              </a:rPr>
              <a:t>B)</a:t>
            </a:r>
            <a:r>
              <a:rPr kumimoji="0" lang="en-US" altLang="en-US" sz="3600" b="0" i="0" u="none" strike="noStrike" cap="none" normalizeH="0" baseline="0" dirty="0">
                <a:ln>
                  <a:noFill/>
                </a:ln>
                <a:solidFill>
                  <a:schemeClr val="tx1"/>
                </a:solidFill>
                <a:effectLst/>
                <a:latin typeface="Arial" panose="020B0604020202020204" pitchFamily="34" charset="0"/>
              </a:rPr>
              <a:t> 10,000 positions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1" i="0" u="none" strike="noStrike" cap="none" normalizeH="0" baseline="0" dirty="0">
                <a:ln>
                  <a:noFill/>
                </a:ln>
                <a:solidFill>
                  <a:schemeClr val="tx1"/>
                </a:solidFill>
                <a:effectLst/>
                <a:latin typeface="Arial" panose="020B0604020202020204" pitchFamily="34" charset="0"/>
              </a:rPr>
              <a:t>C)</a:t>
            </a:r>
            <a:r>
              <a:rPr kumimoji="0" lang="en-US" altLang="en-US" sz="3600" b="0" i="0" u="none" strike="noStrike" cap="none" normalizeH="0" baseline="0" dirty="0">
                <a:ln>
                  <a:noFill/>
                </a:ln>
                <a:solidFill>
                  <a:schemeClr val="tx1"/>
                </a:solidFill>
                <a:effectLst/>
                <a:latin typeface="Arial" panose="020B0604020202020204" pitchFamily="34" charset="0"/>
              </a:rPr>
              <a:t> 1,000 positions</a:t>
            </a:r>
          </a:p>
        </p:txBody>
      </p:sp>
    </p:spTree>
    <p:extLst>
      <p:ext uri="{BB962C8B-B14F-4D97-AF65-F5344CB8AC3E}">
        <p14:creationId xmlns:p14="http://schemas.microsoft.com/office/powerpoint/2010/main" val="257176116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2432A-4616-E3D7-0FE2-0C5968FD10B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CB49BE6-E755-6B7E-6AFF-FB5A80979914}"/>
              </a:ext>
            </a:extLst>
          </p:cNvPr>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FDFBF7"/>
          </a:solidFill>
        </p:spPr>
        <p:txBody>
          <a:bodyPr wrap="square" lIns="0" tIns="0" rIns="0" bIns="0" rtlCol="0"/>
          <a:lstStyle/>
          <a:p>
            <a:endParaRPr/>
          </a:p>
        </p:txBody>
      </p:sp>
      <p:grpSp>
        <p:nvGrpSpPr>
          <p:cNvPr id="3" name="object 3">
            <a:extLst>
              <a:ext uri="{FF2B5EF4-FFF2-40B4-BE49-F238E27FC236}">
                <a16:creationId xmlns:a16="http://schemas.microsoft.com/office/drawing/2014/main" id="{3D60978F-65F2-3C4A-E57F-589354F8CB08}"/>
              </a:ext>
            </a:extLst>
          </p:cNvPr>
          <p:cNvGrpSpPr/>
          <p:nvPr/>
        </p:nvGrpSpPr>
        <p:grpSpPr>
          <a:xfrm>
            <a:off x="424984" y="432816"/>
            <a:ext cx="11280098" cy="6123432"/>
            <a:chOff x="424984" y="432816"/>
            <a:chExt cx="11280098" cy="6123432"/>
          </a:xfrm>
        </p:grpSpPr>
        <p:pic>
          <p:nvPicPr>
            <p:cNvPr id="4" name="object 4">
              <a:extLst>
                <a:ext uri="{FF2B5EF4-FFF2-40B4-BE49-F238E27FC236}">
                  <a16:creationId xmlns:a16="http://schemas.microsoft.com/office/drawing/2014/main" id="{4D4261FE-0CFE-2DD7-28E0-D1B493C07262}"/>
                </a:ext>
              </a:extLst>
            </p:cNvPr>
            <p:cNvPicPr/>
            <p:nvPr/>
          </p:nvPicPr>
          <p:blipFill>
            <a:blip r:embed="rId2" cstate="print"/>
            <a:stretch>
              <a:fillRect/>
            </a:stretch>
          </p:blipFill>
          <p:spPr>
            <a:xfrm>
              <a:off x="424984" y="432816"/>
              <a:ext cx="3459183" cy="6123432"/>
            </a:xfrm>
            <a:prstGeom prst="rect">
              <a:avLst/>
            </a:prstGeom>
          </p:spPr>
        </p:pic>
        <p:sp>
          <p:nvSpPr>
            <p:cNvPr id="5" name="object 5">
              <a:extLst>
                <a:ext uri="{FF2B5EF4-FFF2-40B4-BE49-F238E27FC236}">
                  <a16:creationId xmlns:a16="http://schemas.microsoft.com/office/drawing/2014/main" id="{22A9121A-6C92-C303-624F-F5E5D36592AE}"/>
                </a:ext>
              </a:extLst>
            </p:cNvPr>
            <p:cNvSpPr/>
            <p:nvPr/>
          </p:nvSpPr>
          <p:spPr>
            <a:xfrm>
              <a:off x="2934462" y="2177033"/>
              <a:ext cx="8770620" cy="0"/>
            </a:xfrm>
            <a:custGeom>
              <a:avLst/>
              <a:gdLst/>
              <a:ahLst/>
              <a:cxnLst/>
              <a:rect l="l" t="t" r="r" b="b"/>
              <a:pathLst>
                <a:path w="8770620">
                  <a:moveTo>
                    <a:pt x="0" y="0"/>
                  </a:moveTo>
                  <a:lnTo>
                    <a:pt x="8770619" y="0"/>
                  </a:lnTo>
                </a:path>
              </a:pathLst>
            </a:custGeom>
            <a:ln w="38100">
              <a:solidFill>
                <a:srgbClr val="79A8A3"/>
              </a:solidFill>
            </a:ln>
          </p:spPr>
          <p:txBody>
            <a:bodyPr wrap="square" lIns="0" tIns="0" rIns="0" bIns="0" rtlCol="0"/>
            <a:lstStyle/>
            <a:p>
              <a:endParaRPr/>
            </a:p>
          </p:txBody>
        </p:sp>
      </p:grpSp>
      <p:sp>
        <p:nvSpPr>
          <p:cNvPr id="7" name="object 7" descr="$PPTXTitle">
            <a:extLst>
              <a:ext uri="{FF2B5EF4-FFF2-40B4-BE49-F238E27FC236}">
                <a16:creationId xmlns:a16="http://schemas.microsoft.com/office/drawing/2014/main" id="{3653C38F-190B-AA43-7D00-F07AD267BFE9}"/>
              </a:ext>
            </a:extLst>
          </p:cNvPr>
          <p:cNvSpPr txBox="1">
            <a:spLocks noGrp="1"/>
          </p:cNvSpPr>
          <p:nvPr>
            <p:ph type="title"/>
          </p:nvPr>
        </p:nvSpPr>
        <p:spPr>
          <a:xfrm>
            <a:off x="1981960" y="589229"/>
            <a:ext cx="10210040" cy="690574"/>
          </a:xfrm>
          <a:prstGeom prst="rect">
            <a:avLst/>
          </a:prstGeom>
        </p:spPr>
        <p:txBody>
          <a:bodyPr vert="horz" wrap="square" lIns="0" tIns="13335" rIns="0" bIns="0" rtlCol="0">
            <a:spAutoFit/>
          </a:bodyPr>
          <a:lstStyle/>
          <a:p>
            <a:pPr marL="12700">
              <a:spcBef>
                <a:spcPts val="105"/>
              </a:spcBef>
              <a:tabLst>
                <a:tab pos="1043305" algn="l"/>
              </a:tabLst>
            </a:pPr>
            <a:r>
              <a:rPr lang="en-US" sz="4400" b="0" spc="-50" dirty="0">
                <a:solidFill>
                  <a:srgbClr val="464A56"/>
                </a:solidFill>
                <a:latin typeface="Cambria"/>
                <a:cs typeface="Cambria"/>
              </a:rPr>
              <a:t>4</a:t>
            </a:r>
            <a:r>
              <a:rPr sz="4400" b="0" dirty="0">
                <a:solidFill>
                  <a:srgbClr val="464A56"/>
                </a:solidFill>
                <a:latin typeface="Cambria"/>
                <a:cs typeface="Cambria"/>
              </a:rPr>
              <a:t>	</a:t>
            </a:r>
            <a:r>
              <a:rPr lang="en-IN" sz="4400" dirty="0"/>
              <a:t> </a:t>
            </a:r>
            <a:r>
              <a:rPr lang="en-US" sz="4400" dirty="0"/>
              <a:t>Practice – Can the AI Survive?</a:t>
            </a:r>
            <a:endParaRPr sz="4400" dirty="0">
              <a:latin typeface="Cambria"/>
              <a:cs typeface="Cambria"/>
            </a:endParaRPr>
          </a:p>
        </p:txBody>
      </p:sp>
      <p:sp>
        <p:nvSpPr>
          <p:cNvPr id="8" name="TextBox 7">
            <a:extLst>
              <a:ext uri="{FF2B5EF4-FFF2-40B4-BE49-F238E27FC236}">
                <a16:creationId xmlns:a16="http://schemas.microsoft.com/office/drawing/2014/main" id="{217FA350-A45A-1787-F38D-9A74C2F51971}"/>
              </a:ext>
            </a:extLst>
          </p:cNvPr>
          <p:cNvSpPr txBox="1"/>
          <p:nvPr/>
        </p:nvSpPr>
        <p:spPr>
          <a:xfrm>
            <a:off x="2514600" y="2506163"/>
            <a:ext cx="8915400" cy="3970318"/>
          </a:xfrm>
          <a:prstGeom prst="rect">
            <a:avLst/>
          </a:prstGeom>
          <a:noFill/>
        </p:spPr>
        <p:txBody>
          <a:bodyPr wrap="square">
            <a:spAutoFit/>
          </a:bodyPr>
          <a:lstStyle/>
          <a:p>
            <a:r>
              <a:rPr lang="en-US" sz="3600" b="1" dirty="0"/>
              <a:t>Question 2: The Memory Challenge (Space Complexity)</a:t>
            </a:r>
          </a:p>
          <a:p>
            <a:r>
              <a:rPr lang="en-US" sz="3600" dirty="0"/>
              <a:t>"You are a robot in a massive library with </a:t>
            </a:r>
            <a:r>
              <a:rPr lang="en-US" sz="3600" b="1" dirty="0"/>
              <a:t>4 hallways</a:t>
            </a:r>
            <a:r>
              <a:rPr lang="en-US" sz="3600" dirty="0"/>
              <a:t> at every junction (b = 4) The library is </a:t>
            </a:r>
            <a:r>
              <a:rPr lang="en-US" sz="3600" b="1" dirty="0"/>
              <a:t>100 floors deep ( m = 100) </a:t>
            </a:r>
            <a:r>
              <a:rPr lang="en-US" sz="3600" dirty="0"/>
              <a:t>You have very little memory—you can only remember </a:t>
            </a:r>
            <a:r>
              <a:rPr lang="en-US" sz="3600" b="1" dirty="0"/>
              <a:t>500 things</a:t>
            </a:r>
            <a:r>
              <a:rPr lang="en-US" sz="3600" dirty="0"/>
              <a:t> at a time."</a:t>
            </a:r>
          </a:p>
        </p:txBody>
      </p:sp>
    </p:spTree>
    <p:extLst>
      <p:ext uri="{BB962C8B-B14F-4D97-AF65-F5344CB8AC3E}">
        <p14:creationId xmlns:p14="http://schemas.microsoft.com/office/powerpoint/2010/main" val="420742899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8EBC-727D-1A41-B2DD-9511E7243C7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610D8B4-2D75-DF37-12CA-F2476288949F}"/>
              </a:ext>
            </a:extLst>
          </p:cNvPr>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FDFBF7"/>
          </a:solidFill>
        </p:spPr>
        <p:txBody>
          <a:bodyPr wrap="square" lIns="0" tIns="0" rIns="0" bIns="0" rtlCol="0"/>
          <a:lstStyle/>
          <a:p>
            <a:endParaRPr/>
          </a:p>
        </p:txBody>
      </p:sp>
      <p:grpSp>
        <p:nvGrpSpPr>
          <p:cNvPr id="3" name="object 3">
            <a:extLst>
              <a:ext uri="{FF2B5EF4-FFF2-40B4-BE49-F238E27FC236}">
                <a16:creationId xmlns:a16="http://schemas.microsoft.com/office/drawing/2014/main" id="{78166D70-B699-F665-3003-EB6FD7B27663}"/>
              </a:ext>
            </a:extLst>
          </p:cNvPr>
          <p:cNvGrpSpPr/>
          <p:nvPr/>
        </p:nvGrpSpPr>
        <p:grpSpPr>
          <a:xfrm>
            <a:off x="424984" y="432816"/>
            <a:ext cx="11280098" cy="6123432"/>
            <a:chOff x="424984" y="432816"/>
            <a:chExt cx="11280098" cy="6123432"/>
          </a:xfrm>
        </p:grpSpPr>
        <p:pic>
          <p:nvPicPr>
            <p:cNvPr id="4" name="object 4">
              <a:extLst>
                <a:ext uri="{FF2B5EF4-FFF2-40B4-BE49-F238E27FC236}">
                  <a16:creationId xmlns:a16="http://schemas.microsoft.com/office/drawing/2014/main" id="{B8E5D4D6-05CE-96C4-F750-985D1B698E26}"/>
                </a:ext>
              </a:extLst>
            </p:cNvPr>
            <p:cNvPicPr/>
            <p:nvPr/>
          </p:nvPicPr>
          <p:blipFill>
            <a:blip r:embed="rId2" cstate="print"/>
            <a:stretch>
              <a:fillRect/>
            </a:stretch>
          </p:blipFill>
          <p:spPr>
            <a:xfrm>
              <a:off x="424984" y="432816"/>
              <a:ext cx="3459183" cy="6123432"/>
            </a:xfrm>
            <a:prstGeom prst="rect">
              <a:avLst/>
            </a:prstGeom>
          </p:spPr>
        </p:pic>
        <p:sp>
          <p:nvSpPr>
            <p:cNvPr id="5" name="object 5">
              <a:extLst>
                <a:ext uri="{FF2B5EF4-FFF2-40B4-BE49-F238E27FC236}">
                  <a16:creationId xmlns:a16="http://schemas.microsoft.com/office/drawing/2014/main" id="{FF0104F7-E4E3-E203-7F84-1A167AB9CC48}"/>
                </a:ext>
              </a:extLst>
            </p:cNvPr>
            <p:cNvSpPr/>
            <p:nvPr/>
          </p:nvSpPr>
          <p:spPr>
            <a:xfrm>
              <a:off x="2934462" y="2177033"/>
              <a:ext cx="8770620" cy="0"/>
            </a:xfrm>
            <a:custGeom>
              <a:avLst/>
              <a:gdLst/>
              <a:ahLst/>
              <a:cxnLst/>
              <a:rect l="l" t="t" r="r" b="b"/>
              <a:pathLst>
                <a:path w="8770620">
                  <a:moveTo>
                    <a:pt x="0" y="0"/>
                  </a:moveTo>
                  <a:lnTo>
                    <a:pt x="8770619" y="0"/>
                  </a:lnTo>
                </a:path>
              </a:pathLst>
            </a:custGeom>
            <a:ln w="38100">
              <a:solidFill>
                <a:srgbClr val="79A8A3"/>
              </a:solidFill>
            </a:ln>
          </p:spPr>
          <p:txBody>
            <a:bodyPr wrap="square" lIns="0" tIns="0" rIns="0" bIns="0" rtlCol="0"/>
            <a:lstStyle/>
            <a:p>
              <a:endParaRPr/>
            </a:p>
          </p:txBody>
        </p:sp>
      </p:grpSp>
      <p:sp>
        <p:nvSpPr>
          <p:cNvPr id="7" name="object 7" descr="$PPTXTitle">
            <a:extLst>
              <a:ext uri="{FF2B5EF4-FFF2-40B4-BE49-F238E27FC236}">
                <a16:creationId xmlns:a16="http://schemas.microsoft.com/office/drawing/2014/main" id="{C066BFBB-DF35-EAAF-0BDE-5A106FD3CE1C}"/>
              </a:ext>
            </a:extLst>
          </p:cNvPr>
          <p:cNvSpPr txBox="1">
            <a:spLocks noGrp="1"/>
          </p:cNvSpPr>
          <p:nvPr>
            <p:ph type="title"/>
          </p:nvPr>
        </p:nvSpPr>
        <p:spPr>
          <a:xfrm>
            <a:off x="1981960" y="589229"/>
            <a:ext cx="10210040" cy="690574"/>
          </a:xfrm>
          <a:prstGeom prst="rect">
            <a:avLst/>
          </a:prstGeom>
        </p:spPr>
        <p:txBody>
          <a:bodyPr vert="horz" wrap="square" lIns="0" tIns="13335" rIns="0" bIns="0" rtlCol="0">
            <a:spAutoFit/>
          </a:bodyPr>
          <a:lstStyle/>
          <a:p>
            <a:pPr marL="12700">
              <a:spcBef>
                <a:spcPts val="105"/>
              </a:spcBef>
              <a:tabLst>
                <a:tab pos="1043305" algn="l"/>
              </a:tabLst>
            </a:pPr>
            <a:r>
              <a:rPr lang="en-US" sz="4400" b="0" spc="-50" dirty="0">
                <a:solidFill>
                  <a:srgbClr val="464A56"/>
                </a:solidFill>
                <a:latin typeface="Cambria"/>
                <a:cs typeface="Cambria"/>
              </a:rPr>
              <a:t>4</a:t>
            </a:r>
            <a:r>
              <a:rPr sz="4400" b="0" dirty="0">
                <a:solidFill>
                  <a:srgbClr val="464A56"/>
                </a:solidFill>
                <a:latin typeface="Cambria"/>
                <a:cs typeface="Cambria"/>
              </a:rPr>
              <a:t>	</a:t>
            </a:r>
            <a:r>
              <a:rPr lang="en-IN" sz="4400" dirty="0"/>
              <a:t> </a:t>
            </a:r>
            <a:r>
              <a:rPr lang="en-US" sz="4400" dirty="0"/>
              <a:t>Practice – Can the AI Survive?</a:t>
            </a:r>
            <a:endParaRPr sz="4400" dirty="0">
              <a:latin typeface="Cambria"/>
              <a:cs typeface="Cambria"/>
            </a:endParaRPr>
          </a:p>
        </p:txBody>
      </p:sp>
      <p:sp>
        <p:nvSpPr>
          <p:cNvPr id="8" name="TextBox 7">
            <a:extLst>
              <a:ext uri="{FF2B5EF4-FFF2-40B4-BE49-F238E27FC236}">
                <a16:creationId xmlns:a16="http://schemas.microsoft.com/office/drawing/2014/main" id="{60348485-CCFB-BE6F-A9AF-7B50D4E7E458}"/>
              </a:ext>
            </a:extLst>
          </p:cNvPr>
          <p:cNvSpPr txBox="1"/>
          <p:nvPr/>
        </p:nvSpPr>
        <p:spPr>
          <a:xfrm>
            <a:off x="1905000" y="2506163"/>
            <a:ext cx="9525000" cy="1754326"/>
          </a:xfrm>
          <a:prstGeom prst="rect">
            <a:avLst/>
          </a:prstGeom>
          <a:noFill/>
        </p:spPr>
        <p:txBody>
          <a:bodyPr wrap="square">
            <a:spAutoFit/>
          </a:bodyPr>
          <a:lstStyle/>
          <a:p>
            <a:r>
              <a:rPr lang="en-US" sz="3600" b="1" dirty="0"/>
              <a:t>Task:</a:t>
            </a:r>
            <a:r>
              <a:rPr lang="en-US" sz="3600" dirty="0"/>
              <a:t> If you use </a:t>
            </a:r>
            <a:r>
              <a:rPr lang="en-US" sz="3600" b="1" dirty="0"/>
              <a:t>BFS O(</a:t>
            </a:r>
            <a:r>
              <a:rPr lang="en-US" sz="3600" b="1" dirty="0" err="1"/>
              <a:t>b^d</a:t>
            </a:r>
            <a:r>
              <a:rPr lang="en-US" sz="3600" b="1" dirty="0"/>
              <a:t>) </a:t>
            </a:r>
            <a:r>
              <a:rPr lang="en-US" sz="3600" dirty="0"/>
              <a:t>will you run out of memory? What if you use </a:t>
            </a:r>
            <a:r>
              <a:rPr lang="en-US" sz="3600" b="1" dirty="0"/>
              <a:t>DFS</a:t>
            </a:r>
            <a:r>
              <a:rPr lang="en-US" sz="3600" dirty="0"/>
              <a:t> O(b x m) ?</a:t>
            </a:r>
          </a:p>
          <a:p>
            <a:r>
              <a:rPr lang="en-US" sz="3600" dirty="0"/>
              <a:t> </a:t>
            </a:r>
          </a:p>
        </p:txBody>
      </p:sp>
    </p:spTree>
    <p:extLst>
      <p:ext uri="{BB962C8B-B14F-4D97-AF65-F5344CB8AC3E}">
        <p14:creationId xmlns:p14="http://schemas.microsoft.com/office/powerpoint/2010/main" val="91351786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D5DF61-47BB-B32E-FFF4-229A1C44824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63BA6C8-F123-AE53-F214-D783758B86AC}"/>
              </a:ext>
            </a:extLst>
          </p:cNvPr>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FDFBF7"/>
          </a:solidFill>
        </p:spPr>
        <p:txBody>
          <a:bodyPr wrap="square" lIns="0" tIns="0" rIns="0" bIns="0" rtlCol="0"/>
          <a:lstStyle/>
          <a:p>
            <a:endParaRPr/>
          </a:p>
        </p:txBody>
      </p:sp>
      <p:grpSp>
        <p:nvGrpSpPr>
          <p:cNvPr id="3" name="object 3">
            <a:extLst>
              <a:ext uri="{FF2B5EF4-FFF2-40B4-BE49-F238E27FC236}">
                <a16:creationId xmlns:a16="http://schemas.microsoft.com/office/drawing/2014/main" id="{74567C19-5911-9B49-8239-A2127585F355}"/>
              </a:ext>
            </a:extLst>
          </p:cNvPr>
          <p:cNvGrpSpPr/>
          <p:nvPr/>
        </p:nvGrpSpPr>
        <p:grpSpPr>
          <a:xfrm>
            <a:off x="424984" y="432816"/>
            <a:ext cx="11280098" cy="6123432"/>
            <a:chOff x="424984" y="432816"/>
            <a:chExt cx="11280098" cy="6123432"/>
          </a:xfrm>
        </p:grpSpPr>
        <p:pic>
          <p:nvPicPr>
            <p:cNvPr id="4" name="object 4">
              <a:extLst>
                <a:ext uri="{FF2B5EF4-FFF2-40B4-BE49-F238E27FC236}">
                  <a16:creationId xmlns:a16="http://schemas.microsoft.com/office/drawing/2014/main" id="{43DE22F2-0610-BB52-36A6-CE6CB20D1170}"/>
                </a:ext>
              </a:extLst>
            </p:cNvPr>
            <p:cNvPicPr/>
            <p:nvPr/>
          </p:nvPicPr>
          <p:blipFill>
            <a:blip r:embed="rId2" cstate="print"/>
            <a:stretch>
              <a:fillRect/>
            </a:stretch>
          </p:blipFill>
          <p:spPr>
            <a:xfrm>
              <a:off x="424984" y="432816"/>
              <a:ext cx="3459183" cy="6123432"/>
            </a:xfrm>
            <a:prstGeom prst="rect">
              <a:avLst/>
            </a:prstGeom>
          </p:spPr>
        </p:pic>
        <p:sp>
          <p:nvSpPr>
            <p:cNvPr id="5" name="object 5">
              <a:extLst>
                <a:ext uri="{FF2B5EF4-FFF2-40B4-BE49-F238E27FC236}">
                  <a16:creationId xmlns:a16="http://schemas.microsoft.com/office/drawing/2014/main" id="{13A8D607-0515-F9D9-1960-B400B1429097}"/>
                </a:ext>
              </a:extLst>
            </p:cNvPr>
            <p:cNvSpPr/>
            <p:nvPr/>
          </p:nvSpPr>
          <p:spPr>
            <a:xfrm>
              <a:off x="2934462" y="2177033"/>
              <a:ext cx="8770620" cy="0"/>
            </a:xfrm>
            <a:custGeom>
              <a:avLst/>
              <a:gdLst/>
              <a:ahLst/>
              <a:cxnLst/>
              <a:rect l="l" t="t" r="r" b="b"/>
              <a:pathLst>
                <a:path w="8770620">
                  <a:moveTo>
                    <a:pt x="0" y="0"/>
                  </a:moveTo>
                  <a:lnTo>
                    <a:pt x="8770619" y="0"/>
                  </a:lnTo>
                </a:path>
              </a:pathLst>
            </a:custGeom>
            <a:ln w="38100">
              <a:solidFill>
                <a:srgbClr val="79A8A3"/>
              </a:solidFill>
            </a:ln>
          </p:spPr>
          <p:txBody>
            <a:bodyPr wrap="square" lIns="0" tIns="0" rIns="0" bIns="0" rtlCol="0"/>
            <a:lstStyle/>
            <a:p>
              <a:endParaRPr/>
            </a:p>
          </p:txBody>
        </p:sp>
      </p:grpSp>
      <p:sp>
        <p:nvSpPr>
          <p:cNvPr id="7" name="object 7" descr="$PPTXTitle">
            <a:extLst>
              <a:ext uri="{FF2B5EF4-FFF2-40B4-BE49-F238E27FC236}">
                <a16:creationId xmlns:a16="http://schemas.microsoft.com/office/drawing/2014/main" id="{FFED1D94-A0E6-389F-C4C9-2CF62A0038B1}"/>
              </a:ext>
            </a:extLst>
          </p:cNvPr>
          <p:cNvSpPr txBox="1">
            <a:spLocks noGrp="1"/>
          </p:cNvSpPr>
          <p:nvPr>
            <p:ph type="title"/>
          </p:nvPr>
        </p:nvSpPr>
        <p:spPr>
          <a:xfrm>
            <a:off x="1981960" y="589229"/>
            <a:ext cx="10210040" cy="690574"/>
          </a:xfrm>
          <a:prstGeom prst="rect">
            <a:avLst/>
          </a:prstGeom>
        </p:spPr>
        <p:txBody>
          <a:bodyPr vert="horz" wrap="square" lIns="0" tIns="13335" rIns="0" bIns="0" rtlCol="0">
            <a:spAutoFit/>
          </a:bodyPr>
          <a:lstStyle/>
          <a:p>
            <a:pPr marL="12700">
              <a:spcBef>
                <a:spcPts val="105"/>
              </a:spcBef>
              <a:tabLst>
                <a:tab pos="1043305" algn="l"/>
              </a:tabLst>
            </a:pPr>
            <a:r>
              <a:rPr lang="en-US" sz="4400" b="0" spc="-50" dirty="0">
                <a:solidFill>
                  <a:srgbClr val="464A56"/>
                </a:solidFill>
                <a:latin typeface="Cambria"/>
                <a:cs typeface="Cambria"/>
              </a:rPr>
              <a:t>4</a:t>
            </a:r>
            <a:r>
              <a:rPr sz="4400" b="0" dirty="0">
                <a:solidFill>
                  <a:srgbClr val="464A56"/>
                </a:solidFill>
                <a:latin typeface="Cambria"/>
                <a:cs typeface="Cambria"/>
              </a:rPr>
              <a:t>	</a:t>
            </a:r>
            <a:r>
              <a:rPr lang="en-IN" sz="4400" dirty="0"/>
              <a:t> </a:t>
            </a:r>
            <a:r>
              <a:rPr lang="en-US" sz="4400" dirty="0"/>
              <a:t>Summary!</a:t>
            </a:r>
            <a:endParaRPr sz="4400" dirty="0">
              <a:latin typeface="Cambria"/>
              <a:cs typeface="Cambria"/>
            </a:endParaRPr>
          </a:p>
        </p:txBody>
      </p:sp>
      <p:graphicFrame>
        <p:nvGraphicFramePr>
          <p:cNvPr id="9" name="Table 8">
            <a:extLst>
              <a:ext uri="{FF2B5EF4-FFF2-40B4-BE49-F238E27FC236}">
                <a16:creationId xmlns:a16="http://schemas.microsoft.com/office/drawing/2014/main" id="{CA28AADA-7306-3F6A-6016-BBE50DF0FF00}"/>
              </a:ext>
            </a:extLst>
          </p:cNvPr>
          <p:cNvGraphicFramePr>
            <a:graphicFrameLocks noGrp="1"/>
          </p:cNvGraphicFramePr>
          <p:nvPr>
            <p:extLst>
              <p:ext uri="{D42A27DB-BD31-4B8C-83A1-F6EECF244321}">
                <p14:modId xmlns:p14="http://schemas.microsoft.com/office/powerpoint/2010/main" val="1728326079"/>
              </p:ext>
            </p:extLst>
          </p:nvPr>
        </p:nvGraphicFramePr>
        <p:xfrm>
          <a:off x="2512009" y="2254845"/>
          <a:ext cx="8770620" cy="4013924"/>
        </p:xfrm>
        <a:graphic>
          <a:graphicData uri="http://schemas.openxmlformats.org/drawingml/2006/table">
            <a:tbl>
              <a:tblPr/>
              <a:tblGrid>
                <a:gridCol w="2923540">
                  <a:extLst>
                    <a:ext uri="{9D8B030D-6E8A-4147-A177-3AD203B41FA5}">
                      <a16:colId xmlns:a16="http://schemas.microsoft.com/office/drawing/2014/main" val="4084188940"/>
                    </a:ext>
                  </a:extLst>
                </a:gridCol>
                <a:gridCol w="2923540">
                  <a:extLst>
                    <a:ext uri="{9D8B030D-6E8A-4147-A177-3AD203B41FA5}">
                      <a16:colId xmlns:a16="http://schemas.microsoft.com/office/drawing/2014/main" val="447398735"/>
                    </a:ext>
                  </a:extLst>
                </a:gridCol>
                <a:gridCol w="2923540">
                  <a:extLst>
                    <a:ext uri="{9D8B030D-6E8A-4147-A177-3AD203B41FA5}">
                      <a16:colId xmlns:a16="http://schemas.microsoft.com/office/drawing/2014/main" val="1378211741"/>
                    </a:ext>
                  </a:extLst>
                </a:gridCol>
              </a:tblGrid>
              <a:tr h="515800">
                <a:tc>
                  <a:txBody>
                    <a:bodyPr/>
                    <a:lstStyle/>
                    <a:p>
                      <a:pPr rtl="0">
                        <a:buNone/>
                      </a:pPr>
                      <a:r>
                        <a:rPr lang="en-IN" sz="2000" b="1">
                          <a:solidFill>
                            <a:srgbClr val="1F1F1F"/>
                          </a:solidFill>
                          <a:effectLst/>
                          <a:latin typeface="Google Sans Text"/>
                        </a:rPr>
                        <a:t>Evaluation Criteria</a:t>
                      </a:r>
                      <a:endParaRPr lang="en-IN" sz="2000">
                        <a:solidFill>
                          <a:srgbClr val="1F1F1F"/>
                        </a:solidFill>
                        <a:effectLst/>
                        <a:latin typeface="Google Sans Text"/>
                      </a:endParaRPr>
                    </a:p>
                  </a:txBody>
                  <a:tcPr marL="75068" marR="75068" marT="50046" marB="50046"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2000" b="1">
                          <a:solidFill>
                            <a:srgbClr val="1F1F1F"/>
                          </a:solidFill>
                          <a:effectLst/>
                          <a:latin typeface="Google Sans Text"/>
                        </a:rPr>
                        <a:t>BFS (Breadth-First)</a:t>
                      </a:r>
                      <a:endParaRPr lang="en-IN" sz="2000">
                        <a:solidFill>
                          <a:srgbClr val="1F1F1F"/>
                        </a:solidFill>
                        <a:effectLst/>
                        <a:latin typeface="Google Sans Text"/>
                      </a:endParaRPr>
                    </a:p>
                  </a:txBody>
                  <a:tcPr marL="75068" marR="75068" marT="50046" marB="50046"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2000" b="1">
                          <a:solidFill>
                            <a:srgbClr val="1F1F1F"/>
                          </a:solidFill>
                          <a:effectLst/>
                          <a:latin typeface="Google Sans Text"/>
                        </a:rPr>
                        <a:t>DFS (Depth-First)</a:t>
                      </a:r>
                      <a:endParaRPr lang="en-IN" sz="2000">
                        <a:solidFill>
                          <a:srgbClr val="1F1F1F"/>
                        </a:solidFill>
                        <a:effectLst/>
                        <a:latin typeface="Google Sans Text"/>
                      </a:endParaRPr>
                    </a:p>
                  </a:txBody>
                  <a:tcPr marL="75068" marR="75068" marT="50046" marB="50046"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629963915"/>
                  </a:ext>
                </a:extLst>
              </a:tr>
              <a:tr h="874531">
                <a:tc>
                  <a:txBody>
                    <a:bodyPr/>
                    <a:lstStyle/>
                    <a:p>
                      <a:pPr rtl="0">
                        <a:buNone/>
                      </a:pPr>
                      <a:r>
                        <a:rPr lang="en-IN" sz="2000" b="1">
                          <a:solidFill>
                            <a:srgbClr val="1F1F1F"/>
                          </a:solidFill>
                          <a:effectLst/>
                          <a:latin typeface="Google Sans Text"/>
                        </a:rPr>
                        <a:t>Completeness</a:t>
                      </a:r>
                      <a:endParaRPr lang="en-IN" sz="2000">
                        <a:solidFill>
                          <a:srgbClr val="1F1F1F"/>
                        </a:solidFill>
                        <a:effectLst/>
                        <a:latin typeface="Google Sans Text"/>
                      </a:endParaRPr>
                    </a:p>
                  </a:txBody>
                  <a:tcPr marL="75068" marR="75068" marT="50046" marB="50046"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2000" b="1">
                          <a:solidFill>
                            <a:srgbClr val="1F1F1F"/>
                          </a:solidFill>
                          <a:effectLst/>
                          <a:latin typeface="Google Sans Text"/>
                        </a:rPr>
                        <a:t>✅ YES</a:t>
                      </a:r>
                      <a:endParaRPr lang="en-IN" sz="2000">
                        <a:solidFill>
                          <a:srgbClr val="1F1F1F"/>
                        </a:solidFill>
                        <a:effectLst/>
                        <a:latin typeface="Google Sans Text"/>
                      </a:endParaRPr>
                    </a:p>
                  </a:txBody>
                  <a:tcPr marL="75068" marR="75068" marT="50046" marB="50046"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2000" b="1">
                          <a:solidFill>
                            <a:srgbClr val="1F1F1F"/>
                          </a:solidFill>
                          <a:effectLst/>
                          <a:latin typeface="Google Sans Text"/>
                        </a:rPr>
                        <a:t>❌ NO</a:t>
                      </a:r>
                      <a:r>
                        <a:rPr lang="en-IN" sz="2000">
                          <a:solidFill>
                            <a:srgbClr val="1F1F1F"/>
                          </a:solidFill>
                          <a:effectLst/>
                          <a:latin typeface="Google Sans Text"/>
                        </a:rPr>
                        <a:t> (Stuck in infinite loops)</a:t>
                      </a:r>
                    </a:p>
                  </a:txBody>
                  <a:tcPr marL="75068" marR="75068" marT="50046" marB="50046"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747955362"/>
                  </a:ext>
                </a:extLst>
              </a:tr>
              <a:tr h="874531">
                <a:tc>
                  <a:txBody>
                    <a:bodyPr/>
                    <a:lstStyle/>
                    <a:p>
                      <a:pPr rtl="0">
                        <a:buNone/>
                      </a:pPr>
                      <a:r>
                        <a:rPr lang="en-IN" sz="2000" b="1">
                          <a:solidFill>
                            <a:srgbClr val="1F1F1F"/>
                          </a:solidFill>
                          <a:effectLst/>
                          <a:latin typeface="Google Sans Text"/>
                        </a:rPr>
                        <a:t>Optimality</a:t>
                      </a:r>
                      <a:endParaRPr lang="en-IN" sz="2000">
                        <a:solidFill>
                          <a:srgbClr val="1F1F1F"/>
                        </a:solidFill>
                        <a:effectLst/>
                        <a:latin typeface="Google Sans Text"/>
                      </a:endParaRPr>
                    </a:p>
                  </a:txBody>
                  <a:tcPr marL="75068" marR="75068" marT="50046" marB="50046"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2000" b="1">
                          <a:solidFill>
                            <a:srgbClr val="1F1F1F"/>
                          </a:solidFill>
                          <a:effectLst/>
                          <a:latin typeface="Google Sans Text"/>
                        </a:rPr>
                        <a:t>✅ YES</a:t>
                      </a:r>
                      <a:r>
                        <a:rPr lang="en-IN" sz="2000">
                          <a:solidFill>
                            <a:srgbClr val="1F1F1F"/>
                          </a:solidFill>
                          <a:effectLst/>
                          <a:latin typeface="Google Sans Text"/>
                        </a:rPr>
                        <a:t> (Shortest path)</a:t>
                      </a:r>
                    </a:p>
                  </a:txBody>
                  <a:tcPr marL="75068" marR="75068" marT="50046" marB="50046"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2000" b="1">
                          <a:solidFill>
                            <a:srgbClr val="1F1F1F"/>
                          </a:solidFill>
                          <a:effectLst/>
                          <a:latin typeface="Google Sans Text"/>
                        </a:rPr>
                        <a:t>❌ NO</a:t>
                      </a:r>
                      <a:r>
                        <a:rPr lang="en-US" sz="2000">
                          <a:solidFill>
                            <a:srgbClr val="1F1F1F"/>
                          </a:solidFill>
                          <a:effectLst/>
                          <a:latin typeface="Google Sans Text"/>
                        </a:rPr>
                        <a:t> (Takes first one found)</a:t>
                      </a:r>
                    </a:p>
                  </a:txBody>
                  <a:tcPr marL="75068" marR="75068" marT="50046" marB="50046"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435341957"/>
                  </a:ext>
                </a:extLst>
              </a:tr>
              <a:tr h="874531">
                <a:tc>
                  <a:txBody>
                    <a:bodyPr/>
                    <a:lstStyle/>
                    <a:p>
                      <a:pPr rtl="0">
                        <a:buNone/>
                      </a:pPr>
                      <a:r>
                        <a:rPr lang="en-IN" sz="2000" b="1">
                          <a:solidFill>
                            <a:srgbClr val="1F1F1F"/>
                          </a:solidFill>
                          <a:effectLst/>
                          <a:latin typeface="Google Sans Text"/>
                        </a:rPr>
                        <a:t>Time Complexity</a:t>
                      </a:r>
                      <a:endParaRPr lang="en-IN" sz="2000">
                        <a:solidFill>
                          <a:srgbClr val="1F1F1F"/>
                        </a:solidFill>
                        <a:effectLst/>
                        <a:latin typeface="Google Sans Text"/>
                      </a:endParaRPr>
                    </a:p>
                  </a:txBody>
                  <a:tcPr marL="75068" marR="75068" marT="50046" marB="50046"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2000" b="1" dirty="0">
                          <a:solidFill>
                            <a:srgbClr val="1F1F1F"/>
                          </a:solidFill>
                          <a:effectLst/>
                          <a:latin typeface="Google Sans Text"/>
                        </a:rPr>
                        <a:t>O(</a:t>
                      </a:r>
                      <a:r>
                        <a:rPr lang="en-IN" sz="2000" b="1" dirty="0" err="1">
                          <a:solidFill>
                            <a:srgbClr val="1F1F1F"/>
                          </a:solidFill>
                          <a:effectLst/>
                          <a:latin typeface="Google Sans Text"/>
                        </a:rPr>
                        <a:t>b^d</a:t>
                      </a:r>
                      <a:r>
                        <a:rPr lang="en-IN" sz="2000" b="1" dirty="0">
                          <a:solidFill>
                            <a:srgbClr val="1F1F1F"/>
                          </a:solidFill>
                          <a:effectLst/>
                          <a:latin typeface="Google Sans Text"/>
                        </a:rPr>
                        <a:t>)</a:t>
                      </a:r>
                      <a:r>
                        <a:rPr lang="en-IN" sz="2000" dirty="0">
                          <a:solidFill>
                            <a:srgbClr val="1F1F1F"/>
                          </a:solidFill>
                          <a:effectLst/>
                          <a:latin typeface="Google Sans Text"/>
                        </a:rPr>
                        <a:t>(Nodes in a triangle)</a:t>
                      </a:r>
                    </a:p>
                  </a:txBody>
                  <a:tcPr marL="75068" marR="75068" marT="50046" marB="50046"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2000" b="1" dirty="0">
                          <a:solidFill>
                            <a:srgbClr val="1F1F1F"/>
                          </a:solidFill>
                          <a:effectLst/>
                          <a:latin typeface="Google Sans Text"/>
                        </a:rPr>
                        <a:t>O(</a:t>
                      </a:r>
                      <a:r>
                        <a:rPr lang="en-US" sz="2000" b="1" dirty="0" err="1">
                          <a:solidFill>
                            <a:srgbClr val="1F1F1F"/>
                          </a:solidFill>
                          <a:effectLst/>
                          <a:latin typeface="Google Sans Text"/>
                        </a:rPr>
                        <a:t>b^m</a:t>
                      </a:r>
                      <a:r>
                        <a:rPr lang="en-US" sz="2000" b="1" dirty="0">
                          <a:solidFill>
                            <a:srgbClr val="1F1F1F"/>
                          </a:solidFill>
                          <a:effectLst/>
                          <a:latin typeface="Google Sans Text"/>
                        </a:rPr>
                        <a:t>)</a:t>
                      </a:r>
                      <a:r>
                        <a:rPr lang="en-US" sz="2000" dirty="0">
                          <a:solidFill>
                            <a:srgbClr val="1F1F1F"/>
                          </a:solidFill>
                          <a:effectLst/>
                          <a:latin typeface="Google Sans Text"/>
                        </a:rPr>
                        <a:t> (Nodes in the whole tree)</a:t>
                      </a:r>
                    </a:p>
                  </a:txBody>
                  <a:tcPr marL="75068" marR="75068" marT="50046" marB="50046"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480292724"/>
                  </a:ext>
                </a:extLst>
              </a:tr>
              <a:tr h="874531">
                <a:tc>
                  <a:txBody>
                    <a:bodyPr/>
                    <a:lstStyle/>
                    <a:p>
                      <a:pPr rtl="0">
                        <a:buNone/>
                      </a:pPr>
                      <a:r>
                        <a:rPr lang="en-IN" sz="2000" b="1">
                          <a:solidFill>
                            <a:srgbClr val="1F1F1F"/>
                          </a:solidFill>
                          <a:effectLst/>
                          <a:latin typeface="Google Sans Text"/>
                        </a:rPr>
                        <a:t>Space Complexity</a:t>
                      </a:r>
                      <a:endParaRPr lang="en-IN" sz="2000">
                        <a:solidFill>
                          <a:srgbClr val="1F1F1F"/>
                        </a:solidFill>
                        <a:effectLst/>
                        <a:latin typeface="Google Sans Text"/>
                      </a:endParaRPr>
                    </a:p>
                  </a:txBody>
                  <a:tcPr marL="75068" marR="75068" marT="50046" marB="50046"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2000" b="1">
                          <a:solidFill>
                            <a:srgbClr val="1F1F1F"/>
                          </a:solidFill>
                          <a:effectLst/>
                          <a:latin typeface="Google Sans Text"/>
                        </a:rPr>
                        <a:t>O</a:t>
                      </a:r>
                      <a:r>
                        <a:rPr lang="en-US" sz="2000" b="1" dirty="0">
                          <a:solidFill>
                            <a:srgbClr val="1F1F1F"/>
                          </a:solidFill>
                          <a:effectLst/>
                          <a:latin typeface="Google Sans Text"/>
                        </a:rPr>
                        <a:t>(</a:t>
                      </a:r>
                      <a:r>
                        <a:rPr lang="en-US" sz="2000" b="1" dirty="0" err="1">
                          <a:solidFill>
                            <a:srgbClr val="1F1F1F"/>
                          </a:solidFill>
                          <a:effectLst/>
                          <a:latin typeface="Google Sans Text"/>
                        </a:rPr>
                        <a:t>b^d</a:t>
                      </a:r>
                      <a:r>
                        <a:rPr lang="en-US" sz="2000" b="1" dirty="0">
                          <a:solidFill>
                            <a:srgbClr val="1F1F1F"/>
                          </a:solidFill>
                          <a:effectLst/>
                          <a:latin typeface="Google Sans Text"/>
                        </a:rPr>
                        <a:t>)</a:t>
                      </a:r>
                      <a:r>
                        <a:rPr lang="en-US" sz="2000" dirty="0">
                          <a:solidFill>
                            <a:srgbClr val="1F1F1F"/>
                          </a:solidFill>
                          <a:effectLst/>
                          <a:latin typeface="Google Sans Text"/>
                        </a:rPr>
                        <a:t> (Remembers the "Width")</a:t>
                      </a:r>
                    </a:p>
                  </a:txBody>
                  <a:tcPr marL="75068" marR="75068" marT="50046" marB="50046"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2000" b="1" dirty="0">
                          <a:solidFill>
                            <a:srgbClr val="1F1F1F"/>
                          </a:solidFill>
                          <a:effectLst/>
                          <a:latin typeface="Google Sans Text"/>
                        </a:rPr>
                        <a:t>O(b \times m)</a:t>
                      </a:r>
                      <a:r>
                        <a:rPr lang="en-US" sz="2000" dirty="0">
                          <a:solidFill>
                            <a:srgbClr val="1F1F1F"/>
                          </a:solidFill>
                          <a:effectLst/>
                          <a:latin typeface="Google Sans Text"/>
                        </a:rPr>
                        <a:t> (Remembers the "Path")</a:t>
                      </a:r>
                    </a:p>
                  </a:txBody>
                  <a:tcPr marL="75068" marR="75068" marT="50046" marB="50046"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433849113"/>
                  </a:ext>
                </a:extLst>
              </a:tr>
            </a:tbl>
          </a:graphicData>
        </a:graphic>
      </p:graphicFrame>
    </p:spTree>
    <p:extLst>
      <p:ext uri="{BB962C8B-B14F-4D97-AF65-F5344CB8AC3E}">
        <p14:creationId xmlns:p14="http://schemas.microsoft.com/office/powerpoint/2010/main" val="3310296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85C4D2"/>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2390</TotalTime>
  <Words>2390</Words>
  <Application>Microsoft Office PowerPoint</Application>
  <PresentationFormat>Widescreen</PresentationFormat>
  <Paragraphs>286</Paragraphs>
  <Slides>58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58</vt:i4>
      </vt:variant>
    </vt:vector>
  </HeadingPairs>
  <TitlesOfParts>
    <vt:vector size="65" baseType="lpstr">
      <vt:lpstr>Google Sans Text</vt:lpstr>
      <vt:lpstr>Aptos</vt:lpstr>
      <vt:lpstr>Arial</vt:lpstr>
      <vt:lpstr>Calibri</vt:lpstr>
      <vt:lpstr>Cambria</vt:lpstr>
      <vt:lpstr>Segoe UI</vt:lpstr>
      <vt:lpstr>Office Theme</vt:lpstr>
      <vt:lpstr>  Introduction to AI                Problem Solving by Searching                          SY B.Sc. (CS)</vt:lpstr>
      <vt:lpstr>2  What’s in Unit 2?</vt:lpstr>
      <vt:lpstr>Solving Problems by Searching</vt:lpstr>
      <vt:lpstr>3  Introduction to Problem Solving by Searching</vt:lpstr>
      <vt:lpstr>3 What Is Search?</vt:lpstr>
      <vt:lpstr>PowerPoint Presentation</vt:lpstr>
      <vt:lpstr>3 Search Tree?</vt:lpstr>
      <vt:lpstr>PowerPoint Presentation</vt:lpstr>
      <vt:lpstr>3 Nodes in a Search Tree?</vt:lpstr>
      <vt:lpstr>3 Node Data Structure?</vt:lpstr>
      <vt:lpstr>PowerPoint Presentation</vt:lpstr>
      <vt:lpstr>3 Why Parent Pointers Are Needed</vt:lpstr>
      <vt:lpstr>3 Creating Child Nodes</vt:lpstr>
      <vt:lpstr>3 Expanding a Node</vt:lpstr>
      <vt:lpstr>3 Leaf Nodes</vt:lpstr>
      <vt:lpstr>3 Frontier (Open List)</vt:lpstr>
      <vt:lpstr>3 Frontier (Open List)</vt:lpstr>
      <vt:lpstr>4 🧠 ONE-LINE MEMORY TRICK </vt:lpstr>
      <vt:lpstr>Tree-Search Algorithm</vt:lpstr>
      <vt:lpstr>4 Why Do We Need Graph Search?</vt:lpstr>
      <vt:lpstr>4 Tree Search vs Graph Search</vt:lpstr>
      <vt:lpstr>7  Graph Search Algorithm</vt:lpstr>
      <vt:lpstr>4  Child Node Generation</vt:lpstr>
      <vt:lpstr>4  Frontier and Queues</vt:lpstr>
      <vt:lpstr>4 Example:</vt:lpstr>
      <vt:lpstr>4 Explored Set (Closed List)</vt:lpstr>
      <vt:lpstr>7  Problem: State Equality</vt:lpstr>
      <vt:lpstr>4  Canonical Form</vt:lpstr>
      <vt:lpstr>Measuring Problem-Solving Performance</vt:lpstr>
      <vt:lpstr>4  When evaluating a search algorithm, we consider four main criteria:</vt:lpstr>
      <vt:lpstr>4    When evaluating a search algorithm, we consider four main criteria:</vt:lpstr>
      <vt:lpstr>4  1. What is Completeness?</vt:lpstr>
      <vt:lpstr>4  The Analogy: The Treasure in the Library</vt:lpstr>
      <vt:lpstr>4  The Analogy: The Treasure in the Library (The BFS Approach)</vt:lpstr>
      <vt:lpstr>4  The Analogy: The Treasure in the Library (The DFS Approach)</vt:lpstr>
      <vt:lpstr>4  The Comparison</vt:lpstr>
      <vt:lpstr>4  Classroom Discussion Point</vt:lpstr>
      <vt:lpstr>4  2. What is Optimality?</vt:lpstr>
      <vt:lpstr>4  The Story: The Two Pizza Shops</vt:lpstr>
      <vt:lpstr>4  The Analogy: The Two Pizza Shops (The BFS Approach)</vt:lpstr>
      <vt:lpstr>4  The Analogy: The Two Pizza Shops (The DFS Approach)</vt:lpstr>
      <vt:lpstr>4  The Comparison</vt:lpstr>
      <vt:lpstr>4  Classroom Discussion Point</vt:lpstr>
      <vt:lpstr>4  3. What is Time Complexity?</vt:lpstr>
      <vt:lpstr>4  The Variables</vt:lpstr>
      <vt:lpstr>4  Why it is Exponential 𝑂(𝑏^𝑑)</vt:lpstr>
      <vt:lpstr>4 Time Complexity in BFS</vt:lpstr>
      <vt:lpstr>4  The "3-Step" Growth (Visualizing b = 3)</vt:lpstr>
      <vt:lpstr>4  Classroom Discussion Point</vt:lpstr>
      <vt:lpstr>4  3. What is Space Complexity?</vt:lpstr>
      <vt:lpstr>4  Why DFS is O(b x m) (Linear) </vt:lpstr>
      <vt:lpstr>4  The Comparison </vt:lpstr>
      <vt:lpstr>4  Classroom Discussion Point</vt:lpstr>
      <vt:lpstr>4  Practice – Can the AI Survive?</vt:lpstr>
      <vt:lpstr>4  Practice – Can the AI Survive?</vt:lpstr>
      <vt:lpstr>4  Practice – Can the AI Survive?</vt:lpstr>
      <vt:lpstr>4  Practice – Can the AI Survive?</vt:lpstr>
      <vt:lpstr>4  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Principles of  Geographic Information Systems </dc:title>
  <dc:creator>Pushpa Mahapatro</dc:creator>
  <cp:lastModifiedBy>poornimanadar1234@gmail.com</cp:lastModifiedBy>
  <cp:revision>54</cp:revision>
  <dcterms:created xsi:type="dcterms:W3CDTF">2025-11-04T17:06:10Z</dcterms:created>
  <dcterms:modified xsi:type="dcterms:W3CDTF">2026-01-12T16:39:32Z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2021-01-13T00:00:00Z</vt:filetime>
  </property>
  <property fmtid="{D5CDD505-2E9C-101B-9397-08002B2CF9AE}" pid="3" name="Creator">
    <vt:lpwstr>Microsoft® PowerPoint® for Microsoft 365</vt:lpwstr>
  </property>
  <property fmtid="{D5CDD505-2E9C-101B-9397-08002B2CF9AE}" pid="4" name="LastSaved">
    <vt:filetime>2025-11-04T00:00:00Z</vt:filetime>
  </property>
  <property fmtid="{D5CDD505-2E9C-101B-9397-08002B2CF9AE}" pid="5" name="Producer">
    <vt:lpwstr>Microsoft® PowerPoint® for Microsoft 365</vt:lpwstr>
  </property>
</Properties>
</file>