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339" r:id="rId4"/>
    <p:sldId id="343" r:id="rId5"/>
    <p:sldId id="384" r:id="rId6"/>
    <p:sldId id="312" r:id="rId7"/>
    <p:sldId id="385" r:id="rId8"/>
    <p:sldId id="342" r:id="rId9"/>
    <p:sldId id="386" r:id="rId10"/>
    <p:sldId id="284" r:id="rId11"/>
    <p:sldId id="387" r:id="rId12"/>
    <p:sldId id="345" r:id="rId13"/>
    <p:sldId id="388" r:id="rId14"/>
    <p:sldId id="351" r:id="rId15"/>
    <p:sldId id="311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89" autoAdjust="0"/>
  </p:normalViewPr>
  <p:slideViewPr>
    <p:cSldViewPr>
      <p:cViewPr varScale="1">
        <p:scale>
          <a:sx n="82" d="100"/>
          <a:sy n="82" d="100"/>
        </p:scale>
        <p:origin x="888" y="8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878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37728" y="1507333"/>
            <a:ext cx="8546465" cy="2103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>
              <a:lnSpc>
                <a:spcPts val="5550"/>
              </a:lnSpc>
            </a:pPr>
            <a:r>
              <a:rPr lang="en-IN" sz="4400" spc="150" dirty="0">
                <a:solidFill>
                  <a:srgbClr val="FFFFFF"/>
                </a:solidFill>
                <a:latin typeface="Cambria"/>
                <a:cs typeface="Cambria"/>
              </a:rPr>
              <a:t>  Introduction to AI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</a:t>
            </a:r>
            <a:r>
              <a:rPr lang="en-US" sz="3600" b="0" spc="150" dirty="0">
                <a:solidFill>
                  <a:srgbClr val="FFFFFF"/>
                </a:solidFill>
                <a:latin typeface="Cambria"/>
                <a:cs typeface="Cambria"/>
              </a:rPr>
              <a:t>     Introduction to Unit 2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</a:t>
            </a:r>
            <a:r>
              <a:rPr lang="en-IN" sz="4400" b="0" spc="210" dirty="0">
                <a:solidFill>
                  <a:srgbClr val="FFFFFF"/>
                </a:solidFill>
                <a:latin typeface="Cambria"/>
                <a:cs typeface="Cambria"/>
              </a:rPr>
              <a:t>                     </a:t>
            </a:r>
            <a:r>
              <a:rPr lang="en-IN" sz="3200" b="0" spc="210" dirty="0">
                <a:solidFill>
                  <a:srgbClr val="FFFFFF"/>
                </a:solidFill>
                <a:latin typeface="Cambria"/>
                <a:cs typeface="Cambria"/>
              </a:rPr>
              <a:t>SY B.Sc. (CS)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lang="en-IN" sz="1700" spc="-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6FAB2A22-FBB1-FA70-ED68-3643E270AE45}"/>
              </a:ext>
            </a:extLst>
          </p:cNvPr>
          <p:cNvSpPr txBox="1">
            <a:spLocks/>
          </p:cNvSpPr>
          <p:nvPr/>
        </p:nvSpPr>
        <p:spPr>
          <a:xfrm>
            <a:off x="3189922" y="5105400"/>
            <a:ext cx="8546465" cy="132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r">
              <a:lnSpc>
                <a:spcPts val="555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                                        Poornima .N</a:t>
            </a:r>
          </a:p>
          <a:p>
            <a:pPr marL="12700" marR="5080" indent="2650490" algn="r">
              <a:lnSpc>
                <a:spcPts val="555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Assistant Professor, Department of IT/CS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378084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200" dirty="0"/>
              <a:t>✔ Solve problems</a:t>
            </a:r>
            <a:br>
              <a:rPr lang="en-US" sz="3200" dirty="0"/>
            </a:br>
            <a:r>
              <a:rPr lang="en-US" sz="3200" dirty="0"/>
              <a:t>✔ Search intelligently</a:t>
            </a:r>
            <a:br>
              <a:rPr lang="en-US" sz="3200" dirty="0"/>
            </a:br>
            <a:r>
              <a:rPr lang="en-US" sz="3200" dirty="0"/>
              <a:t>✔ Plan actions</a:t>
            </a:r>
            <a:br>
              <a:rPr lang="en-US" sz="3200" dirty="0"/>
            </a:br>
            <a:r>
              <a:rPr lang="en-US" sz="3200" dirty="0"/>
              <a:t>✔ Learn from data</a:t>
            </a:r>
            <a:br>
              <a:rPr lang="en-US" sz="3200" dirty="0"/>
            </a:br>
            <a:r>
              <a:rPr lang="en-US" sz="3200" dirty="0"/>
              <a:t>✔ Act like experts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105910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chemeClr val="tx1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What’s in Unit 2?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7B5A43BA-53F1-CB90-8BA1-382DCDF9CBE3}"/>
              </a:ext>
            </a:extLst>
          </p:cNvPr>
          <p:cNvSpPr/>
          <p:nvPr/>
        </p:nvSpPr>
        <p:spPr>
          <a:xfrm>
            <a:off x="7924800" y="4495805"/>
            <a:ext cx="4219702" cy="231876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D5FE6B-70C8-15A5-A005-DA99561152E8}"/>
              </a:ext>
            </a:extLst>
          </p:cNvPr>
          <p:cNvSpPr txBox="1"/>
          <p:nvPr/>
        </p:nvSpPr>
        <p:spPr>
          <a:xfrm>
            <a:off x="8307833" y="4923652"/>
            <a:ext cx="34591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“How does a machine decide what to do next when it has millions of possible choices?”</a:t>
            </a:r>
            <a:endParaRPr lang="en-IN" sz="24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0C15D-0994-879F-833B-25C04A979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514600"/>
            <a:ext cx="10134600" cy="1477328"/>
          </a:xfrm>
        </p:spPr>
        <p:txBody>
          <a:bodyPr/>
          <a:lstStyle/>
          <a:p>
            <a:pPr algn="ctr"/>
            <a:r>
              <a:rPr lang="en-US" sz="4800" dirty="0"/>
              <a:t>Chapter 1 — Solving Problems by Searching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48159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FAD1A-2764-3965-06A5-E3E3FB0AB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3431A77-A41E-1C1D-8E34-7670DF335C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E702281-5F39-B31E-B011-E8C13F137F7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1951FC8-DD60-53F3-DE89-77434169A06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82D3691-4386-B000-684C-6F4036B6297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AFF70A6-D38B-2249-67CA-A2BED81AEE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altLang="en-US" sz="4400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4400" dirty="0"/>
              <a:t>What is Problem Solving by Searching?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417BA57-D02B-8B1D-D83E-AF23BE0334BD}"/>
              </a:ext>
            </a:extLst>
          </p:cNvPr>
          <p:cNvSpPr txBox="1"/>
          <p:nvPr/>
        </p:nvSpPr>
        <p:spPr>
          <a:xfrm>
            <a:off x="2934462" y="2286000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AI as a problem-solver!</a:t>
            </a:r>
            <a:br>
              <a:rPr lang="en-US" sz="2800" dirty="0"/>
            </a:br>
            <a:r>
              <a:rPr lang="en-US" sz="2800" dirty="0"/>
              <a:t>This chapter introduces: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How agents search for solutions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How we measure a search algorithm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Key evaluation terms:</a:t>
            </a:r>
            <a:br>
              <a:rPr lang="en-US" sz="2800" dirty="0"/>
            </a:br>
            <a:r>
              <a:rPr lang="en-US" sz="2800" dirty="0"/>
              <a:t>➤ </a:t>
            </a:r>
            <a:r>
              <a:rPr lang="en-US" sz="2800" b="1" dirty="0"/>
              <a:t>Performance</a:t>
            </a:r>
            <a:br>
              <a:rPr lang="en-US" sz="2800" dirty="0"/>
            </a:br>
            <a:r>
              <a:rPr lang="en-US" sz="2800" dirty="0"/>
              <a:t>➤ </a:t>
            </a:r>
            <a:r>
              <a:rPr lang="en-US" sz="2800" b="1" dirty="0"/>
              <a:t>Time &amp; Space Complexity</a:t>
            </a:r>
            <a:br>
              <a:rPr lang="en-US" sz="2800" dirty="0"/>
            </a:br>
            <a:r>
              <a:rPr lang="en-US" sz="2800" dirty="0"/>
              <a:t>➤ </a:t>
            </a:r>
            <a:r>
              <a:rPr lang="en-US" sz="2800" b="1" dirty="0"/>
              <a:t>Completeness</a:t>
            </a:r>
            <a:br>
              <a:rPr lang="en-US" sz="2800" dirty="0"/>
            </a:br>
            <a:r>
              <a:rPr lang="en-US" sz="2800" dirty="0"/>
              <a:t>➤ </a:t>
            </a:r>
            <a:r>
              <a:rPr lang="en-US" sz="2800" b="1" dirty="0"/>
              <a:t>Optimality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875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0C15D-0994-879F-833B-25C04A979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514600"/>
            <a:ext cx="10134600" cy="738664"/>
          </a:xfrm>
        </p:spPr>
        <p:txBody>
          <a:bodyPr/>
          <a:lstStyle/>
          <a:p>
            <a:pPr algn="ctr"/>
            <a:r>
              <a:rPr lang="en-US" sz="4800" dirty="0"/>
              <a:t>Chapter 2 — Uninformed Search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602753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CB424-FB80-8FEA-DB88-C79D498F4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DDB4D06-0B9D-9EE8-AE01-EBBAACFDFD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786337C-102A-4051-55AC-1759502BC1E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8AF3281-D20A-FE6F-9D33-40FF587F732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7F8E362-C67A-6F39-2863-2CA0C23BEB1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3E3F80F-C545-4912-67A9-D0590103BD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Uninformed Search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D1FDE11-8101-2589-22CB-6756A70F58C6}"/>
              </a:ext>
            </a:extLst>
          </p:cNvPr>
          <p:cNvSpPr txBox="1"/>
          <p:nvPr/>
        </p:nvSpPr>
        <p:spPr>
          <a:xfrm>
            <a:off x="2934462" y="2286000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No clues… just exploring!</a:t>
            </a:r>
            <a:br>
              <a:rPr lang="en-US" sz="2800" dirty="0"/>
            </a:br>
            <a:r>
              <a:rPr lang="en-US" sz="2800" dirty="0"/>
              <a:t>This chapter discusses blind search strategies: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Depth First Search (DFS)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Breadth First Search (BFS)</a:t>
            </a:r>
            <a:br>
              <a:rPr lang="en-US" sz="2800" dirty="0"/>
            </a:br>
            <a:r>
              <a:rPr lang="en-US" sz="2800" dirty="0"/>
              <a:t>Used when the agent has </a:t>
            </a:r>
            <a:r>
              <a:rPr lang="en-US" sz="2800" i="1" dirty="0"/>
              <a:t>no extra information</a:t>
            </a:r>
            <a:r>
              <a:rPr lang="en-US" sz="2800" dirty="0"/>
              <a:t> about the goal.</a:t>
            </a:r>
          </a:p>
        </p:txBody>
      </p:sp>
    </p:spTree>
    <p:extLst>
      <p:ext uri="{BB962C8B-B14F-4D97-AF65-F5344CB8AC3E}">
        <p14:creationId xmlns:p14="http://schemas.microsoft.com/office/powerpoint/2010/main" val="3059469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0C15D-0994-879F-833B-25C04A979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514600"/>
            <a:ext cx="10134600" cy="1477328"/>
          </a:xfrm>
        </p:spPr>
        <p:txBody>
          <a:bodyPr/>
          <a:lstStyle/>
          <a:p>
            <a:pPr algn="ctr"/>
            <a:r>
              <a:rPr lang="en-US" sz="4800" dirty="0"/>
              <a:t>Chapter 3 — Informed (Heuristic) Search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619562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566DA-4DEA-01C8-2D1F-B04110F83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FCEA196-0937-61E7-DFC5-AB42DAB3CC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25205A8-F890-5145-149D-50271ED334F7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9F8B3AE-CC49-F74C-7A0A-0E5E3C4FB58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EEA82F6-4902-451A-A926-18E3AA08C0B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918E5B1-431A-ED77-C956-5E44D1132E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Informed (Heuristic) Search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3DAD8CC-A7B7-5D12-E28A-9566FDBFC8A6}"/>
              </a:ext>
            </a:extLst>
          </p:cNvPr>
          <p:cNvSpPr txBox="1"/>
          <p:nvPr/>
        </p:nvSpPr>
        <p:spPr>
          <a:xfrm>
            <a:off x="2934462" y="2286000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Smarter searching using hints!</a:t>
            </a:r>
            <a:br>
              <a:rPr lang="en-US" sz="2800" dirty="0"/>
            </a:br>
            <a:r>
              <a:rPr lang="en-US" sz="2800" dirty="0"/>
              <a:t>This chapter introduces: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Heuristics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Admissible heuristics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Greedy Best-First Search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A* Search</a:t>
            </a:r>
            <a:br>
              <a:rPr lang="en-US" sz="2800" dirty="0"/>
            </a:br>
            <a:r>
              <a:rPr lang="en-US" sz="2800" dirty="0"/>
              <a:t>These help AI reach solutions faster.</a:t>
            </a:r>
          </a:p>
        </p:txBody>
      </p:sp>
    </p:spTree>
    <p:extLst>
      <p:ext uri="{BB962C8B-B14F-4D97-AF65-F5344CB8AC3E}">
        <p14:creationId xmlns:p14="http://schemas.microsoft.com/office/powerpoint/2010/main" val="1087242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0C15D-0994-879F-833B-25C04A979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514600"/>
            <a:ext cx="10134600" cy="738664"/>
          </a:xfrm>
        </p:spPr>
        <p:txBody>
          <a:bodyPr/>
          <a:lstStyle/>
          <a:p>
            <a:pPr algn="ctr"/>
            <a:r>
              <a:rPr lang="en-US" sz="4800" dirty="0"/>
              <a:t>Chapter 4 — Planning in AI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721144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D9B11A-0092-9925-1523-D35E640A6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3A27F6-EAEA-7D4B-175A-FA05BFB68D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F6D9B3A-2554-6A80-1BE4-F445A2C58F2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1F2A973-E675-B134-F26D-077D4BCF7AF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6D26561-3C41-417D-A560-D0512766BE7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4AD302E-3308-0F6F-CAA7-E3A2F01846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Planning in AI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A745E6-1A6B-72C7-F45C-5EDBA7CBC46D}"/>
              </a:ext>
            </a:extLst>
          </p:cNvPr>
          <p:cNvSpPr txBox="1"/>
          <p:nvPr/>
        </p:nvSpPr>
        <p:spPr>
          <a:xfrm>
            <a:off x="3048000" y="2690335"/>
            <a:ext cx="73914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Thinking before acting!</a:t>
            </a:r>
          </a:p>
          <a:p>
            <a:br>
              <a:rPr lang="en-US" sz="2800" dirty="0"/>
            </a:br>
            <a:r>
              <a:rPr lang="en-US" sz="2800" dirty="0"/>
              <a:t>This chapter explains: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The Planning Problem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Total Order Planning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Partial Order Planning</a:t>
            </a:r>
            <a:br>
              <a:rPr lang="en-US" sz="2800" dirty="0"/>
            </a:br>
            <a:r>
              <a:rPr lang="en-US" sz="2800" dirty="0"/>
              <a:t>How AI makes structured sequences of actions.</a:t>
            </a:r>
          </a:p>
        </p:txBody>
      </p:sp>
    </p:spTree>
    <p:extLst>
      <p:ext uri="{BB962C8B-B14F-4D97-AF65-F5344CB8AC3E}">
        <p14:creationId xmlns:p14="http://schemas.microsoft.com/office/powerpoint/2010/main" val="1054330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0C15D-0994-879F-833B-25C04A979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514600"/>
            <a:ext cx="10134600" cy="738664"/>
          </a:xfrm>
        </p:spPr>
        <p:txBody>
          <a:bodyPr/>
          <a:lstStyle/>
          <a:p>
            <a:pPr algn="ctr"/>
            <a:r>
              <a:rPr lang="en-US" sz="4800" dirty="0"/>
              <a:t>Chapter 5 — Learning in AI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32562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9B69E0-5BCC-D3F0-2EA2-68C3BE051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5090597-7F19-8050-B6EB-DF73695490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A06BE39-D6DF-8BB9-66E2-17E683858FA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D272A90-69E7-5916-E354-2C91578D9B5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7E11BD8-B6A8-18A4-84FA-E603C065BE3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EFAE58C-C466-78F2-8312-B8B7C4B002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Learning in AI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3AF8F8-A74D-E9AE-3BF8-2C18053534C1}"/>
              </a:ext>
            </a:extLst>
          </p:cNvPr>
          <p:cNvSpPr txBox="1"/>
          <p:nvPr/>
        </p:nvSpPr>
        <p:spPr>
          <a:xfrm>
            <a:off x="3048000" y="2690335"/>
            <a:ext cx="7391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Teach machines to learn like humans!</a:t>
            </a:r>
            <a:br>
              <a:rPr lang="en-US" sz="2800" dirty="0"/>
            </a:br>
            <a:r>
              <a:rPr lang="en-US" sz="2800" dirty="0"/>
              <a:t>Covers major learning types: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Supervised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Unsupervised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Semi-supervised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Reinforcement Learning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Ensemble Learning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06210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0C15D-0994-879F-833B-25C04A979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514600"/>
            <a:ext cx="10134600" cy="738664"/>
          </a:xfrm>
        </p:spPr>
        <p:txBody>
          <a:bodyPr/>
          <a:lstStyle/>
          <a:p>
            <a:pPr algn="ctr"/>
            <a:r>
              <a:rPr lang="en-US" sz="4800" dirty="0"/>
              <a:t>Chapter 6 — Expert Systems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961347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9160E-C7B5-8A07-2FA4-14F9842A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F6276AB-ACE7-7F4F-D937-DA162E7F8D0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698CBBA-7F32-9213-778C-31223CF7BCB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21C07EF-7CC3-8DD0-6713-8C2B2B28D48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DF4E16D-477F-BCEA-332F-87298B0B6E7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7C82EC9-8419-B6ED-ACBC-75DB219CC8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Expert Systems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7E520-052A-005D-FB73-26F8B2CE2D46}"/>
              </a:ext>
            </a:extLst>
          </p:cNvPr>
          <p:cNvSpPr txBox="1"/>
          <p:nvPr/>
        </p:nvSpPr>
        <p:spPr>
          <a:xfrm>
            <a:off x="3048000" y="2690335"/>
            <a:ext cx="865708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AI that behaves like a professional!</a:t>
            </a:r>
            <a:br>
              <a:rPr lang="en-US" sz="2800" dirty="0"/>
            </a:br>
            <a:r>
              <a:rPr lang="en-US" sz="2800" dirty="0"/>
              <a:t>Introduces components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Knowledge Base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Inference Engine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Working Memory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User Interface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How expert systems are developed.</a:t>
            </a:r>
          </a:p>
        </p:txBody>
      </p:sp>
    </p:spTree>
    <p:extLst>
      <p:ext uri="{BB962C8B-B14F-4D97-AF65-F5344CB8AC3E}">
        <p14:creationId xmlns:p14="http://schemas.microsoft.com/office/powerpoint/2010/main" val="3071827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EB48C-F2B7-A92B-D6A2-0777D8EC4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B501621-A63E-A55A-F39D-BB52ABF87C5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C0CA25A-0BB0-7587-8AAE-4DAF269BB6A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62A347B-CBA5-0081-2E0A-CDA33A3C137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830005A-9725-1D4A-DA2A-147AA327B5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Summary of Unit 2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A9C12AC2-7BE6-B103-6241-FCEAC7CAA87C}"/>
              </a:ext>
            </a:extLst>
          </p:cNvPr>
          <p:cNvSpPr txBox="1"/>
          <p:nvPr/>
        </p:nvSpPr>
        <p:spPr>
          <a:xfrm>
            <a:off x="2514600" y="2514600"/>
            <a:ext cx="9252416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By the end of this unit, you’ll understand:</a:t>
            </a:r>
            <a:br>
              <a:rPr lang="en-US" sz="2800" dirty="0"/>
            </a:br>
            <a:r>
              <a:rPr lang="en-US" sz="2800" dirty="0"/>
              <a:t>✔ How AI </a:t>
            </a:r>
            <a:r>
              <a:rPr lang="en-US" sz="2800" i="1" dirty="0"/>
              <a:t>searches</a:t>
            </a:r>
            <a:br>
              <a:rPr lang="en-US" sz="2800" dirty="0"/>
            </a:br>
            <a:r>
              <a:rPr lang="en-US" sz="2800" dirty="0"/>
              <a:t>✔ How AI </a:t>
            </a:r>
            <a:r>
              <a:rPr lang="en-US" sz="2800" i="1" dirty="0"/>
              <a:t>plans</a:t>
            </a:r>
            <a:br>
              <a:rPr lang="en-US" sz="2800" dirty="0"/>
            </a:br>
            <a:r>
              <a:rPr lang="en-US" sz="2800" dirty="0"/>
              <a:t>✔ How AI </a:t>
            </a:r>
            <a:r>
              <a:rPr lang="en-US" sz="2800" i="1" dirty="0"/>
              <a:t>learns</a:t>
            </a:r>
            <a:br>
              <a:rPr lang="en-US" sz="2800" dirty="0"/>
            </a:br>
            <a:r>
              <a:rPr lang="en-US" sz="2800" dirty="0"/>
              <a:t>✔ How AI </a:t>
            </a:r>
            <a:r>
              <a:rPr lang="en-US" sz="2800" i="1" dirty="0"/>
              <a:t>reasons like experts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72055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1770</TotalTime>
  <Words>375</Words>
  <Application>Microsoft Office PowerPoint</Application>
  <PresentationFormat>Widescreen</PresentationFormat>
  <Paragraphs>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Cambria</vt:lpstr>
      <vt:lpstr>Segoe UI</vt:lpstr>
      <vt:lpstr>Office Theme</vt:lpstr>
      <vt:lpstr>  Introduction to AI                       Introduction to Unit 2                          SY B.Sc. (CS)</vt:lpstr>
      <vt:lpstr>2  What’s in Unit 2?</vt:lpstr>
      <vt:lpstr>Chapter 1 — Solving Problems by Searching</vt:lpstr>
      <vt:lpstr>3  What is Problem Solving by Searching?</vt:lpstr>
      <vt:lpstr>Chapter 2 — Uninformed Search</vt:lpstr>
      <vt:lpstr>3 Uninformed Search</vt:lpstr>
      <vt:lpstr>Chapter 3 — Informed (Heuristic) Search</vt:lpstr>
      <vt:lpstr>3 Informed (Heuristic) Search</vt:lpstr>
      <vt:lpstr>Chapter 4 — Planning in AI</vt:lpstr>
      <vt:lpstr>4 Planning in AI</vt:lpstr>
      <vt:lpstr>Chapter 5 — Learning in AI</vt:lpstr>
      <vt:lpstr>4  Learning in AI</vt:lpstr>
      <vt:lpstr>Chapter 6 — Expert Systems</vt:lpstr>
      <vt:lpstr>4  Expert Systems</vt:lpstr>
      <vt:lpstr>7  Summary of Unit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LENOVO</cp:lastModifiedBy>
  <cp:revision>47</cp:revision>
  <dcterms:created xsi:type="dcterms:W3CDTF">2025-11-04T17:06:10Z</dcterms:created>
  <dcterms:modified xsi:type="dcterms:W3CDTF">2025-12-11T08:05:38Z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