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Artificial Intelligence - Unit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Definitions, Approaches &amp; Agent Structures</a:t>
            </a:r>
          </a:p>
          <a:p>
            <a:r>
              <a:t>+ MCQs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Study &amp; design of intelligent agents</a:t>
            </a:r>
          </a:p>
          <a:p>
            <a:r>
              <a:t>• Coined by John McCarthy (1956)</a:t>
            </a:r>
          </a:p>
          <a:p>
            <a:r>
              <a:t>• System that perceives and takes actions to maximize success</a:t>
            </a:r>
          </a:p>
          <a:p>
            <a:r>
              <a:t>• Key areas: NLP, KR, Reasoning, Learning, Robotics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Approaches to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Acting Humanly – Turing Test</a:t>
            </a:r>
          </a:p>
          <a:p>
            <a:r>
              <a:t>2. Thinking Humanly – Cognitive Modeling</a:t>
            </a:r>
          </a:p>
          <a:p>
            <a:r>
              <a:t>3. Thinking Rationally – Laws of Thought</a:t>
            </a:r>
          </a:p>
          <a:p>
            <a:r>
              <a:t>4. Acting Rationally – Rational Agent Approach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Turing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Machine must converse indistinguishably from human</a:t>
            </a:r>
          </a:p>
          <a:p>
            <a:r>
              <a:t>• Requires: NLP, KR, Reasoning, Learning</a:t>
            </a:r>
          </a:p>
          <a:p>
            <a:r>
              <a:t>• Total Turing Test adds: Vision, Robotics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Agent = Architecture + Program</a:t>
            </a:r>
          </a:p>
          <a:p>
            <a:r>
              <a:t>• Architecture: Sensors + Actuators</a:t>
            </a:r>
          </a:p>
          <a:p>
            <a:r>
              <a:t>• Program: Maps percepts to actions</a:t>
            </a:r>
          </a:p>
          <a:p>
            <a:r>
              <a:t>• Types: Simple Reflex, Model-Based, Goal-Based, Utility-Based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Simple Reflex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 condition-action rules</a:t>
            </a:r>
          </a:p>
          <a:p>
            <a:r>
              <a:t>• No history, reacts to current percept</a:t>
            </a:r>
          </a:p>
          <a:p>
            <a:r>
              <a:t>• Example: Vacuum Cleaner agent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Model-Based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Maintain internal state</a:t>
            </a:r>
          </a:p>
          <a:p>
            <a:r>
              <a:t>• Handle partial observability</a:t>
            </a:r>
          </a:p>
          <a:p>
            <a:r>
              <a:t>• Use model of 'how world works'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Goal-Based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Decisions depend on desired goals</a:t>
            </a:r>
          </a:p>
          <a:p>
            <a:r>
              <a:t>• Consider future outcomes</a:t>
            </a:r>
          </a:p>
          <a:p>
            <a:r>
              <a:t>• Flexible, adaptable behavior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Utility-Based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Utility = measure of 'happiness'</a:t>
            </a:r>
          </a:p>
          <a:p>
            <a:r>
              <a:t>• Used for tradeoffs, uncertainty</a:t>
            </a:r>
          </a:p>
          <a:p>
            <a:r>
              <a:t>• Chooses actions that maximize expected utility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Characteristics of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Rationality</a:t>
            </a:r>
          </a:p>
          <a:p>
            <a:r>
              <a:t>• Autonomy</a:t>
            </a:r>
          </a:p>
          <a:p>
            <a:r>
              <a:t>• Learning Ability</a:t>
            </a:r>
          </a:p>
          <a:p>
            <a:r>
              <a:t>• Reactive Behavior</a:t>
            </a:r>
          </a:p>
          <a:p>
            <a:r>
              <a:t>• Proactive Behavior</a:t>
            </a:r>
          </a:p>
          <a:p>
            <a:r>
              <a:t>• Perception &amp; Action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7" y="414867"/>
            <a:ext cx="8229600" cy="6383866"/>
          </a:xfrm>
        </p:spPr>
        <p:txBody>
          <a:bodyPr>
            <a:normAutofit lnSpcReduction="10000"/>
          </a:bodyPr>
          <a:lstStyle/>
          <a:p>
            <a:r>
              <a:rPr sz="1600" dirty="0"/>
              <a:t>1. Who coined the term Artificial Intelligence?</a:t>
            </a:r>
          </a:p>
          <a:p>
            <a:r>
              <a:rPr sz="1600" dirty="0"/>
              <a:t>A. Alan Turing</a:t>
            </a:r>
          </a:p>
          <a:p>
            <a:r>
              <a:rPr sz="1600" dirty="0"/>
              <a:t>B. John McCarthy</a:t>
            </a:r>
          </a:p>
          <a:p>
            <a:r>
              <a:rPr sz="1600" dirty="0"/>
              <a:t>C. Norvig</a:t>
            </a:r>
          </a:p>
          <a:p>
            <a:r>
              <a:rPr sz="1600" dirty="0"/>
              <a:t>D. Russell</a:t>
            </a:r>
          </a:p>
          <a:p>
            <a:endParaRPr sz="1600" dirty="0"/>
          </a:p>
          <a:p>
            <a:r>
              <a:rPr sz="1600" dirty="0"/>
              <a:t>2. AI is defined as the study of ______.</a:t>
            </a:r>
          </a:p>
          <a:p>
            <a:r>
              <a:rPr sz="1600" dirty="0"/>
              <a:t>A. Human brains</a:t>
            </a:r>
          </a:p>
          <a:p>
            <a:r>
              <a:rPr sz="1600" dirty="0"/>
              <a:t>B. Intelligent agents</a:t>
            </a:r>
          </a:p>
          <a:p>
            <a:r>
              <a:rPr sz="1600" dirty="0"/>
              <a:t>C. Robots only</a:t>
            </a:r>
          </a:p>
          <a:p>
            <a:r>
              <a:rPr sz="1600" dirty="0"/>
              <a:t>D. Computer networks</a:t>
            </a:r>
          </a:p>
          <a:p>
            <a:endParaRPr sz="1600" dirty="0"/>
          </a:p>
          <a:p>
            <a:r>
              <a:rPr sz="1600" dirty="0"/>
              <a:t>3. The Turing Test was proposed in the year:</a:t>
            </a:r>
          </a:p>
          <a:p>
            <a:r>
              <a:rPr sz="1600" dirty="0"/>
              <a:t>A. 1948</a:t>
            </a:r>
          </a:p>
          <a:p>
            <a:r>
              <a:rPr sz="1600" dirty="0"/>
              <a:t>B. 1950</a:t>
            </a:r>
          </a:p>
          <a:p>
            <a:r>
              <a:rPr sz="1600" dirty="0"/>
              <a:t>C. 1956</a:t>
            </a:r>
          </a:p>
          <a:p>
            <a:r>
              <a:rPr sz="1600" dirty="0"/>
              <a:t>D. 1960</a:t>
            </a:r>
          </a:p>
          <a:p>
            <a:endParaRPr sz="1600" dirty="0"/>
          </a:p>
          <a:p>
            <a:r>
              <a:rPr sz="1600" dirty="0"/>
              <a:t>4. Which is NOT required to pass the Turing Test?</a:t>
            </a:r>
          </a:p>
          <a:p>
            <a:r>
              <a:rPr sz="1600" dirty="0"/>
              <a:t>A. NLP</a:t>
            </a:r>
          </a:p>
          <a:p>
            <a:r>
              <a:rPr sz="1600" dirty="0"/>
              <a:t>B. Machine Learning</a:t>
            </a:r>
          </a:p>
          <a:p>
            <a:r>
              <a:rPr sz="1600" dirty="0"/>
              <a:t>C. Robotics</a:t>
            </a:r>
          </a:p>
          <a:p>
            <a:r>
              <a:rPr sz="1600" dirty="0"/>
              <a:t>D. Knowledge Representation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3133"/>
            <a:ext cx="8229600" cy="6671733"/>
          </a:xfrm>
        </p:spPr>
        <p:txBody>
          <a:bodyPr>
            <a:normAutofit fontScale="92500" lnSpcReduction="10000"/>
          </a:bodyPr>
          <a:lstStyle/>
          <a:p>
            <a:r>
              <a:rPr sz="1800" dirty="0"/>
              <a:t>5. The ‘Total Turing Test’ additionally requires:</a:t>
            </a:r>
          </a:p>
          <a:p>
            <a:r>
              <a:rPr sz="1800" dirty="0"/>
              <a:t>A. Vision and Robotics</a:t>
            </a:r>
          </a:p>
          <a:p>
            <a:r>
              <a:rPr sz="1800" dirty="0"/>
              <a:t>B. Big Data</a:t>
            </a:r>
          </a:p>
          <a:p>
            <a:r>
              <a:rPr sz="1800" dirty="0"/>
              <a:t>C. Deep Learning</a:t>
            </a:r>
          </a:p>
          <a:p>
            <a:r>
              <a:rPr sz="1800" dirty="0"/>
              <a:t>D. Psychology</a:t>
            </a:r>
          </a:p>
          <a:p>
            <a:endParaRPr sz="1800" dirty="0"/>
          </a:p>
          <a:p>
            <a:r>
              <a:rPr sz="1800" dirty="0"/>
              <a:t>6. Cognitive modeling belongs to which approach?</a:t>
            </a:r>
          </a:p>
          <a:p>
            <a:r>
              <a:rPr sz="1800" dirty="0"/>
              <a:t>A. Acting Humanly</a:t>
            </a:r>
          </a:p>
          <a:p>
            <a:r>
              <a:rPr sz="1800" dirty="0"/>
              <a:t>B. Thinking Humanly</a:t>
            </a:r>
          </a:p>
          <a:p>
            <a:r>
              <a:rPr sz="1800" dirty="0"/>
              <a:t>C. Acting Rationally</a:t>
            </a:r>
          </a:p>
          <a:p>
            <a:r>
              <a:rPr sz="1800" dirty="0"/>
              <a:t>D. Thinking Rationally</a:t>
            </a:r>
          </a:p>
          <a:p>
            <a:endParaRPr sz="1800" dirty="0"/>
          </a:p>
          <a:p>
            <a:r>
              <a:rPr sz="1800" dirty="0"/>
              <a:t>7. Aristotle’s contribution is related to:</a:t>
            </a:r>
          </a:p>
          <a:p>
            <a:r>
              <a:rPr sz="1800" dirty="0"/>
              <a:t>A. Neural Networks</a:t>
            </a:r>
          </a:p>
          <a:p>
            <a:r>
              <a:rPr sz="1800" dirty="0"/>
              <a:t>B. Laws of Thought</a:t>
            </a:r>
          </a:p>
          <a:p>
            <a:r>
              <a:rPr sz="1800" dirty="0"/>
              <a:t>C. Robotics</a:t>
            </a:r>
          </a:p>
          <a:p>
            <a:r>
              <a:rPr sz="1800" dirty="0"/>
              <a:t>D. Search Algorithms</a:t>
            </a:r>
          </a:p>
          <a:p>
            <a:endParaRPr sz="1800" dirty="0"/>
          </a:p>
          <a:p>
            <a:r>
              <a:rPr sz="1800" dirty="0"/>
              <a:t>8. A rational agent aims to:</a:t>
            </a:r>
          </a:p>
          <a:p>
            <a:r>
              <a:rPr sz="1800" dirty="0"/>
              <a:t>A. Behave like humans</a:t>
            </a:r>
          </a:p>
          <a:p>
            <a:r>
              <a:rPr sz="1800" dirty="0"/>
              <a:t>B. Always act quickly</a:t>
            </a:r>
          </a:p>
          <a:p>
            <a:r>
              <a:rPr sz="1800" dirty="0"/>
              <a:t>C. Maximize expected outcome</a:t>
            </a:r>
          </a:p>
          <a:p>
            <a:r>
              <a:rPr sz="1800" dirty="0"/>
              <a:t>D. Store large data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4638"/>
            <a:ext cx="8229600" cy="6439429"/>
          </a:xfrm>
        </p:spPr>
        <p:txBody>
          <a:bodyPr>
            <a:normAutofit fontScale="55000" lnSpcReduction="20000"/>
          </a:bodyPr>
          <a:lstStyle/>
          <a:p>
            <a:r>
              <a:rPr dirty="0"/>
              <a:t>9. Simple reflex agents depend on:</a:t>
            </a:r>
          </a:p>
          <a:p>
            <a:r>
              <a:rPr dirty="0"/>
              <a:t>A. Past history</a:t>
            </a:r>
          </a:p>
          <a:p>
            <a:r>
              <a:rPr dirty="0"/>
              <a:t>B. Goals</a:t>
            </a:r>
          </a:p>
          <a:p>
            <a:r>
              <a:rPr dirty="0"/>
              <a:t>C. Current percept only</a:t>
            </a:r>
          </a:p>
          <a:p>
            <a:r>
              <a:rPr dirty="0"/>
              <a:t>D. Utility</a:t>
            </a:r>
          </a:p>
          <a:p>
            <a:endParaRPr dirty="0"/>
          </a:p>
          <a:p>
            <a:r>
              <a:rPr dirty="0"/>
              <a:t>10. Condition–action rules are used in:</a:t>
            </a:r>
          </a:p>
          <a:p>
            <a:r>
              <a:rPr dirty="0"/>
              <a:t>A. Goal-based agents</a:t>
            </a:r>
          </a:p>
          <a:p>
            <a:r>
              <a:rPr dirty="0"/>
              <a:t>B. Simple reflex agents</a:t>
            </a:r>
          </a:p>
          <a:p>
            <a:r>
              <a:rPr dirty="0"/>
              <a:t>C. Utility-based agents</a:t>
            </a:r>
          </a:p>
          <a:p>
            <a:r>
              <a:rPr dirty="0"/>
              <a:t>D. Learning agents</a:t>
            </a:r>
          </a:p>
          <a:p>
            <a:endParaRPr dirty="0"/>
          </a:p>
          <a:p>
            <a:r>
              <a:rPr dirty="0"/>
              <a:t>11. Model-based agents maintain:</a:t>
            </a:r>
          </a:p>
          <a:p>
            <a:r>
              <a:rPr dirty="0"/>
              <a:t>A. Sensors</a:t>
            </a:r>
          </a:p>
          <a:p>
            <a:r>
              <a:rPr dirty="0"/>
              <a:t>B. Internal state</a:t>
            </a:r>
          </a:p>
          <a:p>
            <a:r>
              <a:rPr dirty="0"/>
              <a:t>C. Goals</a:t>
            </a:r>
          </a:p>
          <a:p>
            <a:r>
              <a:rPr dirty="0"/>
              <a:t>D. Rewards</a:t>
            </a:r>
          </a:p>
          <a:p>
            <a:endParaRPr dirty="0"/>
          </a:p>
          <a:p>
            <a:r>
              <a:rPr dirty="0"/>
              <a:t>12. Goal-based agents consider:</a:t>
            </a:r>
          </a:p>
          <a:p>
            <a:r>
              <a:rPr dirty="0"/>
              <a:t>A. Future consequences</a:t>
            </a:r>
          </a:p>
          <a:p>
            <a:r>
              <a:rPr dirty="0"/>
              <a:t>B. Only current state</a:t>
            </a:r>
          </a:p>
          <a:p>
            <a:r>
              <a:rPr dirty="0"/>
              <a:t>C. Utility</a:t>
            </a:r>
          </a:p>
          <a:p>
            <a:r>
              <a:rPr dirty="0"/>
              <a:t>D. Reflexes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1600"/>
            <a:ext cx="8229600" cy="6544733"/>
          </a:xfrm>
        </p:spPr>
        <p:txBody>
          <a:bodyPr>
            <a:normAutofit fontScale="55000" lnSpcReduction="20000"/>
          </a:bodyPr>
          <a:lstStyle/>
          <a:p>
            <a:r>
              <a:rPr dirty="0"/>
              <a:t>13. Utility-based agents work best under:</a:t>
            </a:r>
          </a:p>
          <a:p>
            <a:r>
              <a:rPr dirty="0"/>
              <a:t>A. Full certainty</a:t>
            </a:r>
          </a:p>
          <a:p>
            <a:r>
              <a:rPr dirty="0"/>
              <a:t>B. No sensory input</a:t>
            </a:r>
          </a:p>
          <a:p>
            <a:r>
              <a:rPr dirty="0"/>
              <a:t>C. Tradeoffs &amp; uncertainty</a:t>
            </a:r>
          </a:p>
          <a:p>
            <a:r>
              <a:rPr dirty="0"/>
              <a:t>D. Noisy data only</a:t>
            </a:r>
          </a:p>
          <a:p>
            <a:endParaRPr dirty="0"/>
          </a:p>
          <a:p>
            <a:r>
              <a:rPr dirty="0"/>
              <a:t>14. Expected utility means:</a:t>
            </a:r>
          </a:p>
          <a:p>
            <a:r>
              <a:rPr dirty="0"/>
              <a:t>A. Random guessing</a:t>
            </a:r>
          </a:p>
          <a:p>
            <a:r>
              <a:rPr dirty="0"/>
              <a:t>B. Utility × probability</a:t>
            </a:r>
          </a:p>
          <a:p>
            <a:r>
              <a:rPr dirty="0"/>
              <a:t>C. Past values only</a:t>
            </a:r>
          </a:p>
          <a:p>
            <a:r>
              <a:rPr dirty="0"/>
              <a:t>D. Reward without risk</a:t>
            </a:r>
          </a:p>
          <a:p>
            <a:endParaRPr dirty="0"/>
          </a:p>
          <a:p>
            <a:r>
              <a:rPr dirty="0"/>
              <a:t>15. Architecture includes:</a:t>
            </a:r>
          </a:p>
          <a:p>
            <a:r>
              <a:rPr dirty="0"/>
              <a:t>A. Program memory</a:t>
            </a:r>
          </a:p>
          <a:p>
            <a:r>
              <a:rPr dirty="0"/>
              <a:t>B. Sensors &amp; actuators</a:t>
            </a:r>
          </a:p>
          <a:p>
            <a:r>
              <a:rPr dirty="0"/>
              <a:t>C. Algorithms only</a:t>
            </a:r>
          </a:p>
          <a:p>
            <a:r>
              <a:rPr dirty="0"/>
              <a:t>D. Utility functions</a:t>
            </a:r>
          </a:p>
          <a:p>
            <a:endParaRPr dirty="0"/>
          </a:p>
          <a:p>
            <a:r>
              <a:rPr dirty="0"/>
              <a:t>16. Which agent is best for complex tradeoffs?</a:t>
            </a:r>
          </a:p>
          <a:p>
            <a:r>
              <a:rPr dirty="0"/>
              <a:t>A. Reflex agent</a:t>
            </a:r>
          </a:p>
          <a:p>
            <a:r>
              <a:rPr dirty="0"/>
              <a:t>B. Goal-based agent</a:t>
            </a:r>
          </a:p>
          <a:p>
            <a:r>
              <a:rPr dirty="0"/>
              <a:t>C. Utility-based agent</a:t>
            </a:r>
          </a:p>
          <a:p>
            <a:r>
              <a:rPr dirty="0"/>
              <a:t>D. Random agent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000" y="143933"/>
            <a:ext cx="8229600" cy="6561667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17. Which agent handles partial observability?</a:t>
            </a:r>
          </a:p>
          <a:p>
            <a:r>
              <a:rPr lang="en-US" dirty="0"/>
              <a:t>A. Simple reflex agent</a:t>
            </a:r>
          </a:p>
          <a:p>
            <a:r>
              <a:rPr lang="en-US" dirty="0"/>
              <a:t>B. Model-based agent</a:t>
            </a:r>
          </a:p>
          <a:p>
            <a:r>
              <a:rPr lang="en-US" dirty="0"/>
              <a:t>C. Utility agent</a:t>
            </a:r>
          </a:p>
          <a:p>
            <a:r>
              <a:rPr lang="en-US" dirty="0"/>
              <a:t>D. All of these</a:t>
            </a:r>
          </a:p>
          <a:p>
            <a:endParaRPr lang="en-US" dirty="0"/>
          </a:p>
          <a:p>
            <a:r>
              <a:rPr lang="en-US" dirty="0"/>
              <a:t>18. The term 'utility' means:</a:t>
            </a:r>
          </a:p>
          <a:p>
            <a:r>
              <a:rPr lang="en-US" dirty="0"/>
              <a:t>A. Happiness measure</a:t>
            </a:r>
          </a:p>
          <a:p>
            <a:r>
              <a:rPr lang="en-US" dirty="0"/>
              <a:t>B. Speed</a:t>
            </a:r>
          </a:p>
          <a:p>
            <a:r>
              <a:rPr lang="en-US" dirty="0"/>
              <a:t>C. Accuracy only</a:t>
            </a:r>
          </a:p>
          <a:p>
            <a:r>
              <a:rPr lang="en-US" dirty="0"/>
              <a:t>D. Cost only</a:t>
            </a:r>
          </a:p>
          <a:p>
            <a:endParaRPr lang="en-US" dirty="0"/>
          </a:p>
          <a:p>
            <a:r>
              <a:rPr lang="en-US" dirty="0"/>
              <a:t>19. Autonomy in an agent means:</a:t>
            </a:r>
          </a:p>
          <a:p>
            <a:r>
              <a:rPr lang="en-US" dirty="0"/>
              <a:t>A. Works without environment</a:t>
            </a:r>
          </a:p>
          <a:p>
            <a:r>
              <a:rPr lang="en-US" dirty="0"/>
              <a:t>B. Relies less on humans</a:t>
            </a:r>
          </a:p>
          <a:p>
            <a:r>
              <a:rPr lang="en-US" dirty="0"/>
              <a:t>C. Always supervised</a:t>
            </a:r>
          </a:p>
          <a:p>
            <a:r>
              <a:rPr lang="en-US" dirty="0"/>
              <a:t>D. Needs full instructions</a:t>
            </a:r>
          </a:p>
          <a:p>
            <a:endParaRPr lang="en-US" dirty="0"/>
          </a:p>
          <a:p>
            <a:r>
              <a:rPr lang="en-US" dirty="0"/>
              <a:t>20. Reactive behavior means:</a:t>
            </a:r>
          </a:p>
          <a:p>
            <a:r>
              <a:rPr lang="en-US" dirty="0"/>
              <a:t>A. Future planning</a:t>
            </a:r>
          </a:p>
          <a:p>
            <a:r>
              <a:rPr lang="en-US" dirty="0"/>
              <a:t>B. Immediate response</a:t>
            </a:r>
          </a:p>
          <a:p>
            <a:r>
              <a:rPr lang="en-US" dirty="0"/>
              <a:t>C. Utility comparison</a:t>
            </a:r>
          </a:p>
          <a:p>
            <a:r>
              <a:rPr lang="en-US" dirty="0"/>
              <a:t>D. Slow decision-making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2466" y="169334"/>
            <a:ext cx="8229600" cy="6536266"/>
          </a:xfrm>
        </p:spPr>
        <p:txBody>
          <a:bodyPr>
            <a:normAutofit fontScale="55000" lnSpcReduction="20000"/>
          </a:bodyPr>
          <a:lstStyle/>
          <a:p>
            <a:r>
              <a:rPr dirty="0"/>
              <a:t>21. Proactive behavior means:</a:t>
            </a:r>
          </a:p>
          <a:p>
            <a:r>
              <a:rPr dirty="0"/>
              <a:t>A. Only reacting</a:t>
            </a:r>
          </a:p>
          <a:p>
            <a:r>
              <a:rPr dirty="0"/>
              <a:t>B. Goal-driven actions</a:t>
            </a:r>
          </a:p>
          <a:p>
            <a:r>
              <a:rPr dirty="0"/>
              <a:t>C. No decision-making</a:t>
            </a:r>
          </a:p>
          <a:p>
            <a:r>
              <a:rPr dirty="0"/>
              <a:t>D. Memoryless mapping</a:t>
            </a:r>
          </a:p>
          <a:p>
            <a:endParaRPr dirty="0"/>
          </a:p>
          <a:p>
            <a:r>
              <a:rPr dirty="0"/>
              <a:t>22. A learning agent improves through:</a:t>
            </a:r>
          </a:p>
          <a:p>
            <a:r>
              <a:rPr dirty="0"/>
              <a:t>A. Random guessing</a:t>
            </a:r>
          </a:p>
          <a:p>
            <a:r>
              <a:rPr dirty="0"/>
              <a:t>B. Experience</a:t>
            </a:r>
          </a:p>
          <a:p>
            <a:r>
              <a:rPr dirty="0"/>
              <a:t>C. More sensors</a:t>
            </a:r>
          </a:p>
          <a:p>
            <a:r>
              <a:rPr dirty="0"/>
              <a:t>D. Fixed rules</a:t>
            </a:r>
          </a:p>
          <a:p>
            <a:endParaRPr dirty="0"/>
          </a:p>
          <a:p>
            <a:r>
              <a:rPr dirty="0"/>
              <a:t>23. An agent program maps:</a:t>
            </a:r>
          </a:p>
          <a:p>
            <a:r>
              <a:rPr dirty="0"/>
              <a:t>A. Actions to percepts</a:t>
            </a:r>
          </a:p>
          <a:p>
            <a:r>
              <a:rPr dirty="0"/>
              <a:t>B. Percepts to actions</a:t>
            </a:r>
          </a:p>
          <a:p>
            <a:r>
              <a:rPr dirty="0"/>
              <a:t>C. Goals to utilities</a:t>
            </a:r>
          </a:p>
          <a:p>
            <a:r>
              <a:rPr dirty="0"/>
              <a:t>D. Utility to rewards</a:t>
            </a:r>
          </a:p>
          <a:p>
            <a:endParaRPr dirty="0"/>
          </a:p>
          <a:p>
            <a:r>
              <a:rPr dirty="0"/>
              <a:t>24. Intelligent behavior in artifacts was defined by:</a:t>
            </a:r>
          </a:p>
          <a:p>
            <a:r>
              <a:rPr dirty="0"/>
              <a:t>A. Poole</a:t>
            </a:r>
          </a:p>
          <a:p>
            <a:r>
              <a:rPr dirty="0"/>
              <a:t>B. Nilsson</a:t>
            </a:r>
          </a:p>
          <a:p>
            <a:r>
              <a:rPr dirty="0"/>
              <a:t>C. Winston</a:t>
            </a:r>
          </a:p>
          <a:p>
            <a:r>
              <a:rPr dirty="0"/>
              <a:t>D. Kurzweil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600" y="16933"/>
            <a:ext cx="8229600" cy="6595534"/>
          </a:xfrm>
        </p:spPr>
        <p:txBody>
          <a:bodyPr>
            <a:normAutofit fontScale="55000" lnSpcReduction="20000"/>
          </a:bodyPr>
          <a:lstStyle/>
          <a:p>
            <a:r>
              <a:rPr dirty="0"/>
              <a:t>25. AI became a field after:</a:t>
            </a:r>
          </a:p>
          <a:p>
            <a:r>
              <a:rPr dirty="0"/>
              <a:t>A. 1900</a:t>
            </a:r>
          </a:p>
          <a:p>
            <a:r>
              <a:rPr dirty="0"/>
              <a:t>B. WWII</a:t>
            </a:r>
          </a:p>
          <a:p>
            <a:r>
              <a:rPr dirty="0"/>
              <a:t>C. 1970</a:t>
            </a:r>
          </a:p>
          <a:p>
            <a:r>
              <a:rPr dirty="0"/>
              <a:t>D. 2001</a:t>
            </a:r>
          </a:p>
          <a:p>
            <a:endParaRPr dirty="0"/>
          </a:p>
          <a:p>
            <a:r>
              <a:rPr dirty="0"/>
              <a:t>26. The taxi braking scenario is example of:</a:t>
            </a:r>
          </a:p>
          <a:p>
            <a:r>
              <a:rPr dirty="0"/>
              <a:t>A. Reflex behavior</a:t>
            </a:r>
          </a:p>
          <a:p>
            <a:r>
              <a:rPr dirty="0"/>
              <a:t>B. Utility calculation</a:t>
            </a:r>
          </a:p>
          <a:p>
            <a:r>
              <a:rPr dirty="0"/>
              <a:t>C. Cognitive modeling</a:t>
            </a:r>
          </a:p>
          <a:p>
            <a:r>
              <a:rPr dirty="0"/>
              <a:t>D. Search algorithm</a:t>
            </a:r>
          </a:p>
          <a:p>
            <a:endParaRPr dirty="0"/>
          </a:p>
          <a:p>
            <a:r>
              <a:rPr dirty="0"/>
              <a:t>27. 'Internal model of the world' is used in:</a:t>
            </a:r>
          </a:p>
          <a:p>
            <a:r>
              <a:rPr dirty="0"/>
              <a:t>A. Reflex agent</a:t>
            </a:r>
          </a:p>
          <a:p>
            <a:r>
              <a:rPr dirty="0"/>
              <a:t>B. Model-based agent</a:t>
            </a:r>
          </a:p>
          <a:p>
            <a:r>
              <a:rPr dirty="0"/>
              <a:t>C. Utility-based agent</a:t>
            </a:r>
          </a:p>
          <a:p>
            <a:r>
              <a:rPr dirty="0"/>
              <a:t>D. None</a:t>
            </a:r>
          </a:p>
          <a:p>
            <a:endParaRPr dirty="0"/>
          </a:p>
          <a:p>
            <a:r>
              <a:rPr dirty="0"/>
              <a:t>28. Utility helps when:</a:t>
            </a:r>
          </a:p>
          <a:p>
            <a:r>
              <a:rPr dirty="0"/>
              <a:t>A. All goals conflict</a:t>
            </a:r>
          </a:p>
          <a:p>
            <a:r>
              <a:rPr dirty="0"/>
              <a:t>B. No uncertainty exists</a:t>
            </a:r>
          </a:p>
          <a:p>
            <a:r>
              <a:rPr dirty="0"/>
              <a:t>C. Reflex is enough</a:t>
            </a:r>
          </a:p>
          <a:p>
            <a:r>
              <a:rPr dirty="0"/>
              <a:t>D. Rules are fixed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9333"/>
            <a:ext cx="8229600" cy="6460067"/>
          </a:xfrm>
        </p:spPr>
        <p:txBody>
          <a:bodyPr>
            <a:normAutofit fontScale="55000" lnSpcReduction="20000"/>
          </a:bodyPr>
          <a:lstStyle/>
          <a:p>
            <a:r>
              <a:rPr dirty="0"/>
              <a:t>29. Which agent is most flexible?</a:t>
            </a:r>
          </a:p>
          <a:p>
            <a:r>
              <a:rPr dirty="0"/>
              <a:t>A. Simple reflex</a:t>
            </a:r>
          </a:p>
          <a:p>
            <a:r>
              <a:rPr dirty="0"/>
              <a:t>B. Goal-based</a:t>
            </a:r>
          </a:p>
          <a:p>
            <a:r>
              <a:rPr dirty="0"/>
              <a:t>C. Utility-based</a:t>
            </a:r>
          </a:p>
          <a:p>
            <a:r>
              <a:rPr dirty="0"/>
              <a:t>D. Model-based</a:t>
            </a:r>
          </a:p>
          <a:p>
            <a:endParaRPr dirty="0"/>
          </a:p>
          <a:p>
            <a:r>
              <a:rPr dirty="0"/>
              <a:t>30. Rational action means:</a:t>
            </a:r>
          </a:p>
          <a:p>
            <a:r>
              <a:rPr dirty="0"/>
              <a:t>A. Acting like humans</a:t>
            </a:r>
          </a:p>
          <a:p>
            <a:r>
              <a:rPr dirty="0"/>
              <a:t>B. Best expected outcome</a:t>
            </a:r>
          </a:p>
          <a:p>
            <a:r>
              <a:rPr dirty="0"/>
              <a:t>C. Fastest action</a:t>
            </a:r>
          </a:p>
          <a:p>
            <a:r>
              <a:rPr dirty="0"/>
              <a:t>D. Cheapest action</a:t>
            </a:r>
          </a:p>
          <a:p>
            <a:endParaRPr dirty="0"/>
          </a:p>
          <a:p>
            <a:r>
              <a:rPr dirty="0"/>
              <a:t>31. AI incorporates which fields?</a:t>
            </a:r>
          </a:p>
          <a:p>
            <a:r>
              <a:rPr dirty="0"/>
              <a:t>A. Philosophy</a:t>
            </a:r>
          </a:p>
          <a:p>
            <a:r>
              <a:rPr dirty="0"/>
              <a:t>B. Psychology</a:t>
            </a:r>
          </a:p>
          <a:p>
            <a:r>
              <a:rPr dirty="0"/>
              <a:t>C. Computer Science</a:t>
            </a:r>
          </a:p>
          <a:p>
            <a:r>
              <a:rPr dirty="0"/>
              <a:t>D. All of these</a:t>
            </a:r>
          </a:p>
          <a:p>
            <a:endParaRPr dirty="0"/>
          </a:p>
          <a:p>
            <a:r>
              <a:rPr dirty="0"/>
              <a:t>32. 'If brake lights on → brake' is:</a:t>
            </a:r>
          </a:p>
          <a:p>
            <a:r>
              <a:rPr dirty="0"/>
              <a:t>A. Utility rule</a:t>
            </a:r>
          </a:p>
          <a:p>
            <a:r>
              <a:rPr dirty="0"/>
              <a:t>B. Condition–action rule</a:t>
            </a:r>
          </a:p>
          <a:p>
            <a:r>
              <a:rPr dirty="0"/>
              <a:t>C. Learning rule</a:t>
            </a:r>
          </a:p>
          <a:p>
            <a:r>
              <a:rPr dirty="0"/>
              <a:t>D. Random rule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2908E-6723-9457-D899-0B3A603C5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3EF6AC6-227D-FC47-EA5B-82E69BD5A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9333"/>
            <a:ext cx="8229600" cy="6460067"/>
          </a:xfrm>
        </p:spPr>
        <p:txBody>
          <a:bodyPr>
            <a:normAutofit fontScale="92500" lnSpcReduction="20000"/>
          </a:bodyPr>
          <a:lstStyle/>
          <a:p>
            <a:pPr marL="514350" lvl="0" indent="-51435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b="1" dirty="0">
                <a:latin typeface="Arial" panose="020B0604020202020204" pitchFamily="34" charset="0"/>
              </a:rPr>
              <a:t>B. John McCarthy</a:t>
            </a:r>
            <a:endParaRPr lang="en-US" altLang="en-US" dirty="0">
              <a:latin typeface="Arial" panose="020B0604020202020204" pitchFamily="34" charset="0"/>
            </a:endParaRPr>
          </a:p>
          <a:p>
            <a:pPr marL="514350" lvl="0" indent="-51435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b="1" dirty="0">
                <a:latin typeface="Arial" panose="020B0604020202020204" pitchFamily="34" charset="0"/>
              </a:rPr>
              <a:t>B. Intelligent agents</a:t>
            </a:r>
            <a:endParaRPr lang="en-US" altLang="en-US" dirty="0">
              <a:latin typeface="Arial" panose="020B0604020202020204" pitchFamily="34" charset="0"/>
            </a:endParaRPr>
          </a:p>
          <a:p>
            <a:pPr marL="514350" lvl="0" indent="-51435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b="1" dirty="0">
                <a:latin typeface="Arial" panose="020B0604020202020204" pitchFamily="34" charset="0"/>
              </a:rPr>
              <a:t>B. 1950</a:t>
            </a:r>
            <a:endParaRPr lang="en-US" altLang="en-US" dirty="0">
              <a:latin typeface="Arial" panose="020B0604020202020204" pitchFamily="34" charset="0"/>
            </a:endParaRPr>
          </a:p>
          <a:p>
            <a:pPr marL="514350" lvl="0" indent="-51435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b="1" dirty="0">
                <a:latin typeface="Arial" panose="020B0604020202020204" pitchFamily="34" charset="0"/>
              </a:rPr>
              <a:t>C. Robotics</a:t>
            </a:r>
            <a:endParaRPr lang="en-US" altLang="en-US" dirty="0">
              <a:latin typeface="Arial" panose="020B0604020202020204" pitchFamily="34" charset="0"/>
            </a:endParaRPr>
          </a:p>
          <a:p>
            <a:pPr marL="514350" lvl="0" indent="-51435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b="1" dirty="0">
                <a:latin typeface="Arial" panose="020B0604020202020204" pitchFamily="34" charset="0"/>
              </a:rPr>
              <a:t>A. Vision and Robotics</a:t>
            </a:r>
            <a:endParaRPr lang="en-US" altLang="en-US" dirty="0">
              <a:latin typeface="Arial" panose="020B0604020202020204" pitchFamily="34" charset="0"/>
            </a:endParaRPr>
          </a:p>
          <a:p>
            <a:pPr marL="514350" lvl="0" indent="-51435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b="1" dirty="0">
                <a:latin typeface="Arial" panose="020B0604020202020204" pitchFamily="34" charset="0"/>
              </a:rPr>
              <a:t>B. Thinking Humanly</a:t>
            </a:r>
            <a:endParaRPr lang="en-US" altLang="en-US" dirty="0">
              <a:latin typeface="Arial" panose="020B0604020202020204" pitchFamily="34" charset="0"/>
            </a:endParaRPr>
          </a:p>
          <a:p>
            <a:pPr marL="514350" lvl="0" indent="-51435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b="1" dirty="0">
                <a:latin typeface="Arial" panose="020B0604020202020204" pitchFamily="34" charset="0"/>
              </a:rPr>
              <a:t>B. Laws of Thought</a:t>
            </a:r>
            <a:endParaRPr lang="en-US" altLang="en-US" dirty="0">
              <a:latin typeface="Arial" panose="020B0604020202020204" pitchFamily="34" charset="0"/>
            </a:endParaRPr>
          </a:p>
          <a:p>
            <a:pPr marL="514350" lvl="0" indent="-51435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b="1" dirty="0">
                <a:latin typeface="Arial" panose="020B0604020202020204" pitchFamily="34" charset="0"/>
              </a:rPr>
              <a:t>C. Maximize expected outcome</a:t>
            </a:r>
            <a:endParaRPr lang="en-US" altLang="en-US" dirty="0">
              <a:latin typeface="Arial" panose="020B0604020202020204" pitchFamily="34" charset="0"/>
            </a:endParaRPr>
          </a:p>
          <a:p>
            <a:pPr marL="514350" lvl="0" indent="-51435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b="1" dirty="0">
                <a:latin typeface="Arial" panose="020B0604020202020204" pitchFamily="34" charset="0"/>
              </a:rPr>
              <a:t>C. Current percept only</a:t>
            </a:r>
            <a:endParaRPr lang="en-US" altLang="en-US" dirty="0">
              <a:latin typeface="Arial" panose="020B0604020202020204" pitchFamily="34" charset="0"/>
            </a:endParaRPr>
          </a:p>
          <a:p>
            <a:pPr marL="514350" lvl="0" indent="-51435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b="1" dirty="0">
                <a:latin typeface="Arial" panose="020B0604020202020204" pitchFamily="34" charset="0"/>
              </a:rPr>
              <a:t>B. Simple reflex agents</a:t>
            </a:r>
            <a:endParaRPr lang="en-US" altLang="en-US" dirty="0">
              <a:latin typeface="Arial" panose="020B0604020202020204" pitchFamily="34" charset="0"/>
            </a:endParaRPr>
          </a:p>
          <a:p>
            <a:pPr marL="514350" lvl="0" indent="-51435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b="1" dirty="0">
                <a:latin typeface="Arial" panose="020B0604020202020204" pitchFamily="34" charset="0"/>
              </a:rPr>
              <a:t>B. Internal state</a:t>
            </a:r>
            <a:endParaRPr lang="en-US" altLang="en-US" dirty="0">
              <a:latin typeface="Arial" panose="020B0604020202020204" pitchFamily="34" charset="0"/>
            </a:endParaRPr>
          </a:p>
          <a:p>
            <a:pPr marL="514350" lvl="0" indent="-51435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b="1" dirty="0">
                <a:latin typeface="Arial" panose="020B0604020202020204" pitchFamily="34" charset="0"/>
              </a:rPr>
              <a:t>A. Future consequences</a:t>
            </a:r>
            <a:endParaRPr lang="en-US" altLang="en-US" dirty="0">
              <a:latin typeface="Arial" panose="020B0604020202020204" pitchFamily="34" charset="0"/>
            </a:endParaRPr>
          </a:p>
          <a:p>
            <a:pPr marL="514350" lvl="0" indent="-51435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b="1" dirty="0">
                <a:latin typeface="Arial" panose="020B0604020202020204" pitchFamily="34" charset="0"/>
              </a:rPr>
              <a:t>C. Tradeoffs &amp; uncertainty</a:t>
            </a:r>
            <a:endParaRPr lang="en-US" altLang="en-US" dirty="0">
              <a:latin typeface="Arial" panose="020B0604020202020204" pitchFamily="34" charset="0"/>
            </a:endParaRPr>
          </a:p>
          <a:p>
            <a:pPr marL="514350" lvl="0" indent="-51435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b="1" dirty="0">
                <a:latin typeface="Arial" panose="020B0604020202020204" pitchFamily="34" charset="0"/>
              </a:rPr>
              <a:t>B. Utility × probability</a:t>
            </a:r>
            <a:endParaRPr lang="en-US" altLang="en-US" dirty="0">
              <a:latin typeface="Arial" panose="020B0604020202020204" pitchFamily="34" charset="0"/>
            </a:endParaRPr>
          </a:p>
          <a:p>
            <a:pPr marL="514350" lvl="0" indent="-51435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b="1" dirty="0">
                <a:latin typeface="Arial" panose="020B0604020202020204" pitchFamily="34" charset="0"/>
              </a:rPr>
              <a:t>B. Sensors &amp; actuators</a:t>
            </a:r>
            <a:endParaRPr lang="en-US" altLang="en-US" dirty="0">
              <a:latin typeface="Arial" panose="020B0604020202020204" pitchFamily="34" charset="0"/>
            </a:endParaRPr>
          </a:p>
          <a:p>
            <a:pPr marL="514350" lvl="0" indent="-51435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b="1" dirty="0">
                <a:latin typeface="Arial" panose="020B0604020202020204" pitchFamily="34" charset="0"/>
              </a:rPr>
              <a:t>C. Utility-based agent</a:t>
            </a:r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43262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D05B4-3AF2-A781-C9CD-87CD7B793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D781DC9-DC5A-B231-417A-932EE64C73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9333"/>
            <a:ext cx="8229600" cy="6460067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B. Model-based agent</a:t>
            </a:r>
            <a:endParaRPr lang="en-US" dirty="0"/>
          </a:p>
          <a:p>
            <a:r>
              <a:rPr lang="en-US" b="1" dirty="0"/>
              <a:t>A. Happiness measure</a:t>
            </a:r>
            <a:endParaRPr lang="en-US" dirty="0"/>
          </a:p>
          <a:p>
            <a:r>
              <a:rPr lang="en-US" b="1" dirty="0"/>
              <a:t>B. Relies less on humans</a:t>
            </a:r>
            <a:endParaRPr lang="en-US" dirty="0"/>
          </a:p>
          <a:p>
            <a:r>
              <a:rPr lang="en-US" b="1" dirty="0"/>
              <a:t>B. Immediate response</a:t>
            </a:r>
            <a:endParaRPr lang="en-US" dirty="0"/>
          </a:p>
          <a:p>
            <a:r>
              <a:rPr lang="en-US" b="1" dirty="0"/>
              <a:t>B. Goal-driven actions</a:t>
            </a:r>
            <a:endParaRPr lang="en-US" dirty="0"/>
          </a:p>
          <a:p>
            <a:r>
              <a:rPr lang="en-US" b="1" dirty="0"/>
              <a:t>B. Experience</a:t>
            </a:r>
            <a:endParaRPr lang="en-US" dirty="0"/>
          </a:p>
          <a:p>
            <a:r>
              <a:rPr lang="en-US" b="1" dirty="0"/>
              <a:t>B. Percepts to actions</a:t>
            </a:r>
            <a:endParaRPr lang="en-US" dirty="0"/>
          </a:p>
          <a:p>
            <a:r>
              <a:rPr lang="en-US" b="1" dirty="0"/>
              <a:t>B. Nilsson</a:t>
            </a:r>
            <a:endParaRPr lang="en-US" dirty="0"/>
          </a:p>
          <a:p>
            <a:r>
              <a:rPr lang="en-US" b="1" dirty="0"/>
              <a:t>B. WWII</a:t>
            </a:r>
            <a:endParaRPr lang="en-US" dirty="0"/>
          </a:p>
          <a:p>
            <a:r>
              <a:rPr lang="en-US" b="1" dirty="0"/>
              <a:t>A. Reflex behavior</a:t>
            </a:r>
            <a:endParaRPr lang="en-US" dirty="0"/>
          </a:p>
          <a:p>
            <a:r>
              <a:rPr lang="en-US" b="1" dirty="0"/>
              <a:t>B. Model-based agent</a:t>
            </a:r>
            <a:endParaRPr lang="en-US" dirty="0"/>
          </a:p>
          <a:p>
            <a:r>
              <a:rPr lang="en-US" b="1" dirty="0"/>
              <a:t>A. All goals conflict</a:t>
            </a:r>
            <a:endParaRPr lang="en-US" dirty="0"/>
          </a:p>
          <a:p>
            <a:r>
              <a:rPr lang="en-US" b="1" dirty="0"/>
              <a:t>C. Utility-based</a:t>
            </a:r>
            <a:endParaRPr lang="en-US" dirty="0"/>
          </a:p>
          <a:p>
            <a:r>
              <a:rPr lang="en-US" b="1" dirty="0"/>
              <a:t>B. Best expected outcome</a:t>
            </a:r>
            <a:endParaRPr lang="en-US" dirty="0"/>
          </a:p>
          <a:p>
            <a:r>
              <a:rPr lang="en-US" b="1" dirty="0"/>
              <a:t>D. All of these</a:t>
            </a:r>
            <a:endParaRPr lang="en-US" dirty="0"/>
          </a:p>
          <a:p>
            <a:r>
              <a:rPr lang="en-US" b="1" dirty="0"/>
              <a:t>B. Condition–action rule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649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1164</Words>
  <Application>Microsoft Office PowerPoint</Application>
  <PresentationFormat>On-screen Show (4:3)</PresentationFormat>
  <Paragraphs>261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Artificial Intelligence - Unit 1</vt:lpstr>
      <vt:lpstr>What is AI?</vt:lpstr>
      <vt:lpstr>Approaches to AI</vt:lpstr>
      <vt:lpstr>The Turing Test</vt:lpstr>
      <vt:lpstr>Agent Structure</vt:lpstr>
      <vt:lpstr>Simple Reflex Agents</vt:lpstr>
      <vt:lpstr>Model-Based Agents</vt:lpstr>
      <vt:lpstr>Goal-Based Agents</vt:lpstr>
      <vt:lpstr>Utility-Based Agents</vt:lpstr>
      <vt:lpstr>Characteristics of Agents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poornimanadar1234@gmail.com</cp:lastModifiedBy>
  <cp:revision>2</cp:revision>
  <dcterms:created xsi:type="dcterms:W3CDTF">2013-01-27T09:14:16Z</dcterms:created>
  <dcterms:modified xsi:type="dcterms:W3CDTF">2025-11-23T19:18:38Z</dcterms:modified>
  <cp:category/>
</cp:coreProperties>
</file>