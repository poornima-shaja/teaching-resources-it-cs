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67" r:id="rId14"/>
    <p:sldId id="268" r:id="rId15"/>
    <p:sldId id="269" r:id="rId16"/>
    <p:sldId id="276" r:id="rId17"/>
    <p:sldId id="270" r:id="rId18"/>
    <p:sldId id="271" r:id="rId19"/>
    <p:sldId id="272" r:id="rId20"/>
    <p:sldId id="273" r:id="rId21"/>
    <p:sldId id="27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Information Retrieval (IR)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Evaluation is Needed?</a:t>
            </a:r>
          </a:p>
          <a:p>
            <a:pPr lvl="1"/>
            <a:r>
              <a:t>To measure system effectiveness</a:t>
            </a:r>
          </a:p>
          <a:p>
            <a:pPr lvl="1"/>
            <a:r>
              <a:t>To compare ranking algorithms</a:t>
            </a:r>
          </a:p>
          <a:p>
            <a:pPr lvl="1"/>
            <a:r>
              <a:t>To improve user satisfaction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IR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User-Based Evaluation</a:t>
            </a:r>
            <a:endParaRPr lang="en-IN" dirty="0"/>
          </a:p>
          <a:p>
            <a:pPr marL="0" indent="0">
              <a:buNone/>
            </a:pPr>
            <a:r>
              <a:rPr dirty="0"/>
              <a:t>2. Test Collections (Offline Evaluation)</a:t>
            </a:r>
            <a:endParaRPr lang="en-IN" dirty="0"/>
          </a:p>
          <a:p>
            <a:pPr marL="0" indent="0">
              <a:buNone/>
            </a:pPr>
            <a:r>
              <a:rPr dirty="0"/>
              <a:t>3. Online Evaluation 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Evaluation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Step 1: Build IR System</a:t>
            </a:r>
            <a:endParaRPr lang="en-IN" dirty="0"/>
          </a:p>
          <a:p>
            <a:r>
              <a:rPr dirty="0"/>
              <a:t>Step 2: Choose Evaluation Method</a:t>
            </a:r>
            <a:endParaRPr lang="en-IN" dirty="0"/>
          </a:p>
          <a:p>
            <a:r>
              <a:rPr dirty="0"/>
              <a:t>Step 3: Measure Performance</a:t>
            </a:r>
            <a:endParaRPr lang="en-IN" dirty="0"/>
          </a:p>
          <a:p>
            <a:r>
              <a:rPr dirty="0"/>
              <a:t>Step 4: Improve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User-Based Evaluation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Focuses on real users</a:t>
            </a:r>
            <a:endParaRPr lang="en-IN" dirty="0"/>
          </a:p>
          <a:p>
            <a:r>
              <a:rPr dirty="0"/>
              <a:t>Measures satisfaction + usability</a:t>
            </a:r>
            <a:endParaRPr lang="en-IN" dirty="0"/>
          </a:p>
          <a:p>
            <a:r>
              <a:rPr dirty="0"/>
              <a:t>Best for understanding user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Studies - 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Select group of users</a:t>
            </a:r>
            <a:endParaRPr lang="en-IN" dirty="0"/>
          </a:p>
          <a:p>
            <a:r>
              <a:rPr dirty="0"/>
              <a:t>Assign search tasks</a:t>
            </a:r>
            <a:endParaRPr lang="en-IN" dirty="0"/>
          </a:p>
          <a:p>
            <a:r>
              <a:rPr dirty="0"/>
              <a:t>Observe interaction</a:t>
            </a:r>
            <a:endParaRPr lang="en-IN" dirty="0"/>
          </a:p>
          <a:p>
            <a:r>
              <a:rPr dirty="0"/>
              <a:t>Measure time, clicks, success rat</a:t>
            </a:r>
            <a:endParaRPr lang="en-IN" dirty="0"/>
          </a:p>
          <a:p>
            <a:r>
              <a:rPr dirty="0"/>
              <a:t>Collect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Advantages &amp; Disadvantages - User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Advantages: Realistic, detailed feedback</a:t>
            </a:r>
            <a:endParaRPr lang="en-IN" dirty="0"/>
          </a:p>
          <a:p>
            <a:r>
              <a:rPr dirty="0"/>
              <a:t>Disadvantages: Expensive, small sample size</a:t>
            </a:r>
          </a:p>
          <a:p>
            <a:pPr lvl="1"/>
            <a:r>
              <a:rPr dirty="0"/>
              <a:t>Hard to repeat exactly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Surveys - Simple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users after search session</a:t>
            </a:r>
          </a:p>
          <a:p>
            <a:pPr lvl="1"/>
            <a:r>
              <a:t>Rate relevance (1–5 scale)</a:t>
            </a:r>
          </a:p>
          <a:p>
            <a:pPr lvl="1"/>
            <a:r>
              <a:t>Rate satisfaction</a:t>
            </a:r>
          </a:p>
          <a:p>
            <a:pPr lvl="1"/>
            <a:r>
              <a:t>Subjective but easy to conduct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Offline Evaluation (Test Collections)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Based on Cranfield Paradigm</a:t>
            </a:r>
            <a:endParaRPr lang="en-IN" dirty="0"/>
          </a:p>
          <a:p>
            <a:r>
              <a:rPr dirty="0"/>
              <a:t>Uses predefined dataset</a:t>
            </a:r>
            <a:endParaRPr lang="en-IN" dirty="0"/>
          </a:p>
          <a:p>
            <a:r>
              <a:rPr dirty="0"/>
              <a:t>No real-time users involved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Test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Document Collection</a:t>
            </a:r>
            <a:endParaRPr lang="en-IN" dirty="0"/>
          </a:p>
          <a:p>
            <a:r>
              <a:rPr dirty="0"/>
              <a:t>2. Query Set</a:t>
            </a:r>
            <a:endParaRPr lang="en-IN" dirty="0"/>
          </a:p>
          <a:p>
            <a:r>
              <a:rPr dirty="0"/>
              <a:t>3. Relevance Judgments (Ground Truth)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Offline Evaluation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Run system on query set</a:t>
            </a:r>
            <a:endParaRPr lang="en-IN" dirty="0"/>
          </a:p>
          <a:p>
            <a:r>
              <a:rPr dirty="0"/>
              <a:t>Retrieve ranked results</a:t>
            </a:r>
            <a:endParaRPr lang="en-IN" dirty="0"/>
          </a:p>
          <a:p>
            <a:r>
              <a:rPr dirty="0"/>
              <a:t>Compare with relevance judgments</a:t>
            </a:r>
            <a:endParaRPr lang="en-IN" dirty="0"/>
          </a:p>
          <a:p>
            <a:r>
              <a:rPr dirty="0"/>
              <a:t>Compute evaluation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Precision: Relevant retrieved / Retrieved</a:t>
            </a:r>
            <a:endParaRPr lang="en-IN" dirty="0"/>
          </a:p>
          <a:p>
            <a:r>
              <a:rPr dirty="0"/>
              <a:t>Recall: Relevant retrieved / Total relevant</a:t>
            </a:r>
            <a:endParaRPr lang="en-IN" dirty="0"/>
          </a:p>
          <a:p>
            <a:r>
              <a:rPr dirty="0"/>
              <a:t>F1-Score: Balance of Precision &amp; Recall</a:t>
            </a:r>
            <a:endParaRPr lang="en-IN" dirty="0"/>
          </a:p>
          <a:p>
            <a:r>
              <a:rPr dirty="0"/>
              <a:t>MAP: Mean Average Precision</a:t>
            </a:r>
            <a:endParaRPr lang="en-IN" dirty="0"/>
          </a:p>
          <a:p>
            <a:r>
              <a:rPr dirty="0"/>
              <a:t>NDCG: Ranking quality measure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8683CC-32B6-8961-FC22-E147FC1DAD34}"/>
              </a:ext>
            </a:extLst>
          </p:cNvPr>
          <p:cNvSpPr txBox="1"/>
          <p:nvPr/>
        </p:nvSpPr>
        <p:spPr>
          <a:xfrm>
            <a:off x="846667" y="1473200"/>
            <a:ext cx="601133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Example</a:t>
            </a:r>
          </a:p>
          <a:p>
            <a:pPr>
              <a:buNone/>
            </a:pPr>
            <a:r>
              <a:rPr lang="en-US" sz="2800" dirty="0"/>
              <a:t>Text </a:t>
            </a:r>
            <a:r>
              <a:rPr lang="en-US" sz="2800" dirty="0" err="1"/>
              <a:t>REtrieval</a:t>
            </a:r>
            <a:r>
              <a:rPr lang="en-US" sz="2800" dirty="0"/>
              <a:t> Conference (TREC)</a:t>
            </a:r>
          </a:p>
          <a:p>
            <a:pPr>
              <a:buNone/>
            </a:pPr>
            <a:r>
              <a:rPr lang="en-US" sz="2800" dirty="0"/>
              <a:t>It provides: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Standard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Relevance judgments</a:t>
            </a:r>
          </a:p>
          <a:p>
            <a:pPr>
              <a:buNone/>
            </a:pPr>
            <a:r>
              <a:rPr lang="en-US" sz="2800" dirty="0"/>
              <a:t>Researchers compare systems using same data.</a:t>
            </a:r>
          </a:p>
        </p:txBody>
      </p:sp>
    </p:spTree>
    <p:extLst>
      <p:ext uri="{BB962C8B-B14F-4D97-AF65-F5344CB8AC3E}">
        <p14:creationId xmlns:p14="http://schemas.microsoft.com/office/powerpoint/2010/main" val="1058286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 - Offline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Advantages: Cheap, repeatable, comparable</a:t>
            </a:r>
            <a:endParaRPr lang="en-IN" dirty="0"/>
          </a:p>
          <a:p>
            <a:r>
              <a:rPr dirty="0"/>
              <a:t>Limitations: Does not measure real user behavior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Evaluation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Uses real users in live system</a:t>
            </a:r>
            <a:endParaRPr lang="en-IN" dirty="0"/>
          </a:p>
          <a:p>
            <a:r>
              <a:rPr dirty="0"/>
              <a:t>Measures actual behavior</a:t>
            </a:r>
            <a:endParaRPr lang="en-IN" dirty="0"/>
          </a:p>
          <a:p>
            <a:r>
              <a:rPr dirty="0"/>
              <a:t>Common in commercial search engines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A/B Testing -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 users randomly into Group A and B</a:t>
            </a:r>
          </a:p>
          <a:p>
            <a:pPr lvl="1"/>
            <a:r>
              <a:t>Group A: Old algorithm</a:t>
            </a:r>
          </a:p>
          <a:p>
            <a:pPr lvl="1"/>
            <a:r>
              <a:t>Group B: New algorithm</a:t>
            </a:r>
          </a:p>
          <a:p>
            <a:pPr lvl="1"/>
            <a:r>
              <a:t>Compare CTR, time spent, conversions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A/B Testing? The Complete Guide: From Beginner to Pro">
            <a:extLst>
              <a:ext uri="{FF2B5EF4-FFF2-40B4-BE49-F238E27FC236}">
                <a16:creationId xmlns:a16="http://schemas.microsoft.com/office/drawing/2014/main" id="{2CF6B29A-87D3-83FB-FA60-A41E5858E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01" y="643466"/>
            <a:ext cx="7576332" cy="5415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17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Risks - A/B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Advantages: Real-world validation</a:t>
            </a:r>
            <a:endParaRPr lang="en-IN" dirty="0"/>
          </a:p>
          <a:p>
            <a:r>
              <a:rPr dirty="0"/>
              <a:t>Statistically powerful</a:t>
            </a:r>
            <a:endParaRPr lang="en-IN" dirty="0"/>
          </a:p>
          <a:p>
            <a:r>
              <a:rPr dirty="0"/>
              <a:t>Risk: Bad version affects real users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Interleaving -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Combine results from System A and B</a:t>
            </a:r>
            <a:endParaRPr lang="en-IN" dirty="0"/>
          </a:p>
          <a:p>
            <a:r>
              <a:rPr dirty="0"/>
              <a:t>Mix rankings into one list</a:t>
            </a:r>
            <a:endParaRPr lang="en-IN" dirty="0"/>
          </a:p>
          <a:p>
            <a:r>
              <a:rPr dirty="0"/>
              <a:t>Track which system gets more clicks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Interleaving - Why Useful?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Requires fewer users</a:t>
            </a:r>
            <a:endParaRPr lang="en-IN" dirty="0"/>
          </a:p>
          <a:p>
            <a:r>
              <a:rPr dirty="0"/>
              <a:t>Faster comparison</a:t>
            </a:r>
            <a:endParaRPr lang="en-IN" dirty="0"/>
          </a:p>
          <a:p>
            <a:r>
              <a:rPr dirty="0"/>
              <a:t>Sensitive to ranking differences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All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Studies: Best for usability</a:t>
            </a:r>
            <a:endParaRPr lang="en-IN" dirty="0"/>
          </a:p>
          <a:p>
            <a:r>
              <a:rPr dirty="0"/>
              <a:t>Offline: Best for academic evaluation</a:t>
            </a:r>
            <a:endParaRPr lang="en-IN" dirty="0"/>
          </a:p>
          <a:p>
            <a:r>
              <a:rPr dirty="0"/>
              <a:t>A/B Testing: Best for large systems</a:t>
            </a:r>
            <a:endParaRPr lang="en-IN" dirty="0"/>
          </a:p>
          <a:p>
            <a:r>
              <a:rPr dirty="0"/>
              <a:t>Interleaving: Best for algorithm comparison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 single method is enough</a:t>
            </a:r>
            <a:endParaRPr lang="en-IN" dirty="0"/>
          </a:p>
          <a:p>
            <a:r>
              <a:rPr dirty="0"/>
              <a:t>Offline + Online evaluation together</a:t>
            </a:r>
            <a:endParaRPr lang="en-IN"/>
          </a:p>
          <a:p>
            <a:r>
              <a:t>Continuous </a:t>
            </a:r>
            <a:r>
              <a:rPr dirty="0"/>
              <a:t>improvement is key in 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438</Words>
  <Application>Microsoft Office PowerPoint</Application>
  <PresentationFormat>On-screen Show (4:3)</PresentationFormat>
  <Paragraphs>92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Information Retrieval (IR) Evaluation</vt:lpstr>
      <vt:lpstr>Types of IR Evaluation</vt:lpstr>
      <vt:lpstr>Overall Evaluation Flow</vt:lpstr>
      <vt:lpstr>User-Based Evaluation - Overview</vt:lpstr>
      <vt:lpstr>User Studies - Process Flow</vt:lpstr>
      <vt:lpstr>Advantages &amp; Disadvantages - User Studies</vt:lpstr>
      <vt:lpstr>Surveys - Simple Evaluation</vt:lpstr>
      <vt:lpstr>Offline Evaluation (Test Collections)</vt:lpstr>
      <vt:lpstr>Components of Test Collection</vt:lpstr>
      <vt:lpstr>Offline Evaluation Flow</vt:lpstr>
      <vt:lpstr>Important Evaluation Metrics</vt:lpstr>
      <vt:lpstr>PowerPoint Presentation</vt:lpstr>
      <vt:lpstr>Advantages &amp; Limitations - Offline</vt:lpstr>
      <vt:lpstr>Online Evaluation - Overview</vt:lpstr>
      <vt:lpstr>A/B Testing - Flow</vt:lpstr>
      <vt:lpstr>PowerPoint Presentation</vt:lpstr>
      <vt:lpstr>Advantages &amp; Risks - A/B Testing</vt:lpstr>
      <vt:lpstr>Interleaving - Concept</vt:lpstr>
      <vt:lpstr>Interleaving - Why Useful?</vt:lpstr>
      <vt:lpstr>Comparison of All Methods</vt:lpstr>
      <vt:lpstr>Final Understanding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poornimanadar1234@gmail.com</cp:lastModifiedBy>
  <cp:revision>3</cp:revision>
  <dcterms:created xsi:type="dcterms:W3CDTF">2013-01-27T09:14:16Z</dcterms:created>
  <dcterms:modified xsi:type="dcterms:W3CDTF">2026-02-24T19:23:19Z</dcterms:modified>
  <cp:category/>
</cp:coreProperties>
</file>