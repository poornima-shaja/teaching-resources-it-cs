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74" r:id="rId11"/>
    <p:sldId id="275" r:id="rId12"/>
    <p:sldId id="276" r:id="rId13"/>
    <p:sldId id="277" r:id="rId14"/>
    <p:sldId id="278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64" r:id="rId23"/>
    <p:sldId id="279" r:id="rId24"/>
    <p:sldId id="297" r:id="rId25"/>
    <p:sldId id="265" r:id="rId26"/>
    <p:sldId id="266" r:id="rId27"/>
    <p:sldId id="267" r:id="rId28"/>
    <p:sldId id="287" r:id="rId29"/>
    <p:sldId id="268" r:id="rId30"/>
    <p:sldId id="269" r:id="rId31"/>
    <p:sldId id="288" r:id="rId32"/>
    <p:sldId id="289" r:id="rId33"/>
    <p:sldId id="290" r:id="rId34"/>
    <p:sldId id="291" r:id="rId35"/>
    <p:sldId id="271" r:id="rId36"/>
    <p:sldId id="293" r:id="rId37"/>
    <p:sldId id="294" r:id="rId38"/>
    <p:sldId id="270" r:id="rId39"/>
    <p:sldId id="295" r:id="rId40"/>
    <p:sldId id="296" r:id="rId41"/>
    <p:sldId id="292" r:id="rId42"/>
    <p:sldId id="27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Link Analysis in 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PageRank &amp; HITS Algorithms</a:t>
            </a:r>
          </a:p>
          <a:p>
            <a:r>
              <a:t>TY BSc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Link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Billions of web pages available</a:t>
            </a:r>
          </a:p>
          <a:p>
            <a:pPr lvl="1"/>
            <a:r>
              <a:t>Many pages have same keywords</a:t>
            </a:r>
          </a:p>
          <a:p>
            <a:pPr lvl="1"/>
            <a:r>
              <a:t>Problem: Which page should come first?</a:t>
            </a:r>
          </a:p>
          <a:p>
            <a:pPr lvl="1"/>
            <a:r>
              <a:t>Solution: Analyze links between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Web as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page is a Node</a:t>
            </a:r>
          </a:p>
          <a:p>
            <a:pPr lvl="1"/>
            <a:r>
              <a:t>Hyperlink is a Directed Edge</a:t>
            </a:r>
          </a:p>
          <a:p>
            <a:pPr lvl="1"/>
            <a:r>
              <a:t>Link from A to B is a vote for B</a:t>
            </a:r>
          </a:p>
          <a:p>
            <a:pPr lvl="1"/>
            <a:r>
              <a:t>Web graph is large and sparse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are the Applications of Graphs in Computer Science? - Be on the Right  Side of Change">
            <a:extLst>
              <a:ext uri="{FF2B5EF4-FFF2-40B4-BE49-F238E27FC236}">
                <a16:creationId xmlns:a16="http://schemas.microsoft.com/office/drawing/2014/main" id="{99290757-E0BD-665B-FCED-E84545B362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3"/>
          <a:stretch>
            <a:fillRect/>
          </a:stretch>
        </p:blipFill>
        <p:spPr bwMode="auto">
          <a:xfrm>
            <a:off x="0" y="1303866"/>
            <a:ext cx="9144000" cy="469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2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Link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link structure of the web</a:t>
            </a:r>
          </a:p>
          <a:p>
            <a:pPr lvl="1"/>
            <a:r>
              <a:t>Measures importance of web pages</a:t>
            </a:r>
          </a:p>
          <a:p>
            <a:pPr lvl="1"/>
            <a:r>
              <a:t>Improves ranking in IR systems</a:t>
            </a:r>
          </a:p>
          <a:p>
            <a:pPr lvl="1"/>
            <a:r>
              <a:t>Main algorithms: PageRank and HITS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PageRank: Random Surfer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starts from any random page</a:t>
            </a:r>
          </a:p>
          <a:p>
            <a:pPr lvl="1"/>
            <a:r>
              <a:t>Clicks links randomly</a:t>
            </a:r>
          </a:p>
          <a:p>
            <a:pPr lvl="1"/>
            <a:r>
              <a:t>Keeps browsing continuously</a:t>
            </a:r>
          </a:p>
          <a:p>
            <a:pPr lvl="1"/>
            <a:r>
              <a:t>Pages visited more often are important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PageRank: Key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More incoming links = more importance</a:t>
            </a:r>
          </a:p>
          <a:p>
            <a:pPr lvl="1"/>
            <a:r>
              <a:rPr dirty="0"/>
              <a:t>Links from important pages matter more</a:t>
            </a:r>
          </a:p>
          <a:p>
            <a:pPr lvl="1"/>
            <a:r>
              <a:rPr dirty="0"/>
              <a:t>Every link passes some rank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Damping Factor in PageRank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may get bored</a:t>
            </a:r>
          </a:p>
          <a:p>
            <a:pPr lvl="1"/>
            <a:r>
              <a:t>Teleports to random page</a:t>
            </a:r>
          </a:p>
          <a:p>
            <a:pPr lvl="1"/>
            <a:r>
              <a:t>Damping factor = 0.85</a:t>
            </a:r>
          </a:p>
          <a:p>
            <a:pPr lvl="1"/>
            <a:r>
              <a:t>Prevents dead 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PageRank Formula (Basic)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PR(u) = (1-d)/N + d * sum(PR(v)/L(v))</a:t>
            </a:r>
          </a:p>
          <a:p>
            <a:pPr lvl="1"/>
            <a:r>
              <a:rPr dirty="0"/>
              <a:t>Understand idea, not calculation</a:t>
            </a:r>
          </a:p>
          <a:p>
            <a:pPr lvl="1"/>
            <a:r>
              <a:rPr dirty="0"/>
              <a:t>Rank flows through links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Pages linking to u</a:t>
            </a:r>
            <a:endParaRPr kumimoji="0" lang="en-US" altLang="en-US" sz="4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L(v)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Number of links from v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11384-6CB8-1519-28C7-C05F3F3933B8}"/>
              </a:ext>
            </a:extLst>
          </p:cNvPr>
          <p:cNvSpPr txBox="1"/>
          <p:nvPr/>
        </p:nvSpPr>
        <p:spPr>
          <a:xfrm>
            <a:off x="1652954" y="504092"/>
            <a:ext cx="631873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 B ─────► A</a:t>
            </a:r>
          </a:p>
          <a:p>
            <a:r>
              <a:rPr lang="en-IN" sz="3200" dirty="0"/>
              <a:t>  │</a:t>
            </a:r>
          </a:p>
          <a:p>
            <a:r>
              <a:rPr lang="en-IN" sz="3200" dirty="0"/>
              <a:t>  └─────► C</a:t>
            </a:r>
          </a:p>
          <a:p>
            <a:endParaRPr lang="en-IN" sz="3200" dirty="0"/>
          </a:p>
          <a:p>
            <a:r>
              <a:rPr lang="en-IN" sz="3200" dirty="0"/>
              <a:t>        C ─────► A</a:t>
            </a:r>
          </a:p>
          <a:p>
            <a:endParaRPr lang="en-IN" sz="3200" dirty="0"/>
          </a:p>
          <a:p>
            <a:r>
              <a:rPr lang="en-IN" sz="3200" dirty="0"/>
              <a:t>        D ──► A</a:t>
            </a:r>
          </a:p>
          <a:p>
            <a:r>
              <a:rPr lang="en-IN" sz="3200" dirty="0"/>
              <a:t>        │</a:t>
            </a:r>
          </a:p>
          <a:p>
            <a:r>
              <a:rPr lang="en-IN" sz="3200" dirty="0"/>
              <a:t>        ├──► B</a:t>
            </a:r>
          </a:p>
          <a:p>
            <a:r>
              <a:rPr lang="en-IN" sz="3200" dirty="0"/>
              <a:t>        │</a:t>
            </a:r>
          </a:p>
          <a:p>
            <a:r>
              <a:rPr lang="en-IN" sz="3200" dirty="0"/>
              <a:t>        └──► C</a:t>
            </a:r>
          </a:p>
        </p:txBody>
      </p:sp>
    </p:spTree>
    <p:extLst>
      <p:ext uri="{BB962C8B-B14F-4D97-AF65-F5344CB8AC3E}">
        <p14:creationId xmlns:p14="http://schemas.microsoft.com/office/powerpoint/2010/main" val="330273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PageRank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Initially, all pages are equally important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PageRank is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PR(A) = PR(B) = PR(C) = PR(D) = 0.25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31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PageRank Flow (Money Analogy 💰)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PageRank is divided equally among outgoing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outgoing links → less value per link</a:t>
            </a:r>
          </a:p>
        </p:txBody>
      </p:sp>
    </p:spTree>
    <p:extLst>
      <p:ext uri="{BB962C8B-B14F-4D97-AF65-F5344CB8AC3E}">
        <p14:creationId xmlns:p14="http://schemas.microsoft.com/office/powerpoint/2010/main" val="56876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10642E-16C5-45C3-7DD2-A337D1492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246033"/>
              </p:ext>
            </p:extLst>
          </p:nvPr>
        </p:nvGraphicFramePr>
        <p:xfrm>
          <a:off x="363415" y="1137137"/>
          <a:ext cx="8217876" cy="4208584"/>
        </p:xfrm>
        <a:graphic>
          <a:graphicData uri="http://schemas.openxmlformats.org/drawingml/2006/table">
            <a:tbl>
              <a:tblPr/>
              <a:tblGrid>
                <a:gridCol w="2054469">
                  <a:extLst>
                    <a:ext uri="{9D8B030D-6E8A-4147-A177-3AD203B41FA5}">
                      <a16:colId xmlns:a16="http://schemas.microsoft.com/office/drawing/2014/main" val="3549783681"/>
                    </a:ext>
                  </a:extLst>
                </a:gridCol>
                <a:gridCol w="2054469">
                  <a:extLst>
                    <a:ext uri="{9D8B030D-6E8A-4147-A177-3AD203B41FA5}">
                      <a16:colId xmlns:a16="http://schemas.microsoft.com/office/drawing/2014/main" val="3268143188"/>
                    </a:ext>
                  </a:extLst>
                </a:gridCol>
                <a:gridCol w="2054469">
                  <a:extLst>
                    <a:ext uri="{9D8B030D-6E8A-4147-A177-3AD203B41FA5}">
                      <a16:colId xmlns:a16="http://schemas.microsoft.com/office/drawing/2014/main" val="3164452954"/>
                    </a:ext>
                  </a:extLst>
                </a:gridCol>
                <a:gridCol w="2054469">
                  <a:extLst>
                    <a:ext uri="{9D8B030D-6E8A-4147-A177-3AD203B41FA5}">
                      <a16:colId xmlns:a16="http://schemas.microsoft.com/office/drawing/2014/main" val="763440050"/>
                    </a:ext>
                  </a:extLst>
                </a:gridCol>
              </a:tblGrid>
              <a:tr h="1052146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Outgoing Links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6589393"/>
                  </a:ext>
                </a:extLst>
              </a:tr>
              <a:tr h="105214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0.125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798435"/>
                  </a:ext>
                </a:extLst>
              </a:tr>
              <a:tr h="1052146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8102814"/>
                  </a:ext>
                </a:extLst>
              </a:tr>
              <a:tr h="1052146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207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88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PageRank Calculation for Page A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4DCD76-02C1-473D-FB85-908CB3C17872}"/>
                  </a:ext>
                </a:extLst>
              </p:cNvPr>
              <p:cNvSpPr txBox="1"/>
              <p:nvPr/>
            </p:nvSpPr>
            <p:spPr>
              <a:xfrm>
                <a:off x="702734" y="1153030"/>
                <a:ext cx="7509933" cy="4937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PR(A)</a:t>
                </a:r>
              </a:p>
              <a:p>
                <a:pPr>
                  <a:buNone/>
                </a:pPr>
                <a:r>
                  <a:rPr lang="en-IN" sz="3200" dirty="0"/>
                  <a:t>Incoming links to </a:t>
                </a:r>
                <a:r>
                  <a:rPr lang="en-IN" sz="3200" b="1" dirty="0"/>
                  <a:t>A</a:t>
                </a:r>
                <a:r>
                  <a:rPr lang="en-IN" sz="3200" dirty="0"/>
                  <a:t>: </a:t>
                </a:r>
                <a:r>
                  <a:rPr lang="en-IN" sz="3200" b="1" dirty="0"/>
                  <a:t>B, C, 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3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ar-AE" sz="3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AE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3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ar-AE" sz="3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endParaRPr lang="ar-AE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083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:endParaRPr lang="ar-AE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2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458</m:t>
                      </m:r>
                    </m:oMath>
                  </m:oMathPara>
                </a14:m>
                <a:endParaRPr lang="ar-AE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4DCD76-02C1-473D-FB85-908CB3C17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34" y="1153030"/>
                <a:ext cx="7509933" cy="4937890"/>
              </a:xfrm>
              <a:prstGeom prst="rect">
                <a:avLst/>
              </a:prstGeom>
              <a:blipFill>
                <a:blip r:embed="rId2"/>
                <a:stretch>
                  <a:fillRect l="-2029" t="-16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600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E311E-FE92-C511-1963-97AD7AAA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E5A7-A70A-5BE8-DDE6-318D88C1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PageRank Calculation for Page B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8F3B56-45FC-758E-14D0-703B2908D40C}"/>
                  </a:ext>
                </a:extLst>
              </p:cNvPr>
              <p:cNvSpPr txBox="1"/>
              <p:nvPr/>
            </p:nvSpPr>
            <p:spPr>
              <a:xfrm>
                <a:off x="1363133" y="2108942"/>
                <a:ext cx="6697134" cy="22754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600" b="1" dirty="0"/>
                  <a:t>PR(B)</a:t>
                </a:r>
              </a:p>
              <a:p>
                <a:pPr>
                  <a:buNone/>
                </a:pPr>
                <a:r>
                  <a:rPr lang="en-IN" sz="3600" dirty="0"/>
                  <a:t>Incoming links to </a:t>
                </a:r>
                <a:r>
                  <a:rPr lang="en-IN" sz="3600" b="1" dirty="0"/>
                  <a:t>B</a:t>
                </a:r>
                <a:r>
                  <a:rPr lang="en-IN" sz="3600" dirty="0"/>
                  <a:t>: </a:t>
                </a:r>
                <a:r>
                  <a:rPr lang="en-IN" sz="3600" b="1" dirty="0"/>
                  <a:t>D</a:t>
                </a:r>
                <a:endParaRPr lang="en-IN" sz="3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3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ar-AE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ar-AE" sz="3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ar-AE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083</m:t>
                      </m:r>
                    </m:oMath>
                  </m:oMathPara>
                </a14:m>
                <a:endParaRPr lang="ar-AE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8F3B56-45FC-758E-14D0-703B2908D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133" y="2108942"/>
                <a:ext cx="6697134" cy="2275431"/>
              </a:xfrm>
              <a:prstGeom prst="rect">
                <a:avLst/>
              </a:prstGeom>
              <a:blipFill>
                <a:blip r:embed="rId2"/>
                <a:stretch>
                  <a:fillRect l="-2823" t="-4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28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34E4-840D-5A93-B436-E7661A213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752B-92F5-B7A0-28D2-CA7CED30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PageRank Calculation for Page C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847B0B-B7BA-E6F9-7069-D7C3D6DF9687}"/>
                  </a:ext>
                </a:extLst>
              </p:cNvPr>
              <p:cNvSpPr txBox="1"/>
              <p:nvPr/>
            </p:nvSpPr>
            <p:spPr>
              <a:xfrm>
                <a:off x="1439333" y="2139776"/>
                <a:ext cx="6400800" cy="2829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600" b="1" dirty="0"/>
                  <a:t>PR(C)</a:t>
                </a:r>
              </a:p>
              <a:p>
                <a:pPr>
                  <a:buNone/>
                </a:pPr>
                <a:r>
                  <a:rPr lang="en-IN" sz="3600" dirty="0"/>
                  <a:t>Incoming links to </a:t>
                </a:r>
                <a:r>
                  <a:rPr lang="en-IN" sz="3600" b="1" dirty="0"/>
                  <a:t>C</a:t>
                </a:r>
                <a:r>
                  <a:rPr lang="en-IN" sz="3600" dirty="0"/>
                  <a:t>: </a:t>
                </a:r>
                <a:r>
                  <a:rPr lang="en-IN" sz="3600" b="1" dirty="0"/>
                  <a:t>B, D</a:t>
                </a:r>
                <a:endParaRPr lang="en-IN" sz="3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3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ar-AE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3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ar-AE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AE" sz="3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083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600" i="0">
                          <a:latin typeface="Cambria Math" panose="02040503050406030204" pitchFamily="18" charset="0"/>
                        </a:rPr>
                        <m:t>208</m:t>
                      </m:r>
                    </m:oMath>
                  </m:oMathPara>
                </a14:m>
                <a:endParaRPr lang="ar-AE" sz="3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847B0B-B7BA-E6F9-7069-D7C3D6DF9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333" y="2139776"/>
                <a:ext cx="6400800" cy="2829429"/>
              </a:xfrm>
              <a:prstGeom prst="rect">
                <a:avLst/>
              </a:prstGeom>
              <a:blipFill>
                <a:blip r:embed="rId2"/>
                <a:stretch>
                  <a:fillRect l="-2857" t="-3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205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B5A70-7173-AFD5-0D15-75F8ED2DC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0BF9-1989-8EC8-6CE7-7959B75E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PageRank Calculation for Page D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6F6B80-A2D2-444C-06D7-C5AE49B7F182}"/>
                  </a:ext>
                </a:extLst>
              </p:cNvPr>
              <p:cNvSpPr txBox="1"/>
              <p:nvPr/>
            </p:nvSpPr>
            <p:spPr>
              <a:xfrm>
                <a:off x="1075267" y="2699435"/>
                <a:ext cx="561340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4000" dirty="0"/>
                  <a:t>Incoming links to </a:t>
                </a:r>
                <a:r>
                  <a:rPr lang="en-IN" sz="4000" b="1" dirty="0"/>
                  <a:t>D</a:t>
                </a:r>
                <a:r>
                  <a:rPr lang="en-IN" sz="4000" dirty="0"/>
                  <a:t>: none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0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ar-AE" sz="4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40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6F6B80-A2D2-444C-06D7-C5AE49B7F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267" y="2699435"/>
                <a:ext cx="5613400" cy="1323439"/>
              </a:xfrm>
              <a:prstGeom prst="rect">
                <a:avLst/>
              </a:prstGeom>
              <a:blipFill>
                <a:blip r:embed="rId2"/>
                <a:stretch>
                  <a:fillRect l="-3800" t="-8295" r="-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191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A260-7A08-43E6-01B7-EAB34E39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6D1C-92B5-C8DF-0785-3B8C7E81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After Iteration 1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270CA7-DA2F-E571-51D8-4A97CD7E7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420953"/>
              </p:ext>
            </p:extLst>
          </p:nvPr>
        </p:nvGraphicFramePr>
        <p:xfrm>
          <a:off x="550333" y="1981200"/>
          <a:ext cx="8229600" cy="2895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35063262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76969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454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0.458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566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45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44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9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712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2BDE-5CF7-ED8C-80CF-C0348F55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252A-F5B1-7F14-55DE-47B0B22B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🔁 ITERATION 2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486B54-168F-7999-5D30-A5FDB25BF34E}"/>
                  </a:ext>
                </a:extLst>
              </p:cNvPr>
              <p:cNvSpPr txBox="1"/>
              <p:nvPr/>
            </p:nvSpPr>
            <p:spPr>
              <a:xfrm>
                <a:off x="889000" y="1636909"/>
                <a:ext cx="4572000" cy="4597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PR(A)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083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208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0415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208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2495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endParaRPr lang="ar-AE" sz="2000" dirty="0"/>
              </a:p>
              <a:p>
                <a:pPr>
                  <a:buNone/>
                </a:pPr>
                <a:r>
                  <a:rPr lang="en-IN" sz="2000" b="1" dirty="0"/>
                  <a:t>PR(B)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b="1" dirty="0"/>
                  <a:t>PR(C)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083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0415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b="1" dirty="0"/>
                  <a:t>PR(D)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486B54-168F-7999-5D30-A5FDB25BF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636909"/>
                <a:ext cx="4572000" cy="4597028"/>
              </a:xfrm>
              <a:prstGeom prst="rect">
                <a:avLst/>
              </a:prstGeom>
              <a:blipFill>
                <a:blip r:embed="rId2"/>
                <a:stretch>
                  <a:fillRect l="-1467" t="-7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897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6478-11CB-8C42-1944-6CACA3A2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5C48-CE56-9095-E876-75DF3608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the SAME Example WITH DAMPING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F29674-304C-F1BB-CFA9-9C56D8B25572}"/>
                  </a:ext>
                </a:extLst>
              </p:cNvPr>
              <p:cNvSpPr txBox="1"/>
              <p:nvPr/>
            </p:nvSpPr>
            <p:spPr>
              <a:xfrm>
                <a:off x="1617132" y="2454277"/>
                <a:ext cx="7222067" cy="2009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/>
                  <a:t>Damping factor: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3200" i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en-IN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ar-AE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200" i="0">
                          <a:latin typeface="Cambria Math" panose="02040503050406030204" pitchFamily="18" charset="0"/>
                        </a:rPr>
                        <m:t>0375</m:t>
                      </m:r>
                    </m:oMath>
                  </m:oMathPara>
                </a14:m>
                <a:endParaRPr lang="ar-AE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F29674-304C-F1BB-CFA9-9C56D8B25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132" y="2454277"/>
                <a:ext cx="7222067" cy="2009204"/>
              </a:xfrm>
              <a:prstGeom prst="rect">
                <a:avLst/>
              </a:prstGeom>
              <a:blipFill>
                <a:blip r:embed="rId2"/>
                <a:stretch>
                  <a:fillRect l="-2110" t="-3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79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1428-FC12-CACB-4A64-4B967D61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FADD-E97D-DC2B-D167-3DC0C34D4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Iteration 1 WITH DAMPING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BE394-44A2-FB39-1D3F-F8034FA60ADB}"/>
                  </a:ext>
                </a:extLst>
              </p:cNvPr>
              <p:cNvSpPr txBox="1"/>
              <p:nvPr/>
            </p:nvSpPr>
            <p:spPr>
              <a:xfrm>
                <a:off x="1921934" y="1307253"/>
                <a:ext cx="6502400" cy="526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PR(A)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0375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85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125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083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0375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85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458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0375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389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426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PR(B)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0375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85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083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108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PR(C)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0375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85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208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214</m:t>
                      </m:r>
                    </m:oMath>
                  </m:oMathPara>
                </a14:m>
                <a:br>
                  <a:rPr lang="ar-AE" sz="2400" dirty="0"/>
                </a:br>
                <a:r>
                  <a:rPr lang="en-IN" sz="2400" b="1" dirty="0"/>
                  <a:t>PR(D)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0375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0375</m:t>
                      </m:r>
                    </m:oMath>
                  </m:oMathPara>
                </a14:m>
                <a:endParaRPr lang="ar-AE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BE394-44A2-FB39-1D3F-F8034FA60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934" y="1307253"/>
                <a:ext cx="6502400" cy="5262979"/>
              </a:xfrm>
              <a:prstGeom prst="rect">
                <a:avLst/>
              </a:prstGeom>
              <a:blipFill>
                <a:blip r:embed="rId2"/>
                <a:stretch>
                  <a:fillRect l="-1406" t="-9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670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Iterative Process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Initialize PR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r>
              <a:rPr lang="en-IN" dirty="0"/>
              <a:t>Distribute PR via links</a:t>
            </a:r>
          </a:p>
          <a:p>
            <a:pPr marL="0" indent="0">
              <a:buNone/>
            </a:pPr>
            <a:r>
              <a:rPr lang="en-IN" dirty="0"/>
              <a:t>         ↓</a:t>
            </a:r>
          </a:p>
          <a:p>
            <a:r>
              <a:rPr lang="en-IN" dirty="0"/>
              <a:t>Update PR values</a:t>
            </a:r>
          </a:p>
          <a:p>
            <a:pPr marL="0" indent="0">
              <a:buNone/>
            </a:pPr>
            <a:r>
              <a:rPr lang="en-IN" dirty="0"/>
              <a:t>         ↓</a:t>
            </a:r>
          </a:p>
          <a:p>
            <a:r>
              <a:rPr lang="en-IN" dirty="0"/>
              <a:t>Repeat until stable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PageRank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search ranking</a:t>
            </a:r>
          </a:p>
          <a:p>
            <a:pPr lvl="1"/>
            <a:r>
              <a:t>Web crawling priority</a:t>
            </a:r>
          </a:p>
          <a:p>
            <a:pPr lvl="1"/>
            <a:r>
              <a:t>Spam reduction</a:t>
            </a:r>
          </a:p>
        </p:txBody>
      </p:sp>
    </p:spTree>
    <p:extLst>
      <p:ext uri="{BB962C8B-B14F-4D97-AF65-F5344CB8AC3E}">
        <p14:creationId xmlns:p14="http://schemas.microsoft.com/office/powerpoint/2010/main" val="2094830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AB187-848A-F1A2-10E9-19579006F412}"/>
              </a:ext>
            </a:extLst>
          </p:cNvPr>
          <p:cNvSpPr txBox="1"/>
          <p:nvPr/>
        </p:nvSpPr>
        <p:spPr>
          <a:xfrm>
            <a:off x="1329266" y="2211400"/>
            <a:ext cx="62399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HITS Algorithm</a:t>
            </a:r>
          </a:p>
          <a:p>
            <a:pPr algn="ctr"/>
            <a:r>
              <a:rPr lang="en-IN" sz="4000" b="1" dirty="0"/>
              <a:t>(Hyperlink-Induced Topic Search)</a:t>
            </a:r>
          </a:p>
        </p:txBody>
      </p:sp>
    </p:spTree>
    <p:extLst>
      <p:ext uri="{BB962C8B-B14F-4D97-AF65-F5344CB8AC3E}">
        <p14:creationId xmlns:p14="http://schemas.microsoft.com/office/powerpoint/2010/main" val="3033224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HITS Algorithm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topic-specific search</a:t>
            </a:r>
          </a:p>
          <a:p>
            <a:pPr lvl="1"/>
            <a:r>
              <a:t>Works after query is given</a:t>
            </a:r>
          </a:p>
          <a:p>
            <a:pPr lvl="1"/>
            <a:r>
              <a:t>Analyzes relevant pages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HITS: Authorities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Pages with real information</a:t>
            </a:r>
          </a:p>
          <a:p>
            <a:pPr lvl="1"/>
            <a:r>
              <a:t>Experts on the topic</a:t>
            </a:r>
          </a:p>
          <a:p>
            <a:pPr lvl="1"/>
            <a:r>
              <a:t>Example: Wikipedia, official docs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HITS: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Pages that link to good authorities</a:t>
            </a:r>
          </a:p>
          <a:p>
            <a:pPr lvl="1"/>
            <a:r>
              <a:t>Act as guides</a:t>
            </a:r>
          </a:p>
          <a:p>
            <a:pPr lvl="1"/>
            <a:r>
              <a:t>Example: Resource list blogs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8680-D83C-D25F-CAFC-0153C194A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209F-D002-FEAD-4D66-E2CB8FCE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Authority vs Hub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9EA9AE-1F99-9E6F-4E4B-1C79C492F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921790"/>
              </p:ext>
            </p:extLst>
          </p:nvPr>
        </p:nvGraphicFramePr>
        <p:xfrm>
          <a:off x="457200" y="1659467"/>
          <a:ext cx="8229600" cy="439827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922508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4492327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4857990"/>
                    </a:ext>
                  </a:extLst>
                </a:gridCol>
              </a:tblGrid>
              <a:tr h="7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Authority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39434"/>
                  </a:ext>
                </a:extLst>
              </a:tr>
              <a:tr h="7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Links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Incoming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Outgoing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669004"/>
                  </a:ext>
                </a:extLst>
              </a:tr>
              <a:tr h="1420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Important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Reference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273641"/>
                  </a:ext>
                </a:extLst>
              </a:tr>
              <a:tr h="1420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Depends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Who points to 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Who I point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495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118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Reinforcement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hubs point to good authorities</a:t>
            </a:r>
          </a:p>
          <a:p>
            <a:pPr lvl="1"/>
            <a:r>
              <a:t>Good authorities are linked by good hubs</a:t>
            </a:r>
          </a:p>
          <a:p>
            <a:pPr lvl="1"/>
            <a:r>
              <a:t>Scores updated repeatedly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dependent</a:t>
            </a:r>
          </a:p>
          <a:p>
            <a:pPr lvl="1"/>
            <a:r>
              <a:t>Computed online</a:t>
            </a:r>
          </a:p>
          <a:p>
            <a:pPr lvl="1"/>
            <a:r>
              <a:t>Produces hub and authority scores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3BD4-C61B-9742-EA9A-A03451E4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8933-1C71-02C7-CDBB-C68C8EEB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Working of HITS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A029-EC02-6DA3-C891-9E7843321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Select a set of relevant pages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Initialize authority and hub scores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Repeatedly update: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Authority scores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Hub scores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Normalize scores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Stop when values converge</a:t>
            </a:r>
          </a:p>
        </p:txBody>
      </p:sp>
    </p:spTree>
    <p:extLst>
      <p:ext uri="{BB962C8B-B14F-4D97-AF65-F5344CB8AC3E}">
        <p14:creationId xmlns:p14="http://schemas.microsoft.com/office/powerpoint/2010/main" val="3757010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4A2DA-41A8-1173-DA8C-47875F72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2342-5C64-E56C-9440-7C21EF82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Initialization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6A3A38-21F1-289A-5E27-E83BD91235CB}"/>
                  </a:ext>
                </a:extLst>
              </p:cNvPr>
              <p:cNvSpPr txBox="1"/>
              <p:nvPr/>
            </p:nvSpPr>
            <p:spPr>
              <a:xfrm>
                <a:off x="1879599" y="2143036"/>
                <a:ext cx="6028267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dirty="0"/>
                  <a:t>Initially, for every page </a:t>
                </a:r>
                <a:r>
                  <a:rPr lang="en-IN" sz="2800" dirty="0">
                    <a:latin typeface="Courier New" panose="02070309020205020404" pitchFamily="49" charset="0"/>
                  </a:rPr>
                  <a:t>p</a:t>
                </a:r>
                <a:r>
                  <a:rPr lang="en-IN" sz="2800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𝐴𝑢𝑡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𝑜𝑟𝑖𝑡𝑦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8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i="1">
                          <a:latin typeface="Cambria Math" panose="02040503050406030204" pitchFamily="18" charset="0"/>
                        </a:rPr>
                        <m:t>𝐻𝑢𝑏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800" dirty="0"/>
              </a:p>
              <a:p>
                <a:pPr>
                  <a:buNone/>
                </a:pPr>
                <a:r>
                  <a:rPr lang="en-IN" sz="2800" dirty="0"/>
                  <a:t>All pages start equally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6A3A38-21F1-289A-5E27-E83BD9123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599" y="2143036"/>
                <a:ext cx="6028267" cy="1815882"/>
              </a:xfrm>
              <a:prstGeom prst="rect">
                <a:avLst/>
              </a:prstGeom>
              <a:blipFill>
                <a:blip r:embed="rId2"/>
                <a:stretch>
                  <a:fillRect l="-2022" t="-4377"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310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1ADA-6F67-5C71-7D4A-F2AF95CF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C87C-41CA-9CCD-FF75-F9DB648E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Authority Update Rule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CF607E-0826-DD06-3AEE-A734B1D5DFD6}"/>
                  </a:ext>
                </a:extLst>
              </p:cNvPr>
              <p:cNvSpPr txBox="1"/>
              <p:nvPr/>
            </p:nvSpPr>
            <p:spPr>
              <a:xfrm>
                <a:off x="1363133" y="2047123"/>
                <a:ext cx="6248400" cy="3721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dirty="0"/>
                  <a:t>Authority score of a page depends on </a:t>
                </a:r>
                <a:r>
                  <a:rPr lang="en-IN" sz="2800" b="1" dirty="0"/>
                  <a:t>hub scores of pages linking to it</a:t>
                </a:r>
                <a:r>
                  <a:rPr lang="en-IN" sz="2800" dirty="0"/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28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nary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ar-AE" sz="2800" dirty="0"/>
              </a:p>
              <a:p>
                <a:pPr>
                  <a:buNone/>
                </a:pPr>
                <a:r>
                  <a:rPr lang="en-IN" sz="2800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800" dirty="0">
                    <a:latin typeface="Courier New" panose="02070309020205020404" pitchFamily="49" charset="0"/>
                  </a:rPr>
                  <a:t>q</a:t>
                </a:r>
                <a:r>
                  <a:rPr lang="en-IN" sz="2800" dirty="0"/>
                  <a:t> are pages pointing </a:t>
                </a:r>
                <a:r>
                  <a:rPr lang="en-IN" sz="2800" b="1" dirty="0"/>
                  <a:t>to p</a:t>
                </a:r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📌 </a:t>
                </a:r>
                <a:r>
                  <a:rPr lang="en-IN" sz="2800" b="1" dirty="0"/>
                  <a:t>In words</a:t>
                </a:r>
                <a:r>
                  <a:rPr lang="en-IN" sz="2800" dirty="0"/>
                  <a:t>:</a:t>
                </a:r>
              </a:p>
              <a:p>
                <a:pPr>
                  <a:buNone/>
                </a:pPr>
                <a:r>
                  <a:rPr lang="en-IN" sz="2800" dirty="0"/>
                  <a:t>Authority increases if </a:t>
                </a:r>
                <a:r>
                  <a:rPr lang="en-IN" sz="2800" b="1" dirty="0"/>
                  <a:t>good hubs link to it</a:t>
                </a:r>
                <a:endParaRPr lang="en-IN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CF607E-0826-DD06-3AEE-A734B1D5D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133" y="2047123"/>
                <a:ext cx="6248400" cy="3721019"/>
              </a:xfrm>
              <a:prstGeom prst="rect">
                <a:avLst/>
              </a:prstGeom>
              <a:blipFill>
                <a:blip r:embed="rId2"/>
                <a:stretch>
                  <a:fillRect l="-2049" t="-1639" r="-3122" b="-37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352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C5D2-6561-545A-FDAB-42DD7DA4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929E-059C-F028-C7D4-932367D9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Hub Update Rule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F10FF5-DFE9-CA89-97F3-728D48B07AE8}"/>
                  </a:ext>
                </a:extLst>
              </p:cNvPr>
              <p:cNvSpPr txBox="1"/>
              <p:nvPr/>
            </p:nvSpPr>
            <p:spPr>
              <a:xfrm>
                <a:off x="1761067" y="1996324"/>
                <a:ext cx="6172200" cy="4151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dirty="0"/>
                  <a:t>Hub score of a page depends on </a:t>
                </a:r>
                <a:r>
                  <a:rPr lang="en-IN" sz="2800" b="1" dirty="0"/>
                  <a:t>authority scores of pages it links to</a:t>
                </a:r>
                <a:r>
                  <a:rPr lang="en-IN" sz="2800" dirty="0"/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28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ar-AE" sz="2800" dirty="0"/>
              </a:p>
              <a:p>
                <a:pPr>
                  <a:buNone/>
                </a:pPr>
                <a:r>
                  <a:rPr lang="en-IN" sz="2800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800" dirty="0">
                    <a:latin typeface="Courier New" panose="02070309020205020404" pitchFamily="49" charset="0"/>
                  </a:rPr>
                  <a:t>r</a:t>
                </a:r>
                <a:r>
                  <a:rPr lang="en-IN" sz="2800" dirty="0"/>
                  <a:t> are pages that </a:t>
                </a:r>
                <a:r>
                  <a:rPr lang="en-IN" sz="2800" b="1" dirty="0"/>
                  <a:t>p points to</a:t>
                </a:r>
                <a:endParaRPr lang="en-IN" sz="2800" dirty="0"/>
              </a:p>
              <a:p>
                <a:pPr>
                  <a:buNone/>
                </a:pPr>
                <a:r>
                  <a:rPr lang="en-IN" sz="2800" dirty="0"/>
                  <a:t>📌 </a:t>
                </a:r>
                <a:r>
                  <a:rPr lang="en-IN" sz="2800" b="1" dirty="0"/>
                  <a:t>In words</a:t>
                </a:r>
                <a:r>
                  <a:rPr lang="en-IN" sz="2800" dirty="0"/>
                  <a:t>:</a:t>
                </a:r>
              </a:p>
              <a:p>
                <a:pPr>
                  <a:buNone/>
                </a:pPr>
                <a:r>
                  <a:rPr lang="en-IN" sz="2800" dirty="0"/>
                  <a:t>Hub increases if it links to </a:t>
                </a:r>
                <a:r>
                  <a:rPr lang="en-IN" sz="2800" b="1" dirty="0"/>
                  <a:t>good authorities</a:t>
                </a:r>
                <a:endParaRPr lang="en-IN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F10FF5-DFE9-CA89-97F3-728D48B07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067" y="1996324"/>
                <a:ext cx="6172200" cy="4151906"/>
              </a:xfrm>
              <a:prstGeom prst="rect">
                <a:avLst/>
              </a:prstGeom>
              <a:blipFill>
                <a:blip r:embed="rId2"/>
                <a:stretch>
                  <a:fillRect l="-2075" t="-1320" b="-30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020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Link Structure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16C6B-EB91-EAA5-A2A5-4F7B5D00FD6E}"/>
              </a:ext>
            </a:extLst>
          </p:cNvPr>
          <p:cNvSpPr txBox="1"/>
          <p:nvPr/>
        </p:nvSpPr>
        <p:spPr>
          <a:xfrm>
            <a:off x="3500966" y="2214251"/>
            <a:ext cx="21420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A ───► C</a:t>
            </a:r>
          </a:p>
          <a:p>
            <a:r>
              <a:rPr lang="en-IN" sz="3600" dirty="0"/>
              <a:t>B ───► C</a:t>
            </a:r>
          </a:p>
          <a:p>
            <a:r>
              <a:rPr lang="en-IN" sz="3600" dirty="0"/>
              <a:t>B ───► D</a:t>
            </a:r>
          </a:p>
          <a:p>
            <a:r>
              <a:rPr lang="en-IN" sz="3600" dirty="0"/>
              <a:t>C ───► 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28825-4B06-C820-E594-4BBCCE34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3ED9-0EFA-EC43-0346-36397E6B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Iteration 1 – Authority Calculation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11B00-7933-114D-77C1-7A7FC964C454}"/>
              </a:ext>
            </a:extLst>
          </p:cNvPr>
          <p:cNvSpPr txBox="1"/>
          <p:nvPr/>
        </p:nvSpPr>
        <p:spPr>
          <a:xfrm>
            <a:off x="1871134" y="1942237"/>
            <a:ext cx="6248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A(A) = 0 (no incoming links)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A(B) = 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A(C) = H(A) + H(B) = 1 + 1 = </a:t>
            </a:r>
            <a:r>
              <a:rPr lang="en-US" altLang="en-US" sz="3200" b="1" dirty="0">
                <a:latin typeface="Arial" panose="020B0604020202020204" pitchFamily="34" charset="0"/>
              </a:rPr>
              <a:t>2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A(D) = H(B) + H(C) = 1 + 1 = </a:t>
            </a:r>
            <a:r>
              <a:rPr lang="en-US" altLang="en-US" sz="3200" b="1" dirty="0">
                <a:latin typeface="Arial" panose="020B0604020202020204" pitchFamily="34" charset="0"/>
              </a:rPr>
              <a:t>2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dirty="0"/>
              <a:t>Authorities depend on </a:t>
            </a:r>
            <a:r>
              <a:rPr lang="en-US" sz="3200" b="1" dirty="0"/>
              <a:t>incoming links only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12236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BF2D-068F-DC18-B4DE-E4E7CE51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CE7D-7F86-B77A-09DA-18F54C8C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Iteration 1 – </a:t>
            </a:r>
            <a:r>
              <a:rPr lang="en-IN" b="1" dirty="0"/>
              <a:t>Hub</a:t>
            </a:r>
            <a:r>
              <a:rPr lang="en-US" b="1" dirty="0"/>
              <a:t> Calculation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45D82-5ED3-744F-EAC7-BE5B9C12F4F3}"/>
              </a:ext>
            </a:extLst>
          </p:cNvPr>
          <p:cNvSpPr txBox="1"/>
          <p:nvPr/>
        </p:nvSpPr>
        <p:spPr>
          <a:xfrm>
            <a:off x="1722966" y="1993037"/>
            <a:ext cx="68283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H(A) = A(C) = </a:t>
            </a:r>
            <a:r>
              <a:rPr lang="en-US" altLang="en-US" sz="3200" b="1" dirty="0">
                <a:latin typeface="Arial" panose="020B0604020202020204" pitchFamily="34" charset="0"/>
              </a:rPr>
              <a:t>2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H(B) = A(C) + A(D) = 2 + 2 = </a:t>
            </a:r>
            <a:r>
              <a:rPr lang="en-US" altLang="en-US" sz="3200" b="1" dirty="0">
                <a:latin typeface="Arial" panose="020B0604020202020204" pitchFamily="34" charset="0"/>
              </a:rPr>
              <a:t>4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H(C) = A(D) = </a:t>
            </a:r>
            <a:r>
              <a:rPr lang="en-US" altLang="en-US" sz="3200" b="1" dirty="0">
                <a:latin typeface="Arial" panose="020B0604020202020204" pitchFamily="34" charset="0"/>
              </a:rPr>
              <a:t>2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H(D) = 0</a:t>
            </a:r>
          </a:p>
          <a:p>
            <a:pPr>
              <a:buNone/>
            </a:pPr>
            <a:r>
              <a:rPr lang="en-IN" sz="3200" dirty="0"/>
              <a:t>Hubs depend on </a:t>
            </a:r>
            <a:r>
              <a:rPr lang="en-IN" sz="3200" b="1" dirty="0"/>
              <a:t>outgoing links only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1659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Scores after Iteration 1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12A600-F3C1-3F59-D5A6-45080FDF7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324103"/>
              </p:ext>
            </p:extLst>
          </p:nvPr>
        </p:nvGraphicFramePr>
        <p:xfrm>
          <a:off x="457200" y="2006600"/>
          <a:ext cx="8229600" cy="35329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3420309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9288835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50920581"/>
                    </a:ext>
                  </a:extLst>
                </a:gridCol>
              </a:tblGrid>
              <a:tr h="706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Authority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654553"/>
                  </a:ext>
                </a:extLst>
              </a:tr>
              <a:tr h="706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30239"/>
                  </a:ext>
                </a:extLst>
              </a:tr>
              <a:tr h="706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890673"/>
                  </a:ext>
                </a:extLst>
              </a:tr>
              <a:tr h="706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588976"/>
                  </a:ext>
                </a:extLst>
              </a:tr>
              <a:tr h="706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88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3811-62A4-0F28-851F-6239D945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C97C-6C37-2432-A2AF-FC0EC4FC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Result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66A58-CFC9-16D0-DB23-213E70C11A88}"/>
              </a:ext>
            </a:extLst>
          </p:cNvPr>
          <p:cNvSpPr txBox="1"/>
          <p:nvPr/>
        </p:nvSpPr>
        <p:spPr>
          <a:xfrm>
            <a:off x="1557866" y="2120668"/>
            <a:ext cx="685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&amp; D → Authorities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→ Best Hub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→ Weak authority but decent hub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700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4933-6504-35E8-0FE5-83A930546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7D63-08F8-042A-EAB6-E49E6825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PageRank vs HITS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2F08B-107A-F8D0-C0D5-62475A727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PageRank: Global ranking</a:t>
            </a:r>
          </a:p>
          <a:p>
            <a:pPr lvl="1"/>
            <a:r>
              <a:t>HITS: Query-based ranking</a:t>
            </a:r>
          </a:p>
          <a:p>
            <a:pPr lvl="1"/>
            <a:r>
              <a:t>PageRank: One score</a:t>
            </a:r>
          </a:p>
          <a:p>
            <a:pPr lvl="1"/>
            <a:r>
              <a:t>HITS: Two scores</a:t>
            </a:r>
          </a:p>
        </p:txBody>
      </p:sp>
    </p:spTree>
    <p:extLst>
      <p:ext uri="{BB962C8B-B14F-4D97-AF65-F5344CB8AC3E}">
        <p14:creationId xmlns:p14="http://schemas.microsoft.com/office/powerpoint/2010/main" val="29150100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97539-EF17-5490-D01E-45882E74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E531-CFA9-9A08-EB0F-84542ED7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Link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BD237-A2AE-DDF5-C0C7-88735EC4D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search result quality</a:t>
            </a:r>
          </a:p>
          <a:p>
            <a:pPr lvl="1"/>
            <a:r>
              <a:t>Spam detection</a:t>
            </a:r>
          </a:p>
          <a:p>
            <a:pPr lvl="1"/>
            <a:r>
              <a:t>Community detection</a:t>
            </a:r>
          </a:p>
        </p:txBody>
      </p:sp>
    </p:spTree>
    <p:extLst>
      <p:ext uri="{BB962C8B-B14F-4D97-AF65-F5344CB8AC3E}">
        <p14:creationId xmlns:p14="http://schemas.microsoft.com/office/powerpoint/2010/main" val="3681572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represented as graph</a:t>
            </a:r>
          </a:p>
          <a:p>
            <a:pPr lvl="1"/>
            <a:r>
              <a:t>Links act as votes</a:t>
            </a:r>
          </a:p>
          <a:p>
            <a:pPr lvl="1"/>
            <a:r>
              <a:t>PageRank finds popularity</a:t>
            </a:r>
          </a:p>
          <a:p>
            <a:pPr lvl="1"/>
            <a:r>
              <a:t>HITS finds experts and guides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1059</Words>
  <Application>Microsoft Office PowerPoint</Application>
  <PresentationFormat>On-screen Show (4:3)</PresentationFormat>
  <Paragraphs>263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 Unicode MS</vt:lpstr>
      <vt:lpstr>Arial</vt:lpstr>
      <vt:lpstr>Calibri</vt:lpstr>
      <vt:lpstr>Cambria Math</vt:lpstr>
      <vt:lpstr>Courier New</vt:lpstr>
      <vt:lpstr>Office Theme</vt:lpstr>
      <vt:lpstr>Link Analysis in Information Retrieval</vt:lpstr>
      <vt:lpstr>Why Link Analysis?</vt:lpstr>
      <vt:lpstr>Web as a Graph</vt:lpstr>
      <vt:lpstr>PowerPoint Presentation</vt:lpstr>
      <vt:lpstr>What is Link Analysis?</vt:lpstr>
      <vt:lpstr>PageRank: Random Surfer Story</vt:lpstr>
      <vt:lpstr>PageRank: Key Ideas</vt:lpstr>
      <vt:lpstr>Damping Factor in PageRank</vt:lpstr>
      <vt:lpstr>PageRank Formula (Basic)</vt:lpstr>
      <vt:lpstr>PowerPoint Presentation</vt:lpstr>
      <vt:lpstr>Initial PageRank</vt:lpstr>
      <vt:lpstr>PageRank Flow (Money Analogy 💰)</vt:lpstr>
      <vt:lpstr>PowerPoint Presentation</vt:lpstr>
      <vt:lpstr>PageRank Calculation for Page A</vt:lpstr>
      <vt:lpstr>PageRank Calculation for Page B</vt:lpstr>
      <vt:lpstr>PageRank Calculation for Page C</vt:lpstr>
      <vt:lpstr>PageRank Calculation for Page D</vt:lpstr>
      <vt:lpstr>After Iteration 1</vt:lpstr>
      <vt:lpstr>🔁 ITERATION 2</vt:lpstr>
      <vt:lpstr>Now the SAME Example WITH DAMPING</vt:lpstr>
      <vt:lpstr>Iteration 1 WITH DAMPING</vt:lpstr>
      <vt:lpstr>Iterative Process</vt:lpstr>
      <vt:lpstr>Applications of PageRank</vt:lpstr>
      <vt:lpstr>PowerPoint Presentation</vt:lpstr>
      <vt:lpstr>HITS Algorithm Overview</vt:lpstr>
      <vt:lpstr>HITS: Authorities</vt:lpstr>
      <vt:lpstr>HITS: Hubs</vt:lpstr>
      <vt:lpstr>Authority vs Hub</vt:lpstr>
      <vt:lpstr>Mutual Reinforcement</vt:lpstr>
      <vt:lpstr>Characteristics of HITS</vt:lpstr>
      <vt:lpstr>Basic Working of HITS</vt:lpstr>
      <vt:lpstr>Initialization</vt:lpstr>
      <vt:lpstr>Authority Update Rule</vt:lpstr>
      <vt:lpstr>Hub Update Rule</vt:lpstr>
      <vt:lpstr>Example Link Structure</vt:lpstr>
      <vt:lpstr>Iteration 1 – Authority Calculation</vt:lpstr>
      <vt:lpstr>Iteration 1 – Hub Calculation</vt:lpstr>
      <vt:lpstr>Scores after Iteration 1</vt:lpstr>
      <vt:lpstr>Final Result</vt:lpstr>
      <vt:lpstr>PageRank vs HITS</vt:lpstr>
      <vt:lpstr>Applications of Link Analysis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 Analysis in Information Retrieval</dc:title>
  <dc:subject/>
  <dc:creator/>
  <cp:keywords/>
  <dc:description>generated using python-pptx</dc:description>
  <cp:lastModifiedBy>poornimanadar1234@gmail.com</cp:lastModifiedBy>
  <cp:revision>5</cp:revision>
  <dcterms:created xsi:type="dcterms:W3CDTF">2013-01-27T09:14:16Z</dcterms:created>
  <dcterms:modified xsi:type="dcterms:W3CDTF">2026-02-10T18:46:21Z</dcterms:modified>
  <cp:category/>
</cp:coreProperties>
</file>