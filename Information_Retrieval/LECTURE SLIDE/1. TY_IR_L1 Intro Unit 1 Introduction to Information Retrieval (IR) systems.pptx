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4" r:id="rId5"/>
    <p:sldId id="261" r:id="rId6"/>
    <p:sldId id="262" r:id="rId7"/>
    <p:sldId id="270" r:id="rId8"/>
    <p:sldId id="271" r:id="rId9"/>
    <p:sldId id="272" r:id="rId10"/>
    <p:sldId id="273" r:id="rId11"/>
    <p:sldId id="269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>
      <p:cViewPr varScale="1">
        <p:scale>
          <a:sx n="86" d="100"/>
          <a:sy n="86" d="100"/>
        </p:scale>
        <p:origin x="31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5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133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14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SYALLABUS/6.2-T.Y.B.Sc.-Com.Sci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0eKVizvYSUQ?feature=oembed" TargetMode="External"/><Relationship Id="rId5" Type="http://schemas.openxmlformats.org/officeDocument/2006/relationships/image" Target="../media/image16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8370" y="2362640"/>
            <a:ext cx="8609839" cy="1385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 algn="ctr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Information Retrieval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TY B.Sc. (CS)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C83E2C76-DF6F-6D6A-CB74-60A6C5734F58}"/>
              </a:ext>
            </a:extLst>
          </p:cNvPr>
          <p:cNvSpPr txBox="1">
            <a:spLocks/>
          </p:cNvSpPr>
          <p:nvPr/>
        </p:nvSpPr>
        <p:spPr>
          <a:xfrm>
            <a:off x="3276600" y="5410200"/>
            <a:ext cx="8609839" cy="1315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ctr">
              <a:lnSpc>
                <a:spcPts val="5550"/>
              </a:lnSpc>
            </a:pPr>
            <a:r>
              <a:rPr lang="en-IN" sz="2000" spc="150" dirty="0">
                <a:solidFill>
                  <a:srgbClr val="FFFFFF"/>
                </a:solidFill>
                <a:latin typeface="Cambria"/>
                <a:cs typeface="Cambria"/>
              </a:rPr>
              <a:t>Poornima .N</a:t>
            </a:r>
          </a:p>
          <a:p>
            <a:pPr marL="12700" marR="5080" indent="2650490" algn="ctr">
              <a:lnSpc>
                <a:spcPts val="5550"/>
              </a:lnSpc>
            </a:pPr>
            <a:r>
              <a:rPr lang="en-US" sz="2000" dirty="0"/>
              <a:t>Assistant Professor, Department of IT/CS</a:t>
            </a:r>
            <a:endParaRPr lang="en-IN"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27294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spcBef>
                <a:spcPts val="1395"/>
              </a:spcBef>
            </a:pPr>
            <a:r>
              <a:rPr lang="en-IN" sz="2800" dirty="0"/>
              <a:t>Web Search Engines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IN" sz="3000" dirty="0">
                <a:solidFill>
                  <a:schemeClr val="tx1"/>
                </a:solidFill>
                <a:latin typeface="Calibri"/>
                <a:cs typeface="Calibri"/>
              </a:rPr>
              <a:t>E-commerce</a:t>
            </a: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IN" sz="2800" dirty="0"/>
              <a:t>Digital Libraries </a:t>
            </a: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IN" sz="3000" dirty="0">
                <a:solidFill>
                  <a:schemeClr val="tx1"/>
                </a:solidFill>
                <a:latin typeface="Calibri"/>
                <a:cs typeface="Calibri"/>
              </a:rPr>
              <a:t>Recommendation Systems</a:t>
            </a: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IN" sz="3000" dirty="0">
                <a:solidFill>
                  <a:schemeClr val="tx1"/>
                </a:solidFill>
                <a:latin typeface="Calibri"/>
                <a:cs typeface="Calibri"/>
              </a:rPr>
              <a:t>Chatbots / Virtual Assistants</a:t>
            </a:r>
            <a:endParaRPr sz="3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sz="4400" b="0" spc="225" dirty="0">
                <a:solidFill>
                  <a:schemeClr val="tx1"/>
                </a:solidFill>
                <a:latin typeface="Cambria"/>
                <a:cs typeface="Cambria"/>
              </a:rPr>
              <a:t>Real</a:t>
            </a:r>
            <a:r>
              <a:rPr sz="4400" b="0" spc="26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4400" b="0" spc="225" dirty="0">
                <a:solidFill>
                  <a:schemeClr val="tx1"/>
                </a:solidFill>
                <a:latin typeface="Cambria"/>
                <a:cs typeface="Cambria"/>
              </a:rPr>
              <a:t>Life</a:t>
            </a:r>
            <a:r>
              <a:rPr sz="4400" b="0" spc="254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Applications: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sz="4400" b="0" spc="150" dirty="0">
                <a:solidFill>
                  <a:srgbClr val="464A56"/>
                </a:solidFill>
                <a:latin typeface="Cambria"/>
                <a:cs typeface="Cambria"/>
              </a:rPr>
              <a:t>Importance</a:t>
            </a:r>
            <a:r>
              <a:rPr sz="4400" b="0" spc="210" dirty="0">
                <a:solidFill>
                  <a:srgbClr val="464A56"/>
                </a:solidFill>
                <a:latin typeface="Cambria"/>
                <a:cs typeface="Cambria"/>
              </a:rPr>
              <a:t> 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of</a:t>
            </a:r>
            <a:r>
              <a:rPr sz="4400" b="0" spc="250" dirty="0">
                <a:solidFill>
                  <a:srgbClr val="464A56"/>
                </a:solidFill>
                <a:latin typeface="Cambria"/>
                <a:cs typeface="Cambria"/>
              </a:rPr>
              <a:t> </a:t>
            </a:r>
            <a:r>
              <a:rPr lang="en-IN" sz="4400" b="0" spc="250" dirty="0">
                <a:solidFill>
                  <a:srgbClr val="464A56"/>
                </a:solidFill>
                <a:latin typeface="Cambria"/>
                <a:cs typeface="Cambria"/>
              </a:rPr>
              <a:t>Information </a:t>
            </a:r>
            <a:br>
              <a:rPr lang="en-IN" sz="4400" b="0" spc="2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IN" sz="4400" b="0" spc="250" dirty="0">
                <a:solidFill>
                  <a:srgbClr val="464A56"/>
                </a:solidFill>
                <a:latin typeface="Cambria"/>
                <a:cs typeface="Cambria"/>
              </a:rPr>
              <a:t>       Retrieval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of Search Engines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Understand how systems like Google rank and retrieve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Data Management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Learn indexing, compression, and ranking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ML Integration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Connects with machine learning for ranking, classification, and NLP 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58B26C-CA3D-F82E-C926-6DEA8985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6BD9E-3BF0-7D78-BF0F-52327D0BF1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90FEC-80C6-46BF-04D6-65E1ED2B3C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25273F-FCA6-B598-619D-7741F83117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982A5D1-1A07-B29F-B31C-A6E4936D95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40B576D-C6FE-A639-B0A3-ECB9730A7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spc="150" dirty="0">
                <a:solidFill>
                  <a:srgbClr val="464A56"/>
                </a:solidFill>
                <a:latin typeface="Cambria"/>
                <a:cs typeface="Cambria"/>
              </a:rPr>
              <a:t>Goals of Information Retrieval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BFD9D6-6206-7F03-A8F9-4CEB3155A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89250"/>
              </p:ext>
            </p:extLst>
          </p:nvPr>
        </p:nvGraphicFramePr>
        <p:xfrm>
          <a:off x="1905000" y="2720721"/>
          <a:ext cx="8731250" cy="210312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444869120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3099623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152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Relevance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Retrieve the documents that best match the user’s 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754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Efficiency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Retrieve results </a:t>
                      </a:r>
                      <a:r>
                        <a:rPr lang="en-US" sz="2400" b="1" dirty="0"/>
                        <a:t>quickly</a:t>
                      </a:r>
                      <a:r>
                        <a:rPr lang="en-US" sz="2400" dirty="0"/>
                        <a:t>, even from huge data collections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647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15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5438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99190" cy="6123940"/>
            <a:chOff x="424984" y="432816"/>
            <a:chExt cx="11299190" cy="6123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12694" y="989202"/>
            <a:ext cx="750290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204" dirty="0">
                <a:solidFill>
                  <a:srgbClr val="464A56"/>
                </a:solidFill>
                <a:latin typeface="Cambria"/>
                <a:cs typeface="Cambria"/>
              </a:rPr>
              <a:t>Contents</a:t>
            </a:r>
            <a:r>
              <a:rPr sz="4400" b="0" spc="225" dirty="0">
                <a:solidFill>
                  <a:srgbClr val="464A56"/>
                </a:solidFill>
                <a:latin typeface="Cambria"/>
                <a:cs typeface="Cambria"/>
              </a:rPr>
              <a:t> 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of</a:t>
            </a:r>
            <a:r>
              <a:rPr sz="4400" b="0" spc="254" dirty="0">
                <a:solidFill>
                  <a:srgbClr val="464A56"/>
                </a:solidFill>
                <a:latin typeface="Cambria"/>
                <a:cs typeface="Cambria"/>
              </a:rPr>
              <a:t> </a:t>
            </a:r>
            <a:r>
              <a:rPr sz="4400" b="0" spc="160" dirty="0">
                <a:solidFill>
                  <a:srgbClr val="464A56"/>
                </a:solidFill>
                <a:latin typeface="Cambria"/>
                <a:cs typeface="Cambria"/>
              </a:rPr>
              <a:t>the</a:t>
            </a:r>
            <a:r>
              <a:rPr sz="4400" b="0" spc="254" dirty="0">
                <a:solidFill>
                  <a:srgbClr val="464A56"/>
                </a:solidFill>
                <a:latin typeface="Cambria"/>
                <a:cs typeface="Cambria"/>
              </a:rPr>
              <a:t> </a:t>
            </a:r>
            <a:r>
              <a:rPr sz="4400" b="0" spc="150" dirty="0">
                <a:solidFill>
                  <a:srgbClr val="464A56"/>
                </a:solidFill>
                <a:latin typeface="Cambria"/>
                <a:cs typeface="Cambria"/>
              </a:rPr>
              <a:t>Course:</a:t>
            </a:r>
            <a:endParaRPr sz="4400" dirty="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33700" y="2442972"/>
            <a:ext cx="8770620" cy="3642487"/>
            <a:chOff x="2933700" y="2442972"/>
            <a:chExt cx="8770620" cy="3642487"/>
          </a:xfrm>
        </p:grpSpPr>
        <p:sp>
          <p:nvSpPr>
            <p:cNvPr id="8" name="object 8"/>
            <p:cNvSpPr/>
            <p:nvPr/>
          </p:nvSpPr>
          <p:spPr>
            <a:xfrm>
              <a:off x="2933700" y="2442972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3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3700" y="2442972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3700" y="306171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4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33700" y="306171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33700" y="367893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7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3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7"/>
                  </a:lnTo>
                  <a:lnTo>
                    <a:pt x="8763396" y="56149"/>
                  </a:lnTo>
                  <a:lnTo>
                    <a:pt x="8743696" y="26923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3700" y="367893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3700" y="4297679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40"/>
                  </a:lnTo>
                  <a:lnTo>
                    <a:pt x="7223" y="495538"/>
                  </a:lnTo>
                  <a:lnTo>
                    <a:pt x="26924" y="524764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4"/>
                  </a:lnTo>
                  <a:lnTo>
                    <a:pt x="8763396" y="495538"/>
                  </a:lnTo>
                  <a:lnTo>
                    <a:pt x="8770620" y="459740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3700" y="4297679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3700" y="49149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3700" y="5533644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3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2"/>
                  </a:lnTo>
                  <a:lnTo>
                    <a:pt x="8743696" y="524759"/>
                  </a:lnTo>
                  <a:lnTo>
                    <a:pt x="8714470" y="544463"/>
                  </a:lnTo>
                  <a:lnTo>
                    <a:pt x="8678672" y="551687"/>
                  </a:lnTo>
                  <a:lnTo>
                    <a:pt x="91948" y="551687"/>
                  </a:lnTo>
                  <a:lnTo>
                    <a:pt x="56149" y="544463"/>
                  </a:lnTo>
                  <a:lnTo>
                    <a:pt x="26924" y="524759"/>
                  </a:lnTo>
                  <a:lnTo>
                    <a:pt x="7223" y="495532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116580" y="2480855"/>
            <a:ext cx="5958840" cy="23795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I: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2300" dirty="0">
                <a:solidFill>
                  <a:srgbClr val="FFFFFF"/>
                </a:solidFill>
                <a:latin typeface="Calibri"/>
                <a:cs typeface="Calibri"/>
              </a:rPr>
              <a:t>Basics &amp; Models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3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II:</a:t>
            </a:r>
            <a:r>
              <a:rPr sz="2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2300" dirty="0">
                <a:solidFill>
                  <a:srgbClr val="FFFFFF"/>
                </a:solidFill>
                <a:latin typeface="Calibri"/>
                <a:cs typeface="Calibri"/>
              </a:rPr>
              <a:t>Machine Learning &amp; Web IR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3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3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III: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2300" dirty="0">
                <a:solidFill>
                  <a:srgbClr val="FFFFFF"/>
                </a:solidFill>
                <a:latin typeface="Calibri"/>
                <a:cs typeface="Calibri"/>
              </a:rPr>
              <a:t>Web Crawling &amp; Intelligent Retrieval</a:t>
            </a:r>
            <a:endParaRPr sz="2300" dirty="0">
              <a:latin typeface="Calibri"/>
              <a:cs typeface="Calibri"/>
            </a:endParaRPr>
          </a:p>
          <a:p>
            <a:pPr marL="12700" marR="2556510">
              <a:lnSpc>
                <a:spcPct val="176300"/>
              </a:lnSpc>
            </a:pPr>
            <a:r>
              <a:rPr sz="2300" u="sng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Syllabus</a:t>
            </a:r>
            <a:r>
              <a:rPr sz="2300" u="sng" spc="-60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 </a:t>
            </a:r>
            <a:r>
              <a:rPr sz="2300" u="sng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of</a:t>
            </a:r>
            <a:r>
              <a:rPr sz="2300" u="sng" spc="-40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 </a:t>
            </a:r>
            <a:r>
              <a:rPr lang="en-IN" sz="2300" u="sng" spc="-25" dirty="0">
                <a:solidFill>
                  <a:srgbClr val="85C4D2"/>
                </a:solidFill>
                <a:uFill>
                  <a:solidFill>
                    <a:srgbClr val="85C4D2"/>
                  </a:solidFill>
                </a:uFill>
                <a:latin typeface="Calibri"/>
                <a:cs typeface="Calibri"/>
                <a:hlinkClick r:id="rId3" action="ppaction://hlinkfile"/>
              </a:rPr>
              <a:t>IR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23" name="object 32" descr="$PPTXTitle">
            <a:extLst>
              <a:ext uri="{FF2B5EF4-FFF2-40B4-BE49-F238E27FC236}">
                <a16:creationId xmlns:a16="http://schemas.microsoft.com/office/drawing/2014/main" id="{0F8C547D-9A03-C8F8-20EF-FE3A4C1A97B8}"/>
              </a:ext>
            </a:extLst>
          </p:cNvPr>
          <p:cNvSpPr txBox="1">
            <a:spLocks/>
          </p:cNvSpPr>
          <p:nvPr/>
        </p:nvSpPr>
        <p:spPr>
          <a:xfrm>
            <a:off x="1981961" y="589229"/>
            <a:ext cx="337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endParaRPr lang="en-IN" sz="4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99190" cy="6123940"/>
            <a:chOff x="424984" y="432816"/>
            <a:chExt cx="11299190" cy="6123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12694" y="989202"/>
            <a:ext cx="24930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60" dirty="0">
                <a:solidFill>
                  <a:srgbClr val="464A56"/>
                </a:solidFill>
                <a:latin typeface="Cambria"/>
                <a:cs typeface="Cambria"/>
              </a:rPr>
              <a:t>Practical:</a:t>
            </a:r>
            <a:endParaRPr sz="44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4264" y="2449067"/>
            <a:ext cx="2856230" cy="1758950"/>
            <a:chOff x="2874264" y="2449067"/>
            <a:chExt cx="2856230" cy="17589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4264" y="2449067"/>
              <a:ext cx="2855976" cy="17586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1320" y="2961144"/>
              <a:ext cx="2505456" cy="7924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3700" y="2482595"/>
              <a:ext cx="2741676" cy="164439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933700" y="2482595"/>
            <a:ext cx="2741930" cy="1000915"/>
          </a:xfrm>
          <a:prstGeom prst="rect">
            <a:avLst/>
          </a:prstGeom>
        </p:spPr>
        <p:txBody>
          <a:bodyPr vert="horz" wrap="square" lIns="0" tIns="2292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05"/>
              </a:spcBef>
            </a:pPr>
            <a:r>
              <a:rPr lang="en-IN" sz="2500" dirty="0">
                <a:latin typeface="Times New Roman"/>
                <a:cs typeface="Times New Roman"/>
              </a:rPr>
              <a:t>Document Indexing and Retrieval</a:t>
            </a:r>
            <a:endParaRPr sz="25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88735" y="2438400"/>
            <a:ext cx="2856230" cy="1838325"/>
            <a:chOff x="5888735" y="2438400"/>
            <a:chExt cx="2856230" cy="18383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8735" y="2449067"/>
              <a:ext cx="2855975" cy="175869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9507" y="2438400"/>
              <a:ext cx="2764536" cy="18379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8171" y="2482596"/>
              <a:ext cx="2741676" cy="164439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968998" y="2653537"/>
            <a:ext cx="2741930" cy="811761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74320" marR="267335" indent="1905" algn="ctr">
              <a:lnSpc>
                <a:spcPct val="91600"/>
              </a:lnSpc>
              <a:spcBef>
                <a:spcPts val="810"/>
              </a:spcBef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Models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904731" y="2449067"/>
            <a:ext cx="2854960" cy="1758950"/>
            <a:chOff x="8904731" y="2449067"/>
            <a:chExt cx="2854960" cy="175895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04731" y="2449067"/>
              <a:ext cx="2854452" cy="175869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70263" y="2612135"/>
              <a:ext cx="2644139" cy="149047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64167" y="2482595"/>
              <a:ext cx="2740152" cy="164439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964168" y="2482595"/>
            <a:ext cx="2740660" cy="1363194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508634" marR="399415" indent="-99060" algn="ctr">
              <a:lnSpc>
                <a:spcPts val="2750"/>
              </a:lnSpc>
              <a:spcBef>
                <a:spcPts val="2230"/>
              </a:spcBef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Spelling Correction in IR Systems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4381500" y="4367784"/>
            <a:ext cx="2856230" cy="1758950"/>
            <a:chOff x="4381500" y="4367784"/>
            <a:chExt cx="2856230" cy="17589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500" y="4367784"/>
              <a:ext cx="2855976" cy="175869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96968" y="4706099"/>
              <a:ext cx="2298191" cy="113995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40935" y="4401312"/>
              <a:ext cx="2741675" cy="164439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440935" y="4401311"/>
            <a:ext cx="2741930" cy="117147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648970" marR="500380" indent="-140335" algn="ctr">
              <a:lnSpc>
                <a:spcPts val="275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IR Systems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397495" y="4357103"/>
            <a:ext cx="2854960" cy="1769745"/>
            <a:chOff x="7397495" y="4357103"/>
            <a:chExt cx="2854960" cy="1769745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7495" y="4367784"/>
              <a:ext cx="2854452" cy="175869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63027" y="4357103"/>
              <a:ext cx="2676144" cy="148894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56931" y="4401312"/>
              <a:ext cx="2740152" cy="164439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397495" y="4548377"/>
            <a:ext cx="2740660" cy="828432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59715" marR="368935" indent="228600" algn="ctr">
              <a:lnSpc>
                <a:spcPts val="2750"/>
              </a:lnSpc>
              <a:spcBef>
                <a:spcPts val="860"/>
              </a:spcBef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Categorization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337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endParaRPr sz="4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CBB987-9B11-023D-D33C-8CBAF9B1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F9DFEF-2D54-8B63-A410-80F619289F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C9E1E0-028B-960F-284B-6D068DB55D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F316CF-C62B-D60B-DB2B-3BC8287BA5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460D41-CAE6-6660-E033-D97CF68F49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AB92D4A-F154-EA20-4B39-BCB8090D4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1338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spc="150" dirty="0">
                <a:solidFill>
                  <a:srgbClr val="464A56"/>
                </a:solidFill>
                <a:latin typeface="Cambria"/>
                <a:cs typeface="Cambria"/>
              </a:rPr>
              <a:t>Define Information Retrieval (IR)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A3DE4E-E2D7-7B9F-0998-091805673814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Information Retrieval (IR)</a:t>
            </a:r>
            <a:r>
              <a:rPr lang="en-US" sz="2800" dirty="0"/>
              <a:t> is the science of </a:t>
            </a:r>
            <a:r>
              <a:rPr lang="en-US" sz="2800" b="1" dirty="0"/>
              <a:t>searching for information</a:t>
            </a:r>
            <a:r>
              <a:rPr lang="en-US" sz="2800" dirty="0"/>
              <a:t> within large collections of data — like documents, webpages, or multimedia files — and presenting </a:t>
            </a:r>
            <a:r>
              <a:rPr lang="en-US" sz="2800" b="1" dirty="0"/>
              <a:t>relevant</a:t>
            </a:r>
            <a:r>
              <a:rPr lang="en-US" sz="2800" dirty="0"/>
              <a:t> results to the user’s query.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7502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A5DD27-0744-1A4A-5DF8-ECF3BE3D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B44E0B-62D6-09A7-D6D2-3FC63567F6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C2F1441-B9A9-52F6-699B-2BDD4A358CC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84B5EFE-464C-8A6F-B9EA-B20E8E1A42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38E9A56-67E6-0CAF-7126-5781BEFE914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1CA9091-86B9-E124-3A41-7900429D5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78478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dirty="0"/>
              <a:t>Components of an IR System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332E214-8736-F852-18FE-E714623BA513}"/>
              </a:ext>
            </a:extLst>
          </p:cNvPr>
          <p:cNvSpPr txBox="1"/>
          <p:nvPr/>
        </p:nvSpPr>
        <p:spPr>
          <a:xfrm>
            <a:off x="1858420" y="2057400"/>
            <a:ext cx="9496025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↓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Query Formulation ]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↓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Search Engine / IR System ]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↓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[ Document Collection / Database ]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[ Indexing Module ]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[ Retrieval &amp; Ranking Module ]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[ Results Display Module ]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↓</a:t>
            </a:r>
          </a:p>
          <a:p>
            <a:pPr algn="ctr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User Feedback</a:t>
            </a:r>
          </a:p>
        </p:txBody>
      </p:sp>
      <p:sp>
        <p:nvSpPr>
          <p:cNvPr id="13" name="object 32" descr="$PPTXTitle">
            <a:extLst>
              <a:ext uri="{FF2B5EF4-FFF2-40B4-BE49-F238E27FC236}">
                <a16:creationId xmlns:a16="http://schemas.microsoft.com/office/drawing/2014/main" id="{3E36BE64-6F3C-F4BD-1029-DE3588F8839A}"/>
              </a:ext>
            </a:extLst>
          </p:cNvPr>
          <p:cNvSpPr txBox="1">
            <a:spLocks/>
          </p:cNvSpPr>
          <p:nvPr/>
        </p:nvSpPr>
        <p:spPr>
          <a:xfrm>
            <a:off x="1255984" y="589229"/>
            <a:ext cx="337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8</a:t>
            </a:r>
            <a:endParaRPr lang="en-IN" sz="4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14321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7BAA12-1698-8F37-3EA5-54E27833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E9F218-91BB-308F-AFF3-DD8C4E9516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87F6948-DD78-FEEF-1F8E-A769ED7919D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CD2DD62-7FBF-A398-024B-84A3A04575E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FC66173-CE9C-1D3D-B810-141BAFE611B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12D522E-3E86-C07F-27C0-77FB6F4A3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0576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Challenges in Information Retrieval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A4D25F-1022-6B3C-D554-8A9234EA7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70304"/>
              </p:ext>
            </p:extLst>
          </p:nvPr>
        </p:nvGraphicFramePr>
        <p:xfrm>
          <a:off x="1295400" y="2285999"/>
          <a:ext cx="10134600" cy="3605091"/>
        </p:xfrm>
        <a:graphic>
          <a:graphicData uri="http://schemas.openxmlformats.org/drawingml/2006/table">
            <a:tbl>
              <a:tblPr/>
              <a:tblGrid>
                <a:gridCol w="5067300">
                  <a:extLst>
                    <a:ext uri="{9D8B030D-6E8A-4147-A177-3AD203B41FA5}">
                      <a16:colId xmlns:a16="http://schemas.microsoft.com/office/drawing/2014/main" val="324384211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925676219"/>
                    </a:ext>
                  </a:extLst>
                </a:gridCol>
              </a:tblGrid>
              <a:tr h="486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Challenge</a:t>
                      </a:r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Example</a:t>
                      </a:r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722762"/>
                  </a:ext>
                </a:extLst>
              </a:tr>
              <a:tr h="486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Ambiguity in Queries</a:t>
                      </a:r>
                      <a:endParaRPr lang="en-IN" sz="2400"/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“Apple” could mean fruit or company</a:t>
                      </a:r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005643"/>
                  </a:ext>
                </a:extLst>
              </a:tr>
              <a:tr h="486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Scalability</a:t>
                      </a:r>
                      <a:endParaRPr lang="en-IN" sz="2400" dirty="0"/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Billions of web pages to search from</a:t>
                      </a:r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73909"/>
                  </a:ext>
                </a:extLst>
              </a:tr>
              <a:tr h="486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Speed &amp; Performance</a:t>
                      </a:r>
                      <a:endParaRPr lang="en-IN" sz="2400"/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Fast response expected (&lt;1 sec)</a:t>
                      </a:r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359625"/>
                  </a:ext>
                </a:extLst>
              </a:tr>
              <a:tr h="486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Ranking Relevance</a:t>
                      </a:r>
                      <a:endParaRPr lang="en-IN" sz="2400"/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Different users mean different relevance</a:t>
                      </a:r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426445"/>
                  </a:ext>
                </a:extLst>
              </a:tr>
              <a:tr h="853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Multimedia Data</a:t>
                      </a:r>
                      <a:endParaRPr lang="en-IN" sz="2400"/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Images, audio, video retrieval is harder than text</a:t>
                      </a:r>
                    </a:p>
                  </a:txBody>
                  <a:tcPr marL="74332" marR="74332" marT="37166" marB="371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9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35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5B9C56-08B6-12C5-9F8C-9FB7E95E9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00DBF5-1C77-1288-FB12-039AA982CB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F2573BB-57E2-26D6-78C0-310232A71EC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DD60614-6D23-FD00-3665-F485D94DCB8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BA100D0-09DD-B1F4-D870-DCD46893E3E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nline Media 7" title="How Google Search Works (in 5 minutes)">
            <a:hlinkClick r:id="" action="ppaction://media"/>
            <a:extLst>
              <a:ext uri="{FF2B5EF4-FFF2-40B4-BE49-F238E27FC236}">
                <a16:creationId xmlns:a16="http://schemas.microsoft.com/office/drawing/2014/main" id="{C990E0B4-46A0-21CE-F398-4BF9E59B945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6200" y="0"/>
            <a:ext cx="11963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9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336</Words>
  <Application>Microsoft Office PowerPoint</Application>
  <PresentationFormat>Widescreen</PresentationFormat>
  <Paragraphs>70</Paragraphs>
  <Slides>11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Cambria</vt:lpstr>
      <vt:lpstr>Segoe UI</vt:lpstr>
      <vt:lpstr>Times New Roman</vt:lpstr>
      <vt:lpstr>Office Theme</vt:lpstr>
      <vt:lpstr>Information Retrieval                   TY B.Sc. (CS) </vt:lpstr>
      <vt:lpstr>2 Real Life Applications:</vt:lpstr>
      <vt:lpstr>3 Importance of Information         Retrieval </vt:lpstr>
      <vt:lpstr>4 Goals of Information Retrieval</vt:lpstr>
      <vt:lpstr>Contents of the Course:</vt:lpstr>
      <vt:lpstr>6</vt:lpstr>
      <vt:lpstr>7 Define Information Retrieval (IR) </vt:lpstr>
      <vt:lpstr>Components of an IR System</vt:lpstr>
      <vt:lpstr>9 Challenges in Information Retrieval</vt:lpstr>
      <vt:lpstr>PowerPoint Presentation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8</cp:revision>
  <dcterms:created xsi:type="dcterms:W3CDTF">2025-11-04T17:06:10Z</dcterms:created>
  <dcterms:modified xsi:type="dcterms:W3CDTF">2025-11-05T15:47:49Z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