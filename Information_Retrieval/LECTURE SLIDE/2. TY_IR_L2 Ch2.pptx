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5" r:id="rId4"/>
    <p:sldId id="277" r:id="rId5"/>
    <p:sldId id="280" r:id="rId6"/>
    <p:sldId id="258" r:id="rId7"/>
    <p:sldId id="278" r:id="rId8"/>
    <p:sldId id="281" r:id="rId9"/>
    <p:sldId id="274" r:id="rId10"/>
    <p:sldId id="284" r:id="rId11"/>
    <p:sldId id="270" r:id="rId12"/>
    <p:sldId id="276" r:id="rId13"/>
    <p:sldId id="279" r:id="rId14"/>
    <p:sldId id="283" r:id="rId15"/>
    <p:sldId id="271" r:id="rId16"/>
    <p:sldId id="282" r:id="rId17"/>
    <p:sldId id="272" r:id="rId18"/>
    <p:sldId id="269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>
      <p:cViewPr varScale="1">
        <p:scale>
          <a:sx n="88" d="100"/>
          <a:sy n="88" d="100"/>
        </p:scale>
        <p:origin x="38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50E53-DE1B-407D-A709-579CCB904A60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3FC4-0F31-4797-9FA8-1F6AE7072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0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15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43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F7BC1-63A3-AAD0-07A8-3222F1C09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7E3779-2549-233F-938D-11DD6004E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CCF423-CC1A-7D5C-6D79-6A1919771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AB9D3-C046-2649-5131-E31380A083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906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133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984" y="432816"/>
            <a:ext cx="3459183" cy="612343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34462" y="2177033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>
                <a:moveTo>
                  <a:pt x="0" y="0"/>
                </a:moveTo>
                <a:lnTo>
                  <a:pt x="8770619" y="0"/>
                </a:lnTo>
              </a:path>
            </a:pathLst>
          </a:custGeom>
          <a:ln w="38100">
            <a:solidFill>
              <a:srgbClr val="79A8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44368" y="2456687"/>
            <a:ext cx="3077845" cy="1516380"/>
          </a:xfrm>
          <a:custGeom>
            <a:avLst/>
            <a:gdLst/>
            <a:ahLst/>
            <a:cxnLst/>
            <a:rect l="l" t="t" r="r" b="b"/>
            <a:pathLst>
              <a:path w="3077845" h="1516379">
                <a:moveTo>
                  <a:pt x="3077845" y="757428"/>
                </a:moveTo>
                <a:lnTo>
                  <a:pt x="3066948" y="751078"/>
                </a:lnTo>
                <a:lnTo>
                  <a:pt x="2989199" y="705739"/>
                </a:lnTo>
                <a:lnTo>
                  <a:pt x="2985262" y="706755"/>
                </a:lnTo>
                <a:lnTo>
                  <a:pt x="2981706" y="712851"/>
                </a:lnTo>
                <a:lnTo>
                  <a:pt x="2982722" y="716661"/>
                </a:lnTo>
                <a:lnTo>
                  <a:pt x="3041700" y="751078"/>
                </a:lnTo>
                <a:lnTo>
                  <a:pt x="2528316" y="751078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lnTo>
                  <a:pt x="2528316" y="1516380"/>
                </a:lnTo>
                <a:lnTo>
                  <a:pt x="2528316" y="763778"/>
                </a:lnTo>
                <a:lnTo>
                  <a:pt x="3041700" y="763778"/>
                </a:lnTo>
                <a:lnTo>
                  <a:pt x="2982722" y="798195"/>
                </a:lnTo>
                <a:lnTo>
                  <a:pt x="2981706" y="802005"/>
                </a:lnTo>
                <a:lnTo>
                  <a:pt x="2985262" y="808101"/>
                </a:lnTo>
                <a:lnTo>
                  <a:pt x="2989199" y="809117"/>
                </a:lnTo>
                <a:lnTo>
                  <a:pt x="3066948" y="763778"/>
                </a:lnTo>
                <a:lnTo>
                  <a:pt x="3077845" y="757428"/>
                </a:lnTo>
                <a:close/>
              </a:path>
            </a:pathLst>
          </a:custGeom>
          <a:solidFill>
            <a:srgbClr val="79A8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44368" y="2456688"/>
            <a:ext cx="2528570" cy="1516380"/>
          </a:xfrm>
          <a:custGeom>
            <a:avLst/>
            <a:gdLst/>
            <a:ahLst/>
            <a:cxnLst/>
            <a:rect l="l" t="t" r="r" b="b"/>
            <a:pathLst>
              <a:path w="2528570" h="1516379">
                <a:moveTo>
                  <a:pt x="0" y="1516380"/>
                </a:moveTo>
                <a:lnTo>
                  <a:pt x="2528316" y="1516380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1010" y="2270505"/>
            <a:ext cx="8729980" cy="252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youtu.be/srrpbIZr7x4?si=wdQ2970lfQ7UO01P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-609600" y="1689346"/>
            <a:ext cx="11216275" cy="2154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650490" algn="ctr">
              <a:lnSpc>
                <a:spcPts val="5550"/>
              </a:lnSpc>
            </a:pP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Information Retrieval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 Chapter 2: Foundation of IR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</a:t>
            </a:r>
            <a:r>
              <a:rPr lang="en-IN" sz="2400" b="0" spc="150" dirty="0">
                <a:solidFill>
                  <a:srgbClr val="FFFFFF"/>
                </a:solidFill>
                <a:latin typeface="Cambria"/>
                <a:cs typeface="Cambria"/>
              </a:rPr>
              <a:t>TY B.Sc. (CS) 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3290" y="3920997"/>
            <a:ext cx="272986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Semester</a:t>
            </a:r>
            <a:r>
              <a:rPr sz="1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VI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0961" y="3766565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599" y="0"/>
                </a:lnTo>
              </a:path>
            </a:pathLst>
          </a:custGeom>
          <a:ln w="38100">
            <a:solidFill>
              <a:srgbClr val="00A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5388" y="651916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DFCF8"/>
                </a:solid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3" descr="$PPTXTitle">
            <a:extLst>
              <a:ext uri="{FF2B5EF4-FFF2-40B4-BE49-F238E27FC236}">
                <a16:creationId xmlns:a16="http://schemas.microsoft.com/office/drawing/2014/main" id="{C83E2C76-DF6F-6D6A-CB74-60A6C5734F58}"/>
              </a:ext>
            </a:extLst>
          </p:cNvPr>
          <p:cNvSpPr txBox="1">
            <a:spLocks/>
          </p:cNvSpPr>
          <p:nvPr/>
        </p:nvSpPr>
        <p:spPr>
          <a:xfrm>
            <a:off x="3276600" y="5410200"/>
            <a:ext cx="8609839" cy="1315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marR="5080" indent="2650490" algn="ctr">
              <a:lnSpc>
                <a:spcPts val="5550"/>
              </a:lnSpc>
            </a:pPr>
            <a:r>
              <a:rPr lang="en-IN" sz="2000" spc="150" dirty="0">
                <a:solidFill>
                  <a:srgbClr val="FFFFFF"/>
                </a:solidFill>
                <a:latin typeface="Cambria"/>
                <a:cs typeface="Cambria"/>
              </a:rPr>
              <a:t>Poornima .N</a:t>
            </a:r>
          </a:p>
          <a:p>
            <a:pPr marL="12700" marR="5080" indent="2650490" algn="ctr">
              <a:lnSpc>
                <a:spcPts val="5550"/>
              </a:lnSpc>
            </a:pPr>
            <a:r>
              <a:rPr lang="en-US" sz="2000" dirty="0"/>
              <a:t>Assistant Professor, Department of IT/CS</a:t>
            </a:r>
            <a:endParaRPr lang="en-IN" sz="2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286000"/>
            <a:ext cx="8448040" cy="189378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12700">
              <a:spcBef>
                <a:spcPts val="1395"/>
              </a:spcBef>
            </a:pPr>
            <a:r>
              <a:rPr lang="en-US" sz="2800" dirty="0"/>
              <a:t>Document Indexing</a:t>
            </a:r>
            <a:endParaRPr sz="28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2700" marR="3267075">
              <a:lnSpc>
                <a:spcPts val="4900"/>
              </a:lnSpc>
              <a:spcBef>
                <a:spcPts val="375"/>
              </a:spcBef>
            </a:pPr>
            <a:r>
              <a:rPr lang="en-US" sz="3000" dirty="0">
                <a:solidFill>
                  <a:schemeClr val="tx1"/>
                </a:solidFill>
                <a:latin typeface="Calibri"/>
                <a:cs typeface="Calibri"/>
              </a:rPr>
              <a:t>Storage</a:t>
            </a:r>
            <a:endParaRPr lang="en-IN" sz="30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2700" marR="3267075">
              <a:lnSpc>
                <a:spcPts val="4900"/>
              </a:lnSpc>
              <a:spcBef>
                <a:spcPts val="375"/>
              </a:spcBef>
            </a:pPr>
            <a:r>
              <a:rPr lang="en-IN" sz="2800" dirty="0"/>
              <a:t>Compression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6943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chemeClr val="tx1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4400" b="0" spc="225" dirty="0">
                <a:solidFill>
                  <a:schemeClr val="tx1"/>
                </a:solidFill>
                <a:latin typeface="Cambria"/>
                <a:cs typeface="Cambria"/>
              </a:rPr>
              <a:t>Topics</a:t>
            </a:r>
            <a:r>
              <a:rPr sz="4400" b="0" spc="140" dirty="0">
                <a:solidFill>
                  <a:schemeClr val="tx1"/>
                </a:solidFill>
                <a:latin typeface="Cambria"/>
                <a:cs typeface="Cambria"/>
              </a:rPr>
              <a:t>: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object 6" descr="$PPTXTitle">
            <a:extLst>
              <a:ext uri="{FF2B5EF4-FFF2-40B4-BE49-F238E27FC236}">
                <a16:creationId xmlns:a16="http://schemas.microsoft.com/office/drawing/2014/main" id="{3C06A57B-6092-F540-3D10-2B0F13362CFF}"/>
              </a:ext>
            </a:extLst>
          </p:cNvPr>
          <p:cNvSpPr txBox="1">
            <a:spLocks/>
          </p:cNvSpPr>
          <p:nvPr/>
        </p:nvSpPr>
        <p:spPr>
          <a:xfrm>
            <a:off x="5105400" y="5549136"/>
            <a:ext cx="6943725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2400" b="0" spc="225" dirty="0">
                <a:solidFill>
                  <a:schemeClr val="tx1"/>
                </a:solidFill>
                <a:latin typeface="Cambria"/>
                <a:cs typeface="Cambria"/>
              </a:rPr>
              <a:t>Ever wondered how Google finds results in 0.3 seconds? Let’s find out! 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286000"/>
            <a:ext cx="8448040" cy="423641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 indexing is the process of organizing documents to make searching faster and more efficient.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It’s like creating a “catalog” or “table of contents” for all documents in a collection.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indexing, a search engine would have to go through every word in every document — which is very slow</a:t>
            </a:r>
            <a:endParaRPr lang="en-IN" sz="2800" dirty="0"/>
          </a:p>
          <a:p>
            <a:pPr marL="12700">
              <a:spcBef>
                <a:spcPts val="1395"/>
              </a:spcBef>
            </a:pPr>
            <a:endParaRPr sz="2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4400" b="0" spc="225" dirty="0">
                <a:solidFill>
                  <a:schemeClr val="tx1"/>
                </a:solidFill>
                <a:latin typeface="Cambria"/>
                <a:cs typeface="Cambria"/>
              </a:rPr>
              <a:t>What is Document Indexing?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489727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02B0144-5118-AEED-AF9B-AF43FF894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2453368"/>
            <a:ext cx="8458200" cy="4371975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2F46B2-1FB0-BE1D-BC60-B88CB4CDA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51716"/>
              </p:ext>
            </p:extLst>
          </p:nvPr>
        </p:nvGraphicFramePr>
        <p:xfrm>
          <a:off x="228600" y="76200"/>
          <a:ext cx="8731250" cy="2316480"/>
        </p:xfrm>
        <a:graphic>
          <a:graphicData uri="http://schemas.openxmlformats.org/drawingml/2006/table">
            <a:tbl>
              <a:tblPr/>
              <a:tblGrid>
                <a:gridCol w="436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3200" dirty="0"/>
                        <a:t>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/>
                        <a:t>Documents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3200"/>
                        <a:t>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/>
                        <a:t>D1, D3, D5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3200"/>
                        <a:t>Machine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D2, D4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3200"/>
                        <a:t>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D1, D4, D5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089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4426922-EB49-78B1-109C-E6B76A6AF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2B651E6-F1C7-94CF-C21A-49B53DB15D85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42E1F342-0D81-3190-8523-476903F6017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45EB0C5-EA43-FCBD-0E4A-54465924F41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E256B0FA-15CB-A0E7-AA2A-A842B09D6949}"/>
              </a:ext>
            </a:extLst>
          </p:cNvPr>
          <p:cNvSpPr txBox="1"/>
          <p:nvPr/>
        </p:nvSpPr>
        <p:spPr>
          <a:xfrm>
            <a:off x="2934462" y="2286000"/>
            <a:ext cx="8448040" cy="707309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Question 1:</a:t>
            </a:r>
            <a:br>
              <a:rPr lang="en-US" sz="2800" dirty="0"/>
            </a:br>
            <a:r>
              <a:rPr lang="en-US" sz="2800" dirty="0"/>
              <a:t>“Imagine you have these 3 short documents — can you list the keywords (important terms) that would be stored in the index for each?”</a:t>
            </a:r>
          </a:p>
          <a:p>
            <a:r>
              <a:rPr lang="en-US" sz="2800" b="1" dirty="0"/>
              <a:t>Documents:</a:t>
            </a:r>
            <a:endParaRPr lang="en-US" sz="2800" dirty="0"/>
          </a:p>
          <a:p>
            <a:r>
              <a:rPr lang="en-US" sz="2800" dirty="0"/>
              <a:t>Doc1: </a:t>
            </a:r>
            <a:r>
              <a:rPr lang="en-US" sz="2800" i="1" dirty="0"/>
              <a:t>AI improves education</a:t>
            </a:r>
            <a:endParaRPr lang="en-US" sz="2800" dirty="0"/>
          </a:p>
          <a:p>
            <a:r>
              <a:rPr lang="en-US" sz="2800" dirty="0"/>
              <a:t>Doc2: </a:t>
            </a:r>
            <a:r>
              <a:rPr lang="en-US" sz="2800" i="1" dirty="0"/>
              <a:t>Education empowers society</a:t>
            </a:r>
            <a:endParaRPr lang="en-US" sz="2800" dirty="0"/>
          </a:p>
          <a:p>
            <a:r>
              <a:rPr lang="en-US" sz="2800" dirty="0"/>
              <a:t>Doc3: </a:t>
            </a:r>
            <a:r>
              <a:rPr lang="en-US" sz="2800" i="1" dirty="0"/>
              <a:t>AI builds smart society</a:t>
            </a:r>
            <a:endParaRPr lang="en-US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sz="2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E88E15FE-35AB-4FE5-0220-B4F3CC2E1A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4400" b="0" dirty="0">
                <a:solidFill>
                  <a:schemeClr val="tx1"/>
                </a:solidFill>
                <a:latin typeface="Cambria"/>
                <a:cs typeface="Cambria"/>
              </a:rPr>
              <a:t>                      </a:t>
            </a:r>
            <a:r>
              <a:rPr lang="en-IN" sz="4400" b="0" spc="225" dirty="0">
                <a:solidFill>
                  <a:schemeClr val="tx1"/>
                </a:solidFill>
                <a:latin typeface="Cambria"/>
                <a:cs typeface="Cambria"/>
              </a:rPr>
              <a:t>Activity 1 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024404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143689" y="935650"/>
            <a:ext cx="978505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b="0" spc="150" dirty="0">
                <a:solidFill>
                  <a:srgbClr val="464A56"/>
                </a:solidFill>
                <a:latin typeface="Cambria"/>
                <a:cs typeface="Cambria"/>
              </a:rPr>
              <a:t>Inverted Index Construction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0B6F45A-3E48-C83F-505A-1069ACABA0A4}"/>
              </a:ext>
            </a:extLst>
          </p:cNvPr>
          <p:cNvSpPr txBox="1"/>
          <p:nvPr/>
        </p:nvSpPr>
        <p:spPr>
          <a:xfrm>
            <a:off x="2934462" y="2286000"/>
            <a:ext cx="8448040" cy="190244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800" dirty="0"/>
              <a:t>An </a:t>
            </a:r>
            <a:r>
              <a:rPr lang="en-US" sz="2800" b="1" dirty="0"/>
              <a:t>inverted index</a:t>
            </a:r>
            <a:r>
              <a:rPr lang="en-US" sz="2800" dirty="0"/>
              <a:t> maps each </a:t>
            </a:r>
            <a:r>
              <a:rPr lang="en-US" sz="2800" b="1" dirty="0"/>
              <a:t>term (word)</a:t>
            </a:r>
            <a:r>
              <a:rPr lang="en-US" sz="2800" dirty="0"/>
              <a:t> to the </a:t>
            </a:r>
            <a:r>
              <a:rPr lang="en-US" sz="2800" b="1" dirty="0"/>
              <a:t>list of documents</a:t>
            </a:r>
            <a:r>
              <a:rPr lang="en-US" sz="2800" dirty="0"/>
              <a:t> that contain that term.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8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800" dirty="0">
                <a:latin typeface="+mj-lt"/>
              </a:rPr>
              <a:t>Examples: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200003"/>
              </p:ext>
            </p:extLst>
          </p:nvPr>
        </p:nvGraphicFramePr>
        <p:xfrm>
          <a:off x="4114800" y="4188444"/>
          <a:ext cx="8731250" cy="2316480"/>
        </p:xfrm>
        <a:graphic>
          <a:graphicData uri="http://schemas.openxmlformats.org/drawingml/2006/table">
            <a:tbl>
              <a:tblPr/>
              <a:tblGrid>
                <a:gridCol w="436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3200" dirty="0"/>
                        <a:t>Documents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/>
                        <a:t>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/>
                        <a:t>D1, D3, D5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/>
                        <a:t>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3200" dirty="0"/>
                        <a:t>D2, D4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/>
                        <a:t>Machine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3200" dirty="0"/>
                        <a:t>D1, D4, D5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/>
                        <a:t>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989A023-D8AC-C8C8-48C8-99A1B8E02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3E1331-B366-C4A6-0000-31AA066575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4F8E966-4115-99B1-8AD7-76213302C4F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6B5C0EB-67D8-4E53-AE11-19266AEC13B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D253EE2-134A-A42E-F75F-B763336986D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5D773F1-4D91-07D8-D8C0-B67C8C052C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3689" y="935650"/>
            <a:ext cx="978505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5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b="0" dirty="0">
                <a:solidFill>
                  <a:srgbClr val="464A56"/>
                </a:solidFill>
                <a:latin typeface="Cambria"/>
                <a:cs typeface="Cambria"/>
              </a:rPr>
              <a:t>               </a:t>
            </a:r>
            <a:r>
              <a:rPr lang="en-IN" sz="4400" b="0" spc="150" dirty="0">
                <a:solidFill>
                  <a:srgbClr val="464A56"/>
                </a:solidFill>
                <a:latin typeface="Cambria"/>
                <a:cs typeface="Cambria"/>
              </a:rPr>
              <a:t>The Difference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04D3CE4-1FF3-2A99-8559-254670A3E87D}"/>
              </a:ext>
            </a:extLst>
          </p:cNvPr>
          <p:cNvGraphicFramePr>
            <a:graphicFrameLocks noGrp="1"/>
          </p:cNvGraphicFramePr>
          <p:nvPr/>
        </p:nvGraphicFramePr>
        <p:xfrm>
          <a:off x="1730375" y="3350895"/>
          <a:ext cx="8731250" cy="365760"/>
        </p:xfrm>
        <a:graphic>
          <a:graphicData uri="http://schemas.openxmlformats.org/drawingml/2006/table">
            <a:tbl>
              <a:tblPr/>
              <a:tblGrid>
                <a:gridCol w="8731250">
                  <a:extLst>
                    <a:ext uri="{9D8B030D-6E8A-4147-A177-3AD203B41FA5}">
                      <a16:colId xmlns:a16="http://schemas.microsoft.com/office/drawing/2014/main" val="2203176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17531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AC190DA-91CC-200A-4382-771782762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136604"/>
              </p:ext>
            </p:extLst>
          </p:nvPr>
        </p:nvGraphicFramePr>
        <p:xfrm>
          <a:off x="609600" y="2910157"/>
          <a:ext cx="3459183" cy="2346960"/>
        </p:xfrm>
        <a:graphic>
          <a:graphicData uri="http://schemas.openxmlformats.org/drawingml/2006/table">
            <a:tbl>
              <a:tblPr/>
              <a:tblGrid>
                <a:gridCol w="3459183">
                  <a:extLst>
                    <a:ext uri="{9D8B030D-6E8A-4147-A177-3AD203B41FA5}">
                      <a16:colId xmlns:a16="http://schemas.microsoft.com/office/drawing/2014/main" val="42732674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 dirty="0"/>
                    </a:p>
                    <a:p>
                      <a:pPr algn="ctr">
                        <a:buNone/>
                      </a:pPr>
                      <a:r>
                        <a:rPr lang="en-IN" sz="2800" b="1" dirty="0"/>
                        <a:t>Forward Index</a:t>
                      </a:r>
                      <a:endParaRPr lang="en-US" sz="2800" b="1" dirty="0"/>
                    </a:p>
                    <a:p>
                      <a:pPr>
                        <a:buNone/>
                      </a:pPr>
                      <a:endParaRPr lang="en-US" sz="2400" dirty="0"/>
                    </a:p>
                    <a:p>
                      <a:pPr algn="ctr">
                        <a:buNone/>
                      </a:pPr>
                      <a:r>
                        <a:rPr lang="en-US" sz="2400" dirty="0"/>
                        <a:t>When you want to </a:t>
                      </a:r>
                      <a:r>
                        <a:rPr lang="en-US" sz="2400" i="1" dirty="0"/>
                        <a:t>see what words</a:t>
                      </a:r>
                    </a:p>
                    <a:p>
                      <a:pPr algn="ctr">
                        <a:buNone/>
                      </a:pPr>
                      <a:r>
                        <a:rPr lang="en-US" sz="2400" i="1" dirty="0"/>
                        <a:t> are in a document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6253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4B079F3-F4DB-BCFB-65B8-3EA52DC27B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77923"/>
              </p:ext>
            </p:extLst>
          </p:nvPr>
        </p:nvGraphicFramePr>
        <p:xfrm>
          <a:off x="6629400" y="3317028"/>
          <a:ext cx="4468812" cy="1981200"/>
        </p:xfrm>
        <a:graphic>
          <a:graphicData uri="http://schemas.openxmlformats.org/drawingml/2006/table">
            <a:tbl>
              <a:tblPr/>
              <a:tblGrid>
                <a:gridCol w="4468812">
                  <a:extLst>
                    <a:ext uri="{9D8B030D-6E8A-4147-A177-3AD203B41FA5}">
                      <a16:colId xmlns:a16="http://schemas.microsoft.com/office/drawing/2014/main" val="3572959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Inverted Index</a:t>
                      </a:r>
                      <a:endParaRPr lang="en-US" sz="2400" dirty="0"/>
                    </a:p>
                    <a:p>
                      <a:pPr>
                        <a:buNone/>
                      </a:pPr>
                      <a:endParaRPr lang="en-US" sz="2400" dirty="0"/>
                    </a:p>
                    <a:p>
                      <a:pPr algn="ctr">
                        <a:buNone/>
                      </a:pPr>
                      <a:r>
                        <a:rPr lang="en-US" sz="2400" dirty="0"/>
                        <a:t>When you want to </a:t>
                      </a:r>
                      <a:r>
                        <a:rPr lang="en-US" sz="2400" i="1" dirty="0"/>
                        <a:t>find </a:t>
                      </a:r>
                    </a:p>
                    <a:p>
                      <a:pPr algn="ctr">
                        <a:buNone/>
                      </a:pPr>
                      <a:r>
                        <a:rPr lang="en-US" sz="2400" i="1" dirty="0"/>
                        <a:t>documents </a:t>
                      </a:r>
                    </a:p>
                    <a:p>
                      <a:pPr algn="ctr">
                        <a:buNone/>
                      </a:pPr>
                      <a:r>
                        <a:rPr lang="en-US" sz="2400" i="1" dirty="0"/>
                        <a:t>that contain a word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486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1156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EF93A59-4A4B-C9A0-8D26-13118C4E7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8A17DA2-9173-306D-B034-AE0F12F5F8D6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281F64ED-CBD9-CDCC-6B07-DEB446FB1C1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7E4CEAA-149F-C050-C848-6B18591D5AB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304EC3D2-1ACE-C7E9-0613-A76DF8C2AF99}"/>
              </a:ext>
            </a:extLst>
          </p:cNvPr>
          <p:cNvSpPr txBox="1"/>
          <p:nvPr/>
        </p:nvSpPr>
        <p:spPr>
          <a:xfrm>
            <a:off x="2934462" y="2286000"/>
            <a:ext cx="8448040" cy="664220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Question 2:</a:t>
            </a:r>
            <a:br>
              <a:rPr lang="en-US" sz="2800" dirty="0"/>
            </a:br>
            <a:r>
              <a:rPr lang="en-US" sz="2800" dirty="0"/>
              <a:t>“Can you build a small inverted index showing which documents contain ‘AI’, ‘education’, and ‘society</a:t>
            </a:r>
          </a:p>
          <a:p>
            <a:r>
              <a:rPr lang="en-US" sz="2800" b="1" dirty="0"/>
              <a:t>Documents:</a:t>
            </a:r>
            <a:endParaRPr lang="en-US" sz="2800" dirty="0"/>
          </a:p>
          <a:p>
            <a:r>
              <a:rPr lang="en-US" sz="2800" dirty="0"/>
              <a:t>Doc1: </a:t>
            </a:r>
            <a:r>
              <a:rPr lang="en-US" sz="2800" i="1" dirty="0"/>
              <a:t>AI improves education</a:t>
            </a:r>
            <a:endParaRPr lang="en-US" sz="2800" dirty="0"/>
          </a:p>
          <a:p>
            <a:r>
              <a:rPr lang="en-US" sz="2800" dirty="0"/>
              <a:t>Doc2: </a:t>
            </a:r>
            <a:r>
              <a:rPr lang="en-US" sz="2800" i="1" dirty="0"/>
              <a:t>Education empowers society</a:t>
            </a:r>
            <a:endParaRPr lang="en-US" sz="2800" dirty="0"/>
          </a:p>
          <a:p>
            <a:r>
              <a:rPr lang="en-US" sz="2800" dirty="0"/>
              <a:t>Doc3: </a:t>
            </a:r>
            <a:r>
              <a:rPr lang="en-US" sz="2800" i="1" dirty="0"/>
              <a:t>AI builds smart society</a:t>
            </a:r>
            <a:endParaRPr lang="en-US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sz="2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F2645713-0867-730C-557C-BE42AECDF9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4400" b="0" dirty="0">
                <a:solidFill>
                  <a:schemeClr val="tx1"/>
                </a:solidFill>
                <a:latin typeface="Cambria"/>
                <a:cs typeface="Cambria"/>
              </a:rPr>
              <a:t>                      </a:t>
            </a:r>
            <a:r>
              <a:rPr lang="en-IN" sz="4400" b="0" spc="225" dirty="0">
                <a:solidFill>
                  <a:schemeClr val="tx1"/>
                </a:solidFill>
                <a:latin typeface="Cambria"/>
                <a:cs typeface="Cambria"/>
              </a:rPr>
              <a:t>Activity 2 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373140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158B26C-CA3D-F82E-C926-6DEA8985E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7F6BD9E-3BF0-7D78-BF0F-52327D0BF1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D890FEC-80C6-46BF-04D6-65E1ED2B3C9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725273F-FCA6-B598-619D-7741F83117D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982A5D1-1A07-B29F-B31C-A6E4936D95C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40B576D-C6FE-A639-B0A3-ECB9730A71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8505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b="0" spc="150" dirty="0">
                <a:solidFill>
                  <a:srgbClr val="464A56"/>
                </a:solidFill>
                <a:latin typeface="Cambria"/>
                <a:cs typeface="Cambria"/>
              </a:rPr>
              <a:t>Compression Techniques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9" name="Rectangle 1"/>
          <p:cNvSpPr txBox="1">
            <a:spLocks noChangeArrowheads="1"/>
          </p:cNvSpPr>
          <p:nvPr/>
        </p:nvSpPr>
        <p:spPr bwMode="auto">
          <a:xfrm>
            <a:off x="1579608" y="2206854"/>
            <a:ext cx="10613803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>
                <a:solidFill>
                  <a:schemeClr val="tx1"/>
                </a:solidFill>
                <a:latin typeface="+mj-lt"/>
              </a:rPr>
              <a:t>To save storage space.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>
                <a:solidFill>
                  <a:schemeClr val="tx1"/>
                </a:solidFill>
                <a:latin typeface="+mj-lt"/>
              </a:rPr>
              <a:t>To make search faster (less data to read from disk).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tx1"/>
                </a:solidFill>
                <a:latin typeface="+mj-lt"/>
              </a:rPr>
              <a:t>Common Techniques:</a:t>
            </a:r>
            <a:endParaRPr lang="en-US" sz="2800" dirty="0">
              <a:solidFill>
                <a:schemeClr val="tx1"/>
              </a:solidFill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b="1" dirty="0">
                <a:solidFill>
                  <a:schemeClr val="tx1"/>
                </a:solidFill>
                <a:latin typeface="+mj-lt"/>
              </a:rPr>
              <a:t>Dictionary Compression:</a:t>
            </a:r>
            <a:r>
              <a:rPr lang="en-US" sz="2800" dirty="0">
                <a:solidFill>
                  <a:schemeClr val="tx1"/>
                </a:solidFill>
                <a:latin typeface="+mj-lt"/>
              </a:rPr>
              <a:t> Compress the list of terms.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b="1" dirty="0">
                <a:solidFill>
                  <a:schemeClr val="tx1"/>
                </a:solidFill>
                <a:latin typeface="+mj-lt"/>
              </a:rPr>
              <a:t>Postings Compression:</a:t>
            </a:r>
            <a:r>
              <a:rPr lang="en-US" sz="2800" dirty="0">
                <a:solidFill>
                  <a:schemeClr val="tx1"/>
                </a:solidFill>
                <a:latin typeface="+mj-lt"/>
              </a:rPr>
              <a:t> Compress document IDs using gap 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tx1"/>
                </a:solidFill>
                <a:latin typeface="+mj-lt"/>
              </a:rPr>
              <a:t>encoding or variable byte encoding.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tx1"/>
                </a:solidFill>
                <a:latin typeface="+mj-lt"/>
              </a:rPr>
              <a:t>Example:</a:t>
            </a:r>
            <a:br>
              <a:rPr lang="en-US" dirty="0">
                <a:solidFill>
                  <a:schemeClr val="tx1"/>
                </a:solidFill>
                <a:latin typeface="+mj-lt"/>
              </a:rPr>
            </a:br>
            <a:r>
              <a:rPr lang="en-IN" dirty="0"/>
              <a:t>Delta Encoding: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Instead of storing 10, 11, 12, 20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, store gaps: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10, 1, 1, 8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(smaller numbers compress better).</a:t>
            </a:r>
            <a:endParaRPr lang="en-US" sz="40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31154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567CBD8-F21C-CCA1-9D0E-52FAAEA17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D98AC87-09EA-0D84-EBF3-19CDA6A6941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5D17EFED-3944-91CF-E28D-DF48203502F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53C223E-A754-64FB-BAEE-9774D19D91F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448D6FAD-316A-BAFD-BA13-BF3F57081B3A}"/>
              </a:ext>
            </a:extLst>
          </p:cNvPr>
          <p:cNvSpPr txBox="1"/>
          <p:nvPr/>
        </p:nvSpPr>
        <p:spPr>
          <a:xfrm>
            <a:off x="2934462" y="2286000"/>
            <a:ext cx="844804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Question 3:</a:t>
            </a:r>
            <a:br>
              <a:rPr lang="en-US" sz="2800" dirty="0"/>
            </a:br>
            <a:r>
              <a:rPr lang="en-US" sz="2800" dirty="0"/>
              <a:t>“If we use delta encoding, what will the stored values be?”</a:t>
            </a:r>
          </a:p>
          <a:p>
            <a:r>
              <a:rPr lang="en-US" sz="2800" b="1" dirty="0"/>
              <a:t>Documents ID’s:</a:t>
            </a:r>
            <a:r>
              <a:rPr lang="en-US" sz="2800" dirty="0"/>
              <a:t> </a:t>
            </a:r>
            <a:r>
              <a:rPr lang="en-IN" sz="2800" dirty="0"/>
              <a:t>📄 10, 11, 12, 20, 25, 27,30</a:t>
            </a: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sz="2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BDDBABCC-FFCA-446F-3D4B-3F75C2DDBA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4400" b="0" dirty="0">
                <a:solidFill>
                  <a:schemeClr val="tx1"/>
                </a:solidFill>
                <a:latin typeface="Cambria"/>
                <a:cs typeface="Cambria"/>
              </a:rPr>
              <a:t>                      </a:t>
            </a:r>
            <a:r>
              <a:rPr lang="en-IN" sz="4400" b="0" spc="225" dirty="0">
                <a:solidFill>
                  <a:schemeClr val="tx1"/>
                </a:solidFill>
                <a:latin typeface="Cambria"/>
                <a:cs typeface="Cambria"/>
              </a:rPr>
              <a:t>Activity 3 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047272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CBB987-9B11-023D-D33C-8CBAF9B1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EF9DFEF-2D54-8B63-A410-80F619289F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DC9E1E0-028B-960F-284B-6D068DB55D6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AF316CF-C62B-D60B-DB2B-3BC8287BA5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9460D41-CAE6-6660-E033-D97CF68F494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AB92D4A-F154-EA20-4B39-BCB8090D4E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133839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8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b="0" spc="150" dirty="0">
                <a:solidFill>
                  <a:srgbClr val="464A56"/>
                </a:solidFill>
                <a:latin typeface="Cambria"/>
                <a:cs typeface="Cambria"/>
              </a:rPr>
              <a:t>Document Representation and Term Weighting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8A3DE4E-E2D7-7B9F-0998-091805673814}"/>
              </a:ext>
            </a:extLst>
          </p:cNvPr>
          <p:cNvSpPr txBox="1"/>
          <p:nvPr/>
        </p:nvSpPr>
        <p:spPr>
          <a:xfrm>
            <a:off x="2934462" y="2286000"/>
            <a:ext cx="8448040" cy="190244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document is represented as a </a:t>
            </a: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vector of terms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value of each term depends on how important that word is in that document.</a:t>
            </a:r>
          </a:p>
        </p:txBody>
      </p:sp>
    </p:spTree>
    <p:extLst>
      <p:ext uri="{BB962C8B-B14F-4D97-AF65-F5344CB8AC3E}">
        <p14:creationId xmlns:p14="http://schemas.microsoft.com/office/powerpoint/2010/main" val="2117502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158B26C-CA3D-F82E-C926-6DEA8985E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7F6BD9E-3BF0-7D78-BF0F-52327D0BF1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D890FEC-80C6-46BF-04D6-65E1ED2B3C9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725273F-FCA6-B598-619D-7741F83117D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982A5D1-1A07-B29F-B31C-A6E4936D95C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40B576D-C6FE-A639-B0A3-ECB9730A71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0" y="1081399"/>
            <a:ext cx="9785055" cy="20447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9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>
                <a:solidFill>
                  <a:schemeClr val="tx1"/>
                </a:solidFill>
                <a:hlinkClick r:id="rId4"/>
              </a:rPr>
              <a:t>Term Weighting</a:t>
            </a:r>
            <a:br>
              <a:rPr lang="en-US" sz="4400" dirty="0">
                <a:solidFill>
                  <a:schemeClr val="tx1"/>
                </a:solidFill>
              </a:rPr>
            </a:br>
            <a:br>
              <a:rPr lang="en-IN" sz="4400" b="0" spc="150" dirty="0">
                <a:solidFill>
                  <a:srgbClr val="464A56"/>
                </a:solidFill>
                <a:latin typeface="Cambria"/>
                <a:cs typeface="Cambria"/>
              </a:rPr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9" name="Rectangle 1"/>
          <p:cNvSpPr txBox="1">
            <a:spLocks noChangeArrowheads="1"/>
          </p:cNvSpPr>
          <p:nvPr/>
        </p:nvSpPr>
        <p:spPr bwMode="auto">
          <a:xfrm>
            <a:off x="1550753" y="2155704"/>
            <a:ext cx="1064746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Uses </a:t>
            </a:r>
            <a:r>
              <a:rPr lang="en-US" sz="2800" b="1" dirty="0"/>
              <a:t>TF-IDF (Term Frequency – Inverse Document Frequency)</a:t>
            </a:r>
            <a:r>
              <a:rPr lang="en-US" sz="2800" dirty="0"/>
              <a:t> formula.</a:t>
            </a:r>
          </a:p>
          <a:p>
            <a:r>
              <a:rPr lang="en-US" sz="2800" b="1" dirty="0"/>
              <a:t>Formula:</a:t>
            </a:r>
            <a:br>
              <a:rPr lang="en-US" sz="2800" dirty="0"/>
            </a:br>
            <a:r>
              <a:rPr lang="en-US" sz="2800" dirty="0"/>
              <a:t>TF-IDF = (Term Frequency) × log(Total Docs / Docs Containing Term)</a:t>
            </a:r>
          </a:p>
          <a:p>
            <a:r>
              <a:rPr lang="en-US" sz="2800" b="1" dirty="0"/>
              <a:t>Meaning:</a:t>
            </a:r>
            <a:endParaRPr lang="en-US" sz="2800" dirty="0"/>
          </a:p>
          <a:p>
            <a:r>
              <a:rPr lang="en-US" sz="2800" dirty="0"/>
              <a:t>Words that appear many times in one document but </a:t>
            </a:r>
          </a:p>
          <a:p>
            <a:r>
              <a:rPr lang="en-US" sz="2800" dirty="0"/>
              <a:t>rarely in others are most important.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95795D-9FA3-454F-66CD-22FF77950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461238"/>
              </p:ext>
            </p:extLst>
          </p:nvPr>
        </p:nvGraphicFramePr>
        <p:xfrm>
          <a:off x="2743200" y="4885269"/>
          <a:ext cx="8731248" cy="1463040"/>
        </p:xfrm>
        <a:graphic>
          <a:graphicData uri="http://schemas.openxmlformats.org/drawingml/2006/table">
            <a:tbl>
              <a:tblPr/>
              <a:tblGrid>
                <a:gridCol w="2182812">
                  <a:extLst>
                    <a:ext uri="{9D8B030D-6E8A-4147-A177-3AD203B41FA5}">
                      <a16:colId xmlns:a16="http://schemas.microsoft.com/office/drawing/2014/main" val="237038918"/>
                    </a:ext>
                  </a:extLst>
                </a:gridCol>
                <a:gridCol w="2182812">
                  <a:extLst>
                    <a:ext uri="{9D8B030D-6E8A-4147-A177-3AD203B41FA5}">
                      <a16:colId xmlns:a16="http://schemas.microsoft.com/office/drawing/2014/main" val="673386967"/>
                    </a:ext>
                  </a:extLst>
                </a:gridCol>
                <a:gridCol w="2182812">
                  <a:extLst>
                    <a:ext uri="{9D8B030D-6E8A-4147-A177-3AD203B41FA5}">
                      <a16:colId xmlns:a16="http://schemas.microsoft.com/office/drawing/2014/main" val="2465730344"/>
                    </a:ext>
                  </a:extLst>
                </a:gridCol>
                <a:gridCol w="2182812">
                  <a:extLst>
                    <a:ext uri="{9D8B030D-6E8A-4147-A177-3AD203B41FA5}">
                      <a16:colId xmlns:a16="http://schemas.microsoft.com/office/drawing/2014/main" val="280688020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Doc1 (Sports News)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Doc2 (Politics News)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Doc3 (Cricket News)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6220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match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0.8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0.0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0.9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0586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0.1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0.9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0.0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6934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0.7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0.1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0.8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649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3193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66181E-5610-AAFC-16CC-D21E231F1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0B7D0B-8FEB-858D-EBA5-30171155F0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4D6E22A-D7E1-9A49-5293-19AF5AD6EBDF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85747DA-5D6D-F68C-8B2E-A3AB539876B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C3CAB24-E151-ED80-F797-DE2C301832A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5D01CAB-76CF-0763-91B1-AE4335103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2600" y="2476036"/>
            <a:ext cx="10057640" cy="4814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3200" spc="-50" dirty="0">
                <a:solidFill>
                  <a:srgbClr val="464A56"/>
                </a:solidFill>
                <a:latin typeface="Cambria"/>
                <a:cs typeface="Cambria"/>
              </a:rPr>
              <a:t>Binary Weighting </a:t>
            </a:r>
            <a:r>
              <a:rPr lang="en-US" sz="3200" b="0" spc="-50" dirty="0">
                <a:solidFill>
                  <a:srgbClr val="464A56"/>
                </a:solidFill>
                <a:latin typeface="Cambria"/>
                <a:cs typeface="Cambria"/>
              </a:rPr>
              <a:t>– 1 if the term appears, 0 if not.</a:t>
            </a:r>
            <a:br>
              <a:rPr lang="en-US" sz="3200" b="0" spc="-50" dirty="0">
                <a:solidFill>
                  <a:srgbClr val="464A56"/>
                </a:solidFill>
                <a:latin typeface="Cambria"/>
                <a:cs typeface="Cambria"/>
              </a:rPr>
            </a:br>
            <a:r>
              <a:rPr lang="en-US" sz="3200" spc="-50" dirty="0">
                <a:solidFill>
                  <a:srgbClr val="464A56"/>
                </a:solidFill>
                <a:latin typeface="Cambria"/>
                <a:cs typeface="Cambria"/>
              </a:rPr>
              <a:t>Term Frequency (TF) </a:t>
            </a:r>
            <a:r>
              <a:rPr lang="en-US" sz="3200" b="0" spc="-50" dirty="0">
                <a:solidFill>
                  <a:srgbClr val="464A56"/>
                </a:solidFill>
                <a:latin typeface="Cambria"/>
                <a:cs typeface="Cambria"/>
              </a:rPr>
              <a:t>– More times a term appears → higher importance.</a:t>
            </a:r>
            <a:br>
              <a:rPr lang="en-US" sz="3200" b="0" spc="-50" dirty="0">
                <a:solidFill>
                  <a:srgbClr val="464A56"/>
                </a:solidFill>
                <a:latin typeface="Cambria"/>
                <a:cs typeface="Cambria"/>
              </a:rPr>
            </a:br>
            <a:r>
              <a:rPr lang="en-US" sz="3200" spc="-50" dirty="0">
                <a:solidFill>
                  <a:srgbClr val="464A56"/>
                </a:solidFill>
                <a:latin typeface="Cambria"/>
                <a:cs typeface="Cambria"/>
              </a:rPr>
              <a:t>TF-IDF (Term Frequency–Inverse Document Frequency) </a:t>
            </a:r>
            <a:r>
              <a:rPr lang="en-US" sz="3200" b="0" spc="-50" dirty="0">
                <a:solidFill>
                  <a:srgbClr val="464A56"/>
                </a:solidFill>
                <a:latin typeface="Cambria"/>
                <a:cs typeface="Cambria"/>
              </a:rPr>
              <a:t>– Common words get lower weight; unique words get higher weight.</a:t>
            </a:r>
            <a:br>
              <a:rPr lang="en-US" sz="2400" b="0" spc="-50" dirty="0">
                <a:solidFill>
                  <a:srgbClr val="464A56"/>
                </a:solidFill>
                <a:latin typeface="Cambria"/>
                <a:cs typeface="Cambria"/>
              </a:rPr>
            </a:br>
            <a:br>
              <a:rPr lang="en-US" sz="2400" b="0" spc="-50" dirty="0">
                <a:solidFill>
                  <a:srgbClr val="464A56"/>
                </a:solidFill>
                <a:latin typeface="Cambria"/>
                <a:cs typeface="Cambria"/>
              </a:rPr>
            </a:br>
            <a:br>
              <a:rPr lang="en-US" sz="2400" b="0" spc="-50" dirty="0">
                <a:solidFill>
                  <a:srgbClr val="464A56"/>
                </a:solidFill>
                <a:latin typeface="Cambria"/>
                <a:cs typeface="Cambria"/>
              </a:rPr>
            </a:br>
            <a:br>
              <a:rPr lang="en-US" sz="2400" b="0" spc="-50" dirty="0">
                <a:solidFill>
                  <a:srgbClr val="464A56"/>
                </a:solidFill>
                <a:latin typeface="Cambria"/>
                <a:cs typeface="Cambria"/>
              </a:rPr>
            </a:br>
            <a:br>
              <a:rPr lang="en-US" sz="2400" b="0" spc="-50" dirty="0">
                <a:solidFill>
                  <a:srgbClr val="464A56"/>
                </a:solidFill>
                <a:latin typeface="Cambria"/>
                <a:cs typeface="Cambria"/>
              </a:rPr>
            </a:br>
            <a:r>
              <a:rPr lang="en-US" sz="2400" b="0" spc="-50" dirty="0">
                <a:solidFill>
                  <a:srgbClr val="464A56"/>
                </a:solidFill>
                <a:latin typeface="Cambria"/>
                <a:cs typeface="Cambria"/>
              </a:rPr>
              <a:t>”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8" name="object 7" descr="$PPTXTitle">
            <a:extLst>
              <a:ext uri="{FF2B5EF4-FFF2-40B4-BE49-F238E27FC236}">
                <a16:creationId xmlns:a16="http://schemas.microsoft.com/office/drawing/2014/main" id="{ECCE75D2-BAA4-B438-709E-D494F7163135}"/>
              </a:ext>
            </a:extLst>
          </p:cNvPr>
          <p:cNvSpPr txBox="1">
            <a:spLocks/>
          </p:cNvSpPr>
          <p:nvPr/>
        </p:nvSpPr>
        <p:spPr>
          <a:xfrm>
            <a:off x="1259457" y="1229090"/>
            <a:ext cx="1005764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algn="ctr">
              <a:spcBef>
                <a:spcPts val="105"/>
              </a:spcBef>
              <a:tabLst>
                <a:tab pos="1043305" algn="l"/>
              </a:tabLst>
            </a:pPr>
            <a:r>
              <a:rPr lang="en-US" b="0" spc="-50" dirty="0">
                <a:solidFill>
                  <a:srgbClr val="464A56"/>
                </a:solidFill>
                <a:latin typeface="Cambria"/>
                <a:cs typeface="Cambria"/>
              </a:rPr>
              <a:t>10            Term Weighting Methods </a:t>
            </a:r>
            <a:endParaRPr lang="en-US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067955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ED8CB-16FF-F802-92B5-1F69050E1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DB07AA4-05A7-DEC4-00AF-4B2097C66961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FD359A51-DBF1-0FBF-84A2-A5059B2E295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9540B0D-1AA4-4923-85FE-214425DE08D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AD3AD13F-6854-ABC2-14C0-4E87F9A2AC08}"/>
              </a:ext>
            </a:extLst>
          </p:cNvPr>
          <p:cNvSpPr txBox="1"/>
          <p:nvPr/>
        </p:nvSpPr>
        <p:spPr>
          <a:xfrm>
            <a:off x="2934462" y="2286000"/>
            <a:ext cx="8448040" cy="104067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Question 4:</a:t>
            </a:r>
            <a:br>
              <a:rPr lang="en-US" sz="2800" dirty="0"/>
            </a:br>
            <a:r>
              <a:rPr lang="en-US" sz="2800" dirty="0"/>
              <a:t>“Which word is most important for this document?”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9A8A9344-B5CC-7304-6F9B-F6D5746370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4400" b="0" dirty="0">
                <a:solidFill>
                  <a:schemeClr val="tx1"/>
                </a:solidFill>
                <a:latin typeface="Cambria"/>
                <a:cs typeface="Cambria"/>
              </a:rPr>
              <a:t>                      </a:t>
            </a:r>
            <a:r>
              <a:rPr lang="en-IN" sz="4400" b="0" spc="225" dirty="0">
                <a:solidFill>
                  <a:schemeClr val="tx1"/>
                </a:solidFill>
                <a:latin typeface="Cambria"/>
                <a:cs typeface="Cambria"/>
              </a:rPr>
              <a:t>Activity 4 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11E43E8-D696-BFA9-28A2-351F31AED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719124"/>
              </p:ext>
            </p:extLst>
          </p:nvPr>
        </p:nvGraphicFramePr>
        <p:xfrm>
          <a:off x="3352800" y="3548264"/>
          <a:ext cx="7086600" cy="2928736"/>
        </p:xfrm>
        <a:graphic>
          <a:graphicData uri="http://schemas.openxmlformats.org/drawingml/2006/table">
            <a:tbl>
              <a:tblPr/>
              <a:tblGrid>
                <a:gridCol w="3543300">
                  <a:extLst>
                    <a:ext uri="{9D8B030D-6E8A-4147-A177-3AD203B41FA5}">
                      <a16:colId xmlns:a16="http://schemas.microsoft.com/office/drawing/2014/main" val="2986137959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3524699020"/>
                    </a:ext>
                  </a:extLst>
                </a:gridCol>
              </a:tblGrid>
              <a:tr h="732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Frequency (in doc)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971621"/>
                  </a:ext>
                </a:extLst>
              </a:tr>
              <a:tr h="732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7970891"/>
                  </a:ext>
                </a:extLst>
              </a:tr>
              <a:tr h="732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944981"/>
                  </a:ext>
                </a:extLst>
              </a:tr>
              <a:tr h="732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/>
                        <a:t>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156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8600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A5DD27-0744-1A4A-5DF8-ECF3BE3D1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0B44E0B-62D6-09A7-D6D2-3FC63567F6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C2F1441-B9A9-52F6-699B-2BDD4A358CC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84B5EFE-464C-8A6F-B9EA-B20E8E1A423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38E9A56-67E6-0CAF-7126-5781BEFE914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5">
            <a:extLst>
              <a:ext uri="{FF2B5EF4-FFF2-40B4-BE49-F238E27FC236}">
                <a16:creationId xmlns:a16="http://schemas.microsoft.com/office/drawing/2014/main" id="{D332E214-8736-F852-18FE-E714623BA513}"/>
              </a:ext>
            </a:extLst>
          </p:cNvPr>
          <p:cNvSpPr txBox="1"/>
          <p:nvPr/>
        </p:nvSpPr>
        <p:spPr>
          <a:xfrm>
            <a:off x="1752600" y="2191740"/>
            <a:ext cx="347558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Storage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 files and document data are stored separately.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 contains pointers to documents on disk.</a:t>
            </a:r>
          </a:p>
        </p:txBody>
      </p:sp>
      <p:sp>
        <p:nvSpPr>
          <p:cNvPr id="13" name="object 32" descr="$PPTXTitle">
            <a:extLst>
              <a:ext uri="{FF2B5EF4-FFF2-40B4-BE49-F238E27FC236}">
                <a16:creationId xmlns:a16="http://schemas.microsoft.com/office/drawing/2014/main" id="{3E36BE64-6F3C-F4BD-1029-DE3588F8839A}"/>
              </a:ext>
            </a:extLst>
          </p:cNvPr>
          <p:cNvSpPr txBox="1">
            <a:spLocks/>
          </p:cNvSpPr>
          <p:nvPr/>
        </p:nvSpPr>
        <p:spPr>
          <a:xfrm>
            <a:off x="1255984" y="589229"/>
            <a:ext cx="87761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11</a:t>
            </a:r>
            <a:endParaRPr lang="en-IN" sz="4400" dirty="0">
              <a:latin typeface="Cambria"/>
              <a:cs typeface="Cambria"/>
            </a:endParaRPr>
          </a:p>
        </p:txBody>
      </p:sp>
      <p:sp>
        <p:nvSpPr>
          <p:cNvPr id="10" name="object 7" descr="$PPTXTitle">
            <a:extLst>
              <a:ext uri="{FF2B5EF4-FFF2-40B4-BE49-F238E27FC236}">
                <a16:creationId xmlns:a16="http://schemas.microsoft.com/office/drawing/2014/main" id="{640B576D-C6FE-A639-B0A3-ECB9730A713E}"/>
              </a:ext>
            </a:extLst>
          </p:cNvPr>
          <p:cNvSpPr txBox="1">
            <a:spLocks/>
          </p:cNvSpPr>
          <p:nvPr/>
        </p:nvSpPr>
        <p:spPr>
          <a:xfrm>
            <a:off x="1981960" y="589229"/>
            <a:ext cx="978505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150" dirty="0">
                <a:solidFill>
                  <a:srgbClr val="464A56"/>
                </a:solidFill>
                <a:latin typeface="Cambria"/>
                <a:cs typeface="Cambria"/>
              </a:rPr>
              <a:t>Storage and Retrieval of Indexed Documents</a:t>
            </a:r>
            <a:endParaRPr lang="en-IN" sz="4400" dirty="0">
              <a:latin typeface="Cambria"/>
              <a:cs typeface="Cambria"/>
            </a:endParaRP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D332E214-8736-F852-18FE-E714623BA513}"/>
              </a:ext>
            </a:extLst>
          </p:cNvPr>
          <p:cNvSpPr txBox="1"/>
          <p:nvPr/>
        </p:nvSpPr>
        <p:spPr>
          <a:xfrm>
            <a:off x="7504594" y="2239365"/>
            <a:ext cx="4271946" cy="424154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Retrieval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enters a query.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engine looks up the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inverted index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Finds all documents containing the query words.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Ranks them using term weights (e.g., TF-IDF or cosine similarity).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top results.</a:t>
            </a:r>
          </a:p>
        </p:txBody>
      </p:sp>
    </p:spTree>
    <p:extLst>
      <p:ext uri="{BB962C8B-B14F-4D97-AF65-F5344CB8AC3E}">
        <p14:creationId xmlns:p14="http://schemas.microsoft.com/office/powerpoint/2010/main" val="3014321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54767-56D1-34C8-0DA3-E8330FDBE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6522F53-4D7E-F4FF-A932-C0B14B3821C6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DA2A3701-FCE2-0318-0949-1B992D157ED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F8B1ACF-EE84-88BE-C3FC-2C62F1DD5FE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3B81D36A-8543-4A62-916F-67D3F27E6FD6}"/>
              </a:ext>
            </a:extLst>
          </p:cNvPr>
          <p:cNvSpPr txBox="1"/>
          <p:nvPr/>
        </p:nvSpPr>
        <p:spPr>
          <a:xfrm>
            <a:off x="2934462" y="2286000"/>
            <a:ext cx="8448040" cy="190244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Question 5:</a:t>
            </a:r>
            <a:br>
              <a:rPr lang="en-US" sz="2800" dirty="0"/>
            </a:br>
            <a:r>
              <a:rPr lang="en-US" sz="2800" dirty="0"/>
              <a:t>“When you search ‘AI in education’ on Google, what happens first — does Google search every document directly or check its index?”</a:t>
            </a:r>
            <a:endParaRPr sz="2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E9F5586F-C34D-97F0-B402-617F143DD6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4400" b="0" dirty="0">
                <a:solidFill>
                  <a:schemeClr val="tx1"/>
                </a:solidFill>
                <a:latin typeface="Cambria"/>
                <a:cs typeface="Cambria"/>
              </a:rPr>
              <a:t>                      </a:t>
            </a:r>
            <a:r>
              <a:rPr lang="en-IN" sz="4400" b="0" spc="225" dirty="0">
                <a:solidFill>
                  <a:schemeClr val="tx1"/>
                </a:solidFill>
                <a:latin typeface="Cambria"/>
                <a:cs typeface="Cambria"/>
              </a:rPr>
              <a:t>Activity 5 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745984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B7BAA12-1698-8F37-3EA5-54E278334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CE9F218-91BB-308F-AFF3-DD8C4E9516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87F6948-DD78-FEEF-1F8E-A769ED7919D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CD2DD62-7FBF-A398-024B-84A3A04575E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FC66173-CE9C-1D3D-B810-141BAFE611B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12D522E-3E86-C07F-27C0-77FB6F4A31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819400"/>
            <a:ext cx="10057640" cy="1983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3200" b="0" spc="-50" dirty="0">
                <a:solidFill>
                  <a:srgbClr val="464A56"/>
                </a:solidFill>
                <a:latin typeface="Cambria"/>
                <a:cs typeface="Cambria"/>
              </a:rPr>
              <a:t>✅ Document Indexing = “How to find fast”</a:t>
            </a:r>
            <a:br>
              <a:rPr lang="en-US" sz="3200" b="0" spc="-50" dirty="0">
                <a:solidFill>
                  <a:srgbClr val="464A56"/>
                </a:solidFill>
                <a:latin typeface="Cambria"/>
                <a:cs typeface="Cambria"/>
              </a:rPr>
            </a:br>
            <a:r>
              <a:rPr lang="en-US" sz="3200" b="0" spc="-50" dirty="0">
                <a:solidFill>
                  <a:srgbClr val="464A56"/>
                </a:solidFill>
                <a:latin typeface="Cambria"/>
                <a:cs typeface="Cambria"/>
              </a:rPr>
              <a:t>✅ Compression = “How to store smart”</a:t>
            </a:r>
            <a:br>
              <a:rPr lang="en-US" sz="3200" b="0" spc="-50" dirty="0">
                <a:solidFill>
                  <a:srgbClr val="464A56"/>
                </a:solidFill>
                <a:latin typeface="Cambria"/>
                <a:cs typeface="Cambria"/>
              </a:rPr>
            </a:br>
            <a:r>
              <a:rPr lang="en-US" sz="3200" b="0" spc="-50" dirty="0">
                <a:solidFill>
                  <a:srgbClr val="464A56"/>
                </a:solidFill>
                <a:latin typeface="Cambria"/>
                <a:cs typeface="Cambria"/>
              </a:rPr>
              <a:t>✅ Term Weighting = “How to rank relevant”</a:t>
            </a:r>
            <a:br>
              <a:rPr lang="en-US" sz="3200" b="0" spc="-50" dirty="0">
                <a:solidFill>
                  <a:srgbClr val="464A56"/>
                </a:solidFill>
                <a:latin typeface="Cambria"/>
                <a:cs typeface="Cambria"/>
              </a:rPr>
            </a:br>
            <a:r>
              <a:rPr lang="en-US" sz="3200" b="0" spc="-50" dirty="0">
                <a:solidFill>
                  <a:srgbClr val="464A56"/>
                </a:solidFill>
                <a:latin typeface="Cambria"/>
                <a:cs typeface="Cambria"/>
              </a:rPr>
              <a:t>✅ Storage = “How to keep it all organized”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8" name="object 7" descr="$PPTXTitle">
            <a:extLst>
              <a:ext uri="{FF2B5EF4-FFF2-40B4-BE49-F238E27FC236}">
                <a16:creationId xmlns:a16="http://schemas.microsoft.com/office/drawing/2014/main" id="{13E318B0-CB32-BE05-9E3A-6F1DBD2EAE59}"/>
              </a:ext>
            </a:extLst>
          </p:cNvPr>
          <p:cNvSpPr txBox="1">
            <a:spLocks/>
          </p:cNvSpPr>
          <p:nvPr/>
        </p:nvSpPr>
        <p:spPr>
          <a:xfrm>
            <a:off x="1259457" y="1229090"/>
            <a:ext cx="1005764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algn="ctr">
              <a:spcBef>
                <a:spcPts val="105"/>
              </a:spcBef>
              <a:tabLst>
                <a:tab pos="1043305" algn="l"/>
              </a:tabLst>
            </a:pPr>
            <a:r>
              <a:rPr lang="en-US" b="0" spc="-50" dirty="0">
                <a:solidFill>
                  <a:srgbClr val="464A56"/>
                </a:solidFill>
                <a:latin typeface="Cambria"/>
                <a:cs typeface="Cambria"/>
              </a:rPr>
              <a:t>12           Quick Recap Content</a:t>
            </a:r>
            <a:endParaRPr lang="en-US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168350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72" y="-2359"/>
            <a:ext cx="12182475" cy="6501765"/>
            <a:chOff x="9972" y="-2359"/>
            <a:chExt cx="12182475" cy="6501765"/>
          </a:xfrm>
        </p:grpSpPr>
        <p:sp>
          <p:nvSpPr>
            <p:cNvPr id="3" name="object 3"/>
            <p:cNvSpPr/>
            <p:nvPr/>
          </p:nvSpPr>
          <p:spPr>
            <a:xfrm>
              <a:off x="623876" y="-2359"/>
              <a:ext cx="4548505" cy="3168650"/>
            </a:xfrm>
            <a:custGeom>
              <a:avLst/>
              <a:gdLst/>
              <a:ahLst/>
              <a:cxnLst/>
              <a:rect l="l" t="t" r="r" b="b"/>
              <a:pathLst>
                <a:path w="4548505" h="3168650">
                  <a:moveTo>
                    <a:pt x="1256288" y="0"/>
                  </a:moveTo>
                  <a:lnTo>
                    <a:pt x="0" y="0"/>
                  </a:lnTo>
                  <a:lnTo>
                    <a:pt x="3293242" y="3168630"/>
                  </a:lnTo>
                  <a:lnTo>
                    <a:pt x="4548038" y="3168630"/>
                  </a:lnTo>
                  <a:lnTo>
                    <a:pt x="3674989" y="2327497"/>
                  </a:lnTo>
                  <a:lnTo>
                    <a:pt x="1256288" y="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6691" y="0"/>
              <a:ext cx="10465308" cy="35112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88097" y="2242136"/>
              <a:ext cx="1691005" cy="1092200"/>
            </a:xfrm>
            <a:custGeom>
              <a:avLst/>
              <a:gdLst/>
              <a:ahLst/>
              <a:cxnLst/>
              <a:rect l="l" t="t" r="r" b="b"/>
              <a:pathLst>
                <a:path w="1691004" h="1092200">
                  <a:moveTo>
                    <a:pt x="554199" y="0"/>
                  </a:moveTo>
                  <a:lnTo>
                    <a:pt x="0" y="0"/>
                  </a:lnTo>
                  <a:lnTo>
                    <a:pt x="1136342" y="1091875"/>
                  </a:lnTo>
                  <a:lnTo>
                    <a:pt x="1690541" y="1091875"/>
                  </a:lnTo>
                  <a:lnTo>
                    <a:pt x="1471838" y="882606"/>
                  </a:lnTo>
                  <a:lnTo>
                    <a:pt x="554199" y="0"/>
                  </a:lnTo>
                  <a:close/>
                </a:path>
              </a:pathLst>
            </a:custGeom>
            <a:solidFill>
              <a:srgbClr val="99D9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72" y="2972399"/>
              <a:ext cx="3660775" cy="3526790"/>
            </a:xfrm>
            <a:custGeom>
              <a:avLst/>
              <a:gdLst/>
              <a:ahLst/>
              <a:cxnLst/>
              <a:rect l="l" t="t" r="r" b="b"/>
              <a:pathLst>
                <a:path w="3660775" h="3526790">
                  <a:moveTo>
                    <a:pt x="0" y="0"/>
                  </a:moveTo>
                  <a:lnTo>
                    <a:pt x="0" y="477832"/>
                  </a:lnTo>
                  <a:lnTo>
                    <a:pt x="3163571" y="3526622"/>
                  </a:lnTo>
                  <a:lnTo>
                    <a:pt x="3660562" y="3526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5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41" y="2320818"/>
              <a:ext cx="2994025" cy="2885440"/>
            </a:xfrm>
            <a:custGeom>
              <a:avLst/>
              <a:gdLst/>
              <a:ahLst/>
              <a:cxnLst/>
              <a:rect l="l" t="t" r="r" b="b"/>
              <a:pathLst>
                <a:path w="2994025" h="2885440">
                  <a:moveTo>
                    <a:pt x="0" y="0"/>
                  </a:moveTo>
                  <a:lnTo>
                    <a:pt x="0" y="458147"/>
                  </a:lnTo>
                  <a:lnTo>
                    <a:pt x="2519204" y="2885259"/>
                  </a:lnTo>
                  <a:lnTo>
                    <a:pt x="2993958" y="2885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0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130667" y="1879549"/>
            <a:ext cx="3354704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252525"/>
                </a:solidFill>
              </a:rPr>
              <a:t>Thank</a:t>
            </a:r>
            <a:r>
              <a:rPr sz="4500" spc="-20" dirty="0">
                <a:solidFill>
                  <a:srgbClr val="252525"/>
                </a:solidFill>
              </a:rPr>
              <a:t> you…</a:t>
            </a:r>
            <a:endParaRPr sz="4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C4D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554</TotalTime>
  <Words>797</Words>
  <Application>Microsoft Office PowerPoint</Application>
  <PresentationFormat>Widescreen</PresentationFormat>
  <Paragraphs>140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Cambria</vt:lpstr>
      <vt:lpstr>Segoe UI</vt:lpstr>
      <vt:lpstr>Office Theme</vt:lpstr>
      <vt:lpstr>Information Retrieval                    Chapter 2: Foundation of IR                   TY B.Sc. (CS) </vt:lpstr>
      <vt:lpstr>2 Topics:</vt:lpstr>
      <vt:lpstr>3 What is Document Indexing?</vt:lpstr>
      <vt:lpstr>PowerPoint Presentation</vt:lpstr>
      <vt:lpstr>                       Activity 1 </vt:lpstr>
      <vt:lpstr>4 Inverted Index Construction</vt:lpstr>
      <vt:lpstr>5                The Difference</vt:lpstr>
      <vt:lpstr>6                       Activity 2 </vt:lpstr>
      <vt:lpstr>7 Compression Techniques</vt:lpstr>
      <vt:lpstr>                       Activity 3 </vt:lpstr>
      <vt:lpstr>8 Document Representation and Term Weighting</vt:lpstr>
      <vt:lpstr>9 Term Weighting  </vt:lpstr>
      <vt:lpstr>Binary Weighting – 1 if the term appears, 0 if not. Term Frequency (TF) – More times a term appears → higher importance. TF-IDF (Term Frequency–Inverse Document Frequency) – Common words get lower weight; unique words get higher weight.     ”</vt:lpstr>
      <vt:lpstr>                       Activity 4 </vt:lpstr>
      <vt:lpstr>PowerPoint Presentation</vt:lpstr>
      <vt:lpstr>                       Activity 5 </vt:lpstr>
      <vt:lpstr>✅ Document Indexing = “How to find fast” ✅ Compression = “How to store smart” ✅ Term Weighting = “How to rank relevant” ✅ Storage = “How to keep it all organized”</vt:lpstr>
      <vt:lpstr>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Geographic Information Systems </dc:title>
  <dc:creator>Pushpa Mahapatro</dc:creator>
  <cp:lastModifiedBy>poornimanadar1234@gmail.com</cp:lastModifiedBy>
  <cp:revision>16</cp:revision>
  <dcterms:created xsi:type="dcterms:W3CDTF">2025-11-04T17:06:10Z</dcterms:created>
  <dcterms:modified xsi:type="dcterms:W3CDTF">2025-11-06T15:16:04Z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for Microsoft 365</vt:lpwstr>
  </property>
</Properties>
</file>