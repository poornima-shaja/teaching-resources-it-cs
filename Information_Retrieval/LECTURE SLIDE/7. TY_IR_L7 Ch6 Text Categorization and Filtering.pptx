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309" r:id="rId4"/>
    <p:sldId id="311" r:id="rId5"/>
    <p:sldId id="275" r:id="rId6"/>
    <p:sldId id="352" r:id="rId7"/>
    <p:sldId id="353" r:id="rId8"/>
    <p:sldId id="286" r:id="rId9"/>
    <p:sldId id="304" r:id="rId10"/>
    <p:sldId id="393" r:id="rId11"/>
    <p:sldId id="354" r:id="rId12"/>
    <p:sldId id="302" r:id="rId13"/>
    <p:sldId id="394" r:id="rId14"/>
    <p:sldId id="303" r:id="rId15"/>
    <p:sldId id="395" r:id="rId16"/>
    <p:sldId id="396" r:id="rId17"/>
    <p:sldId id="356" r:id="rId18"/>
    <p:sldId id="406" r:id="rId19"/>
    <p:sldId id="405" r:id="rId20"/>
    <p:sldId id="398" r:id="rId21"/>
    <p:sldId id="401" r:id="rId22"/>
    <p:sldId id="399" r:id="rId23"/>
    <p:sldId id="402" r:id="rId24"/>
    <p:sldId id="403" r:id="rId25"/>
    <p:sldId id="404" r:id="rId26"/>
    <p:sldId id="400" r:id="rId27"/>
    <p:sldId id="397" r:id="rId28"/>
    <p:sldId id="305" r:id="rId29"/>
    <p:sldId id="359" r:id="rId30"/>
    <p:sldId id="407" r:id="rId31"/>
    <p:sldId id="313" r:id="rId32"/>
    <p:sldId id="408" r:id="rId33"/>
    <p:sldId id="412" r:id="rId34"/>
    <p:sldId id="409" r:id="rId35"/>
    <p:sldId id="411" r:id="rId36"/>
    <p:sldId id="413" r:id="rId37"/>
    <p:sldId id="387" r:id="rId38"/>
    <p:sldId id="414" r:id="rId39"/>
    <p:sldId id="388" r:id="rId40"/>
    <p:sldId id="389" r:id="rId41"/>
    <p:sldId id="318" r:id="rId42"/>
    <p:sldId id="364" r:id="rId43"/>
    <p:sldId id="415" r:id="rId44"/>
    <p:sldId id="367" r:id="rId45"/>
    <p:sldId id="368" r:id="rId46"/>
    <p:sldId id="370" r:id="rId47"/>
    <p:sldId id="374" r:id="rId48"/>
    <p:sldId id="376" r:id="rId49"/>
    <p:sldId id="377" r:id="rId50"/>
    <p:sldId id="379" r:id="rId51"/>
    <p:sldId id="380" r:id="rId52"/>
    <p:sldId id="382" r:id="rId53"/>
    <p:sldId id="383" r:id="rId54"/>
    <p:sldId id="384" r:id="rId55"/>
    <p:sldId id="416" r:id="rId56"/>
    <p:sldId id="417" r:id="rId57"/>
    <p:sldId id="269" r:id="rId5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4660"/>
  </p:normalViewPr>
  <p:slideViewPr>
    <p:cSldViewPr>
      <p:cViewPr varScale="1">
        <p:scale>
          <a:sx n="82" d="100"/>
          <a:sy n="82" d="100"/>
        </p:scale>
        <p:origin x="38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43FC4-0F31-4797-9FA8-1F6AE707272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15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-685800" y="1500194"/>
            <a:ext cx="11216275" cy="2103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 algn="ctr">
              <a:lnSpc>
                <a:spcPts val="5550"/>
              </a:lnSpc>
            </a:pP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Information Retrieval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 </a:t>
            </a:r>
            <a:r>
              <a:rPr lang="en-IN" sz="3200" b="0" spc="150" dirty="0">
                <a:solidFill>
                  <a:srgbClr val="FFFFFF"/>
                </a:solidFill>
                <a:latin typeface="Cambria"/>
                <a:cs typeface="Cambria"/>
              </a:rPr>
              <a:t>Chapter 6: </a:t>
            </a:r>
            <a:r>
              <a:rPr lang="en-US" sz="3200" b="0" spc="150" dirty="0">
                <a:solidFill>
                  <a:srgbClr val="FFFFFF"/>
                </a:solidFill>
                <a:latin typeface="Cambria"/>
                <a:cs typeface="Cambria"/>
              </a:rPr>
              <a:t>Text Categorization and Filtering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</a:t>
            </a:r>
            <a:r>
              <a:rPr lang="en-IN" sz="2400" b="0" spc="150" dirty="0">
                <a:solidFill>
                  <a:srgbClr val="FFFFFF"/>
                </a:solidFill>
                <a:latin typeface="Cambria"/>
                <a:cs typeface="Cambria"/>
              </a:rPr>
              <a:t>TY B.Sc. (CS) 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VI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C83E2C76-DF6F-6D6A-CB74-60A6C5734F58}"/>
              </a:ext>
            </a:extLst>
          </p:cNvPr>
          <p:cNvSpPr txBox="1">
            <a:spLocks/>
          </p:cNvSpPr>
          <p:nvPr/>
        </p:nvSpPr>
        <p:spPr>
          <a:xfrm>
            <a:off x="3276600" y="5410200"/>
            <a:ext cx="8609839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ctr"/>
            <a:r>
              <a:rPr lang="en-IN" sz="2400" spc="150" dirty="0">
                <a:solidFill>
                  <a:srgbClr val="FFFFFF"/>
                </a:solidFill>
                <a:latin typeface="Cambria"/>
                <a:cs typeface="Cambria"/>
              </a:rPr>
              <a:t>Poornima .N</a:t>
            </a:r>
          </a:p>
          <a:p>
            <a:pPr marL="12700" marR="5080" indent="2650490" algn="ctr"/>
            <a:r>
              <a:rPr lang="en-US" sz="2400" dirty="0"/>
              <a:t>Assistant Professor, Department of IT/CS</a:t>
            </a:r>
            <a:endParaRPr lang="en-IN"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69631" y="19812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200" dirty="0"/>
              <a:t>Text classification algorithms: 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lphaLcPeriod"/>
              <a:tabLst/>
            </a:pPr>
            <a:r>
              <a:rPr lang="en-US" sz="3200" dirty="0"/>
              <a:t>Naive Bayes</a:t>
            </a:r>
          </a:p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lphaLcPeriod"/>
              <a:tabLst/>
            </a:pPr>
            <a:r>
              <a:rPr lang="en-US" sz="3200" dirty="0"/>
              <a:t>Support Vector Machines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200" dirty="0"/>
              <a:t>Feature selection and dimensionality reduction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200" dirty="0"/>
              <a:t>Applications of text categorization and filtering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6943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chemeClr val="tx1"/>
                </a:solidFill>
                <a:latin typeface="Cambria"/>
                <a:cs typeface="Cambria"/>
              </a:rPr>
              <a:t>1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4400" b="0" spc="225" dirty="0">
                <a:solidFill>
                  <a:schemeClr val="tx1"/>
                </a:solidFill>
                <a:latin typeface="Cambria"/>
                <a:cs typeface="Cambria"/>
              </a:rPr>
              <a:t>Topics</a:t>
            </a:r>
            <a:r>
              <a:rPr sz="4400" b="0" spc="140" dirty="0">
                <a:solidFill>
                  <a:schemeClr val="tx1"/>
                </a:solidFill>
                <a:latin typeface="Cambria"/>
                <a:cs typeface="Cambria"/>
              </a:rPr>
              <a:t>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150336"/>
            <a:ext cx="844804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3200" dirty="0"/>
              <a:t>In traditional search, users perform </a:t>
            </a:r>
            <a:r>
              <a:rPr lang="en-US" sz="3200" b="1" dirty="0"/>
              <a:t>ad hoc retrieval</a:t>
            </a:r>
            <a:r>
              <a:rPr lang="en-US" sz="3200" dirty="0"/>
              <a:t> (one-time queries) • Some information needs are </a:t>
            </a:r>
            <a:r>
              <a:rPr lang="en-US" sz="3200" b="1" dirty="0"/>
              <a:t>ongoing and repetitive</a:t>
            </a:r>
            <a:r>
              <a:rPr lang="en-US" sz="3200" dirty="0"/>
              <a:t> • Example: Daily tracking of news on </a:t>
            </a:r>
            <a:r>
              <a:rPr lang="en-US" sz="3200" i="1" dirty="0"/>
              <a:t>multicore computer chips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877062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chemeClr val="tx1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600" dirty="0"/>
              <a:t>Text Classification – Introduction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642988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0128A4D-1591-8BE6-006E-0A2813F0A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611B29B-C1F5-7F77-3831-0726530A5650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BF957CE-CC5D-431D-A47B-8802A8A2AE1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601EF98-5760-7FE7-0CDB-608326B0ABF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16BBF158-4415-D736-3F09-ED5B347DDB05}"/>
              </a:ext>
            </a:extLst>
          </p:cNvPr>
          <p:cNvSpPr txBox="1"/>
          <p:nvPr/>
        </p:nvSpPr>
        <p:spPr>
          <a:xfrm>
            <a:off x="2916533" y="1981200"/>
            <a:ext cx="844804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b="1" dirty="0"/>
              <a:t>Standing Query</a:t>
            </a:r>
            <a:r>
              <a:rPr lang="en-US" sz="3200" dirty="0"/>
              <a:t> • A saved query that runs </a:t>
            </a:r>
            <a:r>
              <a:rPr lang="en-US" sz="3200" b="1" dirty="0"/>
              <a:t>periodically</a:t>
            </a:r>
            <a:r>
              <a:rPr lang="en-US" sz="3200" dirty="0"/>
              <a:t> on new documents • Used to automate repetitive searches</a:t>
            </a:r>
          </a:p>
          <a:p>
            <a:r>
              <a:rPr lang="en-US" sz="3200" dirty="0"/>
              <a:t>🧠 Example:</a:t>
            </a:r>
          </a:p>
          <a:p>
            <a:r>
              <a:rPr lang="en-US" sz="3200" dirty="0"/>
              <a:t>multicore AND computer AND chip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22173B5C-E434-A5C8-4016-8C28E8E60A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600" dirty="0"/>
              <a:t>Standing Queries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115365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286000"/>
            <a:ext cx="8448040" cy="313355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⚠️ Simple queries miss relevant documents</a:t>
            </a:r>
          </a:p>
          <a:p>
            <a:r>
              <a:rPr lang="en-US" sz="3200" dirty="0"/>
              <a:t>Reasons: • Different terms express same concept • </a:t>
            </a:r>
          </a:p>
          <a:p>
            <a:r>
              <a:rPr lang="en-US" sz="3200" dirty="0"/>
              <a:t>Example: processor, microprocessor, multi-core</a:t>
            </a:r>
          </a:p>
          <a:p>
            <a:r>
              <a:rPr lang="en-US" sz="3200" dirty="0"/>
              <a:t>➡️ Leads to </a:t>
            </a:r>
            <a:r>
              <a:rPr lang="en-US" sz="3200" b="1" dirty="0"/>
              <a:t>low recall</a:t>
            </a:r>
            <a:endParaRPr lang="en-US" sz="3200" dirty="0"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Limitations of Standing Queries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489727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D7A42-DE47-1D08-004B-63056F92A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730487B-2EEE-6D7F-7CB3-D3AC77407D94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367DA36-50AE-F147-C7C5-46DA82DC183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99ADC5E-06AB-3ED2-6A24-B4280665206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27C5109C-CC95-B109-2ACC-B80F37781D39}"/>
              </a:ext>
            </a:extLst>
          </p:cNvPr>
          <p:cNvSpPr txBox="1"/>
          <p:nvPr/>
        </p:nvSpPr>
        <p:spPr>
          <a:xfrm>
            <a:off x="2934462" y="2286000"/>
            <a:ext cx="8448040" cy="313355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Improved query using Boolean rules:</a:t>
            </a:r>
          </a:p>
          <a:p>
            <a:endParaRPr lang="en-US" sz="2400" dirty="0"/>
          </a:p>
          <a:p>
            <a:r>
              <a:rPr lang="en-US" sz="2400" dirty="0"/>
              <a:t>(multicore OR multi-core)</a:t>
            </a:r>
          </a:p>
          <a:p>
            <a:r>
              <a:rPr lang="en-US" sz="2400" dirty="0"/>
              <a:t>AND</a:t>
            </a:r>
          </a:p>
          <a:p>
            <a:r>
              <a:rPr lang="en-US" sz="2400" dirty="0"/>
              <a:t>(chip OR processor OR microprocessor)</a:t>
            </a:r>
          </a:p>
          <a:p>
            <a:endParaRPr lang="en-US" sz="2400" dirty="0"/>
          </a:p>
          <a:p>
            <a:r>
              <a:rPr lang="en-US" sz="2400" dirty="0"/>
              <a:t>❌ Queries become complex over time ❌ Hard to create and maintain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82881EC5-C78F-C6F1-9D00-867F762758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1830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Refining Standing Queries (Rule-Based Classification)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239538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C6AF6-567F-16C9-44AD-C885BDA97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34DEFEC-17B9-A1BE-E318-07470D16D9B1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5804EC2C-8417-00BA-3378-C357A3B98D3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9959B08-14E7-50AE-4C12-9BD65D66AC9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36DA4B3E-A174-66BC-576E-158D29FB6800}"/>
              </a:ext>
            </a:extLst>
          </p:cNvPr>
          <p:cNvSpPr txBox="1"/>
          <p:nvPr/>
        </p:nvSpPr>
        <p:spPr>
          <a:xfrm>
            <a:off x="2934462" y="2286000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📂 </a:t>
            </a:r>
            <a:r>
              <a:rPr lang="en-US" sz="2800" b="1" dirty="0"/>
              <a:t>Text Classification</a:t>
            </a:r>
            <a:r>
              <a:rPr lang="en-US" sz="2800" dirty="0"/>
              <a:t> </a:t>
            </a:r>
          </a:p>
          <a:p>
            <a:r>
              <a:rPr lang="en-US" sz="2800" dirty="0"/>
              <a:t>• Task of assigning documents to predefined classes</a:t>
            </a:r>
          </a:p>
          <a:p>
            <a:r>
              <a:rPr lang="en-US" sz="2800" dirty="0"/>
              <a:t>Example classes: </a:t>
            </a:r>
          </a:p>
          <a:p>
            <a:r>
              <a:rPr lang="en-US" sz="2800" dirty="0"/>
              <a:t>• Documents about multicore chips </a:t>
            </a:r>
          </a:p>
          <a:p>
            <a:r>
              <a:rPr lang="en-US" sz="2800" dirty="0"/>
              <a:t>• Documents not about multicore chips</a:t>
            </a:r>
          </a:p>
          <a:p>
            <a:r>
              <a:rPr lang="en-US" sz="2800" dirty="0"/>
              <a:t>🔹 Also called: </a:t>
            </a:r>
          </a:p>
          <a:p>
            <a:r>
              <a:rPr lang="en-US" sz="2800" dirty="0"/>
              <a:t>• Routing </a:t>
            </a:r>
          </a:p>
          <a:p>
            <a:r>
              <a:rPr lang="en-US" sz="2800" dirty="0"/>
              <a:t>• Filtering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964C9B9E-CFB5-AC92-409C-870C216AA3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Classification Concept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800441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068481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Text classification is used in: </a:t>
            </a:r>
          </a:p>
          <a:p>
            <a:r>
              <a:rPr lang="en-US" sz="2800" dirty="0"/>
              <a:t>• Spam detection </a:t>
            </a:r>
          </a:p>
          <a:p>
            <a:r>
              <a:rPr lang="en-US" sz="2800" dirty="0"/>
              <a:t>• Sentiment analysis </a:t>
            </a:r>
          </a:p>
          <a:p>
            <a:r>
              <a:rPr lang="en-US" sz="2800" dirty="0"/>
              <a:t>• Email sorting </a:t>
            </a:r>
          </a:p>
          <a:p>
            <a:r>
              <a:rPr lang="en-US" sz="2800" dirty="0"/>
              <a:t>• Content filtering </a:t>
            </a:r>
          </a:p>
          <a:p>
            <a:r>
              <a:rPr lang="en-US" sz="2800" dirty="0"/>
              <a:t>• Vertical search engines</a:t>
            </a:r>
          </a:p>
          <a:p>
            <a:r>
              <a:rPr lang="en-US" sz="2800" dirty="0"/>
              <a:t>➡️ Foundation for machine learning methods like </a:t>
            </a:r>
            <a:r>
              <a:rPr lang="en-US" sz="2800" b="1" dirty="0"/>
              <a:t>Naive Bayes</a:t>
            </a:r>
            <a:endParaRPr lang="en-US" sz="2800" dirty="0"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9052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Importance of Text Classification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539705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086209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Step 1: Give classes</a:t>
            </a:r>
            <a:endParaRPr lang="en-US" sz="2800" dirty="0"/>
          </a:p>
          <a:p>
            <a:r>
              <a:rPr lang="en-US" sz="2800" dirty="0"/>
              <a:t>Class A: Sports</a:t>
            </a:r>
          </a:p>
          <a:p>
            <a:r>
              <a:rPr lang="en-US" sz="2800" dirty="0"/>
              <a:t>Class B: Technology</a:t>
            </a:r>
          </a:p>
          <a:p>
            <a:r>
              <a:rPr lang="en-US" sz="2800" b="1" dirty="0"/>
              <a:t>Step 2: Give documents</a:t>
            </a:r>
            <a:br>
              <a:rPr lang="en-US" sz="2800" dirty="0"/>
            </a:br>
            <a:r>
              <a:rPr lang="en-US" sz="2800" dirty="0"/>
              <a:t>1️⃣ “The team won the match”</a:t>
            </a:r>
            <a:br>
              <a:rPr lang="en-US" sz="2800" dirty="0"/>
            </a:br>
            <a:r>
              <a:rPr lang="en-US" sz="2800" dirty="0"/>
              <a:t>2️⃣ “New processor improves performance”</a:t>
            </a:r>
            <a:br>
              <a:rPr lang="en-US" sz="2800" dirty="0"/>
            </a:br>
            <a:r>
              <a:rPr lang="en-US" sz="2800" dirty="0"/>
              <a:t>3️⃣ “The player scored a goal”</a:t>
            </a:r>
          </a:p>
          <a:p>
            <a:r>
              <a:rPr lang="en-US" sz="2800" b="1" dirty="0"/>
              <a:t>Ask students:</a:t>
            </a:r>
            <a:endParaRPr lang="en-US" sz="2800" dirty="0"/>
          </a:p>
          <a:p>
            <a:r>
              <a:rPr lang="en-US" sz="2800" dirty="0"/>
              <a:t>“Which class will Naive Bayes choose and WHY?”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MINI CLASSROOM EXERCISE 1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E7BF0F-5A0D-7D11-7E44-56D7E83EEC33}"/>
              </a:ext>
            </a:extLst>
          </p:cNvPr>
          <p:cNvSpPr txBox="1"/>
          <p:nvPr/>
        </p:nvSpPr>
        <p:spPr>
          <a:xfrm>
            <a:off x="4610734" y="11859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Exercise 1: Word-Based Classification (No </a:t>
            </a:r>
            <a:r>
              <a:rPr lang="en-US" sz="1800" b="1" dirty="0" err="1"/>
              <a:t>maths</a:t>
            </a:r>
            <a:r>
              <a:rPr lang="en-US" sz="18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36698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4F775-C631-07EA-67A3-C5ED59755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FC95F2A-778E-F6CF-CC31-F23B5A4F8AE6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ABA0E033-0C5F-85B1-FEC8-3E4D2D43217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C06941E-1B5D-9F9C-F1F7-737D74ABFF1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5A766CA2-84BA-A12F-5C23-D1030DE59D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MINI CLASSROOM EXERCISE 2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682345-A37A-6BF9-5B3F-CDCE12460BFB}"/>
              </a:ext>
            </a:extLst>
          </p:cNvPr>
          <p:cNvSpPr txBox="1"/>
          <p:nvPr/>
        </p:nvSpPr>
        <p:spPr>
          <a:xfrm>
            <a:off x="4610734" y="11859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Exercise 2: Word-Based Classification (No </a:t>
            </a:r>
            <a:r>
              <a:rPr lang="en-US" sz="1800" b="1" dirty="0" err="1"/>
              <a:t>maths</a:t>
            </a:r>
            <a:r>
              <a:rPr lang="en-US" sz="1800" b="1" dirty="0"/>
              <a:t>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1D260E5-9E1F-C079-DFBC-6005E3E4A052}"/>
              </a:ext>
            </a:extLst>
          </p:cNvPr>
          <p:cNvGraphicFramePr>
            <a:graphicFrameLocks noGrp="1"/>
          </p:cNvGraphicFramePr>
          <p:nvPr/>
        </p:nvGraphicFramePr>
        <p:xfrm>
          <a:off x="3428999" y="2294001"/>
          <a:ext cx="8731251" cy="2072640"/>
        </p:xfrm>
        <a:graphic>
          <a:graphicData uri="http://schemas.openxmlformats.org/drawingml/2006/table">
            <a:tbl>
              <a:tblPr/>
              <a:tblGrid>
                <a:gridCol w="2910417">
                  <a:extLst>
                    <a:ext uri="{9D8B030D-6E8A-4147-A177-3AD203B41FA5}">
                      <a16:colId xmlns:a16="http://schemas.microsoft.com/office/drawing/2014/main" val="445494854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4240870082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139142569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Words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Spam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Not Spam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3771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free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2460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meeting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55965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offer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75034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2D56940-D037-1F5D-1341-84A95CE10278}"/>
              </a:ext>
            </a:extLst>
          </p:cNvPr>
          <p:cNvSpPr txBox="1"/>
          <p:nvPr/>
        </p:nvSpPr>
        <p:spPr>
          <a:xfrm>
            <a:off x="6858000" y="5191553"/>
            <a:ext cx="4267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dirty="0"/>
              <a:t>Document:</a:t>
            </a:r>
          </a:p>
          <a:p>
            <a:pPr>
              <a:buNone/>
            </a:pPr>
            <a:r>
              <a:rPr lang="en-US" sz="3200" dirty="0"/>
              <a:t>“free offer”</a:t>
            </a:r>
          </a:p>
        </p:txBody>
      </p:sp>
    </p:spTree>
    <p:extLst>
      <p:ext uri="{BB962C8B-B14F-4D97-AF65-F5344CB8AC3E}">
        <p14:creationId xmlns:p14="http://schemas.microsoft.com/office/powerpoint/2010/main" val="539929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0BD95D1-5A8C-B244-934E-6BA939BF8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9ECE6E1-B3F6-F8C5-573A-DD1E86DCD095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5256C7E-F631-1DA6-DFAB-765E771777B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7F75752-D334-16A5-05D2-980BD20A310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3F7266F3-05BA-BD12-1987-AA2E149F7438}"/>
              </a:ext>
            </a:extLst>
          </p:cNvPr>
          <p:cNvSpPr txBox="1"/>
          <p:nvPr/>
        </p:nvSpPr>
        <p:spPr>
          <a:xfrm>
            <a:off x="2934462" y="2068481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b="1" dirty="0"/>
              <a:t>Naive Bayes Classifier</a:t>
            </a:r>
            <a:endParaRPr lang="en-US" sz="3600" dirty="0"/>
          </a:p>
          <a:p>
            <a:r>
              <a:rPr lang="en-US" sz="3600" dirty="0"/>
              <a:t>• A machine learning method for text classification </a:t>
            </a:r>
          </a:p>
          <a:p>
            <a:r>
              <a:rPr lang="en-US" sz="3600" dirty="0"/>
              <a:t>• Uses probability to decide the class of a document </a:t>
            </a:r>
          </a:p>
          <a:p>
            <a:r>
              <a:rPr lang="en-US" sz="3600" dirty="0"/>
              <a:t>• Learns from labeled training data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05599FBC-5390-EED9-D5F4-43765C1642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9052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Introduction to Naive Bayes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914365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086209"/>
            <a:ext cx="8448040" cy="461087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Key idea: </a:t>
            </a:r>
          </a:p>
          <a:p>
            <a:r>
              <a:rPr lang="en-US" sz="3600" dirty="0"/>
              <a:t>• Certain words indicate certain topics</a:t>
            </a:r>
          </a:p>
          <a:p>
            <a:r>
              <a:rPr lang="en-US" sz="3600" dirty="0"/>
              <a:t>Examples: </a:t>
            </a:r>
          </a:p>
          <a:p>
            <a:r>
              <a:rPr lang="en-US" sz="3600" dirty="0"/>
              <a:t>• goal, match, team → Sports </a:t>
            </a:r>
          </a:p>
          <a:p>
            <a:r>
              <a:rPr lang="en-US" sz="3600" dirty="0"/>
              <a:t>• election, vote, party → Politics</a:t>
            </a:r>
          </a:p>
          <a:p>
            <a:endParaRPr lang="en-US" sz="3600" dirty="0"/>
          </a:p>
          <a:p>
            <a:r>
              <a:rPr lang="en-US" sz="3600" dirty="0"/>
              <a:t>➡️ Naive Bayes learns this using probabilities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Intuition Behind Naive Bayes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80821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791876E-989D-2511-774D-2FCB0476B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D4520AC-311E-A5A0-8526-3249756DBF87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E9BC8B9-EE7C-23A9-8B73-77A36315B26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C162B31-0D20-EA68-8C77-EA9D896891D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E8364D86-20CF-57E0-42C1-D6055675BED7}"/>
              </a:ext>
            </a:extLst>
          </p:cNvPr>
          <p:cNvSpPr txBox="1"/>
          <p:nvPr/>
        </p:nvSpPr>
        <p:spPr>
          <a:xfrm>
            <a:off x="2934462" y="2086209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“Naive Bayes asks one question:</a:t>
            </a:r>
            <a:br>
              <a:rPr lang="en-US" sz="3600" dirty="0"/>
            </a:br>
            <a:r>
              <a:rPr lang="en-US" sz="3600" dirty="0"/>
              <a:t>Which class is more probable for this document?”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600" dirty="0"/>
          </a:p>
          <a:p>
            <a:r>
              <a:rPr lang="en-US" sz="3600" dirty="0"/>
              <a:t>For each class, it checks:</a:t>
            </a:r>
          </a:p>
          <a:p>
            <a:r>
              <a:rPr lang="en-US" sz="3600" dirty="0"/>
              <a:t>How often do these words appear in this class?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5A9FC5F6-F4D6-A43E-8AB4-1BF729B954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How Naive Bayes thinks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732796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086209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For a new document: </a:t>
            </a:r>
          </a:p>
          <a:p>
            <a:r>
              <a:rPr lang="en-US" sz="3600" dirty="0"/>
              <a:t>1️⃣ Look at the words in the document </a:t>
            </a:r>
          </a:p>
          <a:p>
            <a:r>
              <a:rPr lang="en-US" sz="3600" dirty="0"/>
              <a:t>2️⃣ Estimate how likely these words are for each class </a:t>
            </a:r>
          </a:p>
          <a:p>
            <a:r>
              <a:rPr lang="en-US" sz="3600" dirty="0"/>
              <a:t>3️⃣ Compute probability for each class </a:t>
            </a:r>
          </a:p>
          <a:p>
            <a:r>
              <a:rPr lang="en-US" sz="3600" dirty="0"/>
              <a:t>4️⃣ Choose the class with highest probability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How Naive Bayes Works (High Level)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984274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0A26E0-AEEA-1817-07E8-DB96EFCB0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B761CAC-97A0-DE95-7AF1-46E3BC4DB20E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2EA628D-9DF6-5602-0DFD-6132CBBF2BE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C3DA9AA-DD2B-150A-8531-95A8FBCE36F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037E3DF2-CD00-8025-94A1-D997FD611633}"/>
              </a:ext>
            </a:extLst>
          </p:cNvPr>
          <p:cNvSpPr txBox="1"/>
          <p:nvPr/>
        </p:nvSpPr>
        <p:spPr>
          <a:xfrm>
            <a:off x="2934462" y="2086209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🔹 </a:t>
            </a:r>
            <a:r>
              <a:rPr lang="en-US" sz="3600" b="1" dirty="0"/>
              <a:t>Bayes</a:t>
            </a:r>
            <a:r>
              <a:rPr lang="en-US" sz="3600" dirty="0"/>
              <a:t> • Based on Bayes’ theorem (probability rule)</a:t>
            </a:r>
          </a:p>
          <a:p>
            <a:r>
              <a:rPr lang="en-US" sz="3600" dirty="0"/>
              <a:t>🔹 </a:t>
            </a:r>
            <a:r>
              <a:rPr lang="en-US" sz="3600" b="1" dirty="0"/>
              <a:t>Naive</a:t>
            </a:r>
            <a:r>
              <a:rPr lang="en-US" sz="3600" dirty="0"/>
              <a:t> • Assumes words are independent of each other</a:t>
            </a:r>
          </a:p>
          <a:p>
            <a:r>
              <a:rPr lang="en-US" sz="3600" dirty="0"/>
              <a:t> • This assumption is simple but effective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1BA6A45B-3617-E35A-EE73-3BF4DAEB39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Why is it Called Naive Bayes?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243638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E5DF432-8742-37C7-E60E-A0A6CF8A0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6293971-85A7-90F0-D9A4-6A08D2AE0E64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18197560-7877-8839-0477-F2EADB89578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1480490-0B47-5689-25ED-93063A419301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9C364BC0-F0D5-716A-1291-BF24AFE1F628}"/>
              </a:ext>
            </a:extLst>
          </p:cNvPr>
          <p:cNvSpPr txBox="1"/>
          <p:nvPr/>
        </p:nvSpPr>
        <p:spPr>
          <a:xfrm>
            <a:off x="2934462" y="2086209"/>
            <a:ext cx="8448040" cy="184088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✅ Simple and easy to understand </a:t>
            </a:r>
          </a:p>
          <a:p>
            <a:r>
              <a:rPr lang="en-US" sz="3600" dirty="0"/>
              <a:t>✅ Fast and efficient </a:t>
            </a:r>
          </a:p>
          <a:p>
            <a:r>
              <a:rPr lang="en-US" sz="3600" dirty="0"/>
              <a:t>✅ Works well for large text collections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8D529CD0-A628-FC0A-3E69-E678594583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 Why Naive Bayes is Popular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676395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D8F7B6-6647-D181-CB2D-5C2BEE9D1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3DD3EE84-AEF6-4ECC-C0FE-DA59183F2D00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7793684-F521-CF69-CAC9-A6DE8427CC3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CBF891F-9BB4-5920-A9DC-4A480096586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D32FDD5F-A8DE-8EF5-4B85-EBCBAD568F1E}"/>
              </a:ext>
            </a:extLst>
          </p:cNvPr>
          <p:cNvSpPr txBox="1"/>
          <p:nvPr/>
        </p:nvSpPr>
        <p:spPr>
          <a:xfrm>
            <a:off x="2934462" y="2086209"/>
            <a:ext cx="8448040" cy="85600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4400" dirty="0"/>
              <a:t>P(c | d) = P(d | c) × P(c) / P(d)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28626781-FE51-EC93-5692-C8AE313894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</a:t>
            </a:r>
            <a:r>
              <a:rPr lang="en-US" sz="3200" dirty="0"/>
              <a:t>Bayes theorem 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341342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EA83B73-64F6-2910-7207-7073472FD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67926E3-E73C-8975-892B-6FEF7E74A751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A44E644-320C-5E25-3682-CAF07F83F74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F307FF9-F8FC-1196-AAC0-217F43E5A16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12846578-7713-C749-BE3B-AD9C2054BEB1}"/>
              </a:ext>
            </a:extLst>
          </p:cNvPr>
          <p:cNvSpPr txBox="1"/>
          <p:nvPr/>
        </p:nvSpPr>
        <p:spPr>
          <a:xfrm>
            <a:off x="2934462" y="2086209"/>
            <a:ext cx="8448040" cy="91755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4800" dirty="0"/>
              <a:t>P(c | d) ∝ P(c) × ∏ P(wᵢ | c)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47F26A9F-F2AB-CAB5-2800-D4BFC794F2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</a:t>
            </a:r>
            <a:r>
              <a:rPr lang="en-US" sz="3200" dirty="0"/>
              <a:t>Naive Bayes 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776638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4E80EB-743A-23B0-44BE-5C4D6AAB0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CE39991-1EC2-80AF-34F6-A1B3B486B898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5E606654-CCAD-27C4-667D-45ECD1E1FA1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406B08A-7D25-155D-5BFD-BE6C7C22FEE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D345E4B1-DF00-097A-653B-12F8CF75D4A6}"/>
              </a:ext>
            </a:extLst>
          </p:cNvPr>
          <p:cNvSpPr txBox="1"/>
          <p:nvPr/>
        </p:nvSpPr>
        <p:spPr>
          <a:xfrm>
            <a:off x="2934462" y="2086209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Given:</a:t>
            </a:r>
            <a:endParaRPr lang="en-US" sz="2800" dirty="0"/>
          </a:p>
          <a:p>
            <a:r>
              <a:rPr lang="en-US" sz="2800" dirty="0"/>
              <a:t>Document space </a:t>
            </a:r>
            <a:r>
              <a:rPr lang="en-US" sz="2800" b="1" dirty="0"/>
              <a:t>X</a:t>
            </a:r>
            <a:endParaRPr lang="en-US" sz="2800" dirty="0"/>
          </a:p>
          <a:p>
            <a:r>
              <a:rPr lang="en-US" sz="2800" dirty="0"/>
              <a:t>Set of classes </a:t>
            </a:r>
            <a:r>
              <a:rPr lang="en-US" sz="2800" b="1" dirty="0"/>
              <a:t>C = {c₁, c₂, …, cⱼ}</a:t>
            </a:r>
            <a:endParaRPr lang="en-US" sz="2800" dirty="0"/>
          </a:p>
          <a:p>
            <a:r>
              <a:rPr lang="en-US" sz="2800" b="1" dirty="0"/>
              <a:t>Goal:</a:t>
            </a:r>
            <a:br>
              <a:rPr lang="en-US" sz="2800" dirty="0"/>
            </a:br>
            <a:r>
              <a:rPr lang="en-US" sz="2800" dirty="0"/>
              <a:t>Assign each document to </a:t>
            </a:r>
            <a:r>
              <a:rPr lang="en-US" sz="2800" b="1" dirty="0"/>
              <a:t>exactly one class</a:t>
            </a:r>
          </a:p>
          <a:p>
            <a:endParaRPr lang="en-US" sz="2800" b="1" dirty="0"/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DBE02E1-D9E4-4919-3D91-44A5F128B2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Text Classification Problem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330150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3A5A3-F14B-51E0-FA46-D5AE8B911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2650665-D254-C055-EC3D-684A2799CB3A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80EF965-9D7A-84BA-FEF1-3E91FD28EB9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5E91611-6C7D-1B13-ED64-21269B0814B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AC10543C-90A4-6735-A1B6-95F7F3218082}"/>
              </a:ext>
            </a:extLst>
          </p:cNvPr>
          <p:cNvSpPr txBox="1"/>
          <p:nvPr/>
        </p:nvSpPr>
        <p:spPr>
          <a:xfrm>
            <a:off x="2934462" y="2086209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“We are given a description d ∈ X of a document, where X is the document space.”</a:t>
            </a:r>
          </a:p>
          <a:p>
            <a:endParaRPr lang="en-US" sz="3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 (document space)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all possible documents the system can see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document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belongs to this space</a:t>
            </a:r>
          </a:p>
          <a:p>
            <a:endParaRPr lang="en-US" sz="3200" dirty="0"/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F8E148D6-9B88-6695-1EA9-17DAC2E7C1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Document Space (X)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434599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C14F6-5EAA-B8F7-7049-9D4087126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7B8C600-4DD5-B653-7C9F-52C28709B690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454679B-EDB4-BF2F-D7EC-34A84261657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E9968D6-798D-5687-DB02-6C78B99756E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964A89E3-C656-9BA6-FE2D-5B14E9EAFD7E}"/>
              </a:ext>
            </a:extLst>
          </p:cNvPr>
          <p:cNvSpPr txBox="1"/>
          <p:nvPr/>
        </p:nvSpPr>
        <p:spPr>
          <a:xfrm>
            <a:off x="2934462" y="2086209"/>
            <a:ext cx="844804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“A fixed set of classes C = {c1, c2, …, </a:t>
            </a:r>
            <a:r>
              <a:rPr lang="en-US" sz="3200" dirty="0" err="1"/>
              <a:t>cJ</a:t>
            </a:r>
            <a:r>
              <a:rPr lang="en-US" sz="3200" dirty="0"/>
              <a:t>}”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Classes = labels or categories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are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decided by humans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the computer</a:t>
            </a:r>
            <a:endParaRPr lang="en-US" sz="3200" dirty="0"/>
          </a:p>
          <a:p>
            <a:endParaRPr lang="en-US" sz="3200" dirty="0"/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4E9751EF-8EB0-9551-6ED4-0741F450EF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Classes (C)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558856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67B5D-98CA-810C-8857-7E0BD3EA8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CA5B5CAA-3707-040C-36BC-AABD6928043D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CC9893E7-18F6-9D87-185B-1AB2F2F84DB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0342915-BFF2-54E8-DB85-A8082E48522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C74766E4-BD93-5078-E316-561BB6B34BB6}"/>
              </a:ext>
            </a:extLst>
          </p:cNvPr>
          <p:cNvSpPr txBox="1"/>
          <p:nvPr/>
        </p:nvSpPr>
        <p:spPr>
          <a:xfrm>
            <a:off x="2934462" y="2086209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“We are given a training set D of labeled documents ⟨d, c⟩”</a:t>
            </a:r>
          </a:p>
          <a:p>
            <a:endParaRPr lang="en-US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documents where we already know the correct class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document comes with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label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679FF32-67D5-AF49-CABA-A711FD670E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Training Set (D) (Supervised Learning)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356235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F7666-1632-C98C-7D35-E1374E751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C66A859-2332-39E7-0245-324C96AA655B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9A0A954-4A49-2591-880A-6696F8B3F09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340BE8D-B9E8-D587-1B80-64D09450C89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791AD95B-FAD7-1EAD-0C2B-ECB8A4761C8C}"/>
              </a:ext>
            </a:extLst>
          </p:cNvPr>
          <p:cNvSpPr txBox="1"/>
          <p:nvPr/>
        </p:nvSpPr>
        <p:spPr>
          <a:xfrm>
            <a:off x="2934462" y="2086209"/>
            <a:ext cx="8448040" cy="350288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P(c | d)</a:t>
            </a:r>
          </a:p>
          <a:p>
            <a:endParaRPr lang="en-US" sz="3600" dirty="0"/>
          </a:p>
          <a:p>
            <a:r>
              <a:rPr lang="en-US" sz="3600" dirty="0"/>
              <a:t>“Probability of class </a:t>
            </a:r>
            <a:r>
              <a:rPr lang="en-US" sz="3600" b="1" dirty="0"/>
              <a:t>c</a:t>
            </a:r>
            <a:r>
              <a:rPr lang="en-US" sz="3600" dirty="0"/>
              <a:t>, given document </a:t>
            </a:r>
            <a:r>
              <a:rPr lang="en-US" sz="3600" b="1" dirty="0"/>
              <a:t>d</a:t>
            </a:r>
            <a:r>
              <a:rPr lang="en-US" sz="3600" dirty="0"/>
              <a:t>”</a:t>
            </a:r>
          </a:p>
          <a:p>
            <a:r>
              <a:rPr lang="en-US" sz="3600" dirty="0"/>
              <a:t>So Naive Bayes is asking:</a:t>
            </a:r>
          </a:p>
          <a:p>
            <a:r>
              <a:rPr lang="en-US" sz="3600" dirty="0"/>
              <a:t>“Given this document, how likely is it to belong to class c?”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4F28B8AD-82E3-0676-561B-2F8FB84D12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</a:t>
            </a:r>
            <a:r>
              <a:rPr lang="en-US" sz="3200" dirty="0"/>
              <a:t>What does </a:t>
            </a:r>
            <a:r>
              <a:rPr lang="en-US" dirty="0"/>
              <a:t>P(c | d)</a:t>
            </a:r>
            <a:r>
              <a:rPr lang="en-US" sz="3200" dirty="0"/>
              <a:t> mean?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05435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B1EA7-0B00-D810-9E9F-34AD38D12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C3FE1FF-520A-D7E3-79E0-4B6A9B23DC5F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5DB07B36-F8C6-5218-CE41-4AFC4D8860C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7E59196-B0E1-950F-11AE-B4E17A533D2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1CC5D410-A950-5AE7-E5FB-723A761E58E9}"/>
              </a:ext>
            </a:extLst>
          </p:cNvPr>
          <p:cNvSpPr txBox="1"/>
          <p:nvPr/>
        </p:nvSpPr>
        <p:spPr>
          <a:xfrm>
            <a:off x="2934462" y="2086209"/>
            <a:ext cx="8448040" cy="411843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P(c)</a:t>
            </a:r>
          </a:p>
          <a:p>
            <a:r>
              <a:rPr lang="en-US" sz="3200" dirty="0"/>
              <a:t>This is the </a:t>
            </a:r>
            <a:r>
              <a:rPr lang="en-US" sz="3200" b="1" dirty="0"/>
              <a:t>prior probability</a:t>
            </a:r>
            <a:r>
              <a:rPr lang="en-US" sz="3200" dirty="0"/>
              <a:t> of class c.</a:t>
            </a:r>
          </a:p>
          <a:p>
            <a:endParaRPr lang="en-US" sz="3200" dirty="0"/>
          </a:p>
          <a:p>
            <a:r>
              <a:rPr lang="en-US" sz="3200" dirty="0"/>
              <a:t>“How common is class c in training data?”</a:t>
            </a:r>
          </a:p>
          <a:p>
            <a:r>
              <a:rPr lang="en-US" sz="3200" dirty="0"/>
              <a:t>Example:</a:t>
            </a:r>
          </a:p>
          <a:p>
            <a:r>
              <a:rPr lang="en-US" sz="3200" dirty="0"/>
              <a:t>100 training documents</a:t>
            </a:r>
          </a:p>
          <a:p>
            <a:r>
              <a:rPr lang="en-US" sz="3200" dirty="0"/>
              <a:t>30 are China</a:t>
            </a:r>
          </a:p>
          <a:p>
            <a:pPr rtl="0"/>
            <a:r>
              <a:rPr lang="en-US" sz="3200" dirty="0"/>
              <a:t>P(China) = 30 / 100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3339B648-8C60-CD1A-EE7E-305AA2384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What is </a:t>
            </a:r>
            <a:r>
              <a:rPr lang="en-IN" dirty="0"/>
              <a:t>P(c)</a:t>
            </a:r>
            <a:r>
              <a:rPr lang="en-IN" sz="3200" dirty="0"/>
              <a:t>?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04976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4056B-FE45-772C-C4AB-DF622CF21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21CC5F7-9111-8FAD-5D7E-DB94FD7EF9C1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BDAB64E-79C8-788E-246A-76E0C999918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FC41B58-5F42-E219-332E-D62C73002F2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07546164-BDD7-02DD-48C6-30878CF8DCE8}"/>
              </a:ext>
            </a:extLst>
          </p:cNvPr>
          <p:cNvSpPr txBox="1"/>
          <p:nvPr/>
        </p:nvSpPr>
        <p:spPr>
          <a:xfrm>
            <a:off x="2934462" y="2086209"/>
            <a:ext cx="8448040" cy="147155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“If the document belongs to class c, how likely is it to look like this?”</a:t>
            </a:r>
          </a:p>
          <a:p>
            <a:r>
              <a:rPr lang="en-US" sz="2800" dirty="0"/>
              <a:t>But documents are made of </a:t>
            </a:r>
            <a:r>
              <a:rPr lang="en-US" sz="2800" b="1" dirty="0"/>
              <a:t>words</a:t>
            </a:r>
            <a:r>
              <a:rPr lang="en-US" sz="2800" dirty="0"/>
              <a:t>, so…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F0C539D3-220B-754F-5832-C5D4FD83A5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</a:t>
            </a:r>
            <a:r>
              <a:rPr lang="en-US" sz="3200" dirty="0"/>
              <a:t>What is </a:t>
            </a:r>
            <a:r>
              <a:rPr lang="en-US" dirty="0"/>
              <a:t>P(d | c)</a:t>
            </a:r>
            <a:r>
              <a:rPr lang="en-US" sz="3200" dirty="0"/>
              <a:t>?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994695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18FE2-F4E4-219A-12BA-2DBF4E91C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16C961F-D377-81F6-935C-7029CAEA9428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B5B5FC3-A495-7ED2-CC6B-3676662193E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9E9FAE2-E146-07A6-94DD-AE537F2FA80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6A2A496B-77D4-C9DD-526C-DF647ED148A0}"/>
              </a:ext>
            </a:extLst>
          </p:cNvPr>
          <p:cNvSpPr txBox="1"/>
          <p:nvPr/>
        </p:nvSpPr>
        <p:spPr>
          <a:xfrm>
            <a:off x="2934462" y="2086209"/>
            <a:ext cx="8448040" cy="448776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1️⃣ Learning method (Γ)</a:t>
            </a:r>
          </a:p>
          <a:p>
            <a:r>
              <a:rPr lang="en-US" sz="2800" dirty="0"/>
              <a:t>The </a:t>
            </a:r>
            <a:r>
              <a:rPr lang="en-US" sz="2800" b="1" dirty="0"/>
              <a:t>process</a:t>
            </a:r>
            <a:endParaRPr lang="en-US" sz="2800" dirty="0"/>
          </a:p>
          <a:p>
            <a:r>
              <a:rPr lang="en-US" sz="2800" dirty="0"/>
              <a:t>The algorithm</a:t>
            </a:r>
          </a:p>
          <a:p>
            <a:r>
              <a:rPr lang="en-US" sz="2800" dirty="0"/>
              <a:t>Example: Naive Bayes learning method</a:t>
            </a:r>
          </a:p>
          <a:p>
            <a:endParaRPr lang="en-US" sz="2800" dirty="0"/>
          </a:p>
          <a:p>
            <a:r>
              <a:rPr lang="en-US" sz="2800" b="1" dirty="0"/>
              <a:t>2️⃣ Classifier (γ)</a:t>
            </a:r>
          </a:p>
          <a:p>
            <a:r>
              <a:rPr lang="en-US" sz="2800" dirty="0"/>
              <a:t>The </a:t>
            </a:r>
            <a:r>
              <a:rPr lang="en-US" sz="2800" b="1" dirty="0"/>
              <a:t>result</a:t>
            </a:r>
            <a:endParaRPr lang="en-US" sz="2800" dirty="0"/>
          </a:p>
          <a:p>
            <a:r>
              <a:rPr lang="en-US" sz="2800" dirty="0"/>
              <a:t>The function that actually classifies documents.</a:t>
            </a:r>
          </a:p>
          <a:p>
            <a:endParaRPr lang="en-US" sz="2800" dirty="0"/>
          </a:p>
          <a:p>
            <a:r>
              <a:rPr lang="el-GR" sz="2800" dirty="0"/>
              <a:t>γ : </a:t>
            </a:r>
            <a:r>
              <a:rPr lang="en-US" sz="2800" dirty="0"/>
              <a:t>X → C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03590A13-6061-7474-CF1A-32D730D825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</a:t>
            </a:r>
            <a:r>
              <a:rPr lang="en-US" sz="3200" dirty="0"/>
              <a:t>Learning Method &amp; Classifier (Γ and γ)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189737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5E9407E-F9F8-8A3F-CCAA-0AEEF1BD3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3C080B6-81BF-4C46-D73D-1F1898FC3435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599C998-F7AD-1950-FF89-A8B58545D5F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00ABD6A-564F-66FD-9508-B73D12D3567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E5E7D2B8-8F25-CF3D-C6ED-5E8602FA8237}"/>
              </a:ext>
            </a:extLst>
          </p:cNvPr>
          <p:cNvSpPr txBox="1"/>
          <p:nvPr/>
        </p:nvSpPr>
        <p:spPr>
          <a:xfrm>
            <a:off x="2934462" y="2086209"/>
            <a:ext cx="8448040" cy="294888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600" dirty="0"/>
              <a:t>📌 Goal: • Find the most probable class for a document</a:t>
            </a:r>
          </a:p>
          <a:p>
            <a:r>
              <a:rPr lang="en-US" sz="3600" dirty="0"/>
              <a:t>For a document </a:t>
            </a:r>
            <a:r>
              <a:rPr lang="en-US" sz="3600" b="1" dirty="0"/>
              <a:t>d</a:t>
            </a:r>
            <a:r>
              <a:rPr lang="en-US" sz="3600" dirty="0"/>
              <a:t> and class </a:t>
            </a:r>
            <a:r>
              <a:rPr lang="en-US" sz="3600" b="1" dirty="0"/>
              <a:t>c</a:t>
            </a:r>
            <a:r>
              <a:rPr lang="en-US" sz="3600" dirty="0"/>
              <a:t>:</a:t>
            </a:r>
          </a:p>
          <a:p>
            <a:r>
              <a:rPr lang="en-US" sz="3600" dirty="0"/>
              <a:t>➡️ Choose the class with maximum:</a:t>
            </a:r>
          </a:p>
          <a:p>
            <a:r>
              <a:rPr lang="en-US" sz="3600" dirty="0"/>
              <a:t>P(c | d)</a:t>
            </a:r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5E0A0C43-7056-317B-E8F3-980801AF74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sz="3200" dirty="0"/>
              <a:t> </a:t>
            </a:r>
            <a:r>
              <a:rPr lang="en-IN" sz="3200" dirty="0"/>
              <a:t>Naive Bayes – Probabilistic Model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9846715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086209"/>
            <a:ext cx="8448040" cy="1533112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4400" dirty="0"/>
              <a:t>Document: "Beijing joins WTO"</a:t>
            </a:r>
          </a:p>
          <a:p>
            <a:r>
              <a:rPr lang="en-US" sz="4400" dirty="0"/>
              <a:t>Class: China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8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Text Classification Problem Example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896642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8328544-FF15-9382-A085-6C0212218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3FEA1BD-C043-EB3A-3E6A-4C3B8876D9E1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91FC58C-E7CE-FA01-E97C-C278B5EA3B9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F50106C-2D10-97BF-AC4F-31491937D62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D7938655-04C1-24FA-5B0E-810AD047A609}"/>
              </a:ext>
            </a:extLst>
          </p:cNvPr>
          <p:cNvSpPr txBox="1"/>
          <p:nvPr/>
        </p:nvSpPr>
        <p:spPr>
          <a:xfrm>
            <a:off x="3048000" y="2286000"/>
            <a:ext cx="8448040" cy="31951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IN" sz="2800" b="1" dirty="0"/>
              <a:t>Classifier (</a:t>
            </a:r>
            <a:r>
              <a:rPr lang="el-GR" sz="2800" b="1" dirty="0"/>
              <a:t>γ):</a:t>
            </a:r>
            <a:endParaRPr lang="en-US" sz="2800" b="1" dirty="0"/>
          </a:p>
          <a:p>
            <a:endParaRPr lang="el-GR" sz="2800" dirty="0"/>
          </a:p>
          <a:p>
            <a:r>
              <a:rPr lang="en-IN" sz="2800" b="1" dirty="0"/>
              <a:t>Meaning:</a:t>
            </a:r>
            <a:endParaRPr lang="en-IN" sz="2800" dirty="0"/>
          </a:p>
          <a:p>
            <a:r>
              <a:rPr lang="en-IN" sz="2800" dirty="0"/>
              <a:t>Input → Document</a:t>
            </a:r>
          </a:p>
          <a:p>
            <a:r>
              <a:rPr lang="en-IN" sz="2800" dirty="0"/>
              <a:t>Output → One class</a:t>
            </a:r>
          </a:p>
          <a:p>
            <a:r>
              <a:rPr lang="en-IN" sz="2800" b="1" dirty="0"/>
              <a:t>Example:</a:t>
            </a:r>
          </a:p>
          <a:p>
            <a:endParaRPr lang="en-IN" sz="2800" dirty="0"/>
          </a:p>
        </p:txBody>
      </p: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3E5D1ED0-C579-0686-77BE-289C24936F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9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3200" dirty="0"/>
              <a:t> Classifier Function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19389" y="2439546"/>
            <a:ext cx="3301501" cy="120971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58000" y="4724400"/>
            <a:ext cx="2990010" cy="112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035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9141622-4463-E87C-378F-CD50CCC65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2BF36EC-0788-B3A2-3903-D102126EDEC8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9AE3E37B-F48E-8E03-DD5A-CDB61ED8327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6048A68-80E6-D280-8E75-C74FDF69A35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DA3087BE-CA98-6B59-B40B-89505288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dirty="0"/>
              <a:t> 1. Examples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3EE13DA-825E-385A-C3B0-13D3AF548796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Imagine you are a </a:t>
            </a:r>
            <a:r>
              <a:rPr lang="en-US" b="1" dirty="0"/>
              <a:t>Library Helper</a:t>
            </a:r>
            <a:r>
              <a:rPr lang="en-US" dirty="0"/>
              <a:t>. Your job is to take a book and decide if it goes in the </a:t>
            </a:r>
            <a:r>
              <a:rPr lang="en-US" b="1" dirty="0"/>
              <a:t>"Horror"</a:t>
            </a:r>
            <a:r>
              <a:rPr lang="en-US" dirty="0"/>
              <a:t> section or the </a:t>
            </a:r>
            <a:r>
              <a:rPr lang="en-US" b="1" dirty="0"/>
              <a:t>"Romantic Comedy"</a:t>
            </a:r>
            <a:r>
              <a:rPr lang="en-US" dirty="0"/>
              <a:t> section.</a:t>
            </a:r>
          </a:p>
        </p:txBody>
      </p:sp>
    </p:spTree>
    <p:extLst>
      <p:ext uri="{BB962C8B-B14F-4D97-AF65-F5344CB8AC3E}">
        <p14:creationId xmlns:p14="http://schemas.microsoft.com/office/powerpoint/2010/main" val="9921452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0997186-39A0-E5A7-FB7C-FCB7F4273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00C6E06-DBE1-7E9E-2D02-C879C651A8D9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5953392-9A49-02D6-9947-B0596E8B737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645E6A5-F03B-6C9B-DFA0-4586D31DDAF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41D413CE-35D3-744D-FDF4-EAE058A152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983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1. The Starting Guess (The "Prior")</a:t>
            </a:r>
            <a:br>
              <a:rPr lang="en-US" dirty="0"/>
            </a:b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B2CF576-FBF1-E532-3F39-71F48033157E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Before you even open the book, you look at the library. You notice that 80% of the library is Horror books.</a:t>
            </a:r>
          </a:p>
          <a:p>
            <a:endParaRPr lang="en-US" dirty="0"/>
          </a:p>
          <a:p>
            <a:r>
              <a:rPr lang="en-US" altLang="en-US" b="1" dirty="0">
                <a:latin typeface="Arial" panose="020B0604020202020204" pitchFamily="34" charset="0"/>
                <a:ea typeface="Google Sans Text"/>
              </a:rPr>
              <a:t>In the formula:</a:t>
            </a:r>
            <a:r>
              <a:rPr lang="en-US" altLang="en-US" dirty="0">
                <a:latin typeface="Arial" panose="020B0604020202020204" pitchFamily="34" charset="0"/>
              </a:rPr>
              <a:t> This is </a:t>
            </a:r>
            <a:r>
              <a:rPr lang="en-US" altLang="en-US" dirty="0">
                <a:latin typeface="Arial" panose="020B0604020202020204" pitchFamily="34" charset="0"/>
                <a:ea typeface="Google Sans Text"/>
              </a:rPr>
              <a:t>P(c)</a:t>
            </a:r>
            <a:r>
              <a:rPr lang="en-US" altLang="en-US" dirty="0">
                <a:latin typeface="Arial" panose="020B0604020202020204" pitchFamily="34" charset="0"/>
              </a:rPr>
              <a:t>. It’s the "Starting Score" based on what you already have.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3408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AA379-17E9-26C7-40A6-2F381CED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CEFD3A7-1EC7-6DC2-97C9-A1BD86E071F4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AC9F4997-B337-A015-CB10-3D49217409F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D1FFD64-7CAD-0F38-EA92-1609A436625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5F809041-81A5-0B70-2587-3B645536BC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2. The Clues (The "Evidence")</a:t>
            </a:r>
            <a:br>
              <a:rPr lang="en-US" dirty="0"/>
            </a:b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6BA324E-2147-5CF8-56A5-7C3635E184E8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/>
              <a:t>Now, you open the book and look at three random words: </a:t>
            </a:r>
            <a:r>
              <a:rPr lang="en-US" sz="4000" b="1" dirty="0"/>
              <a:t>"Blood"</a:t>
            </a:r>
            <a:r>
              <a:rPr lang="en-US" sz="4000" dirty="0"/>
              <a:t>, </a:t>
            </a:r>
            <a:r>
              <a:rPr lang="en-US" sz="4000" b="1" dirty="0"/>
              <a:t>"Shadow"</a:t>
            </a:r>
            <a:r>
              <a:rPr lang="en-US" sz="4000" dirty="0"/>
              <a:t>, and </a:t>
            </a:r>
            <a:r>
              <a:rPr lang="en-US" sz="4000" b="1" dirty="0"/>
              <a:t>"Kiss"</a:t>
            </a:r>
            <a:r>
              <a:rPr lang="en-US" sz="4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06760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BE835-E39F-9702-E2AD-9B1A446A1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A2882BD-C123-CB32-FB37-3BDF08D13C72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5AF010E7-F31B-D468-D542-00EF6B083D4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6A42E71-36B4-7EDA-DAA0-DBE146D7DEE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9DAE211A-A3FD-E6B5-2EE3-9C3C682394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983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2. The Clues (The "Evidence") with datasets</a:t>
            </a:r>
            <a:br>
              <a:rPr lang="en-US" dirty="0"/>
            </a:b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ADDA83-9259-8030-BBB5-493FD457C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861124"/>
              </p:ext>
            </p:extLst>
          </p:nvPr>
        </p:nvGraphicFramePr>
        <p:xfrm>
          <a:off x="2743200" y="2666999"/>
          <a:ext cx="8770620" cy="3735083"/>
        </p:xfrm>
        <a:graphic>
          <a:graphicData uri="http://schemas.openxmlformats.org/drawingml/2006/table">
            <a:tbl>
              <a:tblPr/>
              <a:tblGrid>
                <a:gridCol w="2923540">
                  <a:extLst>
                    <a:ext uri="{9D8B030D-6E8A-4147-A177-3AD203B41FA5}">
                      <a16:colId xmlns:a16="http://schemas.microsoft.com/office/drawing/2014/main" val="2431012776"/>
                    </a:ext>
                  </a:extLst>
                </a:gridCol>
                <a:gridCol w="2923540">
                  <a:extLst>
                    <a:ext uri="{9D8B030D-6E8A-4147-A177-3AD203B41FA5}">
                      <a16:colId xmlns:a16="http://schemas.microsoft.com/office/drawing/2014/main" val="1772348070"/>
                    </a:ext>
                  </a:extLst>
                </a:gridCol>
                <a:gridCol w="2923540">
                  <a:extLst>
                    <a:ext uri="{9D8B030D-6E8A-4147-A177-3AD203B41FA5}">
                      <a16:colId xmlns:a16="http://schemas.microsoft.com/office/drawing/2014/main" val="2069636540"/>
                    </a:ext>
                  </a:extLst>
                </a:gridCol>
              </a:tblGrid>
              <a:tr h="900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effectLst/>
                          <a:latin typeface="Google Sans Text"/>
                        </a:rPr>
                        <a:t>Word</a:t>
                      </a:r>
                      <a:endParaRPr lang="en-IN" sz="28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effectLst/>
                          <a:latin typeface="Google Sans Text"/>
                        </a:rPr>
                        <a:t>Chance in Horror</a:t>
                      </a:r>
                      <a:endParaRPr lang="en-IN" sz="28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  <a:latin typeface="Google Sans Text"/>
                        </a:rPr>
                        <a:t>Chance in Rom-Com</a:t>
                      </a:r>
                      <a:endParaRPr lang="en-IN" sz="2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653529"/>
                  </a:ext>
                </a:extLst>
              </a:tr>
              <a:tr h="900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  <a:latin typeface="Google Sans Text"/>
                        </a:rPr>
                        <a:t>"Blood"</a:t>
                      </a:r>
                      <a:endParaRPr lang="en-IN" sz="2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  <a:latin typeface="Google Sans Text"/>
                        </a:rPr>
                        <a:t>Very High (10 points)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  <a:latin typeface="Google Sans Text"/>
                        </a:rPr>
                        <a:t>Very Low (0.1 points)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10441"/>
                  </a:ext>
                </a:extLst>
              </a:tr>
              <a:tr h="900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>
                          <a:effectLst/>
                          <a:latin typeface="Google Sans Text"/>
                        </a:rPr>
                        <a:t>"Shadow"</a:t>
                      </a:r>
                      <a:endParaRPr lang="en-IN" sz="2800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  <a:latin typeface="Google Sans Text"/>
                        </a:rPr>
                        <a:t>High (5 points)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  <a:latin typeface="Google Sans Text"/>
                        </a:rPr>
                        <a:t>Low (1 point)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1646375"/>
                  </a:ext>
                </a:extLst>
              </a:tr>
              <a:tr h="900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>
                          <a:effectLst/>
                          <a:latin typeface="Google Sans Text"/>
                        </a:rPr>
                        <a:t>"Kiss"</a:t>
                      </a:r>
                      <a:endParaRPr lang="en-IN" sz="2800">
                        <a:effectLst/>
                        <a:latin typeface="Google Sans Text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effectLst/>
                          <a:latin typeface="Google Sans Text"/>
                        </a:rPr>
                        <a:t>Low (1 point)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effectLst/>
                          <a:latin typeface="Google Sans Text"/>
                        </a:rPr>
                        <a:t>Very High (10 points)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795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75405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D744D-1964-0349-59E4-F2E0D1937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456BA9E-8CF7-C7F8-E17C-6CDC79A59EEB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7FB476D-4AD1-4E33-828B-E44C50C9871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D533D03-A227-F0AF-E569-A2E78B968EB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2D2E0D4-AAB4-C8F2-90E1-E276C45E04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5242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3. The Math (The "Multiplication")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5E377D1-A377-CF42-7A82-FFC6D745883F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10431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To find the final score, you </a:t>
            </a:r>
            <a:r>
              <a:rPr lang="en-US" sz="3600" b="1" dirty="0"/>
              <a:t>multiply</a:t>
            </a:r>
            <a:r>
              <a:rPr lang="en-US" sz="3600" dirty="0"/>
              <a:t> your Starting Guess by the word scores.</a:t>
            </a:r>
          </a:p>
        </p:txBody>
      </p:sp>
    </p:spTree>
    <p:extLst>
      <p:ext uri="{BB962C8B-B14F-4D97-AF65-F5344CB8AC3E}">
        <p14:creationId xmlns:p14="http://schemas.microsoft.com/office/powerpoint/2010/main" val="10782598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7720-53C2-697B-A946-8DFF4D9AA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8791B989-39ED-C3E5-9D5D-99C30F0A4696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BCD5C474-D277-291C-B54A-A112242C922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D9BACD9-206A-E5C9-EED3-71145C76831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28DBB2D8-25F3-B0C4-4797-88DCD47E16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524239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3. The Math (The "Multiplication")</a:t>
            </a:r>
            <a:br>
              <a:rPr lang="en-US" dirty="0"/>
            </a:br>
            <a:r>
              <a:rPr lang="en-US" sz="4400" dirty="0"/>
              <a:t>Horror Score: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34F8A4-9A89-0DD2-BF21-3D1A3488E360}"/>
              </a:ext>
            </a:extLst>
          </p:cNvPr>
          <p:cNvSpPr txBox="1"/>
          <p:nvPr/>
        </p:nvSpPr>
        <p:spPr>
          <a:xfrm>
            <a:off x="3918034" y="2193966"/>
            <a:ext cx="52578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Horror Score: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Start with 80 (because Horror is common).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Multiply by 10 (for "Blood").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Multiply by 5 (for "Shadow").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Multiply by 1 (for "Kiss").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Total = 4,000 points.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387822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DB429-B4F7-B45E-546C-57053ADF0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D5630EF-165A-0F33-45D5-4240A1786EEC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D7385C4-9A32-DCEB-433E-068F0442FEE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29351E5-40A4-8F95-62BB-21A894F00DD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90D40EF-8A86-649F-F319-A0DF11B49A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524239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14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3. The Math (The "Multiplication")</a:t>
            </a:r>
            <a:br>
              <a:rPr lang="en-US" dirty="0"/>
            </a:br>
            <a:r>
              <a:rPr lang="en-US" sz="4400" dirty="0"/>
              <a:t>Rom-Com Score: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9EFD8F-2561-2824-CEBA-48DFD26A1BCE}"/>
              </a:ext>
            </a:extLst>
          </p:cNvPr>
          <p:cNvSpPr txBox="1"/>
          <p:nvPr/>
        </p:nvSpPr>
        <p:spPr>
          <a:xfrm>
            <a:off x="3918034" y="2193966"/>
            <a:ext cx="52578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Rom-Com Score: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Start with 20 (it's less common).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Multiply by 0.1 (for "Blood").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Multiply by 1 (for "Shadow").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Multiply by 10 (for "Kiss").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Total = 20 points.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7893172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414718-72FB-24E6-4292-AEC7E676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171E6-C16A-72B6-8717-6DB64702C67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7D8E6AA-7DBE-8143-0FF5-52798B9FD6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3F6139-0043-992A-8DDE-7AA44F5838F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695D18E-8D9E-0044-888D-14B0E8C4A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4. The Decision (The Winner)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64EBE5-56D9-5934-619B-825DD94C75CB}"/>
              </a:ext>
            </a:extLst>
          </p:cNvPr>
          <p:cNvSpPr>
            <a:spLocks noGrp="1"/>
          </p:cNvSpPr>
          <p:nvPr/>
        </p:nvSpPr>
        <p:spPr>
          <a:xfrm>
            <a:off x="2971800" y="2300662"/>
            <a:ext cx="8229600" cy="379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latin typeface="Arial" panose="020B0604020202020204" pitchFamily="34" charset="0"/>
                <a:ea typeface="Google Sans Text"/>
              </a:rPr>
              <a:t>4,000 is much bigger than 20. So, you put the book in the </a:t>
            </a:r>
            <a:r>
              <a:rPr lang="en-US" altLang="en-US" b="1" dirty="0">
                <a:latin typeface="Arial" panose="020B0604020202020204" pitchFamily="34" charset="0"/>
                <a:ea typeface="Google Sans Text"/>
              </a:rPr>
              <a:t>Horror</a:t>
            </a:r>
            <a:r>
              <a:rPr lang="en-US" altLang="en-US" dirty="0">
                <a:latin typeface="Arial" panose="020B0604020202020204" pitchFamily="34" charset="0"/>
                <a:ea typeface="Google Sans Text"/>
              </a:rPr>
              <a:t> section.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  <a:ea typeface="Google Sans Text"/>
              </a:rPr>
              <a:t>That "</a:t>
            </a:r>
            <a:r>
              <a:rPr lang="en-IN" dirty="0"/>
              <a:t> ∝ </a:t>
            </a:r>
            <a:r>
              <a:rPr lang="en-US" altLang="en-US" dirty="0">
                <a:latin typeface="Arial" panose="020B0604020202020204" pitchFamily="34" charset="0"/>
                <a:ea typeface="Google Sans Text"/>
              </a:rPr>
              <a:t>" symbol in the formula just means: "We are looking for the biggest score."</a:t>
            </a:r>
          </a:p>
        </p:txBody>
      </p:sp>
    </p:spTree>
    <p:extLst>
      <p:ext uri="{BB962C8B-B14F-4D97-AF65-F5344CB8AC3E}">
        <p14:creationId xmlns:p14="http://schemas.microsoft.com/office/powerpoint/2010/main" val="3518046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52CDF-7B99-6432-7C58-55A16CE9D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3048000"/>
            <a:ext cx="7924800" cy="1244600"/>
          </a:xfrm>
        </p:spPr>
        <p:txBody>
          <a:bodyPr/>
          <a:lstStyle/>
          <a:p>
            <a:r>
              <a:rPr lang="en-IN" dirty="0"/>
              <a:t>Support Vector Machines (SVM)</a:t>
            </a:r>
          </a:p>
        </p:txBody>
      </p:sp>
    </p:spTree>
    <p:extLst>
      <p:ext uri="{BB962C8B-B14F-4D97-AF65-F5344CB8AC3E}">
        <p14:creationId xmlns:p14="http://schemas.microsoft.com/office/powerpoint/2010/main" val="10890060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414718-72FB-24E6-4292-AEC7E676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171E6-C16A-72B6-8717-6DB64702C67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7D8E6AA-7DBE-8143-0FF5-52798B9FD6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3F6139-0043-992A-8DDE-7AA44F5838F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695D18E-8D9E-0044-888D-14B0E8C4A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Support Vector Machines (SVM)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64EBE5-56D9-5934-619B-825DD94C75CB}"/>
              </a:ext>
            </a:extLst>
          </p:cNvPr>
          <p:cNvSpPr>
            <a:spLocks noGrp="1"/>
          </p:cNvSpPr>
          <p:nvPr/>
        </p:nvSpPr>
        <p:spPr>
          <a:xfrm>
            <a:off x="2971800" y="2300662"/>
            <a:ext cx="8229600" cy="379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Definition:</a:t>
            </a:r>
            <a:r>
              <a:rPr lang="en-US" altLang="en-US" dirty="0">
                <a:latin typeface="Arial" panose="020B0604020202020204" pitchFamily="34" charset="0"/>
              </a:rPr>
              <a:t> A machine learning model used to separate data into two classes by finding a specific decision boundary.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Goal:</a:t>
            </a:r>
            <a:r>
              <a:rPr lang="en-US" altLang="en-US" dirty="0">
                <a:latin typeface="Arial" panose="020B0604020202020204" pitchFamily="34" charset="0"/>
              </a:rPr>
              <a:t> To find a boundary that not only separates the data but stays as far away from the points as possible.</a:t>
            </a:r>
          </a:p>
        </p:txBody>
      </p:sp>
    </p:spTree>
    <p:extLst>
      <p:ext uri="{BB962C8B-B14F-4D97-AF65-F5344CB8AC3E}">
        <p14:creationId xmlns:p14="http://schemas.microsoft.com/office/powerpoint/2010/main" val="19954332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414718-72FB-24E6-4292-AEC7E676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171E6-C16A-72B6-8717-6DB64702C67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7D8E6AA-7DBE-8143-0FF5-52798B9FD6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3F6139-0043-992A-8DDE-7AA44F5838F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695D18E-8D9E-0044-888D-14B0E8C4A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Hyperplane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64EBE5-56D9-5934-619B-825DD94C75CB}"/>
              </a:ext>
            </a:extLst>
          </p:cNvPr>
          <p:cNvSpPr>
            <a:spLocks noGrp="1"/>
          </p:cNvSpPr>
          <p:nvPr/>
        </p:nvSpPr>
        <p:spPr>
          <a:xfrm>
            <a:off x="2971800" y="2300662"/>
            <a:ext cx="8229600" cy="379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Definition:</a:t>
            </a:r>
            <a:r>
              <a:rPr lang="en-US" altLang="en-US" dirty="0">
                <a:latin typeface="Arial" panose="020B0604020202020204" pitchFamily="34" charset="0"/>
              </a:rPr>
              <a:t> The "fence" or decision surface that separates different classes of data.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Simple Meaning:</a:t>
            </a:r>
            <a:r>
              <a:rPr lang="en-US" altLang="en-US" dirty="0">
                <a:latin typeface="Arial" panose="020B0604020202020204" pitchFamily="34" charset="0"/>
              </a:rPr>
              <a:t> In 2D space, it's a </a:t>
            </a:r>
            <a:r>
              <a:rPr lang="en-US" altLang="en-US" b="1" dirty="0">
                <a:latin typeface="Arial" panose="020B0604020202020204" pitchFamily="34" charset="0"/>
              </a:rPr>
              <a:t>line</a:t>
            </a:r>
            <a:r>
              <a:rPr lang="en-US" altLang="en-US" dirty="0">
                <a:latin typeface="Arial" panose="020B0604020202020204" pitchFamily="34" charset="0"/>
              </a:rPr>
              <a:t>. In 3D space, it's a </a:t>
            </a:r>
            <a:r>
              <a:rPr lang="en-US" altLang="en-US" b="1" dirty="0">
                <a:latin typeface="Arial" panose="020B0604020202020204" pitchFamily="34" charset="0"/>
              </a:rPr>
              <a:t>flat plane</a:t>
            </a:r>
            <a:r>
              <a:rPr lang="en-US" altLang="en-US" dirty="0">
                <a:latin typeface="Arial" panose="020B0604020202020204" pitchFamily="34" charset="0"/>
              </a:rPr>
              <a:t>. In higher dimensions, we call it a </a:t>
            </a:r>
            <a:r>
              <a:rPr lang="en-US" altLang="en-US" b="1" dirty="0">
                <a:latin typeface="Arial" panose="020B0604020202020204" pitchFamily="34" charset="0"/>
              </a:rPr>
              <a:t>hyperplane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721488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414718-72FB-24E6-4292-AEC7E6761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E3171E6-C16A-72B6-8717-6DB64702C67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07D8E6AA-7DBE-8143-0FF5-52798B9FD6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3F6139-0043-992A-8DDE-7AA44F5838F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6695D18E-8D9E-0044-888D-14B0E8C4A4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Margin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64EBE5-56D9-5934-619B-825DD94C75CB}"/>
              </a:ext>
            </a:extLst>
          </p:cNvPr>
          <p:cNvSpPr>
            <a:spLocks noGrp="1"/>
          </p:cNvSpPr>
          <p:nvPr/>
        </p:nvSpPr>
        <p:spPr>
          <a:xfrm>
            <a:off x="2971800" y="2300662"/>
            <a:ext cx="8229600" cy="3795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Definition:</a:t>
            </a:r>
            <a:r>
              <a:rPr lang="en-US" altLang="en-US" dirty="0">
                <a:latin typeface="Arial" panose="020B0604020202020204" pitchFamily="34" charset="0"/>
              </a:rPr>
              <a:t> The distance between the decision boundary (the fence) and the closest data points from each class.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The Strategy:</a:t>
            </a:r>
            <a:r>
              <a:rPr lang="en-US" altLang="en-US" dirty="0">
                <a:latin typeface="Arial" panose="020B0604020202020204" pitchFamily="34" charset="0"/>
              </a:rPr>
              <a:t> SVM is a "large-margin classifier," meaning it tries to maximize this empty space to ensure a safety buffer.</a:t>
            </a:r>
          </a:p>
        </p:txBody>
      </p:sp>
    </p:spTree>
    <p:extLst>
      <p:ext uri="{BB962C8B-B14F-4D97-AF65-F5344CB8AC3E}">
        <p14:creationId xmlns:p14="http://schemas.microsoft.com/office/powerpoint/2010/main" val="21972626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7564446-39DF-7C06-F09B-5E47BE2B6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B66A964-A7F5-5473-468D-6D02032B692C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1173AF3-D34A-FD40-AB3A-7DB129AC7CC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CCB35AF-3D1C-4A74-39F9-50FF74DD122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83F4AF39-AA04-CB07-B9AC-9440775AFB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Support Vectors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BDB3543-DF2C-F2CE-29AA-93C854C407EC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Definition:</a:t>
            </a:r>
            <a:r>
              <a:rPr lang="en-US" altLang="en-US" dirty="0">
                <a:latin typeface="Arial" panose="020B0604020202020204" pitchFamily="34" charset="0"/>
              </a:rPr>
              <a:t> The specific data points that lie exactly on the edge of the margin.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Why they matter:</a:t>
            </a:r>
            <a:r>
              <a:rPr lang="en-US" altLang="en-US" dirty="0">
                <a:latin typeface="Arial" panose="020B0604020202020204" pitchFamily="34" charset="0"/>
              </a:rPr>
              <a:t> They are the "pillars" that support the boundary. If you move these points, the boundary moves. If you move any other points, the boundary stays the same.</a:t>
            </a:r>
          </a:p>
        </p:txBody>
      </p:sp>
    </p:spTree>
    <p:extLst>
      <p:ext uri="{BB962C8B-B14F-4D97-AF65-F5344CB8AC3E}">
        <p14:creationId xmlns:p14="http://schemas.microsoft.com/office/powerpoint/2010/main" val="20556195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upport Vector Machines: A Deep Dive into Powerful Classification ...">
            <a:extLst>
              <a:ext uri="{FF2B5EF4-FFF2-40B4-BE49-F238E27FC236}">
                <a16:creationId xmlns:a16="http://schemas.microsoft.com/office/drawing/2014/main" id="{77C69F35-033D-C9F4-9958-246D6F5FD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466725"/>
            <a:ext cx="9239250" cy="592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5262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67A8746-13AA-5E79-8CCE-BA858C56D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9F9D982-11F8-9560-B5A2-21903BCDF844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B267B1FA-B2CC-F451-31F7-8D9A7DB68AA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268DAC6-6D73-D0DC-0DDD-F59A8D62D9B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09D4DDE-E7A8-B265-7BE0-C1E8D76DFF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Where This Topic Fits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E1CDF84-9318-0108-2EB5-0DDD254D1FCC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already learned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Naive Bayes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classifiers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Question: </a:t>
            </a:r>
            <a:r>
              <a:rPr kumimoji="0" lang="en-US" altLang="en-US" sz="3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do we feed into these algorithms?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 (terms/words)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Problem: Text data has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 many features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🚨</a:t>
            </a:r>
          </a:p>
        </p:txBody>
      </p:sp>
    </p:spTree>
    <p:extLst>
      <p:ext uri="{BB962C8B-B14F-4D97-AF65-F5344CB8AC3E}">
        <p14:creationId xmlns:p14="http://schemas.microsoft.com/office/powerpoint/2010/main" val="24566044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98359A-CC38-6984-CC7E-ACC3191A3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8C315FC-1ED2-49C0-58A2-1973B3466C72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80CD25E-D5E0-7D4C-6A02-C894CEBF461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535A7DB-80A1-CC36-A69D-D6BE7538A5C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C17F08C-CB6B-20D1-5978-99DA37B4B5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The Core Problem in Text Data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FD8E2FA-6933-A384-C500-60F925207390}"/>
              </a:ext>
            </a:extLst>
          </p:cNvPr>
          <p:cNvSpPr>
            <a:spLocks noGrp="1"/>
          </p:cNvSpPr>
          <p:nvPr/>
        </p:nvSpPr>
        <p:spPr>
          <a:xfrm>
            <a:off x="3204972" y="2309625"/>
            <a:ext cx="8229600" cy="41155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Each unique word = one feature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Typical dataset: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Documents: 1,000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Vocabulary: 50,000+ 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Results 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High dimensional vectors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Sparse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Slow training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Overfitting</a:t>
            </a:r>
          </a:p>
          <a:p>
            <a:r>
              <a:rPr lang="en-US" sz="2400" dirty="0"/>
              <a:t>👉 Solution: </a:t>
            </a:r>
            <a:r>
              <a:rPr lang="en-US" sz="2400" b="1" dirty="0"/>
              <a:t>Feature Selection &amp; Dimensionality Reduction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946321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040A86-B210-5769-929D-184977C0E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C121FCA-20DB-90AC-040B-D5E34B03EA30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0FABD57-4F90-000D-206D-3885A7410C5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A41EED3-F741-8CC0-09CE-1C606858E9D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298714B-581C-F7B3-E732-E33F03F39E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Feature Selection – Intuition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A0637A8-0C5D-8213-C52A-FFD8AFD03EE5}"/>
              </a:ext>
            </a:extLst>
          </p:cNvPr>
          <p:cNvSpPr>
            <a:spLocks noGrp="1"/>
          </p:cNvSpPr>
          <p:nvPr/>
        </p:nvSpPr>
        <p:spPr>
          <a:xfrm>
            <a:off x="3204972" y="2309625"/>
            <a:ext cx="8229600" cy="395914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Goal: </a:t>
            </a:r>
            <a:r>
              <a:rPr lang="en-US" sz="2800" b="1" dirty="0"/>
              <a:t>Select the most useful words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Remove: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Irrelevant words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Redundant words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Noisy words</a:t>
            </a:r>
          </a:p>
          <a:p>
            <a:r>
              <a:rPr lang="en-US" sz="2800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Keep: </a:t>
            </a:r>
            <a:r>
              <a:rPr lang="en-US" sz="2800" i="1" dirty="0"/>
              <a:t>exam, result, admission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Remove: </a:t>
            </a:r>
            <a:r>
              <a:rPr lang="en-US" sz="2800" i="1" dirty="0"/>
              <a:t>the, is, and, very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988181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F33B6C6-F980-A205-F49B-E23BBA8F0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F69A90E-200B-16CC-1B93-EE8551DE1FF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1CED783-B654-2B47-1928-D3C59D8285C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494FA04-A1E8-1F10-0D53-B1F0A0718CA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A01B4C44-C25D-A91A-7B25-EE12D8D0A4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Feature Selection – Formal Definition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44F90E4-E05C-403A-A4B9-5CDB8E68EEF5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Selection = choosing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subset of original features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Vocabulary size reduces: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 50,000 → 5,000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 point: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Words remain interpretable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2159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FA10AC-B9E9-9D53-8D00-F4B40DE3A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057AEEC-9C7C-1235-9EC6-895510C08C2D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3E4B9EF9-B3E4-2DDB-A7E5-3D4AE3C68BE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359A336-9A1F-AF55-BC16-3AE57DCA7B5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0306E0D1-FC73-418D-09FD-E3F84426D7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Common Feature Selection Methods (IR Focus)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3276A1B-E5D4-9C8D-C5CF-4A1120652B1C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1. Document Frequency (DF</a:t>
            </a:r>
          </a:p>
          <a:p>
            <a:r>
              <a:rPr lang="en-IN" dirty="0"/>
              <a:t>2. Information Gain (IG)</a:t>
            </a:r>
          </a:p>
          <a:p>
            <a:r>
              <a:rPr lang="en-IN" dirty="0"/>
              <a:t>3. Chi-Square (</a:t>
            </a:r>
            <a:r>
              <a:rPr lang="el-GR" dirty="0"/>
              <a:t>χ²) </a:t>
            </a:r>
            <a:r>
              <a:rPr lang="en-IN" dirty="0"/>
              <a:t>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1466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3BB5EF4-B1AE-934B-38CE-50E86239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71612A1-B7A4-7302-A9E6-43AFFB921513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AF3EB559-A73A-0C15-6825-165709D5B2F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BB9B26F-F7BE-8630-EAA4-A274B54E683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58A704B5-6CDC-E15D-3C04-E5D4052CAB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Feature Selection Summary Table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DDE277E-588C-2663-8D0C-51114AF4D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701829"/>
              </p:ext>
            </p:extLst>
          </p:nvPr>
        </p:nvGraphicFramePr>
        <p:xfrm>
          <a:off x="3035765" y="2439674"/>
          <a:ext cx="8731251" cy="365760"/>
        </p:xfrm>
        <a:graphic>
          <a:graphicData uri="http://schemas.openxmlformats.org/drawingml/2006/table">
            <a:tbl>
              <a:tblPr/>
              <a:tblGrid>
                <a:gridCol w="2910417">
                  <a:extLst>
                    <a:ext uri="{9D8B030D-6E8A-4147-A177-3AD203B41FA5}">
                      <a16:colId xmlns:a16="http://schemas.microsoft.com/office/drawing/2014/main" val="189406223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4013121430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387126334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Idea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Used When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830751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18D0BBC-3950-DC34-BEBA-047D6ECB1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10810"/>
              </p:ext>
            </p:extLst>
          </p:nvPr>
        </p:nvGraphicFramePr>
        <p:xfrm>
          <a:off x="3276600" y="3081738"/>
          <a:ext cx="8731251" cy="365760"/>
        </p:xfrm>
        <a:graphic>
          <a:graphicData uri="http://schemas.openxmlformats.org/drawingml/2006/table">
            <a:tbl>
              <a:tblPr/>
              <a:tblGrid>
                <a:gridCol w="2910417">
                  <a:extLst>
                    <a:ext uri="{9D8B030D-6E8A-4147-A177-3AD203B41FA5}">
                      <a16:colId xmlns:a16="http://schemas.microsoft.com/office/drawing/2014/main" val="1507698601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2031534222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339996028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Frequency based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Simple filtering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048828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14DD5CE-5A9C-58DD-E535-CD1AD2B9B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60327"/>
              </p:ext>
            </p:extLst>
          </p:nvPr>
        </p:nvGraphicFramePr>
        <p:xfrm>
          <a:off x="3276600" y="3523950"/>
          <a:ext cx="8731251" cy="365760"/>
        </p:xfrm>
        <a:graphic>
          <a:graphicData uri="http://schemas.openxmlformats.org/drawingml/2006/table">
            <a:tbl>
              <a:tblPr/>
              <a:tblGrid>
                <a:gridCol w="2910417">
                  <a:extLst>
                    <a:ext uri="{9D8B030D-6E8A-4147-A177-3AD203B41FA5}">
                      <a16:colId xmlns:a16="http://schemas.microsoft.com/office/drawing/2014/main" val="3698544442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2841302240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220078556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IG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Information contribution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198114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6B6DE4B-026A-6A94-BB55-57DD4903D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77605"/>
              </p:ext>
            </p:extLst>
          </p:nvPr>
        </p:nvGraphicFramePr>
        <p:xfrm>
          <a:off x="3165435" y="4000107"/>
          <a:ext cx="8731251" cy="365760"/>
        </p:xfrm>
        <a:graphic>
          <a:graphicData uri="http://schemas.openxmlformats.org/drawingml/2006/table">
            <a:tbl>
              <a:tblPr/>
              <a:tblGrid>
                <a:gridCol w="2910417">
                  <a:extLst>
                    <a:ext uri="{9D8B030D-6E8A-4147-A177-3AD203B41FA5}">
                      <a16:colId xmlns:a16="http://schemas.microsoft.com/office/drawing/2014/main" val="1705189482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3541511021"/>
                    </a:ext>
                  </a:extLst>
                </a:gridCol>
                <a:gridCol w="2910417">
                  <a:extLst>
                    <a:ext uri="{9D8B030D-6E8A-4147-A177-3AD203B41FA5}">
                      <a16:colId xmlns:a16="http://schemas.microsoft.com/office/drawing/2014/main" val="26715618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Chi-square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Statistical dependence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Category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062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1801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CCDD603-EC5C-0026-9622-179CE0030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4243839E-1A3A-5198-4A5B-73C861ADBE77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64C419C-93F8-58D9-30AF-6DA2C6D8292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FE5ED7D-9232-6E6E-7636-1070AED1C42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E6F9873F-027C-9EA2-E74E-FC08604511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b="1" dirty="0"/>
              <a:t>Dimensionality Reduction – Intuition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86E7A05-0422-4468-A55C-D7C832BA812E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Instead of selecting words,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Transform features into new dimensions</a:t>
            </a:r>
            <a:endParaRPr lang="en-US" dirty="0"/>
          </a:p>
          <a:p>
            <a:r>
              <a:rPr lang="en-US" dirty="0"/>
              <a:t>Key difference: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Feature Selection → keeps words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Dimensionality Reduction → creates new features</a:t>
            </a:r>
          </a:p>
        </p:txBody>
      </p:sp>
    </p:spTree>
    <p:extLst>
      <p:ext uri="{BB962C8B-B14F-4D97-AF65-F5344CB8AC3E}">
        <p14:creationId xmlns:p14="http://schemas.microsoft.com/office/powerpoint/2010/main" val="5522662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3909843-65D2-9D83-9896-A8A2F80DA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968E8C44-0510-01D6-9AA5-53FBEA3CF664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73C31EA3-4E22-89C1-0DBD-81812F495E9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794DC1F-1C2E-5892-B1F6-D93D412D25F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0101386C-72C0-72EF-FF75-11F3AEA40D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Dimensionality Reduction – Definition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4122201-C04E-A23B-008A-25C44A2EBAE9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Convert high-dimensional data into lower dimensions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Preserve important information</a:t>
            </a:r>
          </a:p>
          <a:p>
            <a:r>
              <a:rPr lang="en-IN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10,000 word dimensions → 100 dimensions</a:t>
            </a:r>
          </a:p>
        </p:txBody>
      </p:sp>
    </p:spTree>
    <p:extLst>
      <p:ext uri="{BB962C8B-B14F-4D97-AF65-F5344CB8AC3E}">
        <p14:creationId xmlns:p14="http://schemas.microsoft.com/office/powerpoint/2010/main" val="40171038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F9B7CF5-F5E1-E8B8-74C1-9A630E6E5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1D4F701F-6010-7845-1D5C-0802A38E700A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14D978C-CE0D-DBB4-6963-0084DFB233B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0E75001-C1C1-F705-6E44-4880E940A3E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CBD3B8C0-0F63-A966-07F1-FD0B47C3D7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Latent Semantic Analysis (LSA)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5E480E7-3B08-986F-D154-CFBCDCB41FE8}"/>
              </a:ext>
            </a:extLst>
          </p:cNvPr>
          <p:cNvSpPr>
            <a:spLocks noGrp="1"/>
          </p:cNvSpPr>
          <p:nvPr/>
        </p:nvSpPr>
        <p:spPr>
          <a:xfrm>
            <a:off x="3204972" y="2309625"/>
            <a:ext cx="8229600" cy="395914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Singular Value Decomposition (SVD)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Captures hidden (latent) topics</a:t>
            </a:r>
          </a:p>
          <a:p>
            <a:pPr marL="0" indent="0">
              <a:buNone/>
            </a:pPr>
            <a:r>
              <a:rPr lang="en-US" sz="2800" dirty="0"/>
              <a:t>Benefits: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Handles synonymy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Reduces noise</a:t>
            </a:r>
          </a:p>
          <a:p>
            <a:pPr marL="0" indent="0">
              <a:buNone/>
            </a:pPr>
            <a:r>
              <a:rPr lang="en-US" sz="2800" dirty="0"/>
              <a:t>Used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Information Retrieval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Text similarity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8955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C38C0-B539-0C0D-07DE-AED4A486B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1B57B43-C12F-E5F8-5809-59E59CB2BE80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1F3822E-5F53-F239-C1AD-25057F2039E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85D1608-FD72-9AE5-7F84-0AEB9922641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1F98D763-445A-4968-3DCF-1BF6FBEB8A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Principal Component Analysis (PCA)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947E65-865F-6275-E134-C57D690D85D2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Statistical dimensionality reduction technique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Finds directions of maximum variance</a:t>
            </a:r>
          </a:p>
          <a:p>
            <a:r>
              <a:rPr lang="en-US" dirty="0"/>
              <a:t>Note for students: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PCA is </a:t>
            </a:r>
            <a:r>
              <a:rPr lang="en-US" b="1" dirty="0"/>
              <a:t>not word-based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Components are not interpretable</a:t>
            </a:r>
          </a:p>
        </p:txBody>
      </p:sp>
    </p:spTree>
    <p:extLst>
      <p:ext uri="{BB962C8B-B14F-4D97-AF65-F5344CB8AC3E}">
        <p14:creationId xmlns:p14="http://schemas.microsoft.com/office/powerpoint/2010/main" val="15293447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EA8C075-61BC-C6E8-F2DF-81597A055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FF729E8-6E87-3BF6-5DFB-93DBFA85940A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36D0B1B7-580A-D6AE-32C8-7CCE89BCAC8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4E41C5C-B733-13FE-36FD-5DF76406D523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4756CE76-A7A7-C3DE-E141-C5E9B43399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Feature Selection vs Dimensionality Reduction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7ABEF4-5F74-D84D-EB0B-E3A26D388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063687"/>
              </p:ext>
            </p:extLst>
          </p:nvPr>
        </p:nvGraphicFramePr>
        <p:xfrm>
          <a:off x="3276600" y="2580132"/>
          <a:ext cx="8731250" cy="3845050"/>
        </p:xfrm>
        <a:graphic>
          <a:graphicData uri="http://schemas.openxmlformats.org/drawingml/2006/table">
            <a:tbl>
              <a:tblPr/>
              <a:tblGrid>
                <a:gridCol w="4365625">
                  <a:extLst>
                    <a:ext uri="{9D8B030D-6E8A-4147-A177-3AD203B41FA5}">
                      <a16:colId xmlns:a16="http://schemas.microsoft.com/office/drawing/2014/main" val="3065221891"/>
                    </a:ext>
                  </a:extLst>
                </a:gridCol>
                <a:gridCol w="4365625">
                  <a:extLst>
                    <a:ext uri="{9D8B030D-6E8A-4147-A177-3AD203B41FA5}">
                      <a16:colId xmlns:a16="http://schemas.microsoft.com/office/drawing/2014/main" val="1699403018"/>
                    </a:ext>
                  </a:extLst>
                </a:gridCol>
              </a:tblGrid>
              <a:tr h="769010">
                <a:tc>
                  <a:txBody>
                    <a:bodyPr/>
                    <a:lstStyle/>
                    <a:p>
                      <a:r>
                        <a:rPr lang="en-IN" sz="2800"/>
                        <a:t>Feature Selection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Dimensionality Reduction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839017"/>
                  </a:ext>
                </a:extLst>
              </a:tr>
              <a:tr h="769010">
                <a:tc>
                  <a:txBody>
                    <a:bodyPr/>
                    <a:lstStyle/>
                    <a:p>
                      <a:r>
                        <a:rPr lang="en-IN" sz="2800"/>
                        <a:t>Selects words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Creates new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7936150"/>
                  </a:ext>
                </a:extLst>
              </a:tr>
              <a:tr h="769010">
                <a:tc>
                  <a:txBody>
                    <a:bodyPr/>
                    <a:lstStyle/>
                    <a:p>
                      <a:r>
                        <a:rPr lang="en-IN" sz="2800" dirty="0"/>
                        <a:t>Interpretable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Not interpretable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3933868"/>
                  </a:ext>
                </a:extLst>
              </a:tr>
              <a:tr h="769010">
                <a:tc>
                  <a:txBody>
                    <a:bodyPr/>
                    <a:lstStyle/>
                    <a:p>
                      <a:r>
                        <a:rPr lang="en-IN" sz="2800"/>
                        <a:t>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More computation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7790525"/>
                  </a:ext>
                </a:extLst>
              </a:tr>
              <a:tr h="769010">
                <a:tc>
                  <a:txBody>
                    <a:bodyPr/>
                    <a:lstStyle/>
                    <a:p>
                      <a:r>
                        <a:rPr lang="en-IN" sz="2800"/>
                        <a:t>Used widely in 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Used in advanced 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3899925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90D19B4A-8701-6156-26F4-1C25029BA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75" y="26193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9796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C38C0-B539-0C0D-07DE-AED4A486B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1B57B43-C12F-E5F8-5809-59E59CB2BE80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1F3822E-5F53-F239-C1AD-25057F2039E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85D1608-FD72-9AE5-7F84-0AEB9922641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1F98D763-445A-4968-3DCF-1BF6FBEB8A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130612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Applications of Text Categorization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947E65-865F-6275-E134-C57D690D85D2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Text Categorization = Assigning documents to predefined classes</a:t>
            </a:r>
          </a:p>
          <a:p>
            <a:r>
              <a:rPr lang="en-US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News classification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Email sorting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Academic paper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2900088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8DC38C0-B539-0C0D-07DE-AED4A486B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E1B57B43-C12F-E5F8-5809-59E59CB2BE80}"/>
              </a:ext>
            </a:extLst>
          </p:cNvPr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1F3822E-5F53-F239-C1AD-25057F2039E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85D1608-FD72-9AE5-7F84-0AEB9922641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>
            <a:extLst>
              <a:ext uri="{FF2B5EF4-FFF2-40B4-BE49-F238E27FC236}">
                <a16:creationId xmlns:a16="http://schemas.microsoft.com/office/drawing/2014/main" id="{1F98D763-445A-4968-3DCF-1BF6FBEB8A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9219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chemeClr val="tx1"/>
                </a:solidFill>
                <a:latin typeface="Cambria"/>
                <a:cs typeface="Cambria"/>
              </a:rPr>
              <a:t>15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US" dirty="0"/>
              <a:t> </a:t>
            </a:r>
            <a:r>
              <a:rPr lang="en-IN" dirty="0"/>
              <a:t>Applications of Text Filtering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3947E65-865F-6275-E134-C57D690D85D2}"/>
              </a:ext>
            </a:extLst>
          </p:cNvPr>
          <p:cNvSpPr>
            <a:spLocks noGrp="1"/>
          </p:cNvSpPr>
          <p:nvPr/>
        </p:nvSpPr>
        <p:spPr>
          <a:xfrm>
            <a:off x="3204972" y="2309626"/>
            <a:ext cx="8229600" cy="3405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 filtering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News personalization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 moderation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 systems</a:t>
            </a:r>
          </a:p>
        </p:txBody>
      </p:sp>
    </p:spTree>
    <p:extLst>
      <p:ext uri="{BB962C8B-B14F-4D97-AF65-F5344CB8AC3E}">
        <p14:creationId xmlns:p14="http://schemas.microsoft.com/office/powerpoint/2010/main" val="31443405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72" y="-2359"/>
            <a:ext cx="12182475" cy="6501765"/>
            <a:chOff x="9972" y="-2359"/>
            <a:chExt cx="12182475" cy="6501765"/>
          </a:xfrm>
        </p:grpSpPr>
        <p:sp>
          <p:nvSpPr>
            <p:cNvPr id="3" name="object 3"/>
            <p:cNvSpPr/>
            <p:nvPr/>
          </p:nvSpPr>
          <p:spPr>
            <a:xfrm>
              <a:off x="623876" y="-2359"/>
              <a:ext cx="4548505" cy="3168650"/>
            </a:xfrm>
            <a:custGeom>
              <a:avLst/>
              <a:gdLst/>
              <a:ahLst/>
              <a:cxnLst/>
              <a:rect l="l" t="t" r="r" b="b"/>
              <a:pathLst>
                <a:path w="4548505" h="3168650">
                  <a:moveTo>
                    <a:pt x="1256288" y="0"/>
                  </a:moveTo>
                  <a:lnTo>
                    <a:pt x="0" y="0"/>
                  </a:lnTo>
                  <a:lnTo>
                    <a:pt x="3293242" y="3168630"/>
                  </a:lnTo>
                  <a:lnTo>
                    <a:pt x="4548038" y="3168630"/>
                  </a:lnTo>
                  <a:lnTo>
                    <a:pt x="3674989" y="2327497"/>
                  </a:lnTo>
                  <a:lnTo>
                    <a:pt x="1256288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6691" y="0"/>
              <a:ext cx="10465308" cy="35112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88097" y="2242136"/>
              <a:ext cx="1691005" cy="1092200"/>
            </a:xfrm>
            <a:custGeom>
              <a:avLst/>
              <a:gdLst/>
              <a:ahLst/>
              <a:cxnLst/>
              <a:rect l="l" t="t" r="r" b="b"/>
              <a:pathLst>
                <a:path w="1691004" h="1092200">
                  <a:moveTo>
                    <a:pt x="554199" y="0"/>
                  </a:moveTo>
                  <a:lnTo>
                    <a:pt x="0" y="0"/>
                  </a:lnTo>
                  <a:lnTo>
                    <a:pt x="1136342" y="1091875"/>
                  </a:lnTo>
                  <a:lnTo>
                    <a:pt x="1690541" y="1091875"/>
                  </a:lnTo>
                  <a:lnTo>
                    <a:pt x="1471838" y="882606"/>
                  </a:lnTo>
                  <a:lnTo>
                    <a:pt x="554199" y="0"/>
                  </a:lnTo>
                  <a:close/>
                </a:path>
              </a:pathLst>
            </a:custGeom>
            <a:solidFill>
              <a:srgbClr val="99D9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72" y="2972399"/>
              <a:ext cx="3660775" cy="3526790"/>
            </a:xfrm>
            <a:custGeom>
              <a:avLst/>
              <a:gdLst/>
              <a:ahLst/>
              <a:cxnLst/>
              <a:rect l="l" t="t" r="r" b="b"/>
              <a:pathLst>
                <a:path w="3660775" h="3526790">
                  <a:moveTo>
                    <a:pt x="0" y="0"/>
                  </a:moveTo>
                  <a:lnTo>
                    <a:pt x="0" y="477832"/>
                  </a:lnTo>
                  <a:lnTo>
                    <a:pt x="3163571" y="3526622"/>
                  </a:lnTo>
                  <a:lnTo>
                    <a:pt x="3660562" y="3526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5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841" y="2320818"/>
              <a:ext cx="2994025" cy="2885440"/>
            </a:xfrm>
            <a:custGeom>
              <a:avLst/>
              <a:gdLst/>
              <a:ahLst/>
              <a:cxnLst/>
              <a:rect l="l" t="t" r="r" b="b"/>
              <a:pathLst>
                <a:path w="2994025" h="2885440">
                  <a:moveTo>
                    <a:pt x="0" y="0"/>
                  </a:moveTo>
                  <a:lnTo>
                    <a:pt x="0" y="458147"/>
                  </a:lnTo>
                  <a:lnTo>
                    <a:pt x="2519204" y="2885259"/>
                  </a:lnTo>
                  <a:lnTo>
                    <a:pt x="2993958" y="2885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0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130667" y="1879549"/>
            <a:ext cx="3354704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dirty="0">
                <a:solidFill>
                  <a:srgbClr val="252525"/>
                </a:solidFill>
              </a:rPr>
              <a:t>Thank</a:t>
            </a:r>
            <a:r>
              <a:rPr sz="4500" spc="-20" dirty="0">
                <a:solidFill>
                  <a:srgbClr val="252525"/>
                </a:solidFill>
              </a:rPr>
              <a:t> you…</a:t>
            </a:r>
            <a:endParaRPr sz="4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2954</TotalTime>
  <Words>2090</Words>
  <Application>Microsoft Office PowerPoint</Application>
  <PresentationFormat>Widescreen</PresentationFormat>
  <Paragraphs>326</Paragraphs>
  <Slides>57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Aptos</vt:lpstr>
      <vt:lpstr>Arial</vt:lpstr>
      <vt:lpstr>Calibri</vt:lpstr>
      <vt:lpstr>Cambria</vt:lpstr>
      <vt:lpstr>Google Sans Text</vt:lpstr>
      <vt:lpstr>Segoe UI</vt:lpstr>
      <vt:lpstr>Office Theme</vt:lpstr>
      <vt:lpstr>Information Retrieval                    Chapter 6: Text Categorization and Filtering                   TY B.Sc. (CS) </vt:lpstr>
      <vt:lpstr>1 Topics:</vt:lpstr>
      <vt:lpstr>2 Text Classification – Introduction</vt:lpstr>
      <vt:lpstr> Standing Queries</vt:lpstr>
      <vt:lpstr>3 Limitations of Standing Queries</vt:lpstr>
      <vt:lpstr>3 Refining Standing Queries (Rule-Based Classification)</vt:lpstr>
      <vt:lpstr>3 Classification Concept</vt:lpstr>
      <vt:lpstr>4 Importance of Text Classification</vt:lpstr>
      <vt:lpstr>7 MINI CLASSROOM EXERCISE 1</vt:lpstr>
      <vt:lpstr>7 MINI CLASSROOM EXERCISE 2</vt:lpstr>
      <vt:lpstr>4 Introduction to Naive Bayes</vt:lpstr>
      <vt:lpstr>5 Intuition Behind Naive Bayes</vt:lpstr>
      <vt:lpstr>5 How Naive Bayes thinks</vt:lpstr>
      <vt:lpstr>6 How Naive Bayes Works (High Level)</vt:lpstr>
      <vt:lpstr>6 Why is it Called Naive Bayes?</vt:lpstr>
      <vt:lpstr>6  Why Naive Bayes is Popular</vt:lpstr>
      <vt:lpstr>7  Bayes theorem </vt:lpstr>
      <vt:lpstr>7  Naive Bayes </vt:lpstr>
      <vt:lpstr>7  Text Classification Problem</vt:lpstr>
      <vt:lpstr>7  Document Space (X)</vt:lpstr>
      <vt:lpstr>7  Classes (C)</vt:lpstr>
      <vt:lpstr>7  Training Set (D) (Supervised Learning)</vt:lpstr>
      <vt:lpstr>7  What does P(c | d) mean?</vt:lpstr>
      <vt:lpstr>7  What is P(c)?</vt:lpstr>
      <vt:lpstr>7  What is P(d | c)?</vt:lpstr>
      <vt:lpstr>7  Learning Method &amp; Classifier (Γ and γ)</vt:lpstr>
      <vt:lpstr>6  Naive Bayes – Probabilistic Model</vt:lpstr>
      <vt:lpstr>8  Text Classification Problem Example</vt:lpstr>
      <vt:lpstr>9  Classifier Function</vt:lpstr>
      <vt:lpstr>14  1. Examples</vt:lpstr>
      <vt:lpstr>14 1. The Starting Guess (The "Prior") </vt:lpstr>
      <vt:lpstr>14 2. The Clues (The "Evidence") </vt:lpstr>
      <vt:lpstr>14 2. The Clues (The "Evidence") with datasets </vt:lpstr>
      <vt:lpstr>14 3. The Math (The "Multiplication")</vt:lpstr>
      <vt:lpstr>14 3. The Math (The "Multiplication") Horror Score:</vt:lpstr>
      <vt:lpstr>14 3. The Math (The "Multiplication") Rom-Com Score:</vt:lpstr>
      <vt:lpstr>15  4. The Decision (The Winner)</vt:lpstr>
      <vt:lpstr>Support Vector Machines (SVM)</vt:lpstr>
      <vt:lpstr>15  Support Vector Machines (SVM)</vt:lpstr>
      <vt:lpstr>15  Hyperplane</vt:lpstr>
      <vt:lpstr>15  Margin</vt:lpstr>
      <vt:lpstr>15  Support Vectors</vt:lpstr>
      <vt:lpstr>PowerPoint Presentation</vt:lpstr>
      <vt:lpstr>15  Where This Topic Fits</vt:lpstr>
      <vt:lpstr>15  The Core Problem in Text Data</vt:lpstr>
      <vt:lpstr>15  Feature Selection – Intuition</vt:lpstr>
      <vt:lpstr>15  Feature Selection – Formal Definition</vt:lpstr>
      <vt:lpstr>15  Common Feature Selection Methods (IR Focus)</vt:lpstr>
      <vt:lpstr>15  Feature Selection Summary Table</vt:lpstr>
      <vt:lpstr>15  Dimensionality Reduction – Intuition</vt:lpstr>
      <vt:lpstr>15  Dimensionality Reduction – Definition</vt:lpstr>
      <vt:lpstr>15  Latent Semantic Analysis (LSA)</vt:lpstr>
      <vt:lpstr>15  Principal Component Analysis (PCA)</vt:lpstr>
      <vt:lpstr>15  Feature Selection vs Dimensionality Reduction</vt:lpstr>
      <vt:lpstr>15  Applications of Text Categorization</vt:lpstr>
      <vt:lpstr>15  Applications of Text Filtering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 </dc:title>
  <dc:creator>Pushpa Mahapatro</dc:creator>
  <cp:lastModifiedBy>LENOVO</cp:lastModifiedBy>
  <cp:revision>71</cp:revision>
  <dcterms:created xsi:type="dcterms:W3CDTF">2025-11-04T17:06:10Z</dcterms:created>
  <dcterms:modified xsi:type="dcterms:W3CDTF">2026-02-04T03:55:44Z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