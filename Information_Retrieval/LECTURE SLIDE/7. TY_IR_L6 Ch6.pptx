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309" r:id="rId4"/>
    <p:sldId id="311" r:id="rId5"/>
    <p:sldId id="275" r:id="rId6"/>
    <p:sldId id="352" r:id="rId7"/>
    <p:sldId id="353" r:id="rId8"/>
    <p:sldId id="286" r:id="rId9"/>
    <p:sldId id="304" r:id="rId10"/>
    <p:sldId id="393" r:id="rId11"/>
    <p:sldId id="354" r:id="rId12"/>
    <p:sldId id="302" r:id="rId13"/>
    <p:sldId id="394" r:id="rId14"/>
    <p:sldId id="303" r:id="rId15"/>
    <p:sldId id="395" r:id="rId16"/>
    <p:sldId id="396" r:id="rId17"/>
    <p:sldId id="356" r:id="rId18"/>
    <p:sldId id="406" r:id="rId19"/>
    <p:sldId id="405" r:id="rId20"/>
    <p:sldId id="398" r:id="rId21"/>
    <p:sldId id="401" r:id="rId22"/>
    <p:sldId id="399" r:id="rId23"/>
    <p:sldId id="402" r:id="rId24"/>
    <p:sldId id="403" r:id="rId25"/>
    <p:sldId id="404" r:id="rId26"/>
    <p:sldId id="400" r:id="rId27"/>
    <p:sldId id="397" r:id="rId28"/>
    <p:sldId id="305" r:id="rId29"/>
    <p:sldId id="359" r:id="rId30"/>
    <p:sldId id="407" r:id="rId31"/>
    <p:sldId id="313" r:id="rId32"/>
    <p:sldId id="408" r:id="rId33"/>
    <p:sldId id="412" r:id="rId34"/>
    <p:sldId id="409" r:id="rId35"/>
    <p:sldId id="411" r:id="rId36"/>
    <p:sldId id="413" r:id="rId37"/>
    <p:sldId id="387" r:id="rId38"/>
    <p:sldId id="388" r:id="rId39"/>
    <p:sldId id="389" r:id="rId40"/>
    <p:sldId id="390" r:id="rId41"/>
    <p:sldId id="391" r:id="rId42"/>
    <p:sldId id="392" r:id="rId43"/>
    <p:sldId id="361" r:id="rId44"/>
    <p:sldId id="318" r:id="rId45"/>
    <p:sldId id="363" r:id="rId46"/>
    <p:sldId id="364" r:id="rId47"/>
    <p:sldId id="373" r:id="rId48"/>
    <p:sldId id="366" r:id="rId49"/>
    <p:sldId id="367" r:id="rId50"/>
    <p:sldId id="368" r:id="rId51"/>
    <p:sldId id="371" r:id="rId52"/>
    <p:sldId id="370" r:id="rId53"/>
    <p:sldId id="372" r:id="rId54"/>
    <p:sldId id="374" r:id="rId55"/>
    <p:sldId id="375" r:id="rId56"/>
    <p:sldId id="376" r:id="rId57"/>
    <p:sldId id="377" r:id="rId58"/>
    <p:sldId id="379" r:id="rId59"/>
    <p:sldId id="380" r:id="rId60"/>
    <p:sldId id="381" r:id="rId61"/>
    <p:sldId id="378" r:id="rId62"/>
    <p:sldId id="382" r:id="rId63"/>
    <p:sldId id="383" r:id="rId64"/>
    <p:sldId id="384" r:id="rId65"/>
    <p:sldId id="269" r:id="rId6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>
      <p:cViewPr varScale="1">
        <p:scale>
          <a:sx n="74" d="100"/>
          <a:sy n="74" d="100"/>
        </p:scale>
        <p:origin x="72" y="42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5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-685800" y="1500194"/>
            <a:ext cx="11216275" cy="2103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 algn="ctr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Information Retrieval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</a:t>
            </a:r>
            <a:r>
              <a:rPr lang="en-IN" sz="3200" b="0" spc="150" dirty="0">
                <a:solidFill>
                  <a:srgbClr val="FFFFFF"/>
                </a:solidFill>
                <a:latin typeface="Cambria"/>
                <a:cs typeface="Cambria"/>
              </a:rPr>
              <a:t>Chapter 6: </a:t>
            </a:r>
            <a:r>
              <a:rPr lang="en-US" sz="3200" b="0" spc="150" dirty="0">
                <a:solidFill>
                  <a:srgbClr val="FFFFFF"/>
                </a:solidFill>
                <a:latin typeface="Cambria"/>
                <a:cs typeface="Cambria"/>
              </a:rPr>
              <a:t>Text Categorization and Filtering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TY B.Sc. (CS)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C83E2C76-DF6F-6D6A-CB74-60A6C5734F58}"/>
              </a:ext>
            </a:extLst>
          </p:cNvPr>
          <p:cNvSpPr txBox="1">
            <a:spLocks/>
          </p:cNvSpPr>
          <p:nvPr/>
        </p:nvSpPr>
        <p:spPr>
          <a:xfrm>
            <a:off x="3276600" y="5410200"/>
            <a:ext cx="8609839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ctr"/>
            <a:r>
              <a:rPr lang="en-IN" sz="2400" spc="150" dirty="0">
                <a:solidFill>
                  <a:srgbClr val="FFFFFF"/>
                </a:solidFill>
                <a:latin typeface="Cambria"/>
                <a:cs typeface="Cambria"/>
              </a:rPr>
              <a:t>Poornima .N</a:t>
            </a:r>
          </a:p>
          <a:p>
            <a:pPr marL="12700" marR="5080" indent="2650490" algn="ctr"/>
            <a:r>
              <a:rPr lang="en-US" sz="2400" dirty="0"/>
              <a:t>Assistant Professor, Department of IT/CS</a:t>
            </a:r>
            <a:endParaRPr lang="en-IN"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69631" y="19812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200" dirty="0"/>
              <a:t>Text classification algorithms: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LcPeriod"/>
              <a:tabLst/>
            </a:pPr>
            <a:r>
              <a:rPr lang="en-US" sz="3200" dirty="0"/>
              <a:t>Naive Bayes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LcPeriod"/>
              <a:tabLst/>
            </a:pPr>
            <a:r>
              <a:rPr lang="en-US" sz="3200" dirty="0"/>
              <a:t>Support Vector Machines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dirty="0"/>
              <a:t>Feature selection and dimensionality reduction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dirty="0"/>
              <a:t>Applications of text categorization and filtering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chemeClr val="tx1"/>
                </a:solidFill>
                <a:latin typeface="Cambria"/>
                <a:cs typeface="Cambria"/>
              </a:rPr>
              <a:t>1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object 6" descr="$PPTXTitle">
            <a:extLst>
              <a:ext uri="{FF2B5EF4-FFF2-40B4-BE49-F238E27FC236}">
                <a16:creationId xmlns:a16="http://schemas.microsoft.com/office/drawing/2014/main" id="{3C06A57B-6092-F540-3D10-2B0F13362CFF}"/>
              </a:ext>
            </a:extLst>
          </p:cNvPr>
          <p:cNvSpPr txBox="1">
            <a:spLocks/>
          </p:cNvSpPr>
          <p:nvPr/>
        </p:nvSpPr>
        <p:spPr>
          <a:xfrm>
            <a:off x="5248275" y="5767211"/>
            <a:ext cx="69437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2000" b="0" i="1" spc="225" dirty="0">
                <a:solidFill>
                  <a:schemeClr val="tx1"/>
                </a:solidFill>
                <a:latin typeface="Cambria"/>
                <a:cs typeface="Cambria"/>
              </a:rPr>
              <a:t>“Can we trust a search engine just because it gives us fast results — or do we need evidence?”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150336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200" dirty="0"/>
              <a:t>In traditional search, users perform </a:t>
            </a:r>
            <a:r>
              <a:rPr lang="en-US" sz="3200" b="1" dirty="0"/>
              <a:t>ad hoc retrieval</a:t>
            </a:r>
            <a:r>
              <a:rPr lang="en-US" sz="3200" dirty="0"/>
              <a:t> (one-time queries) • Some information needs are </a:t>
            </a:r>
            <a:r>
              <a:rPr lang="en-US" sz="3200" b="1" dirty="0"/>
              <a:t>ongoing and repetitive</a:t>
            </a:r>
            <a:r>
              <a:rPr lang="en-US" sz="3200" dirty="0"/>
              <a:t> • Example: Daily tracking of news on </a:t>
            </a:r>
            <a:r>
              <a:rPr lang="en-US" sz="3200" i="1" dirty="0"/>
              <a:t>multicore computer chips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877062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600" dirty="0"/>
              <a:t>Text Classification – Introduction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4298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128A4D-1591-8BE6-006E-0A2813F0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611B29B-C1F5-7F77-3831-0726530A565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BF957CE-CC5D-431D-A47B-8802A8A2AE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01EF98-5760-7FE7-0CDB-608326B0ABF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6BBF158-4415-D736-3F09-ED5B347DDB05}"/>
              </a:ext>
            </a:extLst>
          </p:cNvPr>
          <p:cNvSpPr txBox="1"/>
          <p:nvPr/>
        </p:nvSpPr>
        <p:spPr>
          <a:xfrm>
            <a:off x="2916533" y="1981200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b="1" dirty="0"/>
              <a:t>Standing Query</a:t>
            </a:r>
            <a:r>
              <a:rPr lang="en-US" sz="3200" dirty="0"/>
              <a:t> • A saved query that runs </a:t>
            </a:r>
            <a:r>
              <a:rPr lang="en-US" sz="3200" b="1" dirty="0"/>
              <a:t>periodically</a:t>
            </a:r>
            <a:r>
              <a:rPr lang="en-US" sz="3200" dirty="0"/>
              <a:t> on new documents • Used to automate repetitive searches</a:t>
            </a:r>
          </a:p>
          <a:p>
            <a:r>
              <a:rPr lang="en-US" sz="3200" dirty="0"/>
              <a:t>🧠 Example:</a:t>
            </a:r>
          </a:p>
          <a:p>
            <a:r>
              <a:rPr lang="en-US" sz="3200" dirty="0"/>
              <a:t>multicore AND computer AND chip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2173B5C-E434-A5C8-4016-8C28E8E60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600" dirty="0"/>
              <a:t>Standing Queries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1536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⚠️ Simple queries miss relevant documents</a:t>
            </a:r>
          </a:p>
          <a:p>
            <a:r>
              <a:rPr lang="en-US" sz="3200" dirty="0"/>
              <a:t>Reasons: • Different terms express same concept • </a:t>
            </a:r>
          </a:p>
          <a:p>
            <a:r>
              <a:rPr lang="en-US" sz="3200" dirty="0"/>
              <a:t>Example: processor, microprocessor, multi-core</a:t>
            </a:r>
          </a:p>
          <a:p>
            <a:r>
              <a:rPr lang="en-US" sz="3200" dirty="0"/>
              <a:t>➡️ Leads to </a:t>
            </a:r>
            <a:r>
              <a:rPr lang="en-US" sz="3200" b="1" dirty="0"/>
              <a:t>low recall</a:t>
            </a:r>
            <a:endParaRPr lang="en-US" sz="3200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Limitations of Standing Queries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8972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7A42-DE47-1D08-004B-63056F92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30487B-2EEE-6D7F-7CB3-D3AC77407D9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367DA36-50AE-F147-C7C5-46DA82DC183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99ADC5E-06AB-3ED2-6A24-B4280665206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27C5109C-CC95-B109-2ACC-B80F37781D39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Improved query using Boolean rules:</a:t>
            </a:r>
          </a:p>
          <a:p>
            <a:endParaRPr lang="en-US" sz="2400" dirty="0"/>
          </a:p>
          <a:p>
            <a:r>
              <a:rPr lang="en-US" sz="2400" dirty="0"/>
              <a:t>(multicore OR multi-core)</a:t>
            </a:r>
          </a:p>
          <a:p>
            <a:r>
              <a:rPr lang="en-US" sz="2400" dirty="0"/>
              <a:t>AND</a:t>
            </a:r>
          </a:p>
          <a:p>
            <a:r>
              <a:rPr lang="en-US" sz="2400" dirty="0"/>
              <a:t>(chip OR processor OR microprocessor)</a:t>
            </a:r>
          </a:p>
          <a:p>
            <a:endParaRPr lang="en-US" sz="2400" dirty="0"/>
          </a:p>
          <a:p>
            <a:r>
              <a:rPr lang="en-US" sz="2400" dirty="0"/>
              <a:t>❌ Queries become complex over time ❌ Hard to create and maintain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2881EC5-C78F-C6F1-9D00-867F762758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Refining Standing Queries (Rule-Based Classification)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39538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6AF6-567F-16C9-44AD-C885BDA9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34DEFEC-17B9-A1BE-E318-07470D16D9B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804EC2C-8417-00BA-3378-C357A3B98D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9959B08-14E7-50AE-4C12-9BD65D66AC9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6DA4B3E-A174-66BC-576E-158D29FB6800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📂 </a:t>
            </a:r>
            <a:r>
              <a:rPr lang="en-US" sz="2800" b="1" dirty="0"/>
              <a:t>Text Classification</a:t>
            </a:r>
            <a:r>
              <a:rPr lang="en-US" sz="2800" dirty="0"/>
              <a:t> </a:t>
            </a:r>
          </a:p>
          <a:p>
            <a:r>
              <a:rPr lang="en-US" sz="2800" dirty="0"/>
              <a:t>• Task of assigning documents to predefined classes</a:t>
            </a:r>
          </a:p>
          <a:p>
            <a:r>
              <a:rPr lang="en-US" sz="2800" dirty="0"/>
              <a:t>Example classes: </a:t>
            </a:r>
          </a:p>
          <a:p>
            <a:r>
              <a:rPr lang="en-US" sz="2800" dirty="0"/>
              <a:t>• Documents about multicore chips </a:t>
            </a:r>
          </a:p>
          <a:p>
            <a:r>
              <a:rPr lang="en-US" sz="2800" dirty="0"/>
              <a:t>• Documents not about multicore chips</a:t>
            </a:r>
          </a:p>
          <a:p>
            <a:r>
              <a:rPr lang="en-US" sz="2800" dirty="0"/>
              <a:t>🔹 Also called: </a:t>
            </a:r>
          </a:p>
          <a:p>
            <a:r>
              <a:rPr lang="en-US" sz="2800" dirty="0"/>
              <a:t>• Routing </a:t>
            </a:r>
          </a:p>
          <a:p>
            <a:r>
              <a:rPr lang="en-US" sz="2800" dirty="0"/>
              <a:t>• Filtering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964C9B9E-CFB5-AC92-409C-870C216AA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Classification Concept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0044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684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Text classification is used in: </a:t>
            </a:r>
          </a:p>
          <a:p>
            <a:r>
              <a:rPr lang="en-US" sz="2800" dirty="0"/>
              <a:t>• Spam detection </a:t>
            </a:r>
          </a:p>
          <a:p>
            <a:r>
              <a:rPr lang="en-US" sz="2800" dirty="0"/>
              <a:t>• Sentiment analysis </a:t>
            </a:r>
          </a:p>
          <a:p>
            <a:r>
              <a:rPr lang="en-US" sz="2800" dirty="0"/>
              <a:t>• Email sorting </a:t>
            </a:r>
          </a:p>
          <a:p>
            <a:r>
              <a:rPr lang="en-US" sz="2800" dirty="0"/>
              <a:t>• Content filtering </a:t>
            </a:r>
          </a:p>
          <a:p>
            <a:r>
              <a:rPr lang="en-US" sz="2800" dirty="0"/>
              <a:t>• Vertical search engines</a:t>
            </a:r>
          </a:p>
          <a:p>
            <a:r>
              <a:rPr lang="en-US" sz="2800" dirty="0"/>
              <a:t>➡️ Foundation for machine learning methods like </a:t>
            </a:r>
            <a:r>
              <a:rPr lang="en-US" sz="2800" b="1" dirty="0"/>
              <a:t>Naive Bayes</a:t>
            </a:r>
            <a:endParaRPr lang="en-US" sz="2800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9052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Importance of Text Classification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3970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Step 1: Give classes</a:t>
            </a:r>
            <a:endParaRPr lang="en-US" sz="2800" dirty="0"/>
          </a:p>
          <a:p>
            <a:r>
              <a:rPr lang="en-US" sz="2800" dirty="0"/>
              <a:t>Class A: Sports</a:t>
            </a:r>
          </a:p>
          <a:p>
            <a:r>
              <a:rPr lang="en-US" sz="2800" dirty="0"/>
              <a:t>Class B: Technology</a:t>
            </a:r>
          </a:p>
          <a:p>
            <a:r>
              <a:rPr lang="en-US" sz="2800" b="1" dirty="0"/>
              <a:t>Step 2: Give documents</a:t>
            </a:r>
            <a:br>
              <a:rPr lang="en-US" sz="2800" dirty="0"/>
            </a:br>
            <a:r>
              <a:rPr lang="en-US" sz="2800" dirty="0"/>
              <a:t>1️⃣ “The team won the match”</a:t>
            </a:r>
            <a:br>
              <a:rPr lang="en-US" sz="2800" dirty="0"/>
            </a:br>
            <a:r>
              <a:rPr lang="en-US" sz="2800" dirty="0"/>
              <a:t>2️⃣ “New processor improves performance”</a:t>
            </a:r>
            <a:br>
              <a:rPr lang="en-US" sz="2800" dirty="0"/>
            </a:br>
            <a:r>
              <a:rPr lang="en-US" sz="2800" dirty="0"/>
              <a:t>3️⃣ “The player scored a goal”</a:t>
            </a:r>
          </a:p>
          <a:p>
            <a:r>
              <a:rPr lang="en-US" sz="2800" b="1" dirty="0"/>
              <a:t>Ask students:</a:t>
            </a:r>
            <a:endParaRPr lang="en-US" sz="2800" dirty="0"/>
          </a:p>
          <a:p>
            <a:r>
              <a:rPr lang="en-US" sz="2800" dirty="0"/>
              <a:t>“Which class will Naive Bayes choose and WHY?”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MINI CLASSROOM EXERCISE 1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7BF0F-5A0D-7D11-7E44-56D7E83EEC33}"/>
              </a:ext>
            </a:extLst>
          </p:cNvPr>
          <p:cNvSpPr txBox="1"/>
          <p:nvPr/>
        </p:nvSpPr>
        <p:spPr>
          <a:xfrm>
            <a:off x="4610734" y="1185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Exercise 1: Word-Based Classification (No </a:t>
            </a:r>
            <a:r>
              <a:rPr lang="en-US" sz="1800" b="1" dirty="0" err="1"/>
              <a:t>maths</a:t>
            </a:r>
            <a:r>
              <a:rPr lang="en-US" sz="1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3669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F775-C631-07EA-67A3-C5ED5975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FC95F2A-778E-F6CF-CC31-F23B5A4F8AE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BA0E033-0C5F-85B1-FEC8-3E4D2D43217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C06941E-1B5D-9F9C-F1F7-737D74ABFF1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A766CA2-84BA-A12F-5C23-D1030DE59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MINI CLASSROOM EXERCISE 2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82345-A37A-6BF9-5B3F-CDCE12460BFB}"/>
              </a:ext>
            </a:extLst>
          </p:cNvPr>
          <p:cNvSpPr txBox="1"/>
          <p:nvPr/>
        </p:nvSpPr>
        <p:spPr>
          <a:xfrm>
            <a:off x="4610734" y="1185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Exercise 2: Word-Based Classification (No </a:t>
            </a:r>
            <a:r>
              <a:rPr lang="en-US" sz="1800" b="1" dirty="0" err="1"/>
              <a:t>maths</a:t>
            </a:r>
            <a:r>
              <a:rPr lang="en-US" sz="1800" b="1" dirty="0"/>
              <a:t>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D260E5-9E1F-C079-DFBC-6005E3E4A052}"/>
              </a:ext>
            </a:extLst>
          </p:cNvPr>
          <p:cNvGraphicFramePr>
            <a:graphicFrameLocks noGrp="1"/>
          </p:cNvGraphicFramePr>
          <p:nvPr/>
        </p:nvGraphicFramePr>
        <p:xfrm>
          <a:off x="3428999" y="2294001"/>
          <a:ext cx="8731251" cy="2072640"/>
        </p:xfrm>
        <a:graphic>
          <a:graphicData uri="http://schemas.openxmlformats.org/drawingml/2006/table">
            <a:tbl>
              <a:tblPr/>
              <a:tblGrid>
                <a:gridCol w="2910417">
                  <a:extLst>
                    <a:ext uri="{9D8B030D-6E8A-4147-A177-3AD203B41FA5}">
                      <a16:colId xmlns:a16="http://schemas.microsoft.com/office/drawing/2014/main" val="445494854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4240870082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139142569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Not 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3771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free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460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5965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offer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7503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2D56940-D037-1F5D-1341-84A95CE10278}"/>
              </a:ext>
            </a:extLst>
          </p:cNvPr>
          <p:cNvSpPr txBox="1"/>
          <p:nvPr/>
        </p:nvSpPr>
        <p:spPr>
          <a:xfrm>
            <a:off x="6858000" y="5191553"/>
            <a:ext cx="4267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Document:</a:t>
            </a:r>
          </a:p>
          <a:p>
            <a:pPr>
              <a:buNone/>
            </a:pPr>
            <a:r>
              <a:rPr lang="en-US" sz="3200" dirty="0"/>
              <a:t>“free offer”</a:t>
            </a:r>
          </a:p>
        </p:txBody>
      </p:sp>
    </p:spTree>
    <p:extLst>
      <p:ext uri="{BB962C8B-B14F-4D97-AF65-F5344CB8AC3E}">
        <p14:creationId xmlns:p14="http://schemas.microsoft.com/office/powerpoint/2010/main" val="539929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BD95D1-5A8C-B244-934E-6BA939BF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9ECE6E1-B3F6-F8C5-573A-DD1E86DCD095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5256C7E-F631-1DA6-DFAB-765E771777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7F75752-D334-16A5-05D2-980BD20A310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F7266F3-05BA-BD12-1987-AA2E149F7438}"/>
              </a:ext>
            </a:extLst>
          </p:cNvPr>
          <p:cNvSpPr txBox="1"/>
          <p:nvPr/>
        </p:nvSpPr>
        <p:spPr>
          <a:xfrm>
            <a:off x="2934462" y="20684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b="1" dirty="0"/>
              <a:t>Naive Bayes Classifier</a:t>
            </a:r>
            <a:endParaRPr lang="en-US" sz="3600" dirty="0"/>
          </a:p>
          <a:p>
            <a:r>
              <a:rPr lang="en-US" sz="3600" dirty="0"/>
              <a:t>• A machine learning method for text classification </a:t>
            </a:r>
          </a:p>
          <a:p>
            <a:r>
              <a:rPr lang="en-US" sz="3600" dirty="0"/>
              <a:t>• Uses probability to decide the class of a document </a:t>
            </a:r>
          </a:p>
          <a:p>
            <a:r>
              <a:rPr lang="en-US" sz="3600" dirty="0"/>
              <a:t>• Learns from labeled training data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5599FBC-5390-EED9-D5F4-43765C1642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9052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Introduction to Naive Bayes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14365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Key idea: </a:t>
            </a:r>
          </a:p>
          <a:p>
            <a:r>
              <a:rPr lang="en-US" sz="3600" dirty="0"/>
              <a:t>• Certain words indicate certain topics</a:t>
            </a:r>
          </a:p>
          <a:p>
            <a:r>
              <a:rPr lang="en-US" sz="3600" dirty="0"/>
              <a:t>Examples: </a:t>
            </a:r>
          </a:p>
          <a:p>
            <a:r>
              <a:rPr lang="en-US" sz="3600" dirty="0"/>
              <a:t>• goal, match, team → Sports </a:t>
            </a:r>
          </a:p>
          <a:p>
            <a:r>
              <a:rPr lang="en-US" sz="3600" dirty="0"/>
              <a:t>• election, vote, party → Politics</a:t>
            </a:r>
          </a:p>
          <a:p>
            <a:endParaRPr lang="en-US" sz="3600" dirty="0"/>
          </a:p>
          <a:p>
            <a:r>
              <a:rPr lang="en-US" sz="3600" dirty="0"/>
              <a:t>➡️ Naive Bayes learns this using probabilities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Intuition Behind Naive Bayes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0821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91876E-989D-2511-774D-2FCB0476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D4520AC-311E-A5A0-8526-3249756DBF87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E9BC8B9-EE7C-23A9-8B73-77A36315B2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C162B31-0D20-EA68-8C77-EA9D896891D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E8364D86-20CF-57E0-42C1-D6055675BED7}"/>
              </a:ext>
            </a:extLst>
          </p:cNvPr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“Naive Bayes asks one question:</a:t>
            </a:r>
            <a:br>
              <a:rPr lang="en-US" sz="3600" dirty="0"/>
            </a:br>
            <a:r>
              <a:rPr lang="en-US" sz="3600" dirty="0"/>
              <a:t>Which class is more probable for this document?”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r>
              <a:rPr lang="en-US" sz="3600" dirty="0"/>
              <a:t>For each class, it checks:</a:t>
            </a:r>
          </a:p>
          <a:p>
            <a:r>
              <a:rPr lang="en-US" sz="3600" dirty="0"/>
              <a:t>How often do these words appear in this class?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A9FC5F6-F4D6-A43E-8AB4-1BF729B95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How Naive Bayes thinks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732796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For a new document: </a:t>
            </a:r>
          </a:p>
          <a:p>
            <a:r>
              <a:rPr lang="en-US" sz="3600" dirty="0"/>
              <a:t>1️⃣ Look at the words in the document </a:t>
            </a:r>
          </a:p>
          <a:p>
            <a:r>
              <a:rPr lang="en-US" sz="3600" dirty="0"/>
              <a:t>2️⃣ Estimate how likely these words are for each class </a:t>
            </a:r>
          </a:p>
          <a:p>
            <a:r>
              <a:rPr lang="en-US" sz="3600" dirty="0"/>
              <a:t>3️⃣ Compute probability for each class </a:t>
            </a:r>
          </a:p>
          <a:p>
            <a:r>
              <a:rPr lang="en-US" sz="3600" dirty="0"/>
              <a:t>4️⃣ Choose the class with highest probability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How Naive Bayes Works (High Level)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84274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0A26E0-AEEA-1817-07E8-DB96EFCB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B761CAC-97A0-DE95-7AF1-46E3BC4DB20E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2EA628D-9DF6-5602-0DFD-6132CBBF2B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C3DA9AA-DD2B-150A-8531-95A8FBCE36F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37E3DF2-CD00-8025-94A1-D997FD611633}"/>
              </a:ext>
            </a:extLst>
          </p:cNvPr>
          <p:cNvSpPr txBox="1"/>
          <p:nvPr/>
        </p:nvSpPr>
        <p:spPr>
          <a:xfrm>
            <a:off x="2934462" y="2086209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🔹 </a:t>
            </a:r>
            <a:r>
              <a:rPr lang="en-US" sz="3600" b="1" dirty="0"/>
              <a:t>Bayes</a:t>
            </a:r>
            <a:r>
              <a:rPr lang="en-US" sz="3600" dirty="0"/>
              <a:t> • Based on Bayes’ theorem (probability rule)</a:t>
            </a:r>
          </a:p>
          <a:p>
            <a:r>
              <a:rPr lang="en-US" sz="3600" dirty="0"/>
              <a:t>🔹 </a:t>
            </a:r>
            <a:r>
              <a:rPr lang="en-US" sz="3600" b="1" dirty="0"/>
              <a:t>Naive</a:t>
            </a:r>
            <a:r>
              <a:rPr lang="en-US" sz="3600" dirty="0"/>
              <a:t> • Assumes words are independent of each other</a:t>
            </a:r>
          </a:p>
          <a:p>
            <a:r>
              <a:rPr lang="en-US" sz="3600" dirty="0"/>
              <a:t> • This assumption is simple but effective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1BA6A45B-3617-E35A-EE73-3BF4DAEB39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Why is it Called Naive Bayes?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43638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5DF432-8742-37C7-E60E-A0A6CF8A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6293971-85A7-90F0-D9A4-6A08D2AE0E6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8197560-7877-8839-0477-F2EADB8957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1480490-0B47-5689-25ED-93063A41930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9C364BC0-F0D5-716A-1291-BF24AFE1F628}"/>
              </a:ext>
            </a:extLst>
          </p:cNvPr>
          <p:cNvSpPr txBox="1"/>
          <p:nvPr/>
        </p:nvSpPr>
        <p:spPr>
          <a:xfrm>
            <a:off x="2934462" y="2086209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✅ Simple and easy to understand </a:t>
            </a:r>
          </a:p>
          <a:p>
            <a:r>
              <a:rPr lang="en-US" sz="3600" dirty="0"/>
              <a:t>✅ Fast and efficient </a:t>
            </a:r>
          </a:p>
          <a:p>
            <a:r>
              <a:rPr lang="en-US" sz="3600" dirty="0"/>
              <a:t>✅ Works well for large text collections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D529CD0-A628-FC0A-3E69-E678594583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 Why Naive Bayes is Popular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76395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D8F7B6-6647-D181-CB2D-5C2BEE9D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DD3EE84-AEF6-4ECC-C0FE-DA59183F2D0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7793684-F521-CF69-CAC9-A6DE8427CC3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CBF891F-9BB4-5920-A9DC-4A480096586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32FDD5F-A8DE-8EF5-4B85-EBCBAD568F1E}"/>
              </a:ext>
            </a:extLst>
          </p:cNvPr>
          <p:cNvSpPr txBox="1"/>
          <p:nvPr/>
        </p:nvSpPr>
        <p:spPr>
          <a:xfrm>
            <a:off x="2934462" y="2086209"/>
            <a:ext cx="8448040" cy="85600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400" dirty="0"/>
              <a:t>P(c | d) = P(d | c) × P(c) / P(d)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8626781-FE51-EC93-5692-C8AE313894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Bayes theorem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41342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A83B73-64F6-2910-7207-7073472F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67926E3-E73C-8975-892B-6FEF7E74A75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A44E644-320C-5E25-3682-CAF07F83F7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F307FF9-F8FC-1196-AAC0-217F43E5A16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2846578-7713-C749-BE3B-AD9C2054BEB1}"/>
              </a:ext>
            </a:extLst>
          </p:cNvPr>
          <p:cNvSpPr txBox="1"/>
          <p:nvPr/>
        </p:nvSpPr>
        <p:spPr>
          <a:xfrm>
            <a:off x="2934462" y="2086209"/>
            <a:ext cx="8448040" cy="91755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4800" dirty="0"/>
              <a:t>P(c | d) ∝ P(c) × ∏ P(wᵢ | c)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7F26A9F-F2AB-CAB5-2800-D4BFC794F2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Naive Bayes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76638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4E80EB-743A-23B0-44BE-5C4D6AAB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CE39991-1EC2-80AF-34F6-A1B3B486B898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E606654-CCAD-27C4-667D-45ECD1E1FA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406B08A-7D25-155D-5BFD-BE6C7C22FEE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345E4B1-DF00-097A-653B-12F8CF75D4A6}"/>
              </a:ext>
            </a:extLst>
          </p:cNvPr>
          <p:cNvSpPr txBox="1"/>
          <p:nvPr/>
        </p:nvSpPr>
        <p:spPr>
          <a:xfrm>
            <a:off x="2934462" y="2086209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Given:</a:t>
            </a:r>
            <a:endParaRPr lang="en-US" sz="2800" dirty="0"/>
          </a:p>
          <a:p>
            <a:r>
              <a:rPr lang="en-US" sz="2800" dirty="0"/>
              <a:t>Document space </a:t>
            </a:r>
            <a:r>
              <a:rPr lang="en-US" sz="2800" b="1" dirty="0"/>
              <a:t>X</a:t>
            </a:r>
            <a:endParaRPr lang="en-US" sz="2800" dirty="0"/>
          </a:p>
          <a:p>
            <a:r>
              <a:rPr lang="en-US" sz="2800" dirty="0"/>
              <a:t>Set of classes </a:t>
            </a:r>
            <a:r>
              <a:rPr lang="en-US" sz="2800" b="1" dirty="0"/>
              <a:t>C = {c₁, c₂, …, cⱼ}</a:t>
            </a:r>
            <a:endParaRPr lang="en-US" sz="2800" dirty="0"/>
          </a:p>
          <a:p>
            <a:r>
              <a:rPr lang="en-US" sz="2800" b="1" dirty="0"/>
              <a:t>Goal:</a:t>
            </a:r>
            <a:br>
              <a:rPr lang="en-US" sz="2800" dirty="0"/>
            </a:br>
            <a:r>
              <a:rPr lang="en-US" sz="2800" dirty="0"/>
              <a:t>Assign each document to </a:t>
            </a:r>
            <a:r>
              <a:rPr lang="en-US" sz="2800" b="1" dirty="0"/>
              <a:t>exactly one class</a:t>
            </a:r>
          </a:p>
          <a:p>
            <a:endParaRPr lang="en-US" sz="2800" b="1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DBE02E1-D9E4-4919-3D91-44A5F128B2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Text Classification Problem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30150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A5A3-F14B-51E0-FA46-D5AE8B91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2650665-D254-C055-EC3D-684A2799CB3A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80EF965-9D7A-84BA-FEF1-3E91FD28EB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5E91611-6C7D-1B13-ED64-21269B0814B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AC10543C-90A4-6735-A1B6-95F7F3218082}"/>
              </a:ext>
            </a:extLst>
          </p:cNvPr>
          <p:cNvSpPr txBox="1"/>
          <p:nvPr/>
        </p:nvSpPr>
        <p:spPr>
          <a:xfrm>
            <a:off x="2934462" y="2086209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“We are given a description d ∈ X of a document, where X is the document space.”</a:t>
            </a:r>
          </a:p>
          <a:p>
            <a:endParaRPr lang="en-US" sz="3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 (document space)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all possible documents the system can see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document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belongs to this space</a:t>
            </a:r>
          </a:p>
          <a:p>
            <a:endParaRPr lang="en-US" sz="32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F8E148D6-9B88-6695-1EA9-17DAC2E7C1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Document Space (X)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34599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14F6-5EAA-B8F7-7049-9D408712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7B8C600-4DD5-B653-7C9F-52C28709B69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454679B-EDB4-BF2F-D7EC-34A84261657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E9968D6-798D-5687-DB02-6C78B99756E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964A89E3-C656-9BA6-FE2D-5B14E9EAFD7E}"/>
              </a:ext>
            </a:extLst>
          </p:cNvPr>
          <p:cNvSpPr txBox="1"/>
          <p:nvPr/>
        </p:nvSpPr>
        <p:spPr>
          <a:xfrm>
            <a:off x="2934462" y="2086209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“A fixed set of classes C = {c1, c2, …, </a:t>
            </a:r>
            <a:r>
              <a:rPr lang="en-US" sz="3200" dirty="0" err="1"/>
              <a:t>cJ</a:t>
            </a:r>
            <a:r>
              <a:rPr lang="en-US" sz="3200" dirty="0"/>
              <a:t>}”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 = labels or categories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decided by humans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the computer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E9751EF-8EB0-9551-6ED4-0741F450E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Classes (C)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58856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7B5D-98CA-810C-8857-7E0BD3EA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A5B5CAA-3707-040C-36BC-AABD6928043D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C9893E7-18F6-9D87-185B-1AB2F2F84D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0342915-BFF2-54E8-DB85-A8082E48522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C74766E4-BD93-5078-E316-561BB6B34BB6}"/>
              </a:ext>
            </a:extLst>
          </p:cNvPr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“We are given a training set D of labeled documents ⟨d, c⟩”</a:t>
            </a:r>
          </a:p>
          <a:p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documents where we already know the correct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document comes with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679FF32-67D5-AF49-CABA-A711FD670E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Training Set (D) (Supervised Learning)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56235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F7666-1632-C98C-7D35-E1374E75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C66A859-2332-39E7-0245-324C96AA655B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9A0A954-4A49-2591-880A-6696F8B3F09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340BE8D-B9E8-D587-1B80-64D09450C89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791AD95B-FAD7-1EAD-0C2B-ECB8A4761C8C}"/>
              </a:ext>
            </a:extLst>
          </p:cNvPr>
          <p:cNvSpPr txBox="1"/>
          <p:nvPr/>
        </p:nvSpPr>
        <p:spPr>
          <a:xfrm>
            <a:off x="2934462" y="2086209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P(c | d)</a:t>
            </a:r>
          </a:p>
          <a:p>
            <a:endParaRPr lang="en-US" sz="3600" dirty="0"/>
          </a:p>
          <a:p>
            <a:r>
              <a:rPr lang="en-US" sz="3600" dirty="0"/>
              <a:t>“Probability of class </a:t>
            </a:r>
            <a:r>
              <a:rPr lang="en-US" sz="3600" b="1" dirty="0"/>
              <a:t>c</a:t>
            </a:r>
            <a:r>
              <a:rPr lang="en-US" sz="3600" dirty="0"/>
              <a:t>, given document </a:t>
            </a:r>
            <a:r>
              <a:rPr lang="en-US" sz="3600" b="1" dirty="0"/>
              <a:t>d</a:t>
            </a:r>
            <a:r>
              <a:rPr lang="en-US" sz="3600" dirty="0"/>
              <a:t>”</a:t>
            </a:r>
          </a:p>
          <a:p>
            <a:r>
              <a:rPr lang="en-US" sz="3600" dirty="0"/>
              <a:t>So Naive Bayes is asking:</a:t>
            </a:r>
          </a:p>
          <a:p>
            <a:r>
              <a:rPr lang="en-US" sz="3600" dirty="0"/>
              <a:t>“Given this document, how likely is it to belong to class c?”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F28B8AD-82E3-0676-561B-2F8FB84D1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What does </a:t>
            </a:r>
            <a:r>
              <a:rPr lang="en-US" dirty="0"/>
              <a:t>P(c | d)</a:t>
            </a:r>
            <a:r>
              <a:rPr lang="en-US" sz="3200" dirty="0"/>
              <a:t> mean?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5435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B1EA7-0B00-D810-9E9F-34AD38D1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C3FE1FF-520A-D7E3-79E0-4B6A9B23DC5F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DB07B36-F8C6-5218-CE41-4AFC4D8860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7E59196-B0E1-950F-11AE-B4E17A533D2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CC5D410-A950-5AE7-E5FB-723A761E58E9}"/>
              </a:ext>
            </a:extLst>
          </p:cNvPr>
          <p:cNvSpPr txBox="1"/>
          <p:nvPr/>
        </p:nvSpPr>
        <p:spPr>
          <a:xfrm>
            <a:off x="2934462" y="2086209"/>
            <a:ext cx="8448040" cy="411843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P(c)</a:t>
            </a:r>
          </a:p>
          <a:p>
            <a:r>
              <a:rPr lang="en-US" sz="3200" dirty="0"/>
              <a:t>This is the </a:t>
            </a:r>
            <a:r>
              <a:rPr lang="en-US" sz="3200" b="1" dirty="0"/>
              <a:t>prior probability</a:t>
            </a:r>
            <a:r>
              <a:rPr lang="en-US" sz="3200" dirty="0"/>
              <a:t> of class c.</a:t>
            </a:r>
          </a:p>
          <a:p>
            <a:endParaRPr lang="en-US" sz="3200" dirty="0"/>
          </a:p>
          <a:p>
            <a:r>
              <a:rPr lang="en-US" sz="3200" dirty="0"/>
              <a:t>“How common is class c in training data?”</a:t>
            </a:r>
          </a:p>
          <a:p>
            <a:r>
              <a:rPr lang="en-US" sz="3200" dirty="0"/>
              <a:t>Example:</a:t>
            </a:r>
          </a:p>
          <a:p>
            <a:r>
              <a:rPr lang="en-US" sz="3200" dirty="0"/>
              <a:t>100 training documents</a:t>
            </a:r>
          </a:p>
          <a:p>
            <a:r>
              <a:rPr lang="en-US" sz="3200" dirty="0"/>
              <a:t>30 are China</a:t>
            </a:r>
          </a:p>
          <a:p>
            <a:pPr rtl="0"/>
            <a:r>
              <a:rPr lang="en-US" sz="3200" dirty="0"/>
              <a:t>P(China) = 30 / 100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339B648-8C60-CD1A-EE7E-305AA2384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What is </a:t>
            </a:r>
            <a:r>
              <a:rPr lang="en-IN" dirty="0"/>
              <a:t>P(c)</a:t>
            </a:r>
            <a:r>
              <a:rPr lang="en-IN" sz="3200" dirty="0"/>
              <a:t>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4976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4056B-FE45-772C-C4AB-DF622CF2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21CC5F7-9111-8FAD-5D7E-DB94FD7EF9C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BDAB64E-79C8-788E-246A-76E0C999918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FC41B58-5F42-E219-332E-D62C73002F2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7546164-BDD7-02DD-48C6-30878CF8DCE8}"/>
              </a:ext>
            </a:extLst>
          </p:cNvPr>
          <p:cNvSpPr txBox="1"/>
          <p:nvPr/>
        </p:nvSpPr>
        <p:spPr>
          <a:xfrm>
            <a:off x="2934462" y="2086209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“If the document belongs to class c, how likely is it to look like this?”</a:t>
            </a:r>
          </a:p>
          <a:p>
            <a:r>
              <a:rPr lang="en-US" sz="2800" dirty="0"/>
              <a:t>But documents are made of </a:t>
            </a:r>
            <a:r>
              <a:rPr lang="en-US" sz="2800" b="1" dirty="0"/>
              <a:t>words</a:t>
            </a:r>
            <a:r>
              <a:rPr lang="en-US" sz="2800" dirty="0"/>
              <a:t>, so…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F0C539D3-220B-754F-5832-C5D4FD83A5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What is </a:t>
            </a:r>
            <a:r>
              <a:rPr lang="en-US" dirty="0"/>
              <a:t>P(d | c)</a:t>
            </a:r>
            <a:r>
              <a:rPr lang="en-US" sz="3200" dirty="0"/>
              <a:t>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99469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8FE2-F4E4-219A-12BA-2DBF4E91C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16C961F-D377-81F6-935C-7029CAEA9428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B5B5FC3-A495-7ED2-CC6B-3676662193E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9E9FAE2-E146-07A6-94DD-AE537F2FA80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6A2A496B-77D4-C9DD-526C-DF647ED148A0}"/>
              </a:ext>
            </a:extLst>
          </p:cNvPr>
          <p:cNvSpPr txBox="1"/>
          <p:nvPr/>
        </p:nvSpPr>
        <p:spPr>
          <a:xfrm>
            <a:off x="2934462" y="2086209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1️⃣ Learning method (Γ)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process</a:t>
            </a:r>
            <a:endParaRPr lang="en-US" sz="2800" dirty="0"/>
          </a:p>
          <a:p>
            <a:r>
              <a:rPr lang="en-US" sz="2800" dirty="0"/>
              <a:t>The algorithm</a:t>
            </a:r>
          </a:p>
          <a:p>
            <a:r>
              <a:rPr lang="en-US" sz="2800" dirty="0"/>
              <a:t>Example: Naive Bayes learning method</a:t>
            </a:r>
          </a:p>
          <a:p>
            <a:endParaRPr lang="en-US" sz="2800" dirty="0"/>
          </a:p>
          <a:p>
            <a:r>
              <a:rPr lang="en-US" sz="2800" b="1" dirty="0"/>
              <a:t>2️⃣ Classifier (γ)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result</a:t>
            </a:r>
            <a:endParaRPr lang="en-US" sz="2800" dirty="0"/>
          </a:p>
          <a:p>
            <a:r>
              <a:rPr lang="en-US" sz="2800" dirty="0"/>
              <a:t>The function that actually classifies documents.</a:t>
            </a:r>
          </a:p>
          <a:p>
            <a:endParaRPr lang="en-US" sz="2800" dirty="0"/>
          </a:p>
          <a:p>
            <a:r>
              <a:rPr lang="el-GR" sz="2800" dirty="0"/>
              <a:t>γ : </a:t>
            </a:r>
            <a:r>
              <a:rPr lang="en-US" sz="2800" dirty="0"/>
              <a:t>X → C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3590A13-6061-7474-CF1A-32D730D82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Learning Method &amp; Classifier (Γ and γ)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18973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E9407E-F9F8-8A3F-CCAA-0AEEF1BD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3C080B6-81BF-4C46-D73D-1F1898FC3435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599C998-F7AD-1950-FF89-A8B58545D5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00ABD6A-564F-66FD-9508-B73D12D3567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E5E7D2B8-8F25-CF3D-C6ED-5E8602FA8237}"/>
              </a:ext>
            </a:extLst>
          </p:cNvPr>
          <p:cNvSpPr txBox="1"/>
          <p:nvPr/>
        </p:nvSpPr>
        <p:spPr>
          <a:xfrm>
            <a:off x="2934462" y="2086209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📌 Goal: • Find the most probable class for a document</a:t>
            </a:r>
          </a:p>
          <a:p>
            <a:r>
              <a:rPr lang="en-US" sz="3600" dirty="0"/>
              <a:t>For a document </a:t>
            </a:r>
            <a:r>
              <a:rPr lang="en-US" sz="3600" b="1" dirty="0"/>
              <a:t>d</a:t>
            </a:r>
            <a:r>
              <a:rPr lang="en-US" sz="3600" dirty="0"/>
              <a:t> and class </a:t>
            </a:r>
            <a:r>
              <a:rPr lang="en-US" sz="3600" b="1" dirty="0"/>
              <a:t>c</a:t>
            </a:r>
            <a:r>
              <a:rPr lang="en-US" sz="3600" dirty="0"/>
              <a:t>:</a:t>
            </a:r>
          </a:p>
          <a:p>
            <a:r>
              <a:rPr lang="en-US" sz="3600" dirty="0"/>
              <a:t>➡️ Choose the class with maximum:</a:t>
            </a:r>
          </a:p>
          <a:p>
            <a:r>
              <a:rPr lang="en-US" sz="3600" dirty="0"/>
              <a:t>P(c | d)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E0A0C43-7056-317B-E8F3-980801AF7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 </a:t>
            </a:r>
            <a:r>
              <a:rPr lang="en-IN" sz="3200" dirty="0"/>
              <a:t>Naive Bayes – Probabilistic Model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84671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153311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400" dirty="0"/>
              <a:t>Document: "Beijing joins WTO"</a:t>
            </a:r>
          </a:p>
          <a:p>
            <a:r>
              <a:rPr lang="en-US" sz="4400" dirty="0"/>
              <a:t>Class: China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Text Classification Problem Example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96642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328544-FF15-9382-A085-6C021221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3FEA1BD-C043-EB3A-3E6A-4C3B8876D9E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91FC58C-E7CE-FA01-E97C-C278B5EA3B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F50106C-2D10-97BF-AC4F-31491937D62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7938655-04C1-24FA-5B0E-810AD047A609}"/>
              </a:ext>
            </a:extLst>
          </p:cNvPr>
          <p:cNvSpPr txBox="1"/>
          <p:nvPr/>
        </p:nvSpPr>
        <p:spPr>
          <a:xfrm>
            <a:off x="3048000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800" b="1" dirty="0"/>
              <a:t>Classifier (</a:t>
            </a:r>
            <a:r>
              <a:rPr lang="el-GR" sz="2800" b="1" dirty="0"/>
              <a:t>γ):</a:t>
            </a:r>
            <a:endParaRPr lang="en-US" sz="2800" b="1" dirty="0"/>
          </a:p>
          <a:p>
            <a:endParaRPr lang="el-GR" sz="2800" dirty="0"/>
          </a:p>
          <a:p>
            <a:r>
              <a:rPr lang="en-IN" sz="2800" b="1" dirty="0"/>
              <a:t>Meaning:</a:t>
            </a:r>
            <a:endParaRPr lang="en-IN" sz="2800" dirty="0"/>
          </a:p>
          <a:p>
            <a:r>
              <a:rPr lang="en-IN" sz="2800" dirty="0"/>
              <a:t>Input → Document</a:t>
            </a:r>
          </a:p>
          <a:p>
            <a:r>
              <a:rPr lang="en-IN" sz="2800" dirty="0"/>
              <a:t>Output → One class</a:t>
            </a:r>
          </a:p>
          <a:p>
            <a:r>
              <a:rPr lang="en-IN" sz="2800" b="1" dirty="0"/>
              <a:t>Example:</a:t>
            </a:r>
          </a:p>
          <a:p>
            <a:endParaRPr lang="en-IN" sz="28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E5D1ED0-C579-0686-77BE-289C24936F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Classifier Function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19389" y="2439546"/>
            <a:ext cx="3301501" cy="12097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000" y="4724400"/>
            <a:ext cx="2990010" cy="112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03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141622-4463-E87C-378F-CD50CCC6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2BF36EC-0788-B3A2-3903-D102126EDEC8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AE3E37B-F48E-8E03-DD5A-CDB61ED832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048A68-80E6-D280-8E75-C74FDF69A35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DA3087BE-CA98-6B59-B40B-89505288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dirty="0"/>
              <a:t> 1. Examples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EE13DA-825E-385A-C3B0-13D3AF548796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Imagine you are a </a:t>
            </a:r>
            <a:r>
              <a:rPr lang="en-US" b="1" dirty="0"/>
              <a:t>Library Helper</a:t>
            </a:r>
            <a:r>
              <a:rPr lang="en-US" dirty="0"/>
              <a:t>. Your job is to take a book and decide if it goes in the </a:t>
            </a:r>
            <a:r>
              <a:rPr lang="en-US" b="1" dirty="0"/>
              <a:t>"Horror"</a:t>
            </a:r>
            <a:r>
              <a:rPr lang="en-US" dirty="0"/>
              <a:t> section or the </a:t>
            </a:r>
            <a:r>
              <a:rPr lang="en-US" b="1" dirty="0"/>
              <a:t>"Romantic Comedy"</a:t>
            </a:r>
            <a:r>
              <a:rPr lang="en-US" dirty="0"/>
              <a:t> section.</a:t>
            </a:r>
          </a:p>
        </p:txBody>
      </p:sp>
    </p:spTree>
    <p:extLst>
      <p:ext uri="{BB962C8B-B14F-4D97-AF65-F5344CB8AC3E}">
        <p14:creationId xmlns:p14="http://schemas.microsoft.com/office/powerpoint/2010/main" val="992145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997186-39A0-E5A7-FB7C-FCB7F427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00C6E06-DBE1-7E9E-2D02-C879C651A8D9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5953392-9A49-02D6-9947-B0596E8B73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645E6A5-F03B-6C9B-DFA0-4586D31DDAF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1D413CE-35D3-744D-FDF4-EAE058A152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1. The Starting Guess (The "Prior")</a:t>
            </a:r>
            <a:br>
              <a:rPr lang="en-US" dirty="0"/>
            </a:b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B2CF576-FBF1-E532-3F39-71F48033157E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Before you even open the book, you look at the library. You notice that 80% of the library is Horror books.</a:t>
            </a:r>
          </a:p>
          <a:p>
            <a:endParaRPr lang="en-US" dirty="0"/>
          </a:p>
          <a:p>
            <a:r>
              <a:rPr lang="en-US" altLang="en-US" b="1" dirty="0">
                <a:latin typeface="Arial" panose="020B0604020202020204" pitchFamily="34" charset="0"/>
                <a:ea typeface="Google Sans Text"/>
              </a:rPr>
              <a:t>In the formula:</a:t>
            </a:r>
            <a:r>
              <a:rPr lang="en-US" altLang="en-US" dirty="0">
                <a:latin typeface="Arial" panose="020B0604020202020204" pitchFamily="34" charset="0"/>
              </a:rPr>
              <a:t> This is </a:t>
            </a:r>
            <a:r>
              <a:rPr lang="en-US" altLang="en-US" dirty="0">
                <a:latin typeface="Arial" panose="020B0604020202020204" pitchFamily="34" charset="0"/>
                <a:ea typeface="Google Sans Text"/>
              </a:rPr>
              <a:t>P(c)</a:t>
            </a:r>
            <a:r>
              <a:rPr lang="en-US" altLang="en-US" dirty="0">
                <a:latin typeface="Arial" panose="020B0604020202020204" pitchFamily="34" charset="0"/>
              </a:rPr>
              <a:t>. It’s the "Starting Score" based on what you already have.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40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AA379-17E9-26C7-40A6-2F381CED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CEFD3A7-1EC7-6DC2-97C9-A1BD86E071F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C9F4997-B337-A015-CB10-3D49217409F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D1FFD64-7CAD-0F38-EA92-1609A436625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F809041-81A5-0B70-2587-3B645536B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2. The Clues (The "Evidence")</a:t>
            </a:r>
            <a:br>
              <a:rPr lang="en-US" dirty="0"/>
            </a:b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BA324E-2147-5CF8-56A5-7C3635E184E8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Now, you open the book and look at three random words: </a:t>
            </a:r>
            <a:r>
              <a:rPr lang="en-US" sz="4000" b="1" dirty="0"/>
              <a:t>"Blood"</a:t>
            </a:r>
            <a:r>
              <a:rPr lang="en-US" sz="4000" dirty="0"/>
              <a:t>, </a:t>
            </a:r>
            <a:r>
              <a:rPr lang="en-US" sz="4000" b="1" dirty="0"/>
              <a:t>"Shadow"</a:t>
            </a:r>
            <a:r>
              <a:rPr lang="en-US" sz="4000" dirty="0"/>
              <a:t>, and </a:t>
            </a:r>
            <a:r>
              <a:rPr lang="en-US" sz="4000" b="1" dirty="0"/>
              <a:t>"Kiss"</a:t>
            </a:r>
            <a:r>
              <a:rPr 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0676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E835-E39F-9702-E2AD-9B1A446A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A2882BD-C123-CB32-FB37-3BDF08D13C7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AF010E7-F31B-D468-D542-00EF6B083D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A42E71-36B4-7EDA-DAA0-DBE146D7DEE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9DAE211A-A3FD-E6B5-2EE3-9C3C68239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2. The Clues (The "Evidence") with datasets</a:t>
            </a:r>
            <a:br>
              <a:rPr lang="en-US" dirty="0"/>
            </a:b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ADDA83-9259-8030-BBB5-493FD457C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861124"/>
              </p:ext>
            </p:extLst>
          </p:nvPr>
        </p:nvGraphicFramePr>
        <p:xfrm>
          <a:off x="2743200" y="2666999"/>
          <a:ext cx="8770620" cy="3735083"/>
        </p:xfrm>
        <a:graphic>
          <a:graphicData uri="http://schemas.openxmlformats.org/drawingml/2006/table">
            <a:tbl>
              <a:tblPr/>
              <a:tblGrid>
                <a:gridCol w="2923540">
                  <a:extLst>
                    <a:ext uri="{9D8B030D-6E8A-4147-A177-3AD203B41FA5}">
                      <a16:colId xmlns:a16="http://schemas.microsoft.com/office/drawing/2014/main" val="2431012776"/>
                    </a:ext>
                  </a:extLst>
                </a:gridCol>
                <a:gridCol w="2923540">
                  <a:extLst>
                    <a:ext uri="{9D8B030D-6E8A-4147-A177-3AD203B41FA5}">
                      <a16:colId xmlns:a16="http://schemas.microsoft.com/office/drawing/2014/main" val="1772348070"/>
                    </a:ext>
                  </a:extLst>
                </a:gridCol>
                <a:gridCol w="2923540">
                  <a:extLst>
                    <a:ext uri="{9D8B030D-6E8A-4147-A177-3AD203B41FA5}">
                      <a16:colId xmlns:a16="http://schemas.microsoft.com/office/drawing/2014/main" val="2069636540"/>
                    </a:ext>
                  </a:extLst>
                </a:gridCol>
              </a:tblGrid>
              <a:tr h="900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  <a:latin typeface="Google Sans Text"/>
                        </a:rPr>
                        <a:t>Word</a:t>
                      </a:r>
                      <a:endParaRPr lang="en-IN" sz="2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  <a:latin typeface="Google Sans Text"/>
                        </a:rPr>
                        <a:t>Chance in Horror</a:t>
                      </a:r>
                      <a:endParaRPr lang="en-IN" sz="2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  <a:latin typeface="Google Sans Text"/>
                        </a:rPr>
                        <a:t>Chance in Rom-Com</a:t>
                      </a:r>
                      <a:endParaRPr lang="en-IN" sz="2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653529"/>
                  </a:ext>
                </a:extLst>
              </a:tr>
              <a:tr h="900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  <a:latin typeface="Google Sans Text"/>
                        </a:rPr>
                        <a:t>"Blood"</a:t>
                      </a:r>
                      <a:endParaRPr lang="en-IN" sz="2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  <a:latin typeface="Google Sans Text"/>
                        </a:rPr>
                        <a:t>Very High (10 points)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  <a:latin typeface="Google Sans Text"/>
                        </a:rPr>
                        <a:t>Very Low (0.1 points)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10441"/>
                  </a:ext>
                </a:extLst>
              </a:tr>
              <a:tr h="900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  <a:latin typeface="Google Sans Text"/>
                        </a:rPr>
                        <a:t>"Shadow"</a:t>
                      </a:r>
                      <a:endParaRPr lang="en-IN" sz="2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  <a:latin typeface="Google Sans Text"/>
                        </a:rPr>
                        <a:t>High (5 points)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  <a:latin typeface="Google Sans Text"/>
                        </a:rPr>
                        <a:t>Low (1 point)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646375"/>
                  </a:ext>
                </a:extLst>
              </a:tr>
              <a:tr h="900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  <a:latin typeface="Google Sans Text"/>
                        </a:rPr>
                        <a:t>"Kiss"</a:t>
                      </a:r>
                      <a:endParaRPr lang="en-IN" sz="2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  <a:latin typeface="Google Sans Text"/>
                        </a:rPr>
                        <a:t>Low (1 point)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  <a:latin typeface="Google Sans Text"/>
                        </a:rPr>
                        <a:t>Very High (10 points)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795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540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744D-1964-0349-59E4-F2E0D193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456BA9E-8CF7-C7F8-E17C-6CDC79A59EEB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7FB476D-4AD1-4E33-828B-E44C50C9871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D533D03-A227-F0AF-E569-A2E78B968EB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2D2E0D4-AAB4-C8F2-90E1-E276C45E0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5242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3. The Math (The "Multiplication")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E377D1-A377-CF42-7A82-FFC6D745883F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1043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To find the final score, you </a:t>
            </a:r>
            <a:r>
              <a:rPr lang="en-US" sz="3600" b="1" dirty="0"/>
              <a:t>multiply</a:t>
            </a:r>
            <a:r>
              <a:rPr lang="en-US" sz="3600" dirty="0"/>
              <a:t> your Starting Guess by the word scores.</a:t>
            </a:r>
          </a:p>
        </p:txBody>
      </p:sp>
    </p:spTree>
    <p:extLst>
      <p:ext uri="{BB962C8B-B14F-4D97-AF65-F5344CB8AC3E}">
        <p14:creationId xmlns:p14="http://schemas.microsoft.com/office/powerpoint/2010/main" val="1078259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7720-53C2-697B-A946-8DFF4D9AA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791B989-39ED-C3E5-9D5D-99C30F0A469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CD5C474-D277-291C-B54A-A112242C922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D9BACD9-206A-E5C9-EED3-71145C7683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8DBB2D8-25F3-B0C4-4797-88DCD47E16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5242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3. The Math (The "Multiplication")</a:t>
            </a:r>
            <a:br>
              <a:rPr lang="en-US" dirty="0"/>
            </a:br>
            <a:r>
              <a:rPr lang="en-US" sz="4400" dirty="0"/>
              <a:t>Horror Score: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4F8A4-9A89-0DD2-BF21-3D1A3488E360}"/>
              </a:ext>
            </a:extLst>
          </p:cNvPr>
          <p:cNvSpPr txBox="1"/>
          <p:nvPr/>
        </p:nvSpPr>
        <p:spPr>
          <a:xfrm>
            <a:off x="3918034" y="2193966"/>
            <a:ext cx="5257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Horror Score: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Start with 80 (because Horror is common).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10 (for "Blood").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5 (for "Shadow").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1 (for "Kiss").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Total = 4,000 points.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38782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DB429-B4F7-B45E-546C-57053ADF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D5630EF-165A-0F33-45D5-4240A1786EEC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D7385C4-9A32-DCEB-433E-068F0442FE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29351E5-40A4-8F95-62BB-21A894F00DD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90D40EF-8A86-649F-F319-A0DF11B49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5242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3. The Math (The "Multiplication")</a:t>
            </a:r>
            <a:br>
              <a:rPr lang="en-US" dirty="0"/>
            </a:br>
            <a:r>
              <a:rPr lang="en-US" sz="4400" dirty="0"/>
              <a:t>Rom-Com Score: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EFD8F-2561-2824-CEBA-48DFD26A1BCE}"/>
              </a:ext>
            </a:extLst>
          </p:cNvPr>
          <p:cNvSpPr txBox="1"/>
          <p:nvPr/>
        </p:nvSpPr>
        <p:spPr>
          <a:xfrm>
            <a:off x="3918034" y="2193966"/>
            <a:ext cx="5257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Rom-Com Score: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Start with 20 (it's less common).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0.1 (for "Blood").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1 (for "Shadow").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10 (for "Kiss").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Total = 20 points.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89317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4. The Decision (The Winner)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  <a:ea typeface="Google Sans Text"/>
              </a:rPr>
              <a:t>4,000 is much bigger than 20. So, you put the book in the </a:t>
            </a:r>
            <a:r>
              <a:rPr lang="en-US" altLang="en-US" b="1" dirty="0">
                <a:latin typeface="Arial" panose="020B0604020202020204" pitchFamily="34" charset="0"/>
                <a:ea typeface="Google Sans Text"/>
              </a:rPr>
              <a:t>Horror</a:t>
            </a:r>
            <a:r>
              <a:rPr lang="en-US" altLang="en-US" dirty="0">
                <a:latin typeface="Arial" panose="020B0604020202020204" pitchFamily="34" charset="0"/>
                <a:ea typeface="Google Sans Text"/>
              </a:rPr>
              <a:t> section.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ea typeface="Google Sans Text"/>
              </a:rPr>
              <a:t>That "</a:t>
            </a:r>
            <a:r>
              <a:rPr lang="en-IN" dirty="0"/>
              <a:t> ∝ </a:t>
            </a:r>
            <a:r>
              <a:rPr lang="en-US" altLang="en-US" dirty="0">
                <a:latin typeface="Arial" panose="020B0604020202020204" pitchFamily="34" charset="0"/>
                <a:ea typeface="Google Sans Text"/>
              </a:rPr>
              <a:t>" symbol in the formula just means: "We are looking for the biggest score."</a:t>
            </a:r>
          </a:p>
        </p:txBody>
      </p:sp>
    </p:spTree>
    <p:extLst>
      <p:ext uri="{BB962C8B-B14F-4D97-AF65-F5344CB8AC3E}">
        <p14:creationId xmlns:p14="http://schemas.microsoft.com/office/powerpoint/2010/main" val="351804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Average 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At Rank 5 → Document D5 is relevant</a:t>
            </a:r>
          </a:p>
          <a:p>
            <a:r>
              <a:rPr lang="en-US" dirty="0"/>
              <a:t>Relevant so far = 3</a:t>
            </a:r>
            <a:br>
              <a:rPr lang="en-US" dirty="0"/>
            </a:br>
            <a:r>
              <a:rPr lang="en-US" dirty="0"/>
              <a:t>Precision = 3 / 5 = </a:t>
            </a:r>
            <a:r>
              <a:rPr lang="en-US" b="1" dirty="0"/>
              <a:t>0.6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332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Average 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At Rank 7 → Document D7 is relevant</a:t>
            </a:r>
          </a:p>
          <a:p>
            <a:r>
              <a:rPr lang="en-US" dirty="0"/>
              <a:t>Relevant so far = 4</a:t>
            </a:r>
            <a:br>
              <a:rPr lang="en-US" dirty="0"/>
            </a:br>
            <a:r>
              <a:rPr lang="en-US" dirty="0"/>
              <a:t>Precision = 4 / 7 ≈ </a:t>
            </a:r>
            <a:r>
              <a:rPr lang="en-US" b="1" dirty="0"/>
              <a:t>0.571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488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Step 2 — Compute Average Precision (AP)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DC146-D6A5-AC14-6939-3CAD39B47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372703"/>
            <a:ext cx="7164375" cy="433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443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compute MAP across multiple queries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8B670D-4470-A8CD-18DA-99690CC3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335804"/>
              </p:ext>
            </p:extLst>
          </p:nvPr>
        </p:nvGraphicFramePr>
        <p:xfrm>
          <a:off x="1730375" y="2802255"/>
          <a:ext cx="8731250" cy="2316480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3328979751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3931312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3200"/>
                        <a:t>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629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/>
                        <a:t>apple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0.543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63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/>
                        <a:t>banana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0.700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131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/>
                        <a:t>fruit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0.400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22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555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Mean Average Precision (MAP)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CEBD18-A7A9-33E7-C5D1-A709CB9FD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585" y="2439660"/>
            <a:ext cx="9763615" cy="324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1530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719BC9-95E0-C0CA-1AF2-0BFA6DE6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FA74311-D4E0-4D52-EF2C-717ADCB52B0D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8F2D93E-8211-3482-A295-D346FFC8D37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FD84E91-2535-7131-4BB6-17926F22326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2637519-E965-8109-71FA-0A34242D5B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Formula- Application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pic>
        <p:nvPicPr>
          <p:cNvPr id="7" name="Picture 6" descr="A black background with white text">
            <a:extLst>
              <a:ext uri="{FF2B5EF4-FFF2-40B4-BE49-F238E27FC236}">
                <a16:creationId xmlns:a16="http://schemas.microsoft.com/office/drawing/2014/main" id="{0A2F2D1C-45CB-B715-33EF-39517543F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440" y="2820881"/>
            <a:ext cx="9443695" cy="186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16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Mean Average Precision (MAP)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MAP</a:t>
            </a:r>
            <a:r>
              <a:rPr lang="en-US" altLang="en-US" dirty="0">
                <a:latin typeface="Arial" panose="020B0604020202020204" pitchFamily="34" charset="0"/>
              </a:rPr>
              <a:t> is the </a:t>
            </a:r>
            <a:r>
              <a:rPr lang="en-US" altLang="en-US" i="1" dirty="0">
                <a:latin typeface="Arial" panose="020B0604020202020204" pitchFamily="34" charset="0"/>
              </a:rPr>
              <a:t>mean of the Average Precision (AP) values</a:t>
            </a:r>
            <a:r>
              <a:rPr lang="en-US" altLang="en-US" dirty="0">
                <a:latin typeface="Arial" panose="020B0604020202020204" pitchFamily="34" charset="0"/>
              </a:rPr>
              <a:t> over multiple queries.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Used when evaluating the performance of an IR system across </a:t>
            </a:r>
            <a:r>
              <a:rPr lang="en-US" altLang="en-US" b="1" dirty="0">
                <a:latin typeface="Arial" panose="020B0604020202020204" pitchFamily="34" charset="0"/>
              </a:rPr>
              <a:t>many search queries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More reliable metric for real-world systems than AP alone.</a:t>
            </a:r>
          </a:p>
        </p:txBody>
      </p:sp>
    </p:spTree>
    <p:extLst>
      <p:ext uri="{BB962C8B-B14F-4D97-AF65-F5344CB8AC3E}">
        <p14:creationId xmlns:p14="http://schemas.microsoft.com/office/powerpoint/2010/main" val="21972626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327F5F-26D4-D909-E6E9-32D24BC07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165681F-1219-C26A-679C-F279F14F67DF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8119D0B-5C6B-DD56-A509-2B3F70554D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E8E7B12-32E2-6250-08B7-49CEA0F5C47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275ABE4-8EFB-9458-AE49-BF864313A5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Example Table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8CCCAB-EC3D-5CA0-EABB-E2CE64CF6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836582"/>
              </p:ext>
            </p:extLst>
          </p:nvPr>
        </p:nvGraphicFramePr>
        <p:xfrm>
          <a:off x="3581400" y="2819400"/>
          <a:ext cx="6461505" cy="2072640"/>
        </p:xfrm>
        <a:graphic>
          <a:graphicData uri="http://schemas.openxmlformats.org/drawingml/2006/table">
            <a:tbl>
              <a:tblPr/>
              <a:tblGrid>
                <a:gridCol w="3276601">
                  <a:extLst>
                    <a:ext uri="{9D8B030D-6E8A-4147-A177-3AD203B41FA5}">
                      <a16:colId xmlns:a16="http://schemas.microsoft.com/office/drawing/2014/main" val="1647039552"/>
                    </a:ext>
                  </a:extLst>
                </a:gridCol>
                <a:gridCol w="3184904">
                  <a:extLst>
                    <a:ext uri="{9D8B030D-6E8A-4147-A177-3AD203B41FA5}">
                      <a16:colId xmlns:a16="http://schemas.microsoft.com/office/drawing/2014/main" val="653774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971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Q1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84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Q2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596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Q3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6003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FD86EC5-14D7-0888-A3B0-07119660B959}"/>
              </a:ext>
            </a:extLst>
          </p:cNvPr>
          <p:cNvSpPr txBox="1"/>
          <p:nvPr/>
        </p:nvSpPr>
        <p:spPr>
          <a:xfrm>
            <a:off x="4272512" y="229135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Suppose you run 3 queries in a search system:</a:t>
            </a:r>
            <a:endParaRPr lang="en-IN" dirty="0"/>
          </a:p>
        </p:txBody>
      </p:sp>
      <p:pic>
        <p:nvPicPr>
          <p:cNvPr id="11" name="Picture 10" descr="A black background with white text">
            <a:extLst>
              <a:ext uri="{FF2B5EF4-FFF2-40B4-BE49-F238E27FC236}">
                <a16:creationId xmlns:a16="http://schemas.microsoft.com/office/drawing/2014/main" id="{4D502996-00D7-DAC7-26F5-D22DF2BF7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868" y="4981908"/>
            <a:ext cx="8066131" cy="165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0602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564446-39DF-7C06-F09B-5E47BE2B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B66A964-A7F5-5473-468D-6D02032B692C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1173AF3-D34A-FD40-AB3A-7DB129AC7CC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CCB35AF-3D1C-4A74-39F9-50FF74DD122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3F4AF39-AA04-CB07-B9AC-9440775AF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Precision at k (</a:t>
            </a:r>
            <a:r>
              <a:rPr lang="en-US" dirty="0" err="1"/>
              <a:t>P@k</a:t>
            </a:r>
            <a:r>
              <a:rPr lang="en-US" dirty="0"/>
              <a:t>) &amp; R-Precision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DB3543-DF2C-F2CE-29AA-93C854C407EC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Measures precision among the </a:t>
            </a:r>
            <a:r>
              <a:rPr lang="en-US" altLang="en-US" b="1" dirty="0">
                <a:latin typeface="Arial" panose="020B0604020202020204" pitchFamily="34" charset="0"/>
              </a:rPr>
              <a:t>top k retrieved documents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Important because users usually look only at the </a:t>
            </a:r>
            <a:r>
              <a:rPr lang="en-US" altLang="en-US" b="1" dirty="0">
                <a:latin typeface="Arial" panose="020B0604020202020204" pitchFamily="34" charset="0"/>
              </a:rPr>
              <a:t>first few results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Common values of k: </a:t>
            </a:r>
            <a:r>
              <a:rPr lang="en-US" altLang="en-US" b="1" dirty="0">
                <a:latin typeface="Arial" panose="020B0604020202020204" pitchFamily="34" charset="0"/>
              </a:rPr>
              <a:t>P@5, P@10, P@20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195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A5331F-9E56-3ABA-ABE7-4473446E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BAD0AF1-664F-A3EE-F833-843AD5C9F22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5F5DF71-E543-ED58-EADE-2B63C020E3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C4D2496-96B2-2671-EE2A-89CCF3B3981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E20389E-1B84-EDA2-16E6-2A5D802A3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Precision at k (</a:t>
            </a:r>
            <a:r>
              <a:rPr lang="en-US" dirty="0" err="1"/>
              <a:t>P@k</a:t>
            </a:r>
            <a:r>
              <a:rPr lang="en-US" dirty="0"/>
              <a:t>) &amp; R-Precision - Formula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65B0681-D02B-6F97-70DB-7DBABC33432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04972" y="2309626"/>
                <a:ext cx="8229600" cy="34053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b="1" dirty="0"/>
                  <a:t>Formula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>
                        <a:latin typeface="Cambria Math" panose="02040503050406030204" pitchFamily="18" charset="0"/>
                      </a:rPr>
                      <m:t>@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/>
                          <m:t>Number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of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relevant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documents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in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top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k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ar-AE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65B0681-D02B-6F97-70DB-7DBABC334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972" y="2309626"/>
                <a:ext cx="8229600" cy="3405374"/>
              </a:xfrm>
              <a:prstGeom prst="rect">
                <a:avLst/>
              </a:prstGeom>
              <a:blipFill>
                <a:blip r:embed="rId3"/>
                <a:stretch>
                  <a:fillRect l="-1704" t="-23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287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32EC4F-034E-E556-4E8B-D9FB080FE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1879D91-B1D9-AC5D-3530-CED90E010A2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28620C3-D150-6F8F-7A46-D84DF3BF8D4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280E76D-FE13-9D42-585C-45261F7FBCF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F11EEF0-B90C-04AE-44A8-7FA5AA5BF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Example - Precision at k (</a:t>
            </a:r>
            <a:r>
              <a:rPr lang="en-US" dirty="0" err="1"/>
              <a:t>P@k</a:t>
            </a:r>
            <a:r>
              <a:rPr lang="en-US" dirty="0"/>
              <a:t>) &amp; R-Precision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C72777-EA1B-E64C-79D7-5585C1A447AD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 query, the system retrieved first </a:t>
            </a:r>
            <a:r>
              <a:rPr lang="en-US" b="1" dirty="0"/>
              <a:t>10 documents</a:t>
            </a:r>
            <a:r>
              <a:rPr lang="en-US" dirty="0"/>
              <a:t>, and </a:t>
            </a:r>
            <a:r>
              <a:rPr lang="en-US" b="1" dirty="0"/>
              <a:t>6</a:t>
            </a:r>
            <a:r>
              <a:rPr lang="en-US" dirty="0"/>
              <a:t> of them are relevant:</a:t>
            </a:r>
          </a:p>
          <a:p>
            <a:r>
              <a:rPr lang="en-US" dirty="0" err="1"/>
              <a:t>P@k</a:t>
            </a:r>
            <a:r>
              <a:rPr lang="en-US" dirty="0"/>
              <a:t> = 6/10 = 0.6 (60%)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7663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67A8746-13AA-5E79-8CCE-BA858C56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9F9D982-11F8-9560-B5A2-21903BCDF84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267B1FA-B2CC-F451-31F7-8D9A7DB68A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268DAC6-6D73-D0DC-0DDD-F59A8D62D9B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09D4DDE-E7A8-B265-7BE0-C1E8D76DF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Why </a:t>
            </a:r>
            <a:r>
              <a:rPr lang="en-US" dirty="0" err="1"/>
              <a:t>P@k</a:t>
            </a:r>
            <a:r>
              <a:rPr lang="en-US" dirty="0"/>
              <a:t> is Useful?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1CDF84-9318-0108-2EB5-0DDD254D1FCC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Evaluates </a:t>
            </a:r>
            <a:r>
              <a:rPr lang="en-US" altLang="en-US" b="1" dirty="0">
                <a:latin typeface="Arial" panose="020B0604020202020204" pitchFamily="34" charset="0"/>
              </a:rPr>
              <a:t>ranking quality at the top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Used in search engines, YouTube recommendations, e-commerce</a:t>
            </a:r>
          </a:p>
        </p:txBody>
      </p:sp>
    </p:spTree>
    <p:extLst>
      <p:ext uri="{BB962C8B-B14F-4D97-AF65-F5344CB8AC3E}">
        <p14:creationId xmlns:p14="http://schemas.microsoft.com/office/powerpoint/2010/main" val="24566044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98359A-CC38-6984-CC7E-ACC3191A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8C315FC-1ED2-49C0-58A2-1973B3466C7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80CD25E-D5E0-7D4C-6A02-C894CEBF46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535A7DB-80A1-CC36-A69D-D6BE7538A5C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C17F08C-CB6B-20D1-5978-99DA37B4B5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R-Precision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D8E2FA-6933-A384-C500-60F925207390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Precision calculated at </a:t>
            </a:r>
            <a:r>
              <a:rPr lang="en-US" altLang="en-US" b="1" dirty="0">
                <a:latin typeface="Arial" panose="020B0604020202020204" pitchFamily="34" charset="0"/>
              </a:rPr>
              <a:t>R</a:t>
            </a:r>
            <a:r>
              <a:rPr lang="en-US" altLang="en-US" dirty="0">
                <a:latin typeface="Arial" panose="020B0604020202020204" pitchFamily="34" charset="0"/>
              </a:rPr>
              <a:t>, where </a:t>
            </a:r>
            <a:r>
              <a:rPr lang="en-US" altLang="en-US" b="1" dirty="0">
                <a:latin typeface="Arial" panose="020B0604020202020204" pitchFamily="34" charset="0"/>
              </a:rPr>
              <a:t>R = number of total relevant documents</a:t>
            </a:r>
            <a:r>
              <a:rPr lang="en-US" altLang="en-US" dirty="0">
                <a:latin typeface="Arial" panose="020B0604020202020204" pitchFamily="34" charset="0"/>
              </a:rPr>
              <a:t> in the collection for that query.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Example: If database has </a:t>
            </a:r>
            <a:r>
              <a:rPr lang="en-US" altLang="en-US" b="1" dirty="0">
                <a:latin typeface="Arial" panose="020B0604020202020204" pitchFamily="34" charset="0"/>
              </a:rPr>
              <a:t>20 relevant documents</a:t>
            </a:r>
            <a:r>
              <a:rPr lang="en-US" altLang="en-US" dirty="0">
                <a:latin typeface="Arial" panose="020B0604020202020204" pitchFamily="34" charset="0"/>
              </a:rPr>
              <a:t>, then evaluate precision at rank </a:t>
            </a:r>
            <a:r>
              <a:rPr lang="en-US" altLang="en-US" b="1" dirty="0">
                <a:latin typeface="Arial" panose="020B0604020202020204" pitchFamily="34" charset="0"/>
              </a:rPr>
              <a:t>20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6321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994048-C764-0698-1859-DE3CF875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A13068C-3F6B-E963-A6E1-BDB06240965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0F98487-1A93-71CB-318F-AC9DB890D9C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6C7E36A-5199-B2F1-F0F5-1842DBC6F53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727955EF-6C4F-C8D9-76B0-F6BE3FC85A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R-Precision </a:t>
            </a:r>
            <a:r>
              <a:rPr lang="en-IN" sz="4400" dirty="0"/>
              <a:t>Formula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53351D6-BA7F-05F4-956B-BD608A6323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55328" y="3415683"/>
                <a:ext cx="10596372" cy="34053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i="1"/>
                      <m:t>−</m:t>
                    </m:r>
                    <m:r>
                      <m:rPr>
                        <m:nor/>
                      </m:rPr>
                      <a:rPr lang="en-IN" i="1"/>
                      <m:t>Precision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/>
                          <m:t>Relevant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documents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retrieved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up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to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rank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R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ar-AE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53351D6-BA7F-05F4-956B-BD608A6323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28" y="3415683"/>
                <a:ext cx="10596372" cy="340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3506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040A86-B210-5769-929D-184977C0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C121FCA-20DB-90AC-040B-D5E34B03EA3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0FABD57-4F90-000D-206D-3885A7410C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A41EED3-F741-8CC0-09CE-1C606858E9D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298714B-581C-F7B3-E732-E33F03F39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R-Precision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0637A8-0C5D-8213-C52A-FFD8AFD03E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04972" y="2309626"/>
                <a:ext cx="8229600" cy="34053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b="1" dirty="0"/>
                  <a:t>Example</a:t>
                </a:r>
              </a:p>
              <a:p>
                <a:r>
                  <a:rPr lang="en-IN" dirty="0"/>
                  <a:t>| Total relevant documents (R) | 15 |</a:t>
                </a:r>
                <a:br>
                  <a:rPr lang="en-IN" dirty="0"/>
                </a:br>
                <a:r>
                  <a:rPr lang="en-IN" dirty="0"/>
                  <a:t>| Retrieved relevant documents up to rank 15 | 9 |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i="1"/>
                      <m:t>−</m:t>
                    </m:r>
                    <m:r>
                      <m:rPr>
                        <m:nor/>
                      </m:rPr>
                      <a:rPr lang="en-IN" i="1"/>
                      <m:t>Precision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ar-AE" i="1"/>
                      <m:t>  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</m:oMath>
                </a14:m>
                <a:endParaRPr lang="ar-AE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0637A8-0C5D-8213-C52A-FFD8AFD03E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972" y="2309626"/>
                <a:ext cx="8229600" cy="3405374"/>
              </a:xfrm>
              <a:prstGeom prst="rect">
                <a:avLst/>
              </a:prstGeom>
              <a:blipFill>
                <a:blip r:embed="rId3"/>
                <a:stretch>
                  <a:fillRect l="-1704" t="-2326" r="-8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8181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9558BE-8327-53DC-473E-58559FB0E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A92929B-CE46-EB6F-2547-44CB764A31A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0048206-B929-3DC8-C218-68228675AF1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49685FD-41EE-B9AF-541D-96C7B7850FA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33556B6-D326-BE84-A66F-1CA15301F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Key Difference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D5F7BA-FB04-1D71-941C-23EC8E287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635217"/>
              </p:ext>
            </p:extLst>
          </p:nvPr>
        </p:nvGraphicFramePr>
        <p:xfrm>
          <a:off x="3391279" y="2590800"/>
          <a:ext cx="6400802" cy="311086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200401">
                  <a:extLst>
                    <a:ext uri="{9D8B030D-6E8A-4147-A177-3AD203B41FA5}">
                      <a16:colId xmlns:a16="http://schemas.microsoft.com/office/drawing/2014/main" val="1804822492"/>
                    </a:ext>
                  </a:extLst>
                </a:gridCol>
                <a:gridCol w="3200401">
                  <a:extLst>
                    <a:ext uri="{9D8B030D-6E8A-4147-A177-3AD203B41FA5}">
                      <a16:colId xmlns:a16="http://schemas.microsoft.com/office/drawing/2014/main" val="498867952"/>
                    </a:ext>
                  </a:extLst>
                </a:gridCol>
              </a:tblGrid>
              <a:tr h="8295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Focus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087534"/>
                  </a:ext>
                </a:extLst>
              </a:tr>
              <a:tr h="8295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 err="1"/>
                        <a:t>P@k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Precision in top k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246799"/>
                  </a:ext>
                </a:extLst>
              </a:tr>
              <a:tr h="145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R-Precision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Precision at total number of relevant docs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16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844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33B6C6-F980-A205-F49B-E23BBA8F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F69A90E-200B-16CC-1B93-EE8551DE1FF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1CED783-B654-2B47-1928-D3C59D8285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494FA04-A1E8-1F10-0D53-B1F0A0718CA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A01B4C44-C25D-A91A-7B25-EE12D8D0A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Test Collections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4F90E4-E05C-403A-A4B9-5CDB8E68EEF5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A </a:t>
            </a:r>
            <a:r>
              <a:rPr lang="en-US" altLang="en-US" sz="2800" b="1" dirty="0">
                <a:latin typeface="Arial" panose="020B0604020202020204" pitchFamily="34" charset="0"/>
              </a:rPr>
              <a:t>test collection</a:t>
            </a:r>
            <a:r>
              <a:rPr lang="en-US" altLang="en-US" sz="2800" dirty="0">
                <a:latin typeface="Arial" panose="020B0604020202020204" pitchFamily="34" charset="0"/>
              </a:rPr>
              <a:t> is a dataset used to evaluate and compare Information Retrieval systems.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It provides a </a:t>
            </a:r>
            <a:r>
              <a:rPr lang="en-US" altLang="en-US" sz="2800" b="1" dirty="0">
                <a:latin typeface="Arial" panose="020B0604020202020204" pitchFamily="34" charset="0"/>
              </a:rPr>
              <a:t>standardized environment</a:t>
            </a:r>
            <a:r>
              <a:rPr lang="en-US" altLang="en-US" sz="2800" dirty="0">
                <a:latin typeface="Arial" panose="020B0604020202020204" pitchFamily="34" charset="0"/>
              </a:rPr>
              <a:t> for testing.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Contains three main components: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800" b="1" dirty="0">
                <a:latin typeface="Arial" panose="020B0604020202020204" pitchFamily="34" charset="0"/>
              </a:rPr>
              <a:t>Documents</a:t>
            </a:r>
            <a:r>
              <a:rPr lang="en-US" altLang="en-US" sz="2800" dirty="0">
                <a:latin typeface="Arial" panose="020B0604020202020204" pitchFamily="34" charset="0"/>
              </a:rPr>
              <a:t> – the full database to search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800" b="1" dirty="0">
                <a:latin typeface="Arial" panose="020B0604020202020204" pitchFamily="34" charset="0"/>
              </a:rPr>
              <a:t>Queries</a:t>
            </a:r>
            <a:r>
              <a:rPr lang="en-US" altLang="en-US" sz="2800" dirty="0">
                <a:latin typeface="Arial" panose="020B0604020202020204" pitchFamily="34" charset="0"/>
              </a:rPr>
              <a:t> – user requests or search inputs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800" b="1" dirty="0">
                <a:latin typeface="Arial" panose="020B0604020202020204" pitchFamily="34" charset="0"/>
              </a:rPr>
              <a:t>Relevance Judgments</a:t>
            </a:r>
            <a:r>
              <a:rPr lang="en-US" altLang="en-US" sz="2800" dirty="0">
                <a:latin typeface="Arial" panose="020B0604020202020204" pitchFamily="34" charset="0"/>
              </a:rPr>
              <a:t> – specify which documents are relevant to each query</a:t>
            </a:r>
          </a:p>
        </p:txBody>
      </p:sp>
    </p:spTree>
    <p:extLst>
      <p:ext uri="{BB962C8B-B14F-4D97-AF65-F5344CB8AC3E}">
        <p14:creationId xmlns:p14="http://schemas.microsoft.com/office/powerpoint/2010/main" val="11502159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2534B7-553D-93E9-759F-A367B2EB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5DDE072-2258-AF0C-7958-AAFD09F8586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A1AEF1D-496D-D442-778D-FA482A3C05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B22E04D-0ED7-CAFE-B940-36319582460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B6E5E3E-3372-69B8-3478-A62D8286C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Examples of Popular Test Collections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E6B846-B45B-0A80-6F6F-3EB30EEAD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88402"/>
              </p:ext>
            </p:extLst>
          </p:nvPr>
        </p:nvGraphicFramePr>
        <p:xfrm>
          <a:off x="3276601" y="2286000"/>
          <a:ext cx="8229600" cy="3733800"/>
        </p:xfrm>
        <a:graphic>
          <a:graphicData uri="http://schemas.openxmlformats.org/drawingml/2006/table">
            <a:tbl>
              <a:tblPr/>
              <a:tblGrid>
                <a:gridCol w="2319251">
                  <a:extLst>
                    <a:ext uri="{9D8B030D-6E8A-4147-A177-3AD203B41FA5}">
                      <a16:colId xmlns:a16="http://schemas.microsoft.com/office/drawing/2014/main" val="4064330506"/>
                    </a:ext>
                  </a:extLst>
                </a:gridCol>
                <a:gridCol w="5910349">
                  <a:extLst>
                    <a:ext uri="{9D8B030D-6E8A-4147-A177-3AD203B41FA5}">
                      <a16:colId xmlns:a16="http://schemas.microsoft.com/office/drawing/2014/main" val="2412124789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04216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Cranfield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Classic IR test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57240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TREC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Large evaluation conference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80301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CLEF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Cross-language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5365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NTCIR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Asian language 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854435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MS MARCO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Web search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131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12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FA10AC-B9E9-9D53-8D00-F4B40DE3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057AEEC-9C7C-1235-9EC6-895510C08C2D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E4B9EF9-B3E4-2DDB-A7E5-3D4AE3C68BE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359A336-9A1F-AF55-BC16-3AE57DCA7B5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306E0D1-FC73-418D-09FD-E3F84426D7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What are Relevance Judgments?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276A1B-E5D4-9C8D-C5CF-4A1120652B1C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They are the </a:t>
            </a:r>
            <a:r>
              <a:rPr lang="en-US" b="1" dirty="0"/>
              <a:t>“right answers”</a:t>
            </a:r>
            <a:r>
              <a:rPr lang="en-US" dirty="0"/>
              <a:t> in an information retrieval system.</a:t>
            </a:r>
          </a:p>
          <a:p>
            <a:r>
              <a:rPr lang="en-US" dirty="0"/>
              <a:t>Determine whether a document is </a:t>
            </a:r>
            <a:r>
              <a:rPr lang="en-US" b="1" dirty="0"/>
              <a:t>useful for a given query or information need</a:t>
            </a:r>
            <a:r>
              <a:rPr lang="en-US" dirty="0"/>
              <a:t>.</a:t>
            </a:r>
          </a:p>
          <a:p>
            <a:r>
              <a:rPr lang="en-US" b="1" dirty="0"/>
              <a:t>Binary decision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Relevant</a:t>
            </a:r>
            <a:r>
              <a:rPr lang="en-US" dirty="0"/>
              <a:t> → document helps answer the information need</a:t>
            </a:r>
          </a:p>
          <a:p>
            <a:pPr lvl="1"/>
            <a:r>
              <a:rPr lang="en-US" b="1" dirty="0"/>
              <a:t>Not relevant</a:t>
            </a:r>
            <a:r>
              <a:rPr lang="en-US" dirty="0"/>
              <a:t> → document doesn’t help</a:t>
            </a:r>
          </a:p>
          <a:p>
            <a:r>
              <a:rPr lang="en-US" dirty="0"/>
              <a:t>Even if </a:t>
            </a:r>
            <a:r>
              <a:rPr lang="en-US" b="1" dirty="0"/>
              <a:t>a small part</a:t>
            </a:r>
            <a:r>
              <a:rPr lang="en-US" dirty="0"/>
              <a:t> of the document is relevant, the document is considered relevant.</a:t>
            </a:r>
          </a:p>
        </p:txBody>
      </p:sp>
    </p:spTree>
    <p:extLst>
      <p:ext uri="{BB962C8B-B14F-4D97-AF65-F5344CB8AC3E}">
        <p14:creationId xmlns:p14="http://schemas.microsoft.com/office/powerpoint/2010/main" val="2819146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BB5EF4-B1AE-934B-38CE-50E86239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71612A1-B7A4-7302-A9E6-43AFFB92151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F3EB559-A73A-0C15-6825-165709D5B2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BB9B26F-F7BE-8630-EAA4-A274B54E683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8A704B5-6CDC-E15D-3C04-E5D4052CA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US" altLang="en-US" dirty="0">
                <a:latin typeface="Arial" panose="020B0604020202020204" pitchFamily="34" charset="0"/>
              </a:rPr>
              <a:t>Test collection consists of: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4C3520-0BBC-9E26-15A2-38362C44AF7E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Document collection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Queries (information needs)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Arial" panose="020B0604020202020204" pitchFamily="34" charset="0"/>
              </a:rPr>
              <a:t>Relevance judgments (</a:t>
            </a:r>
            <a:r>
              <a:rPr lang="en-US" altLang="en-US" dirty="0" err="1">
                <a:latin typeface="Arial" panose="020B0604020202020204" pitchFamily="34" charset="0"/>
              </a:rPr>
              <a:t>Qrels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Must ensure </a:t>
            </a:r>
            <a:r>
              <a:rPr lang="en-US" altLang="en-US" b="1" dirty="0" err="1">
                <a:latin typeface="Arial" panose="020B0604020202020204" pitchFamily="34" charset="0"/>
              </a:rPr>
              <a:t>Qrels</a:t>
            </a:r>
            <a:r>
              <a:rPr lang="en-US" altLang="en-US" b="1" dirty="0">
                <a:latin typeface="Arial" panose="020B0604020202020204" pitchFamily="34" charset="0"/>
              </a:rPr>
              <a:t> match the document collection</a:t>
            </a:r>
            <a:r>
              <a:rPr lang="en-US" altLang="en-US" dirty="0">
                <a:latin typeface="Arial" panose="020B0604020202020204" pitchFamily="34" charset="0"/>
              </a:rPr>
              <a:t> when testing retrieval results.</a:t>
            </a:r>
          </a:p>
        </p:txBody>
      </p:sp>
    </p:spTree>
    <p:extLst>
      <p:ext uri="{BB962C8B-B14F-4D97-AF65-F5344CB8AC3E}">
        <p14:creationId xmlns:p14="http://schemas.microsoft.com/office/powerpoint/2010/main" val="21581801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CDD603-EC5C-0026-9622-179CE003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243839E-1A3A-5198-4A5B-73C861ADBE77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64C419C-93F8-58D9-30AF-6DA2C6D8292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E5ED7D-9232-6E6E-7636-1070AED1C42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6F9873F-027C-9EA2-E74E-FC08604511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How Relevance Judgments Are Made – Pooling Technique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86E7A05-0422-4468-A55C-D7C832BA812E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1. Pooling Technique</a:t>
            </a:r>
          </a:p>
          <a:p>
            <a:r>
              <a:rPr lang="en-US" dirty="0"/>
              <a:t>Used to decide </a:t>
            </a:r>
            <a:r>
              <a:rPr lang="en-US" b="1" dirty="0"/>
              <a:t>which documents to judge</a:t>
            </a:r>
            <a:r>
              <a:rPr lang="en-US" dirty="0"/>
              <a:t> for relevance in large collections.</a:t>
            </a:r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Run multiple IR systems on the same query.</a:t>
            </a:r>
          </a:p>
          <a:p>
            <a:pPr lvl="1"/>
            <a:r>
              <a:rPr lang="en-US" dirty="0"/>
              <a:t>Take the </a:t>
            </a:r>
            <a:r>
              <a:rPr lang="en-US" b="1" dirty="0"/>
              <a:t>top results from each system</a:t>
            </a:r>
            <a:r>
              <a:rPr lang="en-US" dirty="0"/>
              <a:t> and combine them into a “pool.”</a:t>
            </a:r>
          </a:p>
          <a:p>
            <a:pPr lvl="1"/>
            <a:r>
              <a:rPr lang="en-US" dirty="0"/>
              <a:t>Human judges examine only these pooled documents.</a:t>
            </a:r>
          </a:p>
          <a:p>
            <a:r>
              <a:rPr lang="en-US" dirty="0"/>
              <a:t>This ensures </a:t>
            </a:r>
            <a:r>
              <a:rPr lang="en-US" b="1" dirty="0"/>
              <a:t>most of the relevant documents are likely included</a:t>
            </a:r>
            <a:r>
              <a:rPr lang="en-US" dirty="0"/>
              <a:t>, without judging the entire collection.</a:t>
            </a:r>
          </a:p>
        </p:txBody>
      </p:sp>
    </p:spTree>
    <p:extLst>
      <p:ext uri="{BB962C8B-B14F-4D97-AF65-F5344CB8AC3E}">
        <p14:creationId xmlns:p14="http://schemas.microsoft.com/office/powerpoint/2010/main" val="5522662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909843-65D2-9D83-9896-A8A2F80D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68E8C44-0510-01D6-9AA5-53FBEA3CF66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3C31EA3-4E22-89C1-0DBD-81812F495E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794DC1F-1C2E-5892-B1F6-D93D412D25F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101386C-72C0-72EF-FF75-11F3AEA40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How Relevance Judgments Are Made – Pooling Technique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122201-C04E-A23B-008A-25C44A2EBAE9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2. Completeness</a:t>
            </a:r>
          </a:p>
          <a:p>
            <a:r>
              <a:rPr lang="en-US" dirty="0"/>
              <a:t>The relevance judgments are considered </a:t>
            </a:r>
            <a:r>
              <a:rPr lang="en-US" b="1" dirty="0"/>
              <a:t>“complete”</a:t>
            </a:r>
            <a:r>
              <a:rPr lang="en-US" dirty="0"/>
              <a:t> for that particular set of documents.</a:t>
            </a:r>
          </a:p>
          <a:p>
            <a:r>
              <a:rPr lang="en-US" dirty="0"/>
              <a:t>“Complete” means </a:t>
            </a:r>
            <a:r>
              <a:rPr lang="en-US" b="1" dirty="0"/>
              <a:t>enough results have been judged</a:t>
            </a:r>
            <a:r>
              <a:rPr lang="en-US" dirty="0"/>
              <a:t> so that most relevant documents have been found.</a:t>
            </a:r>
          </a:p>
        </p:txBody>
      </p:sp>
    </p:spTree>
    <p:extLst>
      <p:ext uri="{BB962C8B-B14F-4D97-AF65-F5344CB8AC3E}">
        <p14:creationId xmlns:p14="http://schemas.microsoft.com/office/powerpoint/2010/main" val="40171038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Relevance judgment pooling in IR evaluation | Download Scientific Diagram">
            <a:extLst>
              <a:ext uri="{FF2B5EF4-FFF2-40B4-BE49-F238E27FC236}">
                <a16:creationId xmlns:a16="http://schemas.microsoft.com/office/drawing/2014/main" id="{D3A5715F-4170-E3DF-30CF-AD37C069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1000"/>
            <a:ext cx="9601200" cy="604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921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Examples of three levels of relevance | Download Scientific Diagram">
            <a:extLst>
              <a:ext uri="{FF2B5EF4-FFF2-40B4-BE49-F238E27FC236}">
                <a16:creationId xmlns:a16="http://schemas.microsoft.com/office/drawing/2014/main" id="{3B9894F2-1A88-127D-23AE-BBD074098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11552254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1914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9B7CF5-F5E1-E8B8-74C1-9A630E6E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D4F701F-6010-7845-1D5C-0802A38E700A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4D978C-CE0D-DBB4-6963-0084DFB233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0E75001-C1C1-F705-6E44-4880E940A3E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CBD3B8C0-0F63-A966-07F1-FD0B47C3D7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Experimental Design in IR Evaluation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E480E7-3B08-986F-D154-CFBCDCB41FE8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</a:t>
            </a:r>
            <a:r>
              <a:rPr lang="en-US" b="1" dirty="0"/>
              <a:t>compare IR systems fairly</a:t>
            </a:r>
            <a:r>
              <a:rPr lang="en-US" dirty="0"/>
              <a:t> and understand if observed differences are meaningful.</a:t>
            </a:r>
          </a:p>
          <a:p>
            <a:r>
              <a:rPr lang="en-US" dirty="0"/>
              <a:t>1. Separate Development and Test Sets</a:t>
            </a:r>
          </a:p>
          <a:p>
            <a:r>
              <a:rPr lang="en-US" dirty="0"/>
              <a:t>2. </a:t>
            </a:r>
            <a:r>
              <a:rPr lang="en-IN" dirty="0"/>
              <a:t>Random Sampling of Queries</a:t>
            </a:r>
            <a:endParaRPr lang="en-US" dirty="0"/>
          </a:p>
          <a:p>
            <a:r>
              <a:rPr lang="en-US" dirty="0"/>
              <a:t>3. R</a:t>
            </a:r>
            <a:r>
              <a:rPr lang="en-IN" dirty="0" err="1"/>
              <a:t>epeated</a:t>
            </a:r>
            <a:r>
              <a:rPr lang="en-IN" dirty="0"/>
              <a:t> Experiments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8955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C38C0-B539-0C0D-07DE-AED4A486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B57B43-C12F-E5F8-5809-59E59CB2BE8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F3822E-5F53-F239-C1AD-25057F2039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5D1608-FD72-9AE5-7F84-0AEB9922641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1F98D763-445A-4968-3DCF-1BF6FBEB8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Significance Testing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947E65-865F-6275-E134-C57D690D85D2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determine if </a:t>
            </a:r>
            <a:r>
              <a:rPr lang="en-US" altLang="en-US" b="1" dirty="0">
                <a:latin typeface="Arial" panose="020B0604020202020204" pitchFamily="34" charset="0"/>
              </a:rPr>
              <a:t>differences in performance metrics</a:t>
            </a:r>
            <a:r>
              <a:rPr lang="en-US" altLang="en-US" dirty="0">
                <a:latin typeface="Arial" panose="020B0604020202020204" pitchFamily="34" charset="0"/>
              </a:rPr>
              <a:t> (precision, recall, MAP) between systems are </a:t>
            </a:r>
            <a:r>
              <a:rPr lang="en-US" altLang="en-US" b="1" dirty="0">
                <a:latin typeface="Arial" panose="020B0604020202020204" pitchFamily="34" charset="0"/>
              </a:rPr>
              <a:t>statistically meaningful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Avoid drawing conclusions from </a:t>
            </a:r>
            <a:r>
              <a:rPr lang="en-US" altLang="en-US" b="1" dirty="0">
                <a:latin typeface="Arial" panose="020B0604020202020204" pitchFamily="34" charset="0"/>
              </a:rPr>
              <a:t>random variations</a:t>
            </a:r>
            <a:r>
              <a:rPr lang="en-US" altLang="en-US" dirty="0">
                <a:latin typeface="Arial" panose="020B0604020202020204" pitchFamily="34" charset="0"/>
              </a:rPr>
              <a:t> in results.</a:t>
            </a:r>
          </a:p>
        </p:txBody>
      </p:sp>
    </p:spTree>
    <p:extLst>
      <p:ext uri="{BB962C8B-B14F-4D97-AF65-F5344CB8AC3E}">
        <p14:creationId xmlns:p14="http://schemas.microsoft.com/office/powerpoint/2010/main" val="15293447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A8C075-61BC-C6E8-F2DF-81597A055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FF729E8-6E87-3BF6-5DFB-93DBFA85940A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6D0B1B7-580A-D6AE-32C8-7CCE89BCAC8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4E41C5C-B733-13FE-36FD-5DF76406D52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756CE76-A7A7-C3DE-E141-C5E9B43399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Common Tests </a:t>
            </a:r>
            <a:r>
              <a:rPr lang="en-IN" dirty="0"/>
              <a:t>Significance Testing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461002-225A-7C80-D854-3A699497AD4A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t-test</a:t>
            </a:r>
            <a:r>
              <a:rPr lang="en-US" dirty="0"/>
              <a:t>: Compare mean performance of two systems.</a:t>
            </a:r>
          </a:p>
          <a:p>
            <a:r>
              <a:rPr lang="en-US" b="1" dirty="0"/>
              <a:t>Wilcoxon signed-rank test</a:t>
            </a:r>
            <a:r>
              <a:rPr lang="en-US" dirty="0"/>
              <a:t>: Non-parametric alternative for paired comparisons.</a:t>
            </a:r>
          </a:p>
          <a:p>
            <a:r>
              <a:rPr lang="en-US" b="1" dirty="0"/>
              <a:t>ANOVA</a:t>
            </a:r>
            <a:r>
              <a:rPr lang="en-US" dirty="0"/>
              <a:t>: Compare multiple systems </a:t>
            </a:r>
            <a:r>
              <a:rPr lang="en-IN" dirty="0"/>
              <a:t>simultaneously.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796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 dirty="0"/>
          </a:p>
        </p:txBody>
      </p:sp>
      <p:sp>
        <p:nvSpPr>
          <p:cNvPr id="9" name="object 8" descr="$PPTXTitle">
            <a:extLst>
              <a:ext uri="{FF2B5EF4-FFF2-40B4-BE49-F238E27FC236}">
                <a16:creationId xmlns:a16="http://schemas.microsoft.com/office/drawing/2014/main" id="{FF7DBD81-81E4-5217-8D20-821728DE217F}"/>
              </a:ext>
            </a:extLst>
          </p:cNvPr>
          <p:cNvSpPr txBox="1">
            <a:spLocks/>
          </p:cNvSpPr>
          <p:nvPr/>
        </p:nvSpPr>
        <p:spPr>
          <a:xfrm>
            <a:off x="5093646" y="4068088"/>
            <a:ext cx="639172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dirty="0"/>
              <a:t>“If spelling errors cause mismatches and confusion in search, what can an IR system do to still understand the user’s intended word?”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2872</TotalTime>
  <Words>2349</Words>
  <Application>Microsoft Office PowerPoint</Application>
  <PresentationFormat>Widescreen</PresentationFormat>
  <Paragraphs>335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Google Sans Text</vt:lpstr>
      <vt:lpstr>Aptos</vt:lpstr>
      <vt:lpstr>Arial</vt:lpstr>
      <vt:lpstr>Calibri</vt:lpstr>
      <vt:lpstr>Cambria</vt:lpstr>
      <vt:lpstr>Cambria Math</vt:lpstr>
      <vt:lpstr>Segoe UI</vt:lpstr>
      <vt:lpstr>Office Theme</vt:lpstr>
      <vt:lpstr>Information Retrieval                    Chapter 6: Text Categorization and Filtering                   TY B.Sc. (CS) </vt:lpstr>
      <vt:lpstr>1 Topics:</vt:lpstr>
      <vt:lpstr>2 Text Classification – Introduction</vt:lpstr>
      <vt:lpstr> Standing Queries</vt:lpstr>
      <vt:lpstr>3 Limitations of Standing Queries</vt:lpstr>
      <vt:lpstr>3 Refining Standing Queries (Rule-Based Classification)</vt:lpstr>
      <vt:lpstr>3 Classification Concept</vt:lpstr>
      <vt:lpstr>4 Importance of Text Classification</vt:lpstr>
      <vt:lpstr>7 MINI CLASSROOM EXERCISE 1</vt:lpstr>
      <vt:lpstr>7 MINI CLASSROOM EXERCISE 2</vt:lpstr>
      <vt:lpstr>4 Introduction to Naive Bayes</vt:lpstr>
      <vt:lpstr>5 Intuition Behind Naive Bayes</vt:lpstr>
      <vt:lpstr>5 How Naive Bayes thinks</vt:lpstr>
      <vt:lpstr>6 How Naive Bayes Works (High Level)</vt:lpstr>
      <vt:lpstr>6 Why is it Called Naive Bayes?</vt:lpstr>
      <vt:lpstr>6  Why Naive Bayes is Popular</vt:lpstr>
      <vt:lpstr>7  Bayes theorem </vt:lpstr>
      <vt:lpstr>7  Naive Bayes </vt:lpstr>
      <vt:lpstr>7  Text Classification Problem</vt:lpstr>
      <vt:lpstr>7  Document Space (X)</vt:lpstr>
      <vt:lpstr>7  Classes (C)</vt:lpstr>
      <vt:lpstr>7  Training Set (D) (Supervised Learning)</vt:lpstr>
      <vt:lpstr>7  What does P(c | d) mean?</vt:lpstr>
      <vt:lpstr>7  What is P(c)?</vt:lpstr>
      <vt:lpstr>7  What is P(d | c)?</vt:lpstr>
      <vt:lpstr>7  Learning Method &amp; Classifier (Γ and γ)</vt:lpstr>
      <vt:lpstr>6  Naive Bayes – Probabilistic Model</vt:lpstr>
      <vt:lpstr>8  Text Classification Problem Example</vt:lpstr>
      <vt:lpstr>9  Classifier Function</vt:lpstr>
      <vt:lpstr>14  1. Examples</vt:lpstr>
      <vt:lpstr>14 1. The Starting Guess (The "Prior") </vt:lpstr>
      <vt:lpstr>14 2. The Clues (The "Evidence") </vt:lpstr>
      <vt:lpstr>14 2. The Clues (The "Evidence") with datasets </vt:lpstr>
      <vt:lpstr>14 3. The Math (The "Multiplication")</vt:lpstr>
      <vt:lpstr>14 3. The Math (The "Multiplication") Horror Score:</vt:lpstr>
      <vt:lpstr>14 3. The Math (The "Multiplication") Rom-Com Score:</vt:lpstr>
      <vt:lpstr>15  4. The Decision (The Winner)</vt:lpstr>
      <vt:lpstr>15  Average Precision</vt:lpstr>
      <vt:lpstr>15  Average Precision</vt:lpstr>
      <vt:lpstr>15  Step 2 — Compute Average Precision (AP)</vt:lpstr>
      <vt:lpstr>15  compute MAP across multiple queries</vt:lpstr>
      <vt:lpstr>15  Mean Average Precision (MAP)</vt:lpstr>
      <vt:lpstr>15  Formula- Application</vt:lpstr>
      <vt:lpstr>15  Mean Average Precision (MAP)</vt:lpstr>
      <vt:lpstr>15  Example Table</vt:lpstr>
      <vt:lpstr>15  Precision at k (P@k) &amp; R-Precision</vt:lpstr>
      <vt:lpstr>15  Precision at k (P@k) &amp; R-Precision - Formula</vt:lpstr>
      <vt:lpstr>15  Example - Precision at k (P@k) &amp; R-Precision</vt:lpstr>
      <vt:lpstr>15  Why P@k is Useful?</vt:lpstr>
      <vt:lpstr>15  R-Precision</vt:lpstr>
      <vt:lpstr>15  R-Precision Formula</vt:lpstr>
      <vt:lpstr>15  R-Precision</vt:lpstr>
      <vt:lpstr>15  Key Difference</vt:lpstr>
      <vt:lpstr>15  Test Collections</vt:lpstr>
      <vt:lpstr>15  Examples of Popular Test Collections</vt:lpstr>
      <vt:lpstr>15  What are Relevance Judgments?</vt:lpstr>
      <vt:lpstr>15  Test collection consists of:</vt:lpstr>
      <vt:lpstr>15  How Relevance Judgments Are Made – Pooling Technique</vt:lpstr>
      <vt:lpstr>15  How Relevance Judgments Are Made – Pooling Technique</vt:lpstr>
      <vt:lpstr>PowerPoint Presentation</vt:lpstr>
      <vt:lpstr>PowerPoint Presentation</vt:lpstr>
      <vt:lpstr>15  Experimental Design in IR Evaluation</vt:lpstr>
      <vt:lpstr>15  Significance Testing</vt:lpstr>
      <vt:lpstr>15  Common Tests Significance Testing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67</cp:revision>
  <dcterms:created xsi:type="dcterms:W3CDTF">2025-11-04T17:06:10Z</dcterms:created>
  <dcterms:modified xsi:type="dcterms:W3CDTF">2026-01-07T16:36:57Z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