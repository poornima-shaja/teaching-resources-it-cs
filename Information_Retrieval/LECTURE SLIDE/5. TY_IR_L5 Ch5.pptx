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309" r:id="rId4"/>
    <p:sldId id="344" r:id="rId5"/>
    <p:sldId id="345" r:id="rId6"/>
    <p:sldId id="311" r:id="rId7"/>
    <p:sldId id="275" r:id="rId8"/>
    <p:sldId id="349" r:id="rId9"/>
    <p:sldId id="350" r:id="rId10"/>
    <p:sldId id="347" r:id="rId11"/>
    <p:sldId id="351" r:id="rId12"/>
    <p:sldId id="352" r:id="rId13"/>
    <p:sldId id="353" r:id="rId14"/>
    <p:sldId id="348" r:id="rId15"/>
    <p:sldId id="346" r:id="rId16"/>
    <p:sldId id="286" r:id="rId17"/>
    <p:sldId id="354" r:id="rId18"/>
    <p:sldId id="302" r:id="rId19"/>
    <p:sldId id="355" r:id="rId20"/>
    <p:sldId id="303" r:id="rId21"/>
    <p:sldId id="304" r:id="rId22"/>
    <p:sldId id="356" r:id="rId23"/>
    <p:sldId id="305" r:id="rId24"/>
    <p:sldId id="307" r:id="rId25"/>
    <p:sldId id="358" r:id="rId26"/>
    <p:sldId id="357" r:id="rId27"/>
    <p:sldId id="359" r:id="rId28"/>
    <p:sldId id="308" r:id="rId29"/>
    <p:sldId id="360" r:id="rId30"/>
    <p:sldId id="313" r:id="rId31"/>
    <p:sldId id="315" r:id="rId32"/>
    <p:sldId id="316" r:id="rId33"/>
    <p:sldId id="317" r:id="rId34"/>
    <p:sldId id="385" r:id="rId35"/>
    <p:sldId id="386" r:id="rId36"/>
    <p:sldId id="387" r:id="rId37"/>
    <p:sldId id="388" r:id="rId38"/>
    <p:sldId id="389" r:id="rId39"/>
    <p:sldId id="390" r:id="rId40"/>
    <p:sldId id="318" r:id="rId41"/>
    <p:sldId id="391" r:id="rId42"/>
    <p:sldId id="392" r:id="rId43"/>
    <p:sldId id="364" r:id="rId44"/>
    <p:sldId id="373" r:id="rId45"/>
    <p:sldId id="366" r:id="rId46"/>
    <p:sldId id="367" r:id="rId47"/>
    <p:sldId id="368" r:id="rId48"/>
    <p:sldId id="371" r:id="rId49"/>
    <p:sldId id="370" r:id="rId50"/>
    <p:sldId id="372" r:id="rId51"/>
    <p:sldId id="374" r:id="rId52"/>
    <p:sldId id="375" r:id="rId53"/>
    <p:sldId id="376" r:id="rId54"/>
    <p:sldId id="377" r:id="rId55"/>
    <p:sldId id="379" r:id="rId56"/>
    <p:sldId id="380" r:id="rId57"/>
    <p:sldId id="381" r:id="rId58"/>
    <p:sldId id="378" r:id="rId59"/>
    <p:sldId id="382" r:id="rId60"/>
    <p:sldId id="383" r:id="rId61"/>
    <p:sldId id="384" r:id="rId62"/>
    <p:sldId id="269" r:id="rId6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>
      <p:cViewPr varScale="1">
        <p:scale>
          <a:sx n="82" d="100"/>
          <a:sy n="82" d="100"/>
        </p:scale>
        <p:origin x="72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685800" y="954180"/>
            <a:ext cx="11216275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 algn="ctr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</a:t>
            </a:r>
            <a:r>
              <a:rPr lang="en-IN" sz="3200" b="0" spc="150" dirty="0">
                <a:solidFill>
                  <a:srgbClr val="FFFFFF"/>
                </a:solidFill>
                <a:latin typeface="Cambria"/>
                <a:cs typeface="Cambria"/>
              </a:rPr>
              <a:t>Chapter 5: </a:t>
            </a:r>
            <a: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  <a:t>Performance Evaluation in</a:t>
            </a:r>
            <a:b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    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TY B.Sc. (CS)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C83E2C76-DF6F-6D6A-CB74-60A6C5734F58}"/>
              </a:ext>
            </a:extLst>
          </p:cNvPr>
          <p:cNvSpPr txBox="1">
            <a:spLocks/>
          </p:cNvSpPr>
          <p:nvPr/>
        </p:nvSpPr>
        <p:spPr>
          <a:xfrm>
            <a:off x="3276600" y="5410200"/>
            <a:ext cx="8609839" cy="131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ctr">
              <a:lnSpc>
                <a:spcPts val="5550"/>
              </a:lnSpc>
            </a:pPr>
            <a:r>
              <a:rPr lang="en-IN" sz="2000" spc="150" dirty="0">
                <a:solidFill>
                  <a:srgbClr val="FFFFFF"/>
                </a:solidFill>
                <a:latin typeface="Cambria"/>
                <a:cs typeface="Cambria"/>
              </a:rPr>
              <a:t>Poornima .N</a:t>
            </a:r>
          </a:p>
          <a:p>
            <a:pPr marL="12700" marR="5080" indent="2650490" algn="ctr">
              <a:lnSpc>
                <a:spcPts val="5550"/>
              </a:lnSpc>
            </a:pPr>
            <a:r>
              <a:rPr lang="en-US" sz="2000" dirty="0"/>
              <a:t>Assistant Professor, Department of IT/CS</a:t>
            </a:r>
            <a:endParaRPr lang="en-IN"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69631" y="19812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F-measure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Collections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Relevance Judgments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Experimental Design &amp; Significance Testing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object 6" descr="$PPTXTitle">
            <a:extLst>
              <a:ext uri="{FF2B5EF4-FFF2-40B4-BE49-F238E27FC236}">
                <a16:creationId xmlns:a16="http://schemas.microsoft.com/office/drawing/2014/main" id="{3C06A57B-6092-F540-3D10-2B0F13362CFF}"/>
              </a:ext>
            </a:extLst>
          </p:cNvPr>
          <p:cNvSpPr txBox="1">
            <a:spLocks/>
          </p:cNvSpPr>
          <p:nvPr/>
        </p:nvSpPr>
        <p:spPr>
          <a:xfrm>
            <a:off x="5248275" y="5767211"/>
            <a:ext cx="69437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2000" b="0" i="1" spc="225" dirty="0">
                <a:solidFill>
                  <a:schemeClr val="tx1"/>
                </a:solidFill>
                <a:latin typeface="Cambria"/>
                <a:cs typeface="Cambria"/>
              </a:rPr>
              <a:t>“Can we trust a search engine just because it gives us fast results — or do we need evidence?”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150336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how well a search engine retrieves relevant documents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different ranking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quality before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search accuracy over time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877062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600" dirty="0"/>
              <a:t>Why Do We Evaluate IR Systems?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4298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inical Information Retrieval: A Literature Review | Journal of Healthcare  Informatics Research">
            <a:extLst>
              <a:ext uri="{FF2B5EF4-FFF2-40B4-BE49-F238E27FC236}">
                <a16:creationId xmlns:a16="http://schemas.microsoft.com/office/drawing/2014/main" id="{7176180C-866B-8CD4-FEA4-27DC4A567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1327"/>
            <a:ext cx="8153400" cy="623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82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8455-4804-E9D5-CB94-B9B7BCDD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667000"/>
            <a:ext cx="5954395" cy="615553"/>
          </a:xfrm>
        </p:spPr>
        <p:txBody>
          <a:bodyPr/>
          <a:lstStyle/>
          <a:p>
            <a:r>
              <a:rPr lang="en-IN" dirty="0"/>
              <a:t>What We Measure?</a:t>
            </a:r>
          </a:p>
        </p:txBody>
      </p:sp>
    </p:spTree>
    <p:extLst>
      <p:ext uri="{BB962C8B-B14F-4D97-AF65-F5344CB8AC3E}">
        <p14:creationId xmlns:p14="http://schemas.microsoft.com/office/powerpoint/2010/main" val="321313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128A4D-1591-8BE6-006E-0A2813F0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611B29B-C1F5-7F77-3831-0726530A565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BF957CE-CC5D-431D-A47B-8802A8A2AE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01EF98-5760-7FE7-0CDB-608326B0ABF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6BBF158-4415-D736-3F09-ED5B347DDB05}"/>
              </a:ext>
            </a:extLst>
          </p:cNvPr>
          <p:cNvSpPr txBox="1"/>
          <p:nvPr/>
        </p:nvSpPr>
        <p:spPr>
          <a:xfrm>
            <a:off x="2916533" y="19812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F-measure (balanced harmonic mean of precision and recall)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(Mean Average Precision)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 at k, R-Precision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 Curve, NDCG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2173B5C-E434-A5C8-4016-8C28E8E60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600" dirty="0"/>
              <a:t>Measuring Effectiveness of IR Systems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1536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200" b="1" dirty="0"/>
              <a:t>Precision</a:t>
            </a:r>
            <a:r>
              <a:rPr lang="en-US" sz="3200" dirty="0"/>
              <a:t> measures the accuracy of positive predictions: out of all the items the model </a:t>
            </a:r>
            <a:r>
              <a:rPr lang="en-US" sz="3200" i="1" dirty="0"/>
              <a:t>identified</a:t>
            </a:r>
            <a:r>
              <a:rPr lang="en-US" sz="3200" dirty="0"/>
              <a:t> as positive, how many were actually correct?</a:t>
            </a:r>
            <a:endParaRPr sz="3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8972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F61DC9-10B2-934E-CCA9-CCE583AF75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762000"/>
                <a:ext cx="10421620" cy="1808444"/>
              </a:xfrm>
            </p:spPr>
            <p:txBody>
              <a:bodyPr/>
              <a:lstStyle/>
              <a:p>
                <a:pPr/>
                <a:r>
                  <a:rPr lang="en-IN" dirty="0"/>
                  <a:t>Formula:</a:t>
                </a:r>
                <a:br>
                  <a:rPr lang="en-IN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Precision</m:t>
                      </m:r>
                      <m:r>
                        <a:rPr lang="en-IN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/>
                            <m:t>Relevant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Documents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Retrieved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b="0" i="1"/>
                            <m:t>Total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Documents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Retrieved</m:t>
                          </m:r>
                        </m:den>
                      </m:f>
                    </m:oMath>
                  </m:oMathPara>
                </a14:m>
                <a:br>
                  <a:rPr lang="ar-AE" b="0" dirty="0"/>
                </a:b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F61DC9-10B2-934E-CCA9-CCE583AF75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762000"/>
                <a:ext cx="10421620" cy="1808444"/>
              </a:xfrm>
              <a:blipFill>
                <a:blip r:embed="rId2"/>
                <a:stretch>
                  <a:fillRect l="-2924" t="-8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A7D0CF-2F5B-0804-1A62-9DBF5360EA16}"/>
                  </a:ext>
                </a:extLst>
              </p:cNvPr>
              <p:cNvSpPr txBox="1"/>
              <p:nvPr/>
            </p:nvSpPr>
            <p:spPr>
              <a:xfrm>
                <a:off x="304800" y="3276600"/>
                <a:ext cx="7773140" cy="2625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IN" sz="2800" b="1" dirty="0"/>
                  <a:t>Example:</a:t>
                </a:r>
                <a:endParaRPr lang="en-IN" sz="2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Query: </a:t>
                </a:r>
                <a:r>
                  <a:rPr lang="en-IN" sz="2800" i="1" dirty="0"/>
                  <a:t>“Machine Learning”</a:t>
                </a:r>
                <a:endParaRPr lang="en-IN" sz="2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System retrieved </a:t>
                </a:r>
                <a:r>
                  <a:rPr lang="en-IN" sz="2800" b="1" dirty="0"/>
                  <a:t>10 documents</a:t>
                </a:r>
                <a:endParaRPr lang="en-IN" sz="2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Out of them, </a:t>
                </a:r>
                <a:r>
                  <a:rPr lang="en-IN" sz="2800" b="1" dirty="0"/>
                  <a:t>6 are relevant</a:t>
                </a:r>
                <a:endParaRPr lang="en-IN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/>
                        <m:t>Precision</m:t>
                      </m:r>
                      <m:r>
                        <a:rPr lang="en-IN" sz="28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b="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800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 b="0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ar-AE" sz="2800" b="0" i="1">
                          <a:latin typeface="Cambria Math" panose="02040503050406030204" pitchFamily="18" charset="0"/>
                        </a:rPr>
                        <m:t>  </m:t>
                      </m:r>
                      <m:d>
                        <m:dPr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ar-AE" sz="28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A7D0CF-2F5B-0804-1A62-9DBF5360E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276600"/>
                <a:ext cx="7773140" cy="2625334"/>
              </a:xfrm>
              <a:prstGeom prst="rect">
                <a:avLst/>
              </a:prstGeom>
              <a:blipFill>
                <a:blip r:embed="rId3"/>
                <a:stretch>
                  <a:fillRect l="-1569" t="-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8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CCEB-0A8B-7495-8D43-667F1B5E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4CA3CD-AF14-1096-F322-840948395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6524"/>
              </p:ext>
            </p:extLst>
          </p:nvPr>
        </p:nvGraphicFramePr>
        <p:xfrm>
          <a:off x="457200" y="304800"/>
          <a:ext cx="6858000" cy="632460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04089290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2262659"/>
                    </a:ext>
                  </a:extLst>
                </a:gridCol>
              </a:tblGrid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Document Title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Relevant?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2488345242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Intro to Machine Learning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✔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1855044996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Cooking Recipe – Pasta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✘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4238517512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Deep Learning Models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✔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3488473585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Travel Blog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✘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2744145036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Machine Learning Applications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✔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3122104220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AI vs ML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✔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3616498174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Random News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✘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3381045217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Neural Networks Overview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✔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3323901287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Fashion Design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✘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3719848149"/>
                  </a:ext>
                </a:extLst>
              </a:tr>
              <a:tr h="57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Robotics and ML Integration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✔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val="12295513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D16020-0A4C-2B5F-C13D-3643E682A4D6}"/>
              </a:ext>
            </a:extLst>
          </p:cNvPr>
          <p:cNvSpPr txBox="1"/>
          <p:nvPr/>
        </p:nvSpPr>
        <p:spPr>
          <a:xfrm>
            <a:off x="7467600" y="1143000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Precision = </a:t>
            </a:r>
          </a:p>
          <a:p>
            <a:r>
              <a:rPr lang="en-IN" sz="3200" dirty="0"/>
              <a:t>Relevant/Total Retrieved</a:t>
            </a:r>
          </a:p>
        </p:txBody>
      </p:sp>
    </p:spTree>
    <p:extLst>
      <p:ext uri="{BB962C8B-B14F-4D97-AF65-F5344CB8AC3E}">
        <p14:creationId xmlns:p14="http://schemas.microsoft.com/office/powerpoint/2010/main" val="35087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B16B74-2925-4D2C-7942-4A6F357D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031AD7B-8C1C-4580-C3FC-5373982F7CC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9073186-EBDE-EB01-BFB7-C78B270B5FC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C4F2231-DB2A-B77D-FE98-681EC801725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2E15C5FB-8A09-2196-C0B1-C33662C35DF8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200" b="1" dirty="0"/>
              <a:t>Recall</a:t>
            </a:r>
            <a:r>
              <a:rPr lang="en-US" sz="3200" dirty="0"/>
              <a:t> measures the model's ability to find all relevant instances: out of all the items that were </a:t>
            </a:r>
            <a:r>
              <a:rPr lang="en-US" sz="3200" i="1" dirty="0"/>
              <a:t>actually</a:t>
            </a:r>
            <a:r>
              <a:rPr lang="en-US" sz="3200" dirty="0"/>
              <a:t> positive in the data, how many did the model </a:t>
            </a:r>
            <a:r>
              <a:rPr lang="en-US" sz="3200" i="1" dirty="0"/>
              <a:t>find</a:t>
            </a:r>
            <a:r>
              <a:rPr lang="en-US" sz="3200" dirty="0"/>
              <a:t>?. </a:t>
            </a:r>
            <a:endParaRPr sz="3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FB3DBF3-ADE8-C3A9-9963-8366B6859C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Recall 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1198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D34B7-4245-5368-F052-3F285F39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7E83FD-940D-BE1E-43D5-959AC42043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04800" y="725909"/>
                <a:ext cx="11506200" cy="1808444"/>
              </a:xfrm>
            </p:spPr>
            <p:txBody>
              <a:bodyPr/>
              <a:lstStyle/>
              <a:p>
                <a:pPr/>
                <a:r>
                  <a:rPr lang="en-IN" dirty="0"/>
                  <a:t>Formula</a:t>
                </a:r>
                <a:br>
                  <a:rPr lang="en-IN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Recall</m:t>
                      </m:r>
                      <m:r>
                        <a:rPr lang="en-IN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/>
                            <m:t>Relevant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Documents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Retrieved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b="0" i="1"/>
                            <m:t>Total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Relevant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Documents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in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the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Collection</m:t>
                          </m:r>
                        </m:den>
                      </m:f>
                    </m:oMath>
                  </m:oMathPara>
                </a14:m>
                <a:br>
                  <a:rPr lang="ar-AE" b="0" dirty="0"/>
                </a:b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7E83FD-940D-BE1E-43D5-959AC4204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4800" y="725909"/>
                <a:ext cx="11506200" cy="1808444"/>
              </a:xfrm>
              <a:blipFill>
                <a:blip r:embed="rId2"/>
                <a:stretch>
                  <a:fillRect l="-2648" t="-8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1FD875-C047-2B61-9749-FB67F28AC5A2}"/>
                  </a:ext>
                </a:extLst>
              </p:cNvPr>
              <p:cNvSpPr txBox="1"/>
              <p:nvPr/>
            </p:nvSpPr>
            <p:spPr>
              <a:xfrm>
                <a:off x="457200" y="3407546"/>
                <a:ext cx="7773140" cy="305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/>
                  <a:t>Example:</a:t>
                </a:r>
                <a:endParaRPr lang="en-IN" sz="28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Total relevant documents present in database: </a:t>
                </a:r>
                <a:r>
                  <a:rPr kumimoji="0" lang="en-US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20</a:t>
                </a:r>
                <a:endPara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System retrieved </a:t>
                </a:r>
                <a:r>
                  <a:rPr kumimoji="0" lang="en-US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10 documents</a:t>
                </a:r>
                <a:endPara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Out of those 10, </a:t>
                </a:r>
                <a:r>
                  <a:rPr kumimoji="0" lang="en-US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6 were actually relevant</a:t>
                </a:r>
                <a:endPara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smtClean="0"/>
                        <m:t>Recal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sz="2800" b="0" i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ar-AE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b="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800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IN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ar-AE" sz="2800" b="0" i="1">
                          <a:latin typeface="Cambria Math" panose="02040503050406030204" pitchFamily="18" charset="0"/>
                        </a:rPr>
                        <m:t>  </m:t>
                      </m:r>
                      <m:d>
                        <m:dPr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800" b="0" i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ar-AE" sz="28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1FD875-C047-2B61-9749-FB67F28AC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07546"/>
                <a:ext cx="7773140" cy="3056221"/>
              </a:xfrm>
              <a:prstGeom prst="rect">
                <a:avLst/>
              </a:prstGeom>
              <a:blipFill>
                <a:blip r:embed="rId3"/>
                <a:stretch>
                  <a:fillRect l="-1569" t="-2196" r="-1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423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7A42-DE47-1D08-004B-63056F92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30487B-2EEE-6D7F-7CB3-D3AC77407D9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367DA36-50AE-F147-C7C5-46DA82DC18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9ADC5E-06AB-3ED2-6A24-B4280665206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27C5109C-CC95-B109-2ACC-B80F37781D39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b="1" dirty="0"/>
              <a:t>Steps:</a:t>
            </a:r>
            <a:endParaRPr lang="en-US" sz="2400" dirty="0"/>
          </a:p>
          <a:p>
            <a:r>
              <a:rPr lang="en-US" sz="2400" dirty="0"/>
              <a:t>Total research papers available = </a:t>
            </a:r>
            <a:r>
              <a:rPr lang="en-US" sz="2400" b="1" dirty="0"/>
              <a:t>15</a:t>
            </a:r>
            <a:endParaRPr lang="en-US" sz="2400" dirty="0"/>
          </a:p>
          <a:p>
            <a:r>
              <a:rPr lang="en-US" sz="2400" dirty="0"/>
              <a:t>System retrieved </a:t>
            </a:r>
            <a:r>
              <a:rPr lang="en-US" sz="2400" b="1" dirty="0"/>
              <a:t>8 papers</a:t>
            </a:r>
            <a:endParaRPr lang="en-US" sz="2400" dirty="0"/>
          </a:p>
          <a:p>
            <a:r>
              <a:rPr lang="en-US" sz="2400" dirty="0"/>
              <a:t>Out of them, </a:t>
            </a:r>
            <a:r>
              <a:rPr lang="en-US" sz="2400" b="1" dirty="0"/>
              <a:t>5 were actually relevant</a:t>
            </a:r>
            <a:endParaRPr lang="en-US" sz="2400" dirty="0"/>
          </a:p>
          <a:p>
            <a:r>
              <a:rPr lang="en-US" sz="2400" dirty="0"/>
              <a:t>Calculate recall.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2881EC5-C78F-C6F1-9D00-867F762758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Find All the Relevant Papers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3953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6AF6-567F-16C9-44AD-C885BDA9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34DEFEC-17B9-A1BE-E318-07470D16D9B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804EC2C-8417-00BA-3378-C357A3B98D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9959B08-14E7-50AE-4C12-9BD65D66AC9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36DA4B3E-A174-66BC-576E-158D29FB6800}"/>
                  </a:ext>
                </a:extLst>
              </p:cNvPr>
              <p:cNvSpPr txBox="1"/>
              <p:nvPr/>
            </p:nvSpPr>
            <p:spPr>
              <a:xfrm>
                <a:off x="2934462" y="2286000"/>
                <a:ext cx="8448040" cy="2720681"/>
              </a:xfrm>
              <a:prstGeom prst="rect">
                <a:avLst/>
              </a:prstGeom>
            </p:spPr>
            <p:txBody>
              <a:bodyPr vert="horz" wrap="square" lIns="0" tIns="177165" rIns="0" bIns="0" rtlCol="0">
                <a:spAutoFit/>
              </a:bodyPr>
              <a:lstStyle/>
              <a:p>
                <a:r>
                  <a:rPr lang="en-IN" sz="2800" dirty="0"/>
                  <a:t>Expected answer: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/>
                        <m:t>Recall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33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33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sz="2800" b="0" dirty="0"/>
              </a:p>
              <a:p>
                <a:r>
                  <a:rPr lang="en-IN" sz="2800" dirty="0"/>
                  <a:t>Then ask:</a:t>
                </a:r>
              </a:p>
              <a:p>
                <a:r>
                  <a:rPr lang="en-IN" sz="2800" i="1" dirty="0"/>
                  <a:t>What could be done to improve recall? (Retrieve more documents)</a:t>
                </a:r>
                <a:endParaRPr lang="en-IN" sz="280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36DA4B3E-A174-66BC-576E-158D29FB6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462" y="2286000"/>
                <a:ext cx="8448040" cy="2720681"/>
              </a:xfrm>
              <a:prstGeom prst="rect">
                <a:avLst/>
              </a:prstGeom>
              <a:blipFill>
                <a:blip r:embed="rId3"/>
                <a:stretch>
                  <a:fillRect l="-2525" b="-71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964C9B9E-CFB5-AC92-409C-870C216AA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Find All the Relevant Papers(A)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0044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2F939C-2C29-07F4-3EA8-49EE17DF1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175640"/>
              </p:ext>
            </p:extLst>
          </p:nvPr>
        </p:nvGraphicFramePr>
        <p:xfrm>
          <a:off x="533401" y="1981200"/>
          <a:ext cx="10820400" cy="3352800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938113994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58129441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828697261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Relevant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Nonrelevant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670467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Retrieved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 err="1"/>
                        <a:t>fp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683055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Not Retrieved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 err="1"/>
                        <a:t>fn</a:t>
                      </a:r>
                      <a:endParaRPr lang="en-IN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 err="1"/>
                        <a:t>tn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301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01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recision recall - Is there a name for this metric: TN / (TN + FN)? - Cross  Validated">
            <a:extLst>
              <a:ext uri="{FF2B5EF4-FFF2-40B4-BE49-F238E27FC236}">
                <a16:creationId xmlns:a16="http://schemas.microsoft.com/office/drawing/2014/main" id="{B993B484-F508-E921-4DDB-735BB9512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76200"/>
            <a:ext cx="7162800" cy="621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657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2934462" y="2068481"/>
                <a:ext cx="8448040" cy="3090461"/>
              </a:xfrm>
              <a:prstGeom prst="rect">
                <a:avLst/>
              </a:prstGeom>
            </p:spPr>
            <p:txBody>
              <a:bodyPr vert="horz" wrap="square" lIns="0" tIns="177165" rIns="0" bIns="0" rtlCol="0">
                <a:spAutoFit/>
              </a:bodyPr>
              <a:lstStyle/>
              <a:p>
                <a:r>
                  <a:rPr lang="en-IN" sz="2800" dirty="0"/>
                  <a:t>Total relevant documents in collection = </a:t>
                </a:r>
                <a:r>
                  <a:rPr lang="en-IN" sz="2800" b="1" dirty="0"/>
                  <a:t>20</a:t>
                </a:r>
                <a:endParaRPr lang="en-IN" sz="2800" dirty="0"/>
              </a:p>
              <a:p>
                <a:r>
                  <a:rPr lang="en-IN" sz="2800" dirty="0"/>
                  <a:t>System retrieved </a:t>
                </a:r>
                <a:r>
                  <a:rPr lang="en-IN" sz="2800" b="1" dirty="0"/>
                  <a:t>10 documents</a:t>
                </a:r>
                <a:endParaRPr lang="en-IN" sz="2800" dirty="0"/>
              </a:p>
              <a:p>
                <a:r>
                  <a:rPr lang="en-IN" sz="2800" dirty="0"/>
                  <a:t>Out of them </a:t>
                </a:r>
                <a:r>
                  <a:rPr lang="en-IN" sz="2800" b="1" dirty="0"/>
                  <a:t>6 are relevant</a:t>
                </a:r>
                <a:endParaRPr lang="en-I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/>
                        <m:t>Precision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ar-AE" sz="2800" i="1"/>
                        <m:t>  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ar-AE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/>
                        <m:t>Recall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ar-AE" sz="2800" i="1"/>
                        <m:t>  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ar-AE" sz="2800" b="0" dirty="0"/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462" y="2068481"/>
                <a:ext cx="8448040" cy="3090461"/>
              </a:xfrm>
              <a:prstGeom prst="rect">
                <a:avLst/>
              </a:prstGeom>
              <a:blipFill>
                <a:blip r:embed="rId3"/>
                <a:stretch>
                  <a:fillRect l="-25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905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Example to Show Difference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39705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BD95D1-5A8C-B244-934E-6BA939BF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9ECE6E1-B3F6-F8C5-573A-DD1E86DCD09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5256C7E-F631-1DA6-DFAB-765E771777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F75752-D334-16A5-05D2-980BD20A310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F7266F3-05BA-BD12-1987-AA2E149F7438}"/>
              </a:ext>
            </a:extLst>
          </p:cNvPr>
          <p:cNvSpPr txBox="1"/>
          <p:nvPr/>
        </p:nvSpPr>
        <p:spPr>
          <a:xfrm>
            <a:off x="2934462" y="2068481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An IR system returns 8 relevant documents and 10 non-relevant documents for a query. There are 20 relevant documents in the collection.</a:t>
            </a:r>
          </a:p>
          <a:p>
            <a:endParaRPr lang="en-US" sz="2800" dirty="0"/>
          </a:p>
          <a:p>
            <a:r>
              <a:rPr lang="en-US" sz="2800" b="1" dirty="0"/>
              <a:t>Questions for students:</a:t>
            </a:r>
            <a:endParaRPr lang="en-US" sz="2800" dirty="0"/>
          </a:p>
          <a:p>
            <a:r>
              <a:rPr lang="en-US" sz="2800" dirty="0"/>
              <a:t>What is the </a:t>
            </a:r>
            <a:r>
              <a:rPr lang="en-US" sz="2800" b="1" dirty="0"/>
              <a:t>precision</a:t>
            </a:r>
            <a:r>
              <a:rPr lang="en-US" sz="2800" dirty="0"/>
              <a:t> of the system?</a:t>
            </a:r>
          </a:p>
          <a:p>
            <a:r>
              <a:rPr lang="en-US" sz="2800" dirty="0"/>
              <a:t>What is the </a:t>
            </a:r>
            <a:r>
              <a:rPr lang="en-US" sz="2800" b="1" dirty="0"/>
              <a:t>recall</a:t>
            </a:r>
            <a:r>
              <a:rPr lang="en-US" sz="2800" dirty="0"/>
              <a:t> of the system?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5599FBC-5390-EED9-D5F4-43765C164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905239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i="1" dirty="0"/>
              <a:t>Mini Exercise: Calculating Precision &amp; Recall</a:t>
            </a:r>
            <a:br>
              <a:rPr lang="en-IN" sz="3200" dirty="0"/>
            </a:br>
            <a:r>
              <a:rPr lang="en-IN" sz="3200" dirty="0"/>
              <a:t>Scenario: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14365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F1 Score is used when we need a </a:t>
            </a:r>
            <a:r>
              <a:rPr lang="en-US" sz="2800" b="1" dirty="0"/>
              <a:t>balance</a:t>
            </a:r>
            <a:r>
              <a:rPr lang="en-US" sz="2800" dirty="0"/>
              <a:t> between Precision and Recall.</a:t>
            </a:r>
          </a:p>
          <a:p>
            <a:r>
              <a:rPr lang="en-US" sz="2800" dirty="0"/>
              <a:t>It is the </a:t>
            </a:r>
            <a:r>
              <a:rPr lang="en-US" sz="2800" b="1" dirty="0"/>
              <a:t>harmonic mean</a:t>
            </a:r>
            <a:r>
              <a:rPr lang="en-US" sz="2800" dirty="0"/>
              <a:t> of Precision and Recall (not a simple average).</a:t>
            </a:r>
          </a:p>
          <a:p>
            <a:r>
              <a:rPr lang="en-US" sz="2800" dirty="0"/>
              <a:t>Useful when </a:t>
            </a:r>
            <a:r>
              <a:rPr lang="en-US" sz="2800" b="1" dirty="0"/>
              <a:t>both false positives and false negatives</a:t>
            </a:r>
            <a:r>
              <a:rPr lang="en-US" sz="2800" dirty="0"/>
              <a:t> are important.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F1 Score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0821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C8C04-140A-7773-7CD1-575B5AD46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A7E0B5-5B26-E3ED-CD52-0C6C0A11C7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04800" y="725909"/>
                <a:ext cx="11506200" cy="1808444"/>
              </a:xfrm>
            </p:spPr>
            <p:txBody>
              <a:bodyPr/>
              <a:lstStyle/>
              <a:p>
                <a:pPr/>
                <a:r>
                  <a:rPr lang="en-IN" dirty="0"/>
                  <a:t>Formula</a:t>
                </a:r>
                <a:br>
                  <a:rPr lang="en-IN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/>
                            <m:t>Precision</m:t>
                          </m:r>
                          <m:r>
                            <a:rPr lang="en-IN" b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IN" b="0" i="1"/>
                            <m:t>Recall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b="0" i="1"/>
                            <m:t>Precision</m:t>
                          </m:r>
                          <m:r>
                            <a:rPr lang="en-IN" b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IN" b="0" i="1"/>
                            <m:t>Recall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A7E0B5-5B26-E3ED-CD52-0C6C0A11C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4800" y="725909"/>
                <a:ext cx="11506200" cy="1808444"/>
              </a:xfrm>
              <a:blipFill>
                <a:blip r:embed="rId2"/>
                <a:stretch>
                  <a:fillRect l="-2648" t="-8418" b="-3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1091F7-4AE1-8D90-83C0-4D78427E426E}"/>
                  </a:ext>
                </a:extLst>
              </p:cNvPr>
              <p:cNvSpPr txBox="1"/>
              <p:nvPr/>
            </p:nvSpPr>
            <p:spPr>
              <a:xfrm>
                <a:off x="457200" y="3407546"/>
                <a:ext cx="7773140" cy="2632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1" dirty="0"/>
                  <a:t>Example Calculation</a:t>
                </a:r>
              </a:p>
              <a:p>
                <a:r>
                  <a:rPr lang="en-IN" sz="2800" dirty="0"/>
                  <a:t>Precision = </a:t>
                </a:r>
                <a:r>
                  <a:rPr lang="en-IN" sz="2800" b="1" dirty="0"/>
                  <a:t>0.6</a:t>
                </a:r>
                <a:br>
                  <a:rPr lang="en-IN" sz="2800" dirty="0"/>
                </a:br>
                <a:r>
                  <a:rPr lang="en-IN" sz="2800" dirty="0"/>
                  <a:t>Recall = </a:t>
                </a:r>
                <a:r>
                  <a:rPr lang="en-IN" sz="2800" b="1" dirty="0"/>
                  <a:t>0.3</a:t>
                </a:r>
                <a:endParaRPr lang="en-I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ar-AE" sz="2800" dirty="0"/>
              </a:p>
              <a:p>
                <a:r>
                  <a:rPr lang="en-IN" sz="2800" dirty="0"/>
                  <a:t>So </a:t>
                </a:r>
                <a:r>
                  <a:rPr lang="en-IN" sz="2800" b="1" dirty="0"/>
                  <a:t>F1 Score = 0.4</a:t>
                </a:r>
                <a:endParaRPr lang="en-IN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1091F7-4AE1-8D90-83C0-4D78427E4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07546"/>
                <a:ext cx="7773140" cy="2632516"/>
              </a:xfrm>
              <a:prstGeom prst="rect">
                <a:avLst/>
              </a:prstGeom>
              <a:blipFill>
                <a:blip r:embed="rId3"/>
                <a:stretch>
                  <a:fillRect l="-1569" t="-2546" b="-53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142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1. Values:</a:t>
            </a:r>
          </a:p>
          <a:p>
            <a:r>
              <a:rPr lang="en-US" sz="2800" dirty="0"/>
              <a:t>Precision = 0.8</a:t>
            </a:r>
          </a:p>
          <a:p>
            <a:r>
              <a:rPr lang="en-US" sz="2800" dirty="0"/>
              <a:t>Recall = 0.4</a:t>
            </a:r>
          </a:p>
          <a:p>
            <a:r>
              <a:rPr lang="en-US" sz="2800" dirty="0"/>
              <a:t>Ask them to calculate F1 Score.</a:t>
            </a:r>
          </a:p>
          <a:p>
            <a:endParaRPr lang="en-US" sz="2800" dirty="0"/>
          </a:p>
          <a:p>
            <a:r>
              <a:rPr lang="en-US" sz="2800" dirty="0"/>
              <a:t>2. </a:t>
            </a:r>
            <a:r>
              <a:rPr lang="en-US" sz="2800" i="1" dirty="0"/>
              <a:t>If Precision = 1 and Recall = 0, what will be the F1 Score? Why?</a:t>
            </a:r>
            <a:endParaRPr lang="en-US" sz="28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Mini Activity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84274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 Precision &amp; Recall, we must know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documents are truly relevant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information comes from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 Truth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(also called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Gold Standard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How Do We Know Which Documents Are Relevant?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37435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D8F7B6-6647-D181-CB2D-5C2BEE9D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DD3EE84-AEF6-4ECC-C0FE-DA59183F2D0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7793684-F521-CF69-CAC9-A6DE8427CC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CBF891F-9BB4-5920-A9DC-4A480096586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32FDD5F-A8DE-8EF5-4B85-EBCBAD568F1E}"/>
              </a:ext>
            </a:extLst>
          </p:cNvPr>
          <p:cNvSpPr txBox="1"/>
          <p:nvPr/>
        </p:nvSpPr>
        <p:spPr>
          <a:xfrm>
            <a:off x="2934462" y="2086209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set of documents labeled as relevant by human experts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testing an IR system,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judges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experts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read documents and mark them: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Relevant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8626781-FE51-EC93-5692-C8AE313894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Ground Truth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4134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Precision and Recall usually </a:t>
            </a:r>
            <a:r>
              <a:rPr lang="en-US" sz="2800" b="1" dirty="0"/>
              <a:t>cannot both be maximized simultaneously</a:t>
            </a:r>
            <a:endParaRPr lang="en-US" sz="2800" dirty="0"/>
          </a:p>
          <a:p>
            <a:r>
              <a:rPr lang="en-US" sz="2800" dirty="0"/>
              <a:t>Improving one often </a:t>
            </a:r>
            <a:r>
              <a:rPr lang="en-US" sz="2800" b="1" dirty="0"/>
              <a:t>reduces the other</a:t>
            </a:r>
            <a:endParaRPr lang="en-US" sz="2800" dirty="0"/>
          </a:p>
          <a:p>
            <a:r>
              <a:rPr lang="en-US" sz="2800" dirty="0"/>
              <a:t>If we retrieve </a:t>
            </a:r>
            <a:r>
              <a:rPr lang="en-US" sz="2800" b="1" dirty="0"/>
              <a:t>more documents</a:t>
            </a:r>
            <a:r>
              <a:rPr lang="en-US" sz="2800" dirty="0"/>
              <a:t>, Recall increases but Precision may drop</a:t>
            </a:r>
          </a:p>
          <a:p>
            <a:r>
              <a:rPr lang="en-US" sz="2800" dirty="0"/>
              <a:t>If we retrieve </a:t>
            </a:r>
            <a:r>
              <a:rPr lang="en-US" sz="2800" b="1" dirty="0"/>
              <a:t>fewer but very accurate results</a:t>
            </a:r>
            <a:r>
              <a:rPr lang="en-US" sz="2800" dirty="0"/>
              <a:t>, Precision increases but Recall may drop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Precision–Recall Trade-off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96642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Example Scenario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2F169B-D8C2-D0F9-52F1-3904F1749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058817"/>
              </p:ext>
            </p:extLst>
          </p:nvPr>
        </p:nvGraphicFramePr>
        <p:xfrm>
          <a:off x="2590800" y="2286000"/>
          <a:ext cx="8731251" cy="368808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910417">
                  <a:extLst>
                    <a:ext uri="{9D8B030D-6E8A-4147-A177-3AD203B41FA5}">
                      <a16:colId xmlns:a16="http://schemas.microsoft.com/office/drawing/2014/main" val="1821005512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7207844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41732651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Effect on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Effect on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9873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Retrieve more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⬇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⬆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1251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Retrieve fewer documents (strict filtering)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⬆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⬇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147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040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The Precision-Recall Trade-Off: Finding the Balancing Point for Your  5-Detector (Part 6)">
            <a:extLst>
              <a:ext uri="{FF2B5EF4-FFF2-40B4-BE49-F238E27FC236}">
                <a16:creationId xmlns:a16="http://schemas.microsoft.com/office/drawing/2014/main" id="{237ADAF1-CCA4-ABF5-ADD0-D2E67EF81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4" y="304800"/>
            <a:ext cx="11300526" cy="599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590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0240D6-0722-C63F-899E-93DBD0C6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84A8576-5C0B-95FF-9DD4-3E13FB3D296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BB91722-214B-9D63-9F08-DBDE70B90ED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1828BC-5154-7456-BA60-BCE15A87AE8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0EA0EB9-72FC-5226-7C06-FBB2C2241871}"/>
              </a:ext>
            </a:extLst>
          </p:cNvPr>
          <p:cNvSpPr txBox="1"/>
          <p:nvPr/>
        </p:nvSpPr>
        <p:spPr>
          <a:xfrm>
            <a:off x="3048000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Searching for </a:t>
            </a:r>
            <a:r>
              <a:rPr lang="en-US" sz="2800" b="1" dirty="0"/>
              <a:t>COVID-19 treatment research</a:t>
            </a:r>
            <a:r>
              <a:rPr lang="en-US" sz="2800" dirty="0"/>
              <a:t>:</a:t>
            </a:r>
          </a:p>
          <a:p>
            <a:r>
              <a:rPr lang="en-US" sz="2800" dirty="0"/>
              <a:t>If the system retrieves everything → high recall but low precision (lots of useless papers)</a:t>
            </a:r>
          </a:p>
          <a:p>
            <a:r>
              <a:rPr lang="en-US" sz="2800" dirty="0"/>
              <a:t>If the system retrieves only top 3 top-ranked papers → high precision but low recall (may miss important studies)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96CB7105-5EAC-3910-E403-17B7FE40A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Real-Life Example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14365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28544-FF15-9382-A085-6C021221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3FEA1BD-C043-EB3A-3E6A-4C3B8876D9E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91FC58C-E7CE-FA01-E97C-C278B5EA3B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F50106C-2D10-97BF-AC4F-31491937D62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7938655-04C1-24FA-5B0E-810AD047A609}"/>
              </a:ext>
            </a:extLst>
          </p:cNvPr>
          <p:cNvSpPr txBox="1"/>
          <p:nvPr/>
        </p:nvSpPr>
        <p:spPr>
          <a:xfrm>
            <a:off x="3048000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Give students two statements and ask them to vote:</a:t>
            </a:r>
          </a:p>
          <a:p>
            <a:r>
              <a:rPr lang="en-US" sz="2800" dirty="0"/>
              <a:t>A) Online shopping </a:t>
            </a:r>
            <a:r>
              <a:rPr lang="en-US" sz="2800" b="1" dirty="0"/>
              <a:t>product search</a:t>
            </a:r>
            <a:r>
              <a:rPr lang="en-US" sz="2800" dirty="0"/>
              <a:t> — what matters more?</a:t>
            </a:r>
            <a:br>
              <a:rPr lang="en-US" sz="2800" dirty="0"/>
            </a:br>
            <a:r>
              <a:rPr lang="en-US" sz="2800" dirty="0"/>
              <a:t>B) </a:t>
            </a:r>
            <a:r>
              <a:rPr lang="en-US" sz="2800" b="1" dirty="0"/>
              <a:t>Police criminal database search</a:t>
            </a:r>
            <a:r>
              <a:rPr lang="en-US" sz="2800" dirty="0"/>
              <a:t> for suspects — what matters more?</a:t>
            </a:r>
          </a:p>
          <a:p>
            <a:r>
              <a:rPr lang="en-US" sz="2800" dirty="0"/>
              <a:t>Expected:</a:t>
            </a:r>
          </a:p>
          <a:p>
            <a:r>
              <a:rPr lang="en-US" sz="2800" dirty="0"/>
              <a:t>A → Precision</a:t>
            </a:r>
          </a:p>
          <a:p>
            <a:r>
              <a:rPr lang="en-US" sz="2800" dirty="0"/>
              <a:t>B → Recall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E5D1ED0-C579-0686-77BE-289C24936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Quick Activity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52903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95752" y="24384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We fix spelling errors by checking which correct word looks the most similar to the misspelled one.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Precision–Recall Curve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95794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cision-Recall (PR) curve comparison | Download Scientific Diagram">
            <a:extLst>
              <a:ext uri="{FF2B5EF4-FFF2-40B4-BE49-F238E27FC236}">
                <a16:creationId xmlns:a16="http://schemas.microsoft.com/office/drawing/2014/main" id="{84FADB09-9430-463C-F0C1-10212C0F5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400"/>
            <a:ext cx="7543800" cy="628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559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997186-39A0-E5A7-FB7C-FCB7F427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00C6E06-DBE1-7E9E-2D02-C879C651A8D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5953392-9A49-02D6-9947-B0596E8B73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45E6A5-F03B-6C9B-DFA0-4586D31DDAF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1D413CE-35D3-744D-FDF4-EAE058A15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 Graph Explanation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1A219D-2808-A5DC-0479-4B0B9D87B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282760"/>
              </p:ext>
            </p:extLst>
          </p:nvPr>
        </p:nvGraphicFramePr>
        <p:xfrm>
          <a:off x="2900431" y="2438400"/>
          <a:ext cx="8731250" cy="3324215"/>
        </p:xfrm>
        <a:graphic>
          <a:graphicData uri="http://schemas.openxmlformats.org/drawingml/2006/table">
            <a:tbl>
              <a:tblPr/>
              <a:tblGrid>
                <a:gridCol w="2613025">
                  <a:extLst>
                    <a:ext uri="{9D8B030D-6E8A-4147-A177-3AD203B41FA5}">
                      <a16:colId xmlns:a16="http://schemas.microsoft.com/office/drawing/2014/main" val="3415075824"/>
                    </a:ext>
                  </a:extLst>
                </a:gridCol>
                <a:gridCol w="6118225">
                  <a:extLst>
                    <a:ext uri="{9D8B030D-6E8A-4147-A177-3AD203B41FA5}">
                      <a16:colId xmlns:a16="http://schemas.microsoft.com/office/drawing/2014/main" val="1576829961"/>
                    </a:ext>
                  </a:extLst>
                </a:gridCol>
              </a:tblGrid>
              <a:tr h="66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Position on Curve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341341"/>
                  </a:ext>
                </a:extLst>
              </a:tr>
              <a:tr h="66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Top-right corner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Best possible (high precision &amp; recall)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758513"/>
                  </a:ext>
                </a:extLst>
              </a:tr>
              <a:tr h="66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Top-left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Very accurate but finds few relevant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641463"/>
                  </a:ext>
                </a:extLst>
              </a:tr>
              <a:tr h="66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Bottom-right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Finds most relevant but accuracy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408809"/>
                  </a:ext>
                </a:extLst>
              </a:tr>
              <a:tr h="66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Bottom-left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Bad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492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340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40B2FA-F8B5-C1E5-2A53-B6F78E09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F438ED1-2D20-A9EF-A6A6-DD25C156F88B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5DE2ABB-E3D6-2AF5-C660-208B03751D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9C3064-5CBC-90D4-1C34-C30A6E6ACE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B66888AA-886A-AFB5-3E9A-096A6387F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Average Precision (AP)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2CF576-FBF1-E532-3F39-71F48033157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Average Precision</a:t>
            </a:r>
            <a:r>
              <a:rPr lang="en-US" altLang="en-US" dirty="0">
                <a:latin typeface="Arial" panose="020B0604020202020204" pitchFamily="34" charset="0"/>
              </a:rPr>
              <a:t> measures the </a:t>
            </a:r>
            <a:r>
              <a:rPr lang="en-US" altLang="en-US" i="1" dirty="0">
                <a:latin typeface="Arial" panose="020B0604020202020204" pitchFamily="34" charset="0"/>
              </a:rPr>
              <a:t>quality of ranked retrieval results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combines </a:t>
            </a:r>
            <a:r>
              <a:rPr lang="en-US" altLang="en-US" b="1" dirty="0">
                <a:latin typeface="Arial" panose="020B0604020202020204" pitchFamily="34" charset="0"/>
              </a:rPr>
              <a:t>precision at every relevant document position</a:t>
            </a:r>
            <a:r>
              <a:rPr lang="en-US" altLang="en-US" dirty="0">
                <a:latin typeface="Arial" panose="020B0604020202020204" pitchFamily="34" charset="0"/>
              </a:rPr>
              <a:t> in the ranking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rewards systems that </a:t>
            </a:r>
            <a:r>
              <a:rPr lang="en-US" altLang="en-US" b="1" dirty="0">
                <a:latin typeface="Arial" panose="020B0604020202020204" pitchFamily="34" charset="0"/>
              </a:rPr>
              <a:t>retrieve relevant documents earlier</a:t>
            </a:r>
            <a:r>
              <a:rPr lang="en-US" altLang="en-US" dirty="0">
                <a:latin typeface="Arial" panose="020B0604020202020204" pitchFamily="34" charset="0"/>
              </a:rPr>
              <a:t> in the result list</a:t>
            </a:r>
          </a:p>
        </p:txBody>
      </p:sp>
    </p:spTree>
    <p:extLst>
      <p:ext uri="{BB962C8B-B14F-4D97-AF65-F5344CB8AC3E}">
        <p14:creationId xmlns:p14="http://schemas.microsoft.com/office/powerpoint/2010/main" val="2557887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7B23C2-7E73-A7A3-1840-1FCF32F6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BC98DA1-6053-EB8A-ED90-8B8BA61ABA8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0AC54A6-905E-2BD3-9834-9133FA75C4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D4B701-699C-9802-2C14-B2398857044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1726CE1-1C99-5A3A-5255-56842555F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Formula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3EF3813-27AE-46C7-5802-84BB8B8D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800389"/>
            <a:ext cx="8833631" cy="190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41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E4D77C-D568-56D6-EBE2-A899D811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94800E3-A4E1-45C9-2952-D90150CBBF1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4BB81EC-A48F-504A-B731-0A5E6C4579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2407C3-F552-8113-D057-04A1F9E38B0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250DA35-E46E-00BE-4B19-BE8E41CFC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Example Table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5B7246-B409-56F4-0208-147BE4532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243481"/>
              </p:ext>
            </p:extLst>
          </p:nvPr>
        </p:nvGraphicFramePr>
        <p:xfrm>
          <a:off x="2466594" y="1186423"/>
          <a:ext cx="9219438" cy="5325738"/>
        </p:xfrm>
        <a:graphic>
          <a:graphicData uri="http://schemas.openxmlformats.org/drawingml/2006/table">
            <a:tbl>
              <a:tblPr/>
              <a:tblGrid>
                <a:gridCol w="3073146">
                  <a:extLst>
                    <a:ext uri="{9D8B030D-6E8A-4147-A177-3AD203B41FA5}">
                      <a16:colId xmlns:a16="http://schemas.microsoft.com/office/drawing/2014/main" val="3379045503"/>
                    </a:ext>
                  </a:extLst>
                </a:gridCol>
                <a:gridCol w="3073146">
                  <a:extLst>
                    <a:ext uri="{9D8B030D-6E8A-4147-A177-3AD203B41FA5}">
                      <a16:colId xmlns:a16="http://schemas.microsoft.com/office/drawing/2014/main" val="2450210311"/>
                    </a:ext>
                  </a:extLst>
                </a:gridCol>
                <a:gridCol w="3073146">
                  <a:extLst>
                    <a:ext uri="{9D8B030D-6E8A-4147-A177-3AD203B41FA5}">
                      <a16:colId xmlns:a16="http://schemas.microsoft.com/office/drawing/2014/main" val="287597423"/>
                    </a:ext>
                  </a:extLst>
                </a:gridCol>
              </a:tblGrid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Rank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Document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Relevant?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958964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D8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No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45622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2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D2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Yes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451544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3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D3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No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156867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4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D4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Yes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441757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5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D5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Yes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300177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6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D9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No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617319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7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D7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Yes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871378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8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No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028066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9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D6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No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658595"/>
                  </a:ext>
                </a:extLst>
              </a:tr>
              <a:tr h="465458">
                <a:tc>
                  <a:txBody>
                    <a:bodyPr/>
                    <a:lstStyle/>
                    <a:p>
                      <a:r>
                        <a:rPr lang="en-IN" sz="2800"/>
                        <a:t>10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D10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No</a:t>
                      </a:r>
                    </a:p>
                  </a:txBody>
                  <a:tcPr marL="57439" marR="57439" marT="28719" marB="28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803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102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US" b="1" dirty="0"/>
              <a:t>Step 1 — Precision at every relevant document</a:t>
            </a:r>
            <a:br>
              <a:rPr lang="en-US" b="1" dirty="0"/>
            </a:b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Step 1 — Precision at every relevant document</a:t>
            </a:r>
          </a:p>
          <a:p>
            <a:r>
              <a:rPr lang="en-US" dirty="0"/>
              <a:t>We compute </a:t>
            </a:r>
            <a:r>
              <a:rPr lang="en-US" b="1" dirty="0"/>
              <a:t>precision only at ranks where a relevant document appears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7642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Average 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At Rank 2 → Document D2 is relevant</a:t>
            </a:r>
          </a:p>
          <a:p>
            <a:r>
              <a:rPr lang="en-US" dirty="0"/>
              <a:t>Precision = (# relevant up to rank 2) ÷ (rank)</a:t>
            </a:r>
            <a:br>
              <a:rPr lang="en-US" dirty="0"/>
            </a:br>
            <a:r>
              <a:rPr lang="en-US" dirty="0"/>
              <a:t>= 1 / 2 = </a:t>
            </a:r>
            <a:r>
              <a:rPr lang="en-US" b="1" dirty="0"/>
              <a:t>0.5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078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Average 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At Rank 4 → Document D4 is relevant</a:t>
            </a:r>
          </a:p>
          <a:p>
            <a:r>
              <a:rPr lang="en-US" dirty="0"/>
              <a:t>Relevant so far = 2</a:t>
            </a:r>
            <a:br>
              <a:rPr lang="en-US" dirty="0"/>
            </a:br>
            <a:r>
              <a:rPr lang="en-US" dirty="0"/>
              <a:t>Precision = 2 / 4 = </a:t>
            </a:r>
            <a:r>
              <a:rPr lang="en-US" b="1" dirty="0"/>
              <a:t>0.5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04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Average 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At Rank 5 → Document D5 is relevant</a:t>
            </a:r>
          </a:p>
          <a:p>
            <a:r>
              <a:rPr lang="en-US" dirty="0"/>
              <a:t>Relevant so far = 3</a:t>
            </a:r>
            <a:br>
              <a:rPr lang="en-US" dirty="0"/>
            </a:br>
            <a:r>
              <a:rPr lang="en-US" dirty="0"/>
              <a:t>Precision = 3 / 5 = </a:t>
            </a:r>
            <a:r>
              <a:rPr lang="en-US" b="1" dirty="0"/>
              <a:t>0.6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33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Average 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At Rank 7 → Document D7 is relevant</a:t>
            </a:r>
          </a:p>
          <a:p>
            <a:r>
              <a:rPr lang="en-US" dirty="0"/>
              <a:t>Relevant so far = 4</a:t>
            </a:r>
            <a:br>
              <a:rPr lang="en-US" dirty="0"/>
            </a:br>
            <a:r>
              <a:rPr lang="en-US" dirty="0"/>
              <a:t>Precision = 4 / 7 ≈ </a:t>
            </a:r>
            <a:r>
              <a:rPr lang="en-US" b="1" dirty="0"/>
              <a:t>0.571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488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Step 2 — Compute Average Precision (AP)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DC146-D6A5-AC14-6939-3CAD39B47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372703"/>
            <a:ext cx="7164375" cy="433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44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Mean Average Precision (MAP)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MAP</a:t>
            </a:r>
            <a:r>
              <a:rPr lang="en-US" altLang="en-US" dirty="0">
                <a:latin typeface="Arial" panose="020B0604020202020204" pitchFamily="34" charset="0"/>
              </a:rPr>
              <a:t> is the </a:t>
            </a:r>
            <a:r>
              <a:rPr lang="en-US" altLang="en-US" i="1" dirty="0">
                <a:latin typeface="Arial" panose="020B0604020202020204" pitchFamily="34" charset="0"/>
              </a:rPr>
              <a:t>mean of the Average Precision (AP) values</a:t>
            </a:r>
            <a:r>
              <a:rPr lang="en-US" altLang="en-US" dirty="0">
                <a:latin typeface="Arial" panose="020B0604020202020204" pitchFamily="34" charset="0"/>
              </a:rPr>
              <a:t> over multiple queries.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Used when evaluating the performance of an IR system across </a:t>
            </a:r>
            <a:r>
              <a:rPr lang="en-US" altLang="en-US" b="1" dirty="0">
                <a:latin typeface="Arial" panose="020B0604020202020204" pitchFamily="34" charset="0"/>
              </a:rPr>
              <a:t>many search queries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More reliable metric for real-world systems than AP alone.</a:t>
            </a:r>
          </a:p>
        </p:txBody>
      </p:sp>
    </p:spTree>
    <p:extLst>
      <p:ext uri="{BB962C8B-B14F-4D97-AF65-F5344CB8AC3E}">
        <p14:creationId xmlns:p14="http://schemas.microsoft.com/office/powerpoint/2010/main" val="21972626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lang="en-IN"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 Compute MAP across multiple queries - Example Table</a:t>
            </a:r>
            <a:br>
              <a:rPr lang="en-IN" dirty="0"/>
            </a:br>
            <a:endParaRPr lang="en-IN"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B670D-4470-A8CD-18DA-99690CC33AF0}"/>
              </a:ext>
            </a:extLst>
          </p:cNvPr>
          <p:cNvGraphicFramePr>
            <a:graphicFrameLocks noGrp="1"/>
          </p:cNvGraphicFramePr>
          <p:nvPr/>
        </p:nvGraphicFramePr>
        <p:xfrm>
          <a:off x="1730375" y="2802255"/>
          <a:ext cx="8731250" cy="231648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3328979751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3931312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3200" dirty="0"/>
                        <a:t>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29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dirty="0"/>
                        <a:t>apple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0.543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63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banana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0.700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131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fruit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0.400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2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5607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Mean Average Precision (MAP)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EBD18-A7A9-33E7-C5D1-A709CB9FD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585" y="2439660"/>
            <a:ext cx="9763615" cy="324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3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564446-39DF-7C06-F09B-5E47BE2B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B66A964-A7F5-5473-468D-6D02032B692C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173AF3-D34A-FD40-AB3A-7DB129AC7CC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CCB35AF-3D1C-4A74-39F9-50FF74DD122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3F4AF39-AA04-CB07-B9AC-9440775AF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Precision at k (</a:t>
            </a:r>
            <a:r>
              <a:rPr lang="en-US" dirty="0" err="1"/>
              <a:t>P@k</a:t>
            </a:r>
            <a:r>
              <a:rPr lang="en-US" dirty="0"/>
              <a:t>) &amp; 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DB3543-DF2C-F2CE-29AA-93C854C407E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Measures precision among the </a:t>
            </a:r>
            <a:r>
              <a:rPr lang="en-US" altLang="en-US" b="1" dirty="0">
                <a:latin typeface="Arial" panose="020B0604020202020204" pitchFamily="34" charset="0"/>
              </a:rPr>
              <a:t>top k retrieved documents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Important because users usually look only at the </a:t>
            </a:r>
            <a:r>
              <a:rPr lang="en-US" altLang="en-US" b="1" dirty="0">
                <a:latin typeface="Arial" panose="020B0604020202020204" pitchFamily="34" charset="0"/>
              </a:rPr>
              <a:t>first few results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Common values of k: </a:t>
            </a:r>
            <a:r>
              <a:rPr lang="en-US" altLang="en-US" b="1" dirty="0">
                <a:latin typeface="Arial" panose="020B0604020202020204" pitchFamily="34" charset="0"/>
              </a:rPr>
              <a:t>P@5, P@10, P@20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19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A5331F-9E56-3ABA-ABE7-4473446E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BAD0AF1-664F-A3EE-F833-843AD5C9F22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5F5DF71-E543-ED58-EADE-2B63C020E3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C4D2496-96B2-2671-EE2A-89CCF3B3981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E20389E-1B84-EDA2-16E6-2A5D802A3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Precision at k (</a:t>
            </a:r>
            <a:r>
              <a:rPr lang="en-US" dirty="0" err="1"/>
              <a:t>P@k</a:t>
            </a:r>
            <a:r>
              <a:rPr lang="en-US" dirty="0"/>
              <a:t>) &amp; R-Precision - Formula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65B0681-D02B-6F97-70DB-7DBABC3343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/>
                  <a:t>Formula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>
                        <a:latin typeface="Cambria Math" panose="02040503050406030204" pitchFamily="18" charset="0"/>
                      </a:rPr>
                      <m:t>@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/>
                          <m:t>Number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of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relevant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documents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in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top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k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65B0681-D02B-6F97-70DB-7DBABC334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  <a:blipFill>
                <a:blip r:embed="rId3"/>
                <a:stretch>
                  <a:fillRect l="-1704" t="-2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287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2EC4F-034E-E556-4E8B-D9FB080FE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1879D91-B1D9-AC5D-3530-CED90E010A2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28620C3-D150-6F8F-7A46-D84DF3BF8D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80E76D-FE13-9D42-585C-45261F7FBCF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F11EEF0-B90C-04AE-44A8-7FA5AA5BF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Example - Precision at k (</a:t>
            </a:r>
            <a:r>
              <a:rPr lang="en-US" dirty="0" err="1"/>
              <a:t>P@k</a:t>
            </a:r>
            <a:r>
              <a:rPr lang="en-US" dirty="0"/>
              <a:t>) &amp; 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C72777-EA1B-E64C-79D7-5585C1A447AD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 query, the system retrieved first </a:t>
            </a:r>
            <a:r>
              <a:rPr lang="en-US" b="1" dirty="0"/>
              <a:t>10 documents</a:t>
            </a:r>
            <a:r>
              <a:rPr lang="en-US" dirty="0"/>
              <a:t>, and </a:t>
            </a:r>
            <a:r>
              <a:rPr lang="en-US" b="1" dirty="0"/>
              <a:t>6</a:t>
            </a:r>
            <a:r>
              <a:rPr lang="en-US" dirty="0"/>
              <a:t> of them are relevant:</a:t>
            </a:r>
          </a:p>
          <a:p>
            <a:r>
              <a:rPr lang="en-US" dirty="0" err="1"/>
              <a:t>P@k</a:t>
            </a:r>
            <a:r>
              <a:rPr lang="en-US" dirty="0"/>
              <a:t> = 6/10 = 0.6 (60%)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66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7A8746-13AA-5E79-8CCE-BA858C56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9F9D982-11F8-9560-B5A2-21903BCDF84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67B1FA-B2CC-F451-31F7-8D9A7DB68A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268DAC6-6D73-D0DC-0DDD-F59A8D62D9B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09D4DDE-E7A8-B265-7BE0-C1E8D76DF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Why </a:t>
            </a:r>
            <a:r>
              <a:rPr lang="en-US" dirty="0" err="1"/>
              <a:t>P@k</a:t>
            </a:r>
            <a:r>
              <a:rPr lang="en-US" dirty="0"/>
              <a:t> is Useful?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1CDF84-9318-0108-2EB5-0DDD254D1FC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Evaluates </a:t>
            </a:r>
            <a:r>
              <a:rPr lang="en-US" altLang="en-US" b="1" dirty="0">
                <a:latin typeface="Arial" panose="020B0604020202020204" pitchFamily="34" charset="0"/>
              </a:rPr>
              <a:t>ranking quality at the top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Used in search engines, YouTube recommendations, e-commerce</a:t>
            </a:r>
          </a:p>
        </p:txBody>
      </p:sp>
    </p:spTree>
    <p:extLst>
      <p:ext uri="{BB962C8B-B14F-4D97-AF65-F5344CB8AC3E}">
        <p14:creationId xmlns:p14="http://schemas.microsoft.com/office/powerpoint/2010/main" val="2456604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98359A-CC38-6984-CC7E-ACC3191A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8C315FC-1ED2-49C0-58A2-1973B3466C7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80CD25E-D5E0-7D4C-6A02-C894CEBF46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35A7DB-80A1-CC36-A69D-D6BE7538A5C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C17F08C-CB6B-20D1-5978-99DA37B4B5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D8E2FA-6933-A384-C500-60F925207390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Precision calculated at </a:t>
            </a:r>
            <a:r>
              <a:rPr lang="en-US" altLang="en-US" b="1" dirty="0">
                <a:latin typeface="Arial" panose="020B0604020202020204" pitchFamily="34" charset="0"/>
              </a:rPr>
              <a:t>R</a:t>
            </a:r>
            <a:r>
              <a:rPr lang="en-US" altLang="en-US" dirty="0">
                <a:latin typeface="Arial" panose="020B0604020202020204" pitchFamily="34" charset="0"/>
              </a:rPr>
              <a:t>, where </a:t>
            </a:r>
            <a:r>
              <a:rPr lang="en-US" altLang="en-US" b="1" dirty="0">
                <a:latin typeface="Arial" panose="020B0604020202020204" pitchFamily="34" charset="0"/>
              </a:rPr>
              <a:t>R = number of total relevant documents</a:t>
            </a:r>
            <a:r>
              <a:rPr lang="en-US" altLang="en-US" dirty="0">
                <a:latin typeface="Arial" panose="020B0604020202020204" pitchFamily="34" charset="0"/>
              </a:rPr>
              <a:t> in the collection for that query.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Example: If database has </a:t>
            </a:r>
            <a:r>
              <a:rPr lang="en-US" altLang="en-US" b="1" dirty="0">
                <a:latin typeface="Arial" panose="020B0604020202020204" pitchFamily="34" charset="0"/>
              </a:rPr>
              <a:t>20 relevant documents</a:t>
            </a:r>
            <a:r>
              <a:rPr lang="en-US" altLang="en-US" dirty="0">
                <a:latin typeface="Arial" panose="020B0604020202020204" pitchFamily="34" charset="0"/>
              </a:rPr>
              <a:t>, then evaluate precision at rank </a:t>
            </a:r>
            <a:r>
              <a:rPr lang="en-US" altLang="en-US" b="1" dirty="0">
                <a:latin typeface="Arial" panose="020B0604020202020204" pitchFamily="34" charset="0"/>
              </a:rPr>
              <a:t>20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321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994048-C764-0698-1859-DE3CF875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A13068C-3F6B-E963-A6E1-BDB06240965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0F98487-1A93-71CB-318F-AC9DB890D9C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6C7E36A-5199-B2F1-F0F5-1842DBC6F53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727955EF-6C4F-C8D9-76B0-F6BE3FC85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R-Precision </a:t>
            </a:r>
            <a:r>
              <a:rPr lang="en-IN" sz="4400" dirty="0"/>
              <a:t>Formula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53351D6-BA7F-05F4-956B-BD608A6323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55328" y="3415683"/>
                <a:ext cx="10596372" cy="34053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i="1"/>
                      <m:t>−</m:t>
                    </m:r>
                    <m:r>
                      <m:rPr>
                        <m:nor/>
                      </m:rPr>
                      <a:rPr lang="en-IN" i="1"/>
                      <m:t>Precision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/>
                          <m:t>Relevant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documents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retrieved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up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to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rank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53351D6-BA7F-05F4-956B-BD608A6323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28" y="3415683"/>
                <a:ext cx="10596372" cy="340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3506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040A86-B210-5769-929D-184977C0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C121FCA-20DB-90AC-040B-D5E34B03EA3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0FABD57-4F90-000D-206D-3885A7410C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A41EED3-F741-8CC0-09CE-1C606858E9D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298714B-581C-F7B3-E732-E33F03F39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0637A8-0C5D-8213-C52A-FFD8AFD03E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/>
                  <a:t>Example</a:t>
                </a:r>
              </a:p>
              <a:p>
                <a:r>
                  <a:rPr lang="en-IN" dirty="0"/>
                  <a:t>| Total relevant documents (R) | 15 |</a:t>
                </a:r>
                <a:br>
                  <a:rPr lang="en-IN" dirty="0"/>
                </a:br>
                <a:r>
                  <a:rPr lang="en-IN" dirty="0"/>
                  <a:t>| Retrieved relevant documents up to rank 15 | 9 |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i="1"/>
                      <m:t>−</m:t>
                    </m:r>
                    <m:r>
                      <m:rPr>
                        <m:nor/>
                      </m:rPr>
                      <a:rPr lang="en-IN" i="1"/>
                      <m:t>Precision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0637A8-0C5D-8213-C52A-FFD8AFD03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  <a:blipFill>
                <a:blip r:embed="rId3"/>
                <a:stretch>
                  <a:fillRect l="-1704" t="-2326" r="-8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8181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9558BE-8327-53DC-473E-58559FB0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A92929B-CE46-EB6F-2547-44CB764A31A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0048206-B929-3DC8-C218-68228675AF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9685FD-41EE-B9AF-541D-96C7B7850FA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33556B6-D326-BE84-A66F-1CA15301F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Key Difference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D5F7BA-FB04-1D71-941C-23EC8E287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635217"/>
              </p:ext>
            </p:extLst>
          </p:nvPr>
        </p:nvGraphicFramePr>
        <p:xfrm>
          <a:off x="3391279" y="2590800"/>
          <a:ext cx="6400802" cy="311086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200401">
                  <a:extLst>
                    <a:ext uri="{9D8B030D-6E8A-4147-A177-3AD203B41FA5}">
                      <a16:colId xmlns:a16="http://schemas.microsoft.com/office/drawing/2014/main" val="1804822492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498867952"/>
                    </a:ext>
                  </a:extLst>
                </a:gridCol>
              </a:tblGrid>
              <a:tr h="829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087534"/>
                  </a:ext>
                </a:extLst>
              </a:tr>
              <a:tr h="829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 err="1"/>
                        <a:t>P@k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Precision in top k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246799"/>
                  </a:ext>
                </a:extLst>
              </a:tr>
              <a:tr h="145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R-Precision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Precision at total number of relevant docs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16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8446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33B6C6-F980-A205-F49B-E23BBA8F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F69A90E-200B-16CC-1B93-EE8551DE1FF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1CED783-B654-2B47-1928-D3C59D8285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94FA04-A1E8-1F10-0D53-B1F0A0718CA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A01B4C44-C25D-A91A-7B25-EE12D8D0A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Test Collections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4F90E4-E05C-403A-A4B9-5CDB8E68EEF5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A </a:t>
            </a:r>
            <a:r>
              <a:rPr lang="en-US" altLang="en-US" sz="2800" b="1" dirty="0">
                <a:latin typeface="Arial" panose="020B0604020202020204" pitchFamily="34" charset="0"/>
              </a:rPr>
              <a:t>test collection</a:t>
            </a:r>
            <a:r>
              <a:rPr lang="en-US" altLang="en-US" sz="2800" dirty="0">
                <a:latin typeface="Arial" panose="020B0604020202020204" pitchFamily="34" charset="0"/>
              </a:rPr>
              <a:t> is a dataset used to evaluate and compare Information Retrieval systems.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It provides a </a:t>
            </a:r>
            <a:r>
              <a:rPr lang="en-US" altLang="en-US" sz="2800" b="1" dirty="0">
                <a:latin typeface="Arial" panose="020B0604020202020204" pitchFamily="34" charset="0"/>
              </a:rPr>
              <a:t>standardized environment</a:t>
            </a:r>
            <a:r>
              <a:rPr lang="en-US" altLang="en-US" sz="2800" dirty="0">
                <a:latin typeface="Arial" panose="020B0604020202020204" pitchFamily="34" charset="0"/>
              </a:rPr>
              <a:t> for testing.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Contains three main components: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800" b="1" dirty="0">
                <a:latin typeface="Arial" panose="020B0604020202020204" pitchFamily="34" charset="0"/>
              </a:rPr>
              <a:t>Documents</a:t>
            </a:r>
            <a:r>
              <a:rPr lang="en-US" altLang="en-US" sz="2800" dirty="0">
                <a:latin typeface="Arial" panose="020B0604020202020204" pitchFamily="34" charset="0"/>
              </a:rPr>
              <a:t> – the full database to search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800" b="1" dirty="0">
                <a:latin typeface="Arial" panose="020B0604020202020204" pitchFamily="34" charset="0"/>
              </a:rPr>
              <a:t>Queries</a:t>
            </a:r>
            <a:r>
              <a:rPr lang="en-US" altLang="en-US" sz="2800" dirty="0">
                <a:latin typeface="Arial" panose="020B0604020202020204" pitchFamily="34" charset="0"/>
              </a:rPr>
              <a:t> – user requests or search inputs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800" b="1" dirty="0">
                <a:latin typeface="Arial" panose="020B0604020202020204" pitchFamily="34" charset="0"/>
              </a:rPr>
              <a:t>Relevance Judgments</a:t>
            </a:r>
            <a:r>
              <a:rPr lang="en-US" altLang="en-US" sz="2800" dirty="0">
                <a:latin typeface="Arial" panose="020B0604020202020204" pitchFamily="34" charset="0"/>
              </a:rPr>
              <a:t> – specify which documents are relevant to each query</a:t>
            </a:r>
          </a:p>
        </p:txBody>
      </p:sp>
    </p:spTree>
    <p:extLst>
      <p:ext uri="{BB962C8B-B14F-4D97-AF65-F5344CB8AC3E}">
        <p14:creationId xmlns:p14="http://schemas.microsoft.com/office/powerpoint/2010/main" val="11502159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2534B7-553D-93E9-759F-A367B2EB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5DDE072-2258-AF0C-7958-AAFD09F8586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A1AEF1D-496D-D442-778D-FA482A3C05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B22E04D-0ED7-CAFE-B940-36319582460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B6E5E3E-3372-69B8-3478-A62D8286C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Examples of Popular Test Collections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E6B846-B45B-0A80-6F6F-3EB30EEAD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8402"/>
              </p:ext>
            </p:extLst>
          </p:nvPr>
        </p:nvGraphicFramePr>
        <p:xfrm>
          <a:off x="3276601" y="2286000"/>
          <a:ext cx="8229600" cy="3733800"/>
        </p:xfrm>
        <a:graphic>
          <a:graphicData uri="http://schemas.openxmlformats.org/drawingml/2006/table">
            <a:tbl>
              <a:tblPr/>
              <a:tblGrid>
                <a:gridCol w="2319251">
                  <a:extLst>
                    <a:ext uri="{9D8B030D-6E8A-4147-A177-3AD203B41FA5}">
                      <a16:colId xmlns:a16="http://schemas.microsoft.com/office/drawing/2014/main" val="4064330506"/>
                    </a:ext>
                  </a:extLst>
                </a:gridCol>
                <a:gridCol w="5910349">
                  <a:extLst>
                    <a:ext uri="{9D8B030D-6E8A-4147-A177-3AD203B41FA5}">
                      <a16:colId xmlns:a16="http://schemas.microsoft.com/office/drawing/2014/main" val="2412124789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04216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Cranfield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Classic IR test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7240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TREC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Large evaluation conference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80301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CLEF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Cross-language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5365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NTCIR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Asian language 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854435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MS MARCO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Web search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131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1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FA10AC-B9E9-9D53-8D00-F4B40DE3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057AEEC-9C7C-1235-9EC6-895510C08C2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E4B9EF9-B3E4-2DDB-A7E5-3D4AE3C68B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359A336-9A1F-AF55-BC16-3AE57DCA7B5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306E0D1-FC73-418D-09FD-E3F84426D7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What are Relevance Judgments?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276A1B-E5D4-9C8D-C5CF-4A1120652B1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They are the </a:t>
            </a:r>
            <a:r>
              <a:rPr lang="en-US" b="1" dirty="0"/>
              <a:t>“right answers”</a:t>
            </a:r>
            <a:r>
              <a:rPr lang="en-US" dirty="0"/>
              <a:t> in an information retrieval system.</a:t>
            </a:r>
          </a:p>
          <a:p>
            <a:r>
              <a:rPr lang="en-US" dirty="0"/>
              <a:t>Determine whether a document is </a:t>
            </a:r>
            <a:r>
              <a:rPr lang="en-US" b="1" dirty="0"/>
              <a:t>useful for a given query or information need</a:t>
            </a:r>
            <a:r>
              <a:rPr lang="en-US" dirty="0"/>
              <a:t>.</a:t>
            </a:r>
          </a:p>
          <a:p>
            <a:r>
              <a:rPr lang="en-US" b="1" dirty="0"/>
              <a:t>Binary decision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Relevant</a:t>
            </a:r>
            <a:r>
              <a:rPr lang="en-US" dirty="0"/>
              <a:t> → document helps answer the information need</a:t>
            </a:r>
          </a:p>
          <a:p>
            <a:pPr lvl="1"/>
            <a:r>
              <a:rPr lang="en-US" b="1" dirty="0"/>
              <a:t>Not relevant</a:t>
            </a:r>
            <a:r>
              <a:rPr lang="en-US" dirty="0"/>
              <a:t> → document doesn’t help</a:t>
            </a:r>
          </a:p>
          <a:p>
            <a:r>
              <a:rPr lang="en-US" dirty="0"/>
              <a:t>Even if </a:t>
            </a:r>
            <a:r>
              <a:rPr lang="en-US" b="1" dirty="0"/>
              <a:t>a small part</a:t>
            </a:r>
            <a:r>
              <a:rPr lang="en-US" dirty="0"/>
              <a:t> of the document is relevant, the document is considered relevant.</a:t>
            </a:r>
          </a:p>
        </p:txBody>
      </p:sp>
    </p:spTree>
    <p:extLst>
      <p:ext uri="{BB962C8B-B14F-4D97-AF65-F5344CB8AC3E}">
        <p14:creationId xmlns:p14="http://schemas.microsoft.com/office/powerpoint/2010/main" val="28191466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BB5EF4-B1AE-934B-38CE-50E86239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71612A1-B7A4-7302-A9E6-43AFFB92151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F3EB559-A73A-0C15-6825-165709D5B2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BB9B26F-F7BE-8630-EAA4-A274B54E683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8A704B5-6CDC-E15D-3C04-E5D4052CA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US" altLang="en-US" dirty="0">
                <a:latin typeface="Arial" panose="020B0604020202020204" pitchFamily="34" charset="0"/>
              </a:rPr>
              <a:t>Test collection consists of: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4C3520-0BBC-9E26-15A2-38362C44AF7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Document collection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Queries (information needs)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Relevance judgments (</a:t>
            </a:r>
            <a:r>
              <a:rPr lang="en-US" altLang="en-US" dirty="0" err="1">
                <a:latin typeface="Arial" panose="020B0604020202020204" pitchFamily="34" charset="0"/>
              </a:rPr>
              <a:t>Qrels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Must ensure </a:t>
            </a:r>
            <a:r>
              <a:rPr lang="en-US" altLang="en-US" b="1" dirty="0" err="1">
                <a:latin typeface="Arial" panose="020B0604020202020204" pitchFamily="34" charset="0"/>
              </a:rPr>
              <a:t>Qrels</a:t>
            </a:r>
            <a:r>
              <a:rPr lang="en-US" altLang="en-US" b="1" dirty="0">
                <a:latin typeface="Arial" panose="020B0604020202020204" pitchFamily="34" charset="0"/>
              </a:rPr>
              <a:t> match the document collection</a:t>
            </a:r>
            <a:r>
              <a:rPr lang="en-US" altLang="en-US" dirty="0">
                <a:latin typeface="Arial" panose="020B0604020202020204" pitchFamily="34" charset="0"/>
              </a:rPr>
              <a:t> when testing retrieval results.</a:t>
            </a:r>
          </a:p>
        </p:txBody>
      </p:sp>
    </p:spTree>
    <p:extLst>
      <p:ext uri="{BB962C8B-B14F-4D97-AF65-F5344CB8AC3E}">
        <p14:creationId xmlns:p14="http://schemas.microsoft.com/office/powerpoint/2010/main" val="21581801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CDD603-EC5C-0026-9622-179CE003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243839E-1A3A-5198-4A5B-73C861ADBE77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64C419C-93F8-58D9-30AF-6DA2C6D829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E5ED7D-9232-6E6E-7636-1070AED1C42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6F9873F-027C-9EA2-E74E-FC0860451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How Relevance Judgments Are Made – Pooling Technique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86E7A05-0422-4468-A55C-D7C832BA812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1. Pooling Technique</a:t>
            </a:r>
          </a:p>
          <a:p>
            <a:r>
              <a:rPr lang="en-US" dirty="0"/>
              <a:t>Used to decide </a:t>
            </a:r>
            <a:r>
              <a:rPr lang="en-US" b="1" dirty="0"/>
              <a:t>which documents to judge</a:t>
            </a:r>
            <a:r>
              <a:rPr lang="en-US" dirty="0"/>
              <a:t> for relevance in large collections.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Run multiple IR systems on the same query.</a:t>
            </a:r>
          </a:p>
          <a:p>
            <a:pPr lvl="1"/>
            <a:r>
              <a:rPr lang="en-US" dirty="0"/>
              <a:t>Take the </a:t>
            </a:r>
            <a:r>
              <a:rPr lang="en-US" b="1" dirty="0"/>
              <a:t>top results from each system</a:t>
            </a:r>
            <a:r>
              <a:rPr lang="en-US" dirty="0"/>
              <a:t> and combine them into a “pool.”</a:t>
            </a:r>
          </a:p>
          <a:p>
            <a:pPr lvl="1"/>
            <a:r>
              <a:rPr lang="en-US" dirty="0"/>
              <a:t>Human judges examine only these pooled documents.</a:t>
            </a:r>
          </a:p>
          <a:p>
            <a:r>
              <a:rPr lang="en-US" dirty="0"/>
              <a:t>This ensures </a:t>
            </a:r>
            <a:r>
              <a:rPr lang="en-US" b="1" dirty="0"/>
              <a:t>most of the relevant documents are likely included</a:t>
            </a:r>
            <a:r>
              <a:rPr lang="en-US" dirty="0"/>
              <a:t>, without judging the entire collection.</a:t>
            </a:r>
          </a:p>
        </p:txBody>
      </p:sp>
    </p:spTree>
    <p:extLst>
      <p:ext uri="{BB962C8B-B14F-4D97-AF65-F5344CB8AC3E}">
        <p14:creationId xmlns:p14="http://schemas.microsoft.com/office/powerpoint/2010/main" val="5522662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909843-65D2-9D83-9896-A8A2F80D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68E8C44-0510-01D6-9AA5-53FBEA3CF66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3C31EA3-4E22-89C1-0DBD-81812F495E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94DC1F-1C2E-5892-B1F6-D93D412D25F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101386C-72C0-72EF-FF75-11F3AEA40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How Relevance Judgments Are Made – Pooling Technique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122201-C04E-A23B-008A-25C44A2EBAE9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2. Completeness</a:t>
            </a:r>
          </a:p>
          <a:p>
            <a:r>
              <a:rPr lang="en-US" dirty="0"/>
              <a:t>The relevance judgments are considered </a:t>
            </a:r>
            <a:r>
              <a:rPr lang="en-US" b="1" dirty="0"/>
              <a:t>“complete”</a:t>
            </a:r>
            <a:r>
              <a:rPr lang="en-US" dirty="0"/>
              <a:t> for that particular set of documents.</a:t>
            </a:r>
          </a:p>
          <a:p>
            <a:r>
              <a:rPr lang="en-US" dirty="0"/>
              <a:t>“Complete” means </a:t>
            </a:r>
            <a:r>
              <a:rPr lang="en-US" b="1" dirty="0"/>
              <a:t>enough results have been judged</a:t>
            </a:r>
            <a:r>
              <a:rPr lang="en-US" dirty="0"/>
              <a:t> so that most relevant documents have been found.</a:t>
            </a:r>
          </a:p>
        </p:txBody>
      </p:sp>
    </p:spTree>
    <p:extLst>
      <p:ext uri="{BB962C8B-B14F-4D97-AF65-F5344CB8AC3E}">
        <p14:creationId xmlns:p14="http://schemas.microsoft.com/office/powerpoint/2010/main" val="40171038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Relevance judgment pooling in IR evaluation | Download Scientific Diagram">
            <a:extLst>
              <a:ext uri="{FF2B5EF4-FFF2-40B4-BE49-F238E27FC236}">
                <a16:creationId xmlns:a16="http://schemas.microsoft.com/office/drawing/2014/main" id="{D3A5715F-4170-E3DF-30CF-AD37C069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"/>
            <a:ext cx="9601200" cy="604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921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Examples of three levels of relevance | Download Scientific Diagram">
            <a:extLst>
              <a:ext uri="{FF2B5EF4-FFF2-40B4-BE49-F238E27FC236}">
                <a16:creationId xmlns:a16="http://schemas.microsoft.com/office/drawing/2014/main" id="{3B9894F2-1A88-127D-23AE-BBD074098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11552254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1914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9B7CF5-F5E1-E8B8-74C1-9A630E6E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D4F701F-6010-7845-1D5C-0802A38E700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4D978C-CE0D-DBB4-6963-0084DFB233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E75001-C1C1-F705-6E44-4880E940A3E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CBD3B8C0-0F63-A966-07F1-FD0B47C3D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Experimental Design in IR Evaluation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E480E7-3B08-986F-D154-CFBCDCB41FE8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</a:t>
            </a:r>
            <a:r>
              <a:rPr lang="en-US" b="1" dirty="0"/>
              <a:t>compare IR systems fairly</a:t>
            </a:r>
            <a:r>
              <a:rPr lang="en-US" dirty="0"/>
              <a:t> and understand if observed differences are meaningful.</a:t>
            </a:r>
          </a:p>
          <a:p>
            <a:r>
              <a:rPr lang="en-US" dirty="0"/>
              <a:t>1. Separate Development and Test Sets</a:t>
            </a:r>
          </a:p>
          <a:p>
            <a:r>
              <a:rPr lang="en-US" dirty="0"/>
              <a:t>2. </a:t>
            </a:r>
            <a:r>
              <a:rPr lang="en-IN" dirty="0"/>
              <a:t>Random Sampling of Queries</a:t>
            </a:r>
            <a:endParaRPr lang="en-US" dirty="0"/>
          </a:p>
          <a:p>
            <a:r>
              <a:rPr lang="en-US" dirty="0"/>
              <a:t>3. R</a:t>
            </a:r>
            <a:r>
              <a:rPr lang="en-IN" dirty="0" err="1"/>
              <a:t>epeated</a:t>
            </a:r>
            <a:r>
              <a:rPr lang="en-IN" dirty="0"/>
              <a:t> Experiments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955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C38C0-B539-0C0D-07DE-AED4A486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B57B43-C12F-E5F8-5809-59E59CB2BE8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F3822E-5F53-F239-C1AD-25057F2039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5D1608-FD72-9AE5-7F84-0AEB992264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1F98D763-445A-4968-3DCF-1BF6FBEB8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Significance Testing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47E65-865F-6275-E134-C57D690D85D2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determine if </a:t>
            </a:r>
            <a:r>
              <a:rPr lang="en-US" altLang="en-US" b="1" dirty="0">
                <a:latin typeface="Arial" panose="020B0604020202020204" pitchFamily="34" charset="0"/>
              </a:rPr>
              <a:t>differences in performance metrics</a:t>
            </a:r>
            <a:r>
              <a:rPr lang="en-US" altLang="en-US" dirty="0">
                <a:latin typeface="Arial" panose="020B0604020202020204" pitchFamily="34" charset="0"/>
              </a:rPr>
              <a:t> (precision, recall, MAP) between systems are </a:t>
            </a:r>
            <a:r>
              <a:rPr lang="en-US" altLang="en-US" b="1" dirty="0">
                <a:latin typeface="Arial" panose="020B0604020202020204" pitchFamily="34" charset="0"/>
              </a:rPr>
              <a:t>statistically meaningful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Avoid drawing conclusions from </a:t>
            </a:r>
            <a:r>
              <a:rPr lang="en-US" altLang="en-US" b="1" dirty="0">
                <a:latin typeface="Arial" panose="020B0604020202020204" pitchFamily="34" charset="0"/>
              </a:rPr>
              <a:t>random variations</a:t>
            </a:r>
            <a:r>
              <a:rPr lang="en-US" altLang="en-US" dirty="0">
                <a:latin typeface="Arial" panose="020B0604020202020204" pitchFamily="34" charset="0"/>
              </a:rPr>
              <a:t> in results.</a:t>
            </a:r>
          </a:p>
        </p:txBody>
      </p:sp>
    </p:spTree>
    <p:extLst>
      <p:ext uri="{BB962C8B-B14F-4D97-AF65-F5344CB8AC3E}">
        <p14:creationId xmlns:p14="http://schemas.microsoft.com/office/powerpoint/2010/main" val="15293447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A8C075-61BC-C6E8-F2DF-81597A055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FF729E8-6E87-3BF6-5DFB-93DBFA85940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6D0B1B7-580A-D6AE-32C8-7CCE89BCAC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E41C5C-B733-13FE-36FD-5DF76406D52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756CE76-A7A7-C3DE-E141-C5E9B43399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Common Tests </a:t>
            </a:r>
            <a:r>
              <a:rPr lang="en-IN" dirty="0"/>
              <a:t>Significance Testing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61002-225A-7C80-D854-3A699497AD4A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t-test</a:t>
            </a:r>
            <a:r>
              <a:rPr lang="en-US" dirty="0"/>
              <a:t>: Compare mean performance of two systems.</a:t>
            </a:r>
          </a:p>
          <a:p>
            <a:r>
              <a:rPr lang="en-US" b="1" dirty="0"/>
              <a:t>Wilcoxon signed-rank test</a:t>
            </a:r>
            <a:r>
              <a:rPr lang="en-US" dirty="0"/>
              <a:t>: Non-parametric alternative for paired comparisons.</a:t>
            </a:r>
          </a:p>
          <a:p>
            <a:r>
              <a:rPr lang="en-US" b="1" dirty="0"/>
              <a:t>ANOVA</a:t>
            </a:r>
            <a:r>
              <a:rPr lang="en-US" dirty="0"/>
              <a:t>: Compare multiple systems </a:t>
            </a:r>
            <a:r>
              <a:rPr lang="en-IN" dirty="0"/>
              <a:t>simultaneously.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796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 dirty="0"/>
          </a:p>
        </p:txBody>
      </p:sp>
      <p:sp>
        <p:nvSpPr>
          <p:cNvPr id="9" name="object 8" descr="$PPTXTitle">
            <a:extLst>
              <a:ext uri="{FF2B5EF4-FFF2-40B4-BE49-F238E27FC236}">
                <a16:creationId xmlns:a16="http://schemas.microsoft.com/office/drawing/2014/main" id="{FF7DBD81-81E4-5217-8D20-821728DE217F}"/>
              </a:ext>
            </a:extLst>
          </p:cNvPr>
          <p:cNvSpPr txBox="1">
            <a:spLocks/>
          </p:cNvSpPr>
          <p:nvPr/>
        </p:nvSpPr>
        <p:spPr>
          <a:xfrm>
            <a:off x="5093646" y="4068088"/>
            <a:ext cx="639172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“If spelling errors cause mismatches and confusion in search, what can an IR system do to still understand the user’s intended word?”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2559</TotalTime>
  <Words>1932</Words>
  <Application>Microsoft Office PowerPoint</Application>
  <PresentationFormat>Widescreen</PresentationFormat>
  <Paragraphs>319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Aptos</vt:lpstr>
      <vt:lpstr>Arial</vt:lpstr>
      <vt:lpstr>Calibri</vt:lpstr>
      <vt:lpstr>Cambria</vt:lpstr>
      <vt:lpstr>Cambria Math</vt:lpstr>
      <vt:lpstr>Segoe UI</vt:lpstr>
      <vt:lpstr>Office Theme</vt:lpstr>
      <vt:lpstr>Information Retrieval                    Chapter 5: Performance Evaluation in                           Information Retrieval                   TY B.Sc. (CS) </vt:lpstr>
      <vt:lpstr>1 Topics:</vt:lpstr>
      <vt:lpstr>2 Why Do We Evaluate IR Systems?</vt:lpstr>
      <vt:lpstr>PowerPoint Presentation</vt:lpstr>
      <vt:lpstr>What We Measure?</vt:lpstr>
      <vt:lpstr> Measuring Effectiveness of IR Systems</vt:lpstr>
      <vt:lpstr>3 Precision</vt:lpstr>
      <vt:lpstr>Formula: "Precision"="Relevant Documents Retrieved" /"Total Documents Retrieved"  </vt:lpstr>
      <vt:lpstr>PowerPoint Presentation</vt:lpstr>
      <vt:lpstr>3 Recall </vt:lpstr>
      <vt:lpstr>Formula "Recall"="Relevant Documents Retrieved" /"Total Relevant Documents in the Collection"  </vt:lpstr>
      <vt:lpstr>3 Find All the Relevant Papers</vt:lpstr>
      <vt:lpstr>3 Find All the Relevant Papers(A)</vt:lpstr>
      <vt:lpstr>PowerPoint Presentation</vt:lpstr>
      <vt:lpstr>PowerPoint Presentation</vt:lpstr>
      <vt:lpstr>4 Example to Show Difference</vt:lpstr>
      <vt:lpstr>4 Mini Exercise: Calculating Precision &amp; Recall Scenario:</vt:lpstr>
      <vt:lpstr>5 F1 Score</vt:lpstr>
      <vt:lpstr>Formula F1=2×("Precision" ×"Recall" )/("Precision" +"Recall" )</vt:lpstr>
      <vt:lpstr>6 Mini Activity</vt:lpstr>
      <vt:lpstr>7 How Do We Know Which Documents Are Relevant?</vt:lpstr>
      <vt:lpstr>7 Ground Truth</vt:lpstr>
      <vt:lpstr>8  Precision–Recall Trade-off</vt:lpstr>
      <vt:lpstr>10 Example Scenario</vt:lpstr>
      <vt:lpstr>PowerPoint Presentation</vt:lpstr>
      <vt:lpstr>9 Real-Life Example</vt:lpstr>
      <vt:lpstr>9 Quick Activity</vt:lpstr>
      <vt:lpstr>11 Precision–Recall Curve</vt:lpstr>
      <vt:lpstr>PowerPoint Presentation</vt:lpstr>
      <vt:lpstr>14  Graph Explanation</vt:lpstr>
      <vt:lpstr>15  Average Precision (AP)</vt:lpstr>
      <vt:lpstr>15  Formula</vt:lpstr>
      <vt:lpstr>15  Example Table</vt:lpstr>
      <vt:lpstr>15  Step 1 — Precision at every relevant document </vt:lpstr>
      <vt:lpstr>15  Average Precision</vt:lpstr>
      <vt:lpstr>15  Average Precision</vt:lpstr>
      <vt:lpstr>15  Average Precision</vt:lpstr>
      <vt:lpstr>15  Average Precision</vt:lpstr>
      <vt:lpstr>15  Step 2 — Compute Average Precision (AP)</vt:lpstr>
      <vt:lpstr>15  Mean Average Precision (MAP)</vt:lpstr>
      <vt:lpstr>15  Compute MAP across multiple queries - Example Table </vt:lpstr>
      <vt:lpstr>15  Mean Average Precision (MAP)</vt:lpstr>
      <vt:lpstr>15  Precision at k (P@k) &amp; R-Precision</vt:lpstr>
      <vt:lpstr>15  Precision at k (P@k) &amp; R-Precision - Formula</vt:lpstr>
      <vt:lpstr>15  Example - Precision at k (P@k) &amp; R-Precision</vt:lpstr>
      <vt:lpstr>15  Why P@k is Useful?</vt:lpstr>
      <vt:lpstr>15  R-Precision</vt:lpstr>
      <vt:lpstr>15  R-Precision Formula</vt:lpstr>
      <vt:lpstr>15  R-Precision</vt:lpstr>
      <vt:lpstr>15  Key Difference</vt:lpstr>
      <vt:lpstr>15  Test Collections</vt:lpstr>
      <vt:lpstr>15  Examples of Popular Test Collections</vt:lpstr>
      <vt:lpstr>15  What are Relevance Judgments?</vt:lpstr>
      <vt:lpstr>15  Test collection consists of:</vt:lpstr>
      <vt:lpstr>15  How Relevance Judgments Are Made – Pooling Technique</vt:lpstr>
      <vt:lpstr>15  How Relevance Judgments Are Made – Pooling Technique</vt:lpstr>
      <vt:lpstr>PowerPoint Presentation</vt:lpstr>
      <vt:lpstr>PowerPoint Presentation</vt:lpstr>
      <vt:lpstr>15  Experimental Design in IR Evaluation</vt:lpstr>
      <vt:lpstr>15  Significance Testing</vt:lpstr>
      <vt:lpstr>15  Common Tests Significance Testing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LENOVO</cp:lastModifiedBy>
  <cp:revision>56</cp:revision>
  <dcterms:created xsi:type="dcterms:W3CDTF">2025-11-04T17:06:10Z</dcterms:created>
  <dcterms:modified xsi:type="dcterms:W3CDTF">2025-12-11T07:25:22Z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