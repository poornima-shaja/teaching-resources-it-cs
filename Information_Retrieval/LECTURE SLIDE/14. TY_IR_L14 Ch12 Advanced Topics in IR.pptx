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9"/>
    <p:sldId id="283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Topics in 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t>Text Summarization, Question Answering, and Recommender Systems</a:t>
            </a:r>
          </a:p>
          <a:p>
            <a:r>
              <a:t>Based on Manning, Raghavan &amp; Schütze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Summarization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summarization creates a concise version of a document.</a:t>
            </a:r>
          </a:p>
          <a:p>
            <a:pPr lvl="1"/>
            <a:r>
              <a:t>It preserves key information while removing redundancy.</a:t>
            </a:r>
          </a:p>
          <a:p>
            <a:pPr lvl="1"/>
            <a:r>
              <a:t>Commonly used in search engine snippets and news summaries.</a:t>
            </a:r>
          </a:p>
          <a:p>
            <a:pPr lvl="1"/>
            <a:r>
              <a:t>Improves user experience in IR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Summarization is Important in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IR systems retrieve many documents for a query.</a:t>
            </a:r>
          </a:p>
          <a:p>
            <a:pPr lvl="1"/>
            <a:r>
              <a:rPr dirty="0"/>
              <a:t>Users need quick understanding of relevance.</a:t>
            </a:r>
          </a:p>
          <a:p>
            <a:pPr lvl="1"/>
            <a:r>
              <a:rPr dirty="0"/>
              <a:t>Summaries help users decide which document to open.</a:t>
            </a:r>
          </a:p>
          <a:p>
            <a:pPr lvl="1"/>
            <a:r>
              <a:rPr dirty="0"/>
              <a:t>Closely connected to ranking and term weighting concepts</a:t>
            </a:r>
            <a:r>
              <a:rPr lang="en-IN" dirty="0"/>
              <a:t> and Sentence Position Feature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Extractive Summarization – selects important sentences.</a:t>
            </a:r>
          </a:p>
          <a:p>
            <a:pPr lvl="1"/>
            <a:r>
              <a:t>Abstractive Summarization – generates new sentences.</a:t>
            </a:r>
          </a:p>
          <a:p>
            <a:pPr lvl="1"/>
            <a:r>
              <a:t>Both aim to present essential information clearly.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Extractive Summarization –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 each sentence as a small document.</a:t>
            </a:r>
          </a:p>
          <a:p>
            <a:pPr lvl="1"/>
            <a:r>
              <a:t>Score sentences using TF or TF-IDF.</a:t>
            </a:r>
          </a:p>
          <a:p>
            <a:pPr lvl="1"/>
            <a:r>
              <a:t>Rank sentences and select top ones.</a:t>
            </a:r>
          </a:p>
          <a:p>
            <a:pPr lvl="1"/>
            <a:r>
              <a:t>Strongly connected to vector space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Sentence Scoring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Term Frequency (TF) – frequent terms indicate importance.</a:t>
            </a:r>
          </a:p>
          <a:p>
            <a:pPr lvl="1"/>
            <a:r>
              <a:t>TF-IDF – emphasizes rare but meaningful terms.</a:t>
            </a:r>
          </a:p>
          <a:p>
            <a:pPr lvl="1"/>
            <a:r>
              <a:t>Sentence position – opening sentences often important.</a:t>
            </a:r>
          </a:p>
          <a:p>
            <a:pPr lvl="1"/>
            <a:r>
              <a:t>Query-based summaries focus on user query terms.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Abstractive Summarization –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new sentences expressing the core idea.</a:t>
            </a:r>
          </a:p>
          <a:p>
            <a:pPr lvl="1"/>
            <a:r>
              <a:t>Requires understanding of context and meaning.</a:t>
            </a:r>
          </a:p>
          <a:p>
            <a:pPr lvl="1"/>
            <a:r>
              <a:t>Uses neural networks and transformer models.</a:t>
            </a:r>
          </a:p>
          <a:p>
            <a:pPr lvl="1"/>
            <a:r>
              <a:t>Produces more natural and human-like summaries.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F7CD-6E7C-02F7-2CB2-3AD96D32F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83362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Ticket expensive (0), partner can't go (0): (0*4) + (0*3) = 0. You don't go.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Ticket cheap (1), partner can't go (0): (1*4) + (0*3) = 4.You go.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Ticket expensive (0), partner can go (1): (0*4) + (1*3) = 3. You don't go.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Ticket cheap (1), partner can go (1): (1*4) + (1*3) = 7. You go.</a:t>
            </a:r>
            <a:br>
              <a:rPr lang="en-US" sz="3200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77023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812A-2BFD-E6DF-034A-F8B8EF7E5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Extractive vs Abstractive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B17D67-AB87-E146-7B18-4713E2CAE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50386"/>
              </p:ext>
            </p:extLst>
          </p:nvPr>
        </p:nvGraphicFramePr>
        <p:xfrm>
          <a:off x="457200" y="1769533"/>
          <a:ext cx="8229600" cy="300805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03065104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312795364"/>
                    </a:ext>
                  </a:extLst>
                </a:gridCol>
              </a:tblGrid>
              <a:tr h="601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Extractive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Abstractive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756961"/>
                  </a:ext>
                </a:extLst>
              </a:tr>
              <a:tr h="601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Select sentences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Generate new sentences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645865"/>
                  </a:ext>
                </a:extLst>
              </a:tr>
              <a:tr h="601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Based on ranking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Based on language understanding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786074"/>
                  </a:ext>
                </a:extLst>
              </a:tr>
              <a:tr h="601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Easier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More complex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223158"/>
                  </a:ext>
                </a:extLst>
              </a:tr>
              <a:tr h="601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Traditional 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Modern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002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86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of Summaries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ROUGE metric compares system summary with human summary.</a:t>
            </a:r>
          </a:p>
          <a:p>
            <a:pPr lvl="1"/>
            <a:r>
              <a:rPr dirty="0"/>
              <a:t>Based on n-gram overlap (precision &amp; recall).</a:t>
            </a:r>
          </a:p>
          <a:p>
            <a:pPr lvl="1"/>
            <a:r>
              <a:rPr dirty="0"/>
              <a:t>Human evaluation checks coherence and readability.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Answering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QA systems provide precise answers to natural language questions.</a:t>
            </a:r>
          </a:p>
          <a:p>
            <a:pPr lvl="1"/>
            <a:r>
              <a:t>Unlike traditional IR, they return exact responses.</a:t>
            </a:r>
          </a:p>
          <a:p>
            <a:pPr lvl="1"/>
            <a:r>
              <a:t>Example: 'Who invented the telephone?' → 'Alexander Graham Bell.'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 vs Traditional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IR returns ranked documents.</a:t>
            </a:r>
          </a:p>
          <a:p>
            <a:pPr lvl="1"/>
            <a:r>
              <a:t>QA extracts specific answers from retrieved documents.</a:t>
            </a:r>
          </a:p>
          <a:p>
            <a:pPr lvl="1"/>
            <a:r>
              <a:t>QA combines IR techniques with Natural Language Processing.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Questions in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Factoid – short factual answers (who, when, where).</a:t>
            </a:r>
            <a:endParaRPr lang="en-IN" dirty="0"/>
          </a:p>
          <a:p>
            <a:r>
              <a:rPr dirty="0"/>
              <a:t>List – multiple items as answer</a:t>
            </a:r>
            <a:r>
              <a:rPr lang="en-IN" dirty="0"/>
              <a:t>.</a:t>
            </a:r>
          </a:p>
          <a:p>
            <a:r>
              <a:rPr lang="en-IN" dirty="0"/>
              <a:t>Descriptive – longer explanatory answers.</a:t>
            </a:r>
          </a:p>
          <a:p>
            <a:pPr marL="457200" lvl="1" indent="0">
              <a:buNone/>
            </a:pPr>
            <a:r>
              <a:rPr lang="en-IN" dirty="0"/>
              <a:t>List Questions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of a QA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Question Processing</a:t>
            </a:r>
          </a:p>
          <a:p>
            <a:pPr lvl="1"/>
            <a:r>
              <a:rPr dirty="0"/>
              <a:t>2. Document Retrieval</a:t>
            </a:r>
          </a:p>
          <a:p>
            <a:pPr lvl="1"/>
            <a:r>
              <a:rPr dirty="0"/>
              <a:t>3. Passage Selection</a:t>
            </a:r>
          </a:p>
          <a:p>
            <a:pPr lvl="1"/>
            <a:r>
              <a:rPr dirty="0"/>
              <a:t>4. Answer Extraction</a:t>
            </a:r>
          </a:p>
          <a:p>
            <a:pPr lvl="1"/>
            <a:r>
              <a:rPr dirty="0"/>
              <a:t>5. Answer Ranking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Identifies question type and expected answer type.</a:t>
            </a:r>
          </a:p>
          <a:p>
            <a:pPr lvl="1"/>
            <a:r>
              <a:rPr dirty="0"/>
              <a:t>Uses NLP methods such as POS tagging and NER.</a:t>
            </a:r>
          </a:p>
          <a:p>
            <a:pPr lvl="1"/>
            <a:r>
              <a:rPr dirty="0"/>
              <a:t>Determines whether answer should be person, date, location, etc.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Extraction and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 candidate answers from relevant passages.</a:t>
            </a:r>
          </a:p>
          <a:p>
            <a:pPr lvl="1"/>
            <a:r>
              <a:t>Use pattern matching or deep learning models.</a:t>
            </a:r>
          </a:p>
          <a:p>
            <a:pPr lvl="1"/>
            <a:r>
              <a:t>Rank answers based on confidence and relevance score.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of QA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 – percentage of correct answers.</a:t>
            </a:r>
          </a:p>
          <a:p>
            <a:pPr lvl="1"/>
            <a:r>
              <a:rPr dirty="0"/>
              <a:t>Mean Reciprocal Rank (MRR).</a:t>
            </a:r>
          </a:p>
          <a:p>
            <a:pPr lvl="1"/>
            <a:r>
              <a:rPr dirty="0"/>
              <a:t>Precision and Recall for list-type questions.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Recommender Systems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Recommender systems suggest items based on user preferences.</a:t>
            </a:r>
          </a:p>
          <a:p>
            <a:pPr lvl="1"/>
            <a:r>
              <a:t>Examples: Netflix, Amazon, YouTube.</a:t>
            </a:r>
          </a:p>
          <a:p>
            <a:pPr lvl="1"/>
            <a:r>
              <a:t>They solve the problem of information overload.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Recommender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Collaborative Filtering – based on user behavior.</a:t>
            </a:r>
            <a:endParaRPr lang="en-IN" dirty="0"/>
          </a:p>
          <a:p>
            <a:r>
              <a:rPr dirty="0"/>
              <a:t>Content-Based Filtering – based on item features.</a:t>
            </a:r>
            <a:endParaRPr lang="en-IN" dirty="0"/>
          </a:p>
          <a:p>
            <a:r>
              <a:rPr dirty="0"/>
              <a:t>Hybrid Systems – combination of both approaches.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Collaborative Filtering –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with similar preferences behave similarly.</a:t>
            </a:r>
          </a:p>
          <a:p>
            <a:pPr lvl="1"/>
            <a:r>
              <a:t>Uses a user-item rating matrix.</a:t>
            </a:r>
          </a:p>
          <a:p>
            <a:pPr lvl="1"/>
            <a:r>
              <a:t>Predicts missing ratings using similarity measures.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1. </a:t>
            </a:r>
            <a:r>
              <a:rPr dirty="0"/>
              <a:t>User-Based Collaborative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 users similar to target user.</a:t>
            </a:r>
          </a:p>
          <a:p>
            <a:pPr lvl="1"/>
            <a:r>
              <a:t>Recommend items liked by similar users.</a:t>
            </a:r>
          </a:p>
          <a:p>
            <a:pPr lvl="1"/>
            <a:r>
              <a:t>Uses cosine similarity or correlation measures.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Item-Based Collaborative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 items similar to items already liked by user.</a:t>
            </a:r>
          </a:p>
          <a:p>
            <a:pPr lvl="1"/>
            <a:r>
              <a:t>More scalable for large datasets.</a:t>
            </a:r>
          </a:p>
          <a:p>
            <a:pPr lvl="1"/>
            <a:r>
              <a:t>Widely used in commercial systems.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Challenges in Collaborative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Cold Start Problem – new users/items lack data.</a:t>
            </a:r>
            <a:endParaRPr lang="en-IN" dirty="0"/>
          </a:p>
          <a:p>
            <a:r>
              <a:rPr dirty="0"/>
              <a:t>Sparsity – most ratings are missing.</a:t>
            </a:r>
            <a:endParaRPr lang="en-IN" dirty="0"/>
          </a:p>
          <a:p>
            <a:r>
              <a:rPr dirty="0"/>
              <a:t>Scalability issues with very large datasets.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Content-Based Filtering –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user profile from previously liked items.</a:t>
            </a:r>
          </a:p>
          <a:p>
            <a:pPr lvl="1"/>
            <a:r>
              <a:t>Represent items using features (keywords, genres).</a:t>
            </a:r>
          </a:p>
          <a:p>
            <a:pPr lvl="1"/>
            <a:r>
              <a:t>Recommend items similar to user profile using similarity measures.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Collaborative vs Content-Based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Collaborative uses community data</a:t>
            </a:r>
            <a:r>
              <a:rPr lang="en-IN" dirty="0"/>
              <a:t>.</a:t>
            </a:r>
          </a:p>
          <a:p>
            <a:r>
              <a:rPr dirty="0"/>
              <a:t>Content-based relies on item characteristics.</a:t>
            </a:r>
            <a:endParaRPr lang="en-IN" dirty="0"/>
          </a:p>
          <a:p>
            <a:r>
              <a:rPr dirty="0"/>
              <a:t>Hybrid systems combine strengths of both.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Evaluation of Recommender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Mean Absolute Error (MAE).</a:t>
            </a:r>
            <a:endParaRPr lang="en-IN" dirty="0"/>
          </a:p>
          <a:p>
            <a:r>
              <a:rPr dirty="0"/>
              <a:t>Root Mean Square Error (RMSE).</a:t>
            </a:r>
            <a:endParaRPr lang="en-IN"/>
          </a:p>
          <a:p>
            <a:r>
              <a:t>Precision </a:t>
            </a:r>
            <a:r>
              <a:rPr dirty="0"/>
              <a:t>and Recall for Top-K recommendations.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IR systems extend beyond document retrieval.</a:t>
            </a:r>
          </a:p>
          <a:p>
            <a:pPr lvl="1"/>
            <a:r>
              <a:t>Summarization improves readability.</a:t>
            </a:r>
          </a:p>
          <a:p>
            <a:pPr lvl="1"/>
            <a:r>
              <a:t>QA provides precise answers.</a:t>
            </a:r>
          </a:p>
          <a:p>
            <a:pPr lvl="1"/>
            <a:r>
              <a:t>Recommender systems personalize information access.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855</Words>
  <Application>Microsoft Office PowerPoint</Application>
  <PresentationFormat>On-screen Show (4:3)</PresentationFormat>
  <Paragraphs>120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Advanced Topics in Information Retrieval</vt:lpstr>
      <vt:lpstr>Text Summarization – Introduction</vt:lpstr>
      <vt:lpstr>Why Summarization is Important in IR</vt:lpstr>
      <vt:lpstr>Types of Summarization</vt:lpstr>
      <vt:lpstr>Extractive Summarization – Explanation</vt:lpstr>
      <vt:lpstr>Sentence Scoring Techniques</vt:lpstr>
      <vt:lpstr>Abstractive Summarization – Explanation</vt:lpstr>
      <vt:lpstr>Ticket expensive (0), partner can't go (0): (0*4) + (0*3) = 0. You don't go.  Ticket cheap (1), partner can't go (0): (1*4) + (0*3) = 4.You go.  Ticket expensive (0), partner can go (1): (0*4) + (1*3) = 3. You don't go.  Ticket cheap (1), partner can go (1): (1*4) + (1*3) = 7. You go. </vt:lpstr>
      <vt:lpstr>Extractive vs Abstractive</vt:lpstr>
      <vt:lpstr>Evaluation of Summaries</vt:lpstr>
      <vt:lpstr>Question Answering – Introduction</vt:lpstr>
      <vt:lpstr>QA vs Traditional IR</vt:lpstr>
      <vt:lpstr>Types of Questions in QA</vt:lpstr>
      <vt:lpstr>Architecture of a QA System</vt:lpstr>
      <vt:lpstr>Question Processing</vt:lpstr>
      <vt:lpstr>Answer Extraction and Ranking</vt:lpstr>
      <vt:lpstr>Evaluation of QA Systems</vt:lpstr>
      <vt:lpstr>Recommender Systems – Introduction</vt:lpstr>
      <vt:lpstr>Types of Recommender Systems</vt:lpstr>
      <vt:lpstr>Collaborative Filtering – Explanation</vt:lpstr>
      <vt:lpstr>1. User-Based Collaborative Filtering</vt:lpstr>
      <vt:lpstr>Item-Based Collaborative Filtering</vt:lpstr>
      <vt:lpstr>Challenges in Collaborative Filtering</vt:lpstr>
      <vt:lpstr>Content-Based Filtering – Explanation</vt:lpstr>
      <vt:lpstr>Collaborative vs Content-Based</vt:lpstr>
      <vt:lpstr>Evaluation of Recommender Systems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2</cp:revision>
  <dcterms:created xsi:type="dcterms:W3CDTF">2013-01-27T09:14:16Z</dcterms:created>
  <dcterms:modified xsi:type="dcterms:W3CDTF">2026-02-12T18:39:20Z</dcterms:modified>
  <cp:category/>
</cp:coreProperties>
</file>