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5" r:id="rId4"/>
    <p:sldId id="286" r:id="rId5"/>
    <p:sldId id="285" r:id="rId6"/>
    <p:sldId id="280" r:id="rId7"/>
    <p:sldId id="287" r:id="rId8"/>
    <p:sldId id="289" r:id="rId9"/>
    <p:sldId id="288" r:id="rId10"/>
    <p:sldId id="290" r:id="rId11"/>
    <p:sldId id="294" r:id="rId12"/>
    <p:sldId id="293" r:id="rId13"/>
    <p:sldId id="292" r:id="rId14"/>
    <p:sldId id="296" r:id="rId15"/>
    <p:sldId id="297" r:id="rId16"/>
    <p:sldId id="291" r:id="rId17"/>
    <p:sldId id="295" r:id="rId18"/>
    <p:sldId id="281" r:id="rId19"/>
    <p:sldId id="258" r:id="rId20"/>
    <p:sldId id="298" r:id="rId21"/>
    <p:sldId id="278" r:id="rId22"/>
    <p:sldId id="274" r:id="rId23"/>
    <p:sldId id="299" r:id="rId24"/>
    <p:sldId id="300" r:id="rId25"/>
    <p:sldId id="301" r:id="rId26"/>
    <p:sldId id="282" r:id="rId27"/>
    <p:sldId id="272" r:id="rId28"/>
    <p:sldId id="269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74" autoAdjust="0"/>
    <p:restoredTop sz="94660"/>
  </p:normalViewPr>
  <p:slideViewPr>
    <p:cSldViewPr>
      <p:cViewPr varScale="1">
        <p:scale>
          <a:sx n="85" d="100"/>
          <a:sy n="85" d="100"/>
        </p:scale>
        <p:origin x="62" y="1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133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609600" y="1689346"/>
            <a:ext cx="1121627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 algn="ctr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Chapter 3: Retrieval Models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TY B.Sc. (CS)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C83E2C76-DF6F-6D6A-CB74-60A6C5734F58}"/>
              </a:ext>
            </a:extLst>
          </p:cNvPr>
          <p:cNvSpPr txBox="1">
            <a:spLocks/>
          </p:cNvSpPr>
          <p:nvPr/>
        </p:nvSpPr>
        <p:spPr>
          <a:xfrm>
            <a:off x="3276600" y="5410200"/>
            <a:ext cx="8609839" cy="131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ctr">
              <a:lnSpc>
                <a:spcPts val="5550"/>
              </a:lnSpc>
            </a:pPr>
            <a:r>
              <a:rPr lang="en-IN" sz="2000" spc="150" dirty="0">
                <a:solidFill>
                  <a:srgbClr val="FFFFFF"/>
                </a:solidFill>
                <a:latin typeface="Cambria"/>
                <a:cs typeface="Cambria"/>
              </a:rPr>
              <a:t>Poornima .N</a:t>
            </a:r>
          </a:p>
          <a:p>
            <a:pPr marL="12700" marR="5080" indent="2650490" algn="ctr">
              <a:lnSpc>
                <a:spcPts val="5550"/>
              </a:lnSpc>
            </a:pPr>
            <a:r>
              <a:rPr lang="en-US" sz="2000" dirty="0"/>
              <a:t>Assistant Professor, Department of IT/CS</a:t>
            </a:r>
            <a:endParaRPr lang="en-IN"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186140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spcBef>
                <a:spcPts val="1395"/>
              </a:spcBef>
            </a:pPr>
            <a:r>
              <a:rPr lang="en-US" sz="2800" dirty="0"/>
              <a:t>Boolean model</a:t>
            </a:r>
          </a:p>
          <a:p>
            <a:pPr marL="12700">
              <a:spcBef>
                <a:spcPts val="1395"/>
              </a:spcBef>
            </a:pPr>
            <a:r>
              <a:rPr lang="en-US" sz="3000" dirty="0">
                <a:solidFill>
                  <a:schemeClr val="tx1"/>
                </a:solidFill>
                <a:latin typeface="Calibri"/>
                <a:cs typeface="Calibri"/>
              </a:rPr>
              <a:t>Vector space model</a:t>
            </a:r>
          </a:p>
          <a:p>
            <a:pPr marL="12700">
              <a:spcBef>
                <a:spcPts val="1395"/>
              </a:spcBef>
            </a:pPr>
            <a:r>
              <a:rPr lang="en-IN" sz="2800" dirty="0"/>
              <a:t>Probabilistic model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object 6" descr="$PPTXTitle">
            <a:extLst>
              <a:ext uri="{FF2B5EF4-FFF2-40B4-BE49-F238E27FC236}">
                <a16:creationId xmlns:a16="http://schemas.microsoft.com/office/drawing/2014/main" id="{3C06A57B-6092-F540-3D10-2B0F13362CFF}"/>
              </a:ext>
            </a:extLst>
          </p:cNvPr>
          <p:cNvSpPr txBox="1">
            <a:spLocks/>
          </p:cNvSpPr>
          <p:nvPr/>
        </p:nvSpPr>
        <p:spPr>
          <a:xfrm>
            <a:off x="5105400" y="5549136"/>
            <a:ext cx="694372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2400" b="0" spc="225" dirty="0">
                <a:solidFill>
                  <a:schemeClr val="tx1"/>
                </a:solidFill>
                <a:latin typeface="Cambria"/>
                <a:cs typeface="Cambria"/>
              </a:rPr>
              <a:t>“Ever wondered how Google decides which pages to show first?” 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A </a:t>
            </a:r>
            <a:r>
              <a:rPr lang="en-US" sz="2800" i="1" dirty="0"/>
              <a:t>retrieval model</a:t>
            </a:r>
            <a:r>
              <a:rPr lang="en-US" sz="2800" dirty="0"/>
              <a:t> defines how documents and queries are represented and compared to find relevant results.</a:t>
            </a:r>
            <a:endParaRPr sz="28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Introduction to Retrieval Models?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8972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07199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Boolean Model</a:t>
            </a:r>
            <a:r>
              <a:rPr lang="en-US" sz="2800" dirty="0"/>
              <a:t> is the simplest information retrieval model where documents and queries are represented as sets of terms, and retrieval is based on </a:t>
            </a:r>
            <a:r>
              <a:rPr lang="en-US" sz="2800" b="1" dirty="0"/>
              <a:t>exact matching</a:t>
            </a:r>
            <a:r>
              <a:rPr lang="en-US" sz="2800" dirty="0"/>
              <a:t> using </a:t>
            </a:r>
            <a:r>
              <a:rPr lang="en-US" sz="2800" b="1" dirty="0"/>
              <a:t>Boolean logic</a:t>
            </a:r>
            <a:r>
              <a:rPr lang="en-US" sz="2800" dirty="0"/>
              <a:t> (AND, OR, NOT).</a:t>
            </a:r>
          </a:p>
          <a:p>
            <a:r>
              <a:rPr lang="en-US" sz="2400" dirty="0"/>
              <a:t>A document is either </a:t>
            </a:r>
            <a:r>
              <a:rPr lang="en-US" sz="2400" b="1" dirty="0"/>
              <a:t>retrieved (relevant)</a:t>
            </a:r>
            <a:r>
              <a:rPr lang="en-US" sz="2400" dirty="0"/>
              <a:t> or </a:t>
            </a:r>
            <a:r>
              <a:rPr lang="en-US" sz="2400" b="1" dirty="0"/>
              <a:t>not retrieved (irrelevant)</a:t>
            </a:r>
            <a:r>
              <a:rPr lang="en-US" sz="2400" dirty="0"/>
              <a:t> — there is </a:t>
            </a:r>
            <a:r>
              <a:rPr lang="en-US" sz="2400" b="1" dirty="0"/>
              <a:t>no ranking</a:t>
            </a:r>
            <a:r>
              <a:rPr lang="en-US" sz="2400" dirty="0"/>
              <a:t> of results.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Boolean Model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3970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C9B3AAB-D748-E86F-7DF1-4E954704A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12027073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27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426922-EB49-78B1-109C-E6B76A6A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2B651E6-F1C7-94CF-C21A-49B53DB15D8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42E1F342-0D81-3190-8523-476903F601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5EB0C5-EA43-FCBD-0E4A-54465924F41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256B0FA-15CB-A0E7-AA2A-A842B09D6949}"/>
              </a:ext>
            </a:extLst>
          </p:cNvPr>
          <p:cNvSpPr txBox="1"/>
          <p:nvPr/>
        </p:nvSpPr>
        <p:spPr>
          <a:xfrm>
            <a:off x="2940324" y="1584694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Documents: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D1:</a:t>
            </a:r>
            <a:r>
              <a:rPr lang="en-US" sz="2800" dirty="0"/>
              <a:t> cats love milk and fish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D2:</a:t>
            </a:r>
            <a:r>
              <a:rPr lang="en-US" sz="2800" dirty="0"/>
              <a:t> dogs bark at night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D3:</a:t>
            </a:r>
            <a:r>
              <a:rPr lang="en-US" sz="2800" dirty="0"/>
              <a:t> cats and dogs play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D4:</a:t>
            </a:r>
            <a:r>
              <a:rPr lang="en-US" sz="2800" dirty="0"/>
              <a:t> cats chase rats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88E15FE-35AB-4FE5-0220-B4F3CC2E1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 – Boolean Model Practice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E13BD6-7FEB-C67E-0C61-BF7D82762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980702"/>
              </p:ext>
            </p:extLst>
          </p:nvPr>
        </p:nvGraphicFramePr>
        <p:xfrm>
          <a:off x="2458426" y="3947980"/>
          <a:ext cx="8731251" cy="248974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910417">
                  <a:extLst>
                    <a:ext uri="{9D8B030D-6E8A-4147-A177-3AD203B41FA5}">
                      <a16:colId xmlns:a16="http://schemas.microsoft.com/office/drawing/2014/main" val="2809946064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897145907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03092448"/>
                    </a:ext>
                  </a:extLst>
                </a:gridCol>
              </a:tblGrid>
              <a:tr h="622436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Query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(Which Docs?)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485082"/>
                  </a:ext>
                </a:extLst>
              </a:tr>
              <a:tr h="622436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1️⃣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/>
                        <a:t>cat AND dog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……………………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148985"/>
                  </a:ext>
                </a:extLst>
              </a:tr>
              <a:tr h="622436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2️⃣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cat OR dog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……………………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4934431"/>
                  </a:ext>
                </a:extLst>
              </a:tr>
              <a:tr h="622436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3️⃣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/>
                        <a:t>cat NOT dog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……………………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030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40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07199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Vector Space Model (VSM)</a:t>
            </a:r>
            <a:r>
              <a:rPr lang="en-US" sz="2800" dirty="0"/>
              <a:t> represents documents and queries as </a:t>
            </a:r>
            <a:r>
              <a:rPr lang="en-US" sz="2800" b="1" dirty="0"/>
              <a:t>vectors</a:t>
            </a:r>
            <a:r>
              <a:rPr lang="en-US" sz="2800" dirty="0"/>
              <a:t> in a multi-dimensional space, where each dimension corresponds to a term.</a:t>
            </a:r>
          </a:p>
          <a:p>
            <a:endParaRPr lang="en-US" sz="2800" dirty="0"/>
          </a:p>
          <a:p>
            <a:r>
              <a:rPr lang="en-US" sz="2400" dirty="0"/>
              <a:t>It allows ranking of documents by how close they are to the query.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Vector Space Model (VSM)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8536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dirty="0"/>
              <a:t>1️⃣ </a:t>
            </a:r>
            <a:r>
              <a:rPr lang="en-IN" sz="2800" b="1" dirty="0"/>
              <a:t>Find TF</a:t>
            </a:r>
            <a:r>
              <a:rPr lang="en-IN" sz="2800" dirty="0"/>
              <a:t> → frequency of the term in the document</a:t>
            </a:r>
            <a:br>
              <a:rPr lang="en-IN" sz="2800" dirty="0"/>
            </a:br>
            <a:r>
              <a:rPr lang="en-IN" sz="2800" dirty="0"/>
              <a:t>2️⃣ </a:t>
            </a:r>
            <a:r>
              <a:rPr lang="en-IN" sz="2800" b="1" dirty="0"/>
              <a:t>Find IDF</a:t>
            </a:r>
            <a:r>
              <a:rPr lang="en-IN" sz="2800" dirty="0"/>
              <a:t> → how rare the term is in all documents</a:t>
            </a:r>
            <a:br>
              <a:rPr lang="en-IN" sz="2800" dirty="0"/>
            </a:br>
            <a:r>
              <a:rPr lang="en-IN" sz="2800" dirty="0"/>
              <a:t>3️⃣ </a:t>
            </a:r>
            <a:r>
              <a:rPr lang="en-IN" sz="2800" b="1" dirty="0"/>
              <a:t>Multiply</a:t>
            </a:r>
            <a:r>
              <a:rPr lang="en-IN" sz="2800" dirty="0"/>
              <a:t> TF × IDF = term weight</a:t>
            </a:r>
            <a:br>
              <a:rPr lang="en-IN" sz="2800" dirty="0"/>
            </a:br>
            <a:r>
              <a:rPr lang="en-IN" sz="2800" b="1" dirty="0"/>
              <a:t>Form document and query vectors</a:t>
            </a:r>
            <a:br>
              <a:rPr lang="en-IN" sz="2800" dirty="0"/>
            </a:br>
            <a:r>
              <a:rPr lang="en-IN" sz="2800" dirty="0"/>
              <a:t>4️⃣ </a:t>
            </a:r>
            <a:r>
              <a:rPr lang="en-IN" sz="2800" b="1" dirty="0"/>
              <a:t>Use cosine similarity</a:t>
            </a:r>
            <a:r>
              <a:rPr lang="en-IN" sz="2800" dirty="0"/>
              <a:t> → measure closeness</a:t>
            </a:r>
            <a:br>
              <a:rPr lang="en-IN" sz="2800" dirty="0"/>
            </a:br>
            <a:r>
              <a:rPr lang="en-IN" sz="2800" dirty="0"/>
              <a:t>5️⃣ </a:t>
            </a:r>
            <a:r>
              <a:rPr lang="en-IN" sz="2800" b="1" dirty="0"/>
              <a:t>Query–Document Matching: Rank</a:t>
            </a:r>
            <a:r>
              <a:rPr lang="en-IN" sz="2800" dirty="0"/>
              <a:t> documents by similarity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Steps in Vector Space Model (VSM)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58360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2A632A-52BA-4591-A8B2-D1675211E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557995"/>
              </p:ext>
            </p:extLst>
          </p:nvPr>
        </p:nvGraphicFramePr>
        <p:xfrm>
          <a:off x="1066800" y="609600"/>
          <a:ext cx="10363200" cy="533400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8827825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7406401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877465159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54073779"/>
                    </a:ext>
                  </a:extLst>
                </a:gridCol>
              </a:tblGrid>
              <a:tr h="576649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Component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Meaning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Formula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Example</a:t>
                      </a:r>
                    </a:p>
                  </a:txBody>
                  <a:tcPr marL="68305" marR="68305" marT="34153" marB="34153" anchor="ctr"/>
                </a:tc>
                <a:extLst>
                  <a:ext uri="{0D108BD9-81ED-4DB2-BD59-A6C34878D82A}">
                    <a16:rowId xmlns:a16="http://schemas.microsoft.com/office/drawing/2014/main" val="2003273945"/>
                  </a:ext>
                </a:extLst>
              </a:tr>
              <a:tr h="1441622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TF</a:t>
                      </a:r>
                      <a:endParaRPr lang="en-IN" sz="1800" dirty="0"/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Term frequency — how often the word appears in the doc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TF = freq / total words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4 / 100 = 0.04</a:t>
                      </a:r>
                    </a:p>
                  </a:txBody>
                  <a:tcPr marL="68305" marR="68305" marT="34153" marB="34153" anchor="ctr"/>
                </a:tc>
                <a:extLst>
                  <a:ext uri="{0D108BD9-81ED-4DB2-BD59-A6C34878D82A}">
                    <a16:rowId xmlns:a16="http://schemas.microsoft.com/office/drawing/2014/main" val="496270098"/>
                  </a:ext>
                </a:extLst>
              </a:tr>
              <a:tr h="1874108"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IDF</a:t>
                      </a:r>
                      <a:endParaRPr lang="en-IN" sz="1800"/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Inverse doc frequency — how rare the term is in all docs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IDF = log(N / df)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log(1000 / 10) = 2</a:t>
                      </a:r>
                    </a:p>
                  </a:txBody>
                  <a:tcPr marL="68305" marR="68305" marT="34153" marB="34153" anchor="ctr"/>
                </a:tc>
                <a:extLst>
                  <a:ext uri="{0D108BD9-81ED-4DB2-BD59-A6C34878D82A}">
                    <a16:rowId xmlns:a16="http://schemas.microsoft.com/office/drawing/2014/main" val="1535742574"/>
                  </a:ext>
                </a:extLst>
              </a:tr>
              <a:tr h="1441622">
                <a:tc>
                  <a:txBody>
                    <a:bodyPr/>
                    <a:lstStyle/>
                    <a:p>
                      <a:pPr algn="ctr"/>
                      <a:r>
                        <a:rPr lang="en-IN" sz="1800" b="1"/>
                        <a:t>TF-IDF</a:t>
                      </a:r>
                      <a:endParaRPr lang="en-IN" sz="1800"/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Importance of the term in the document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/>
                        <a:t>TF × IDF</a:t>
                      </a:r>
                    </a:p>
                  </a:txBody>
                  <a:tcPr marL="68305" marR="68305" marT="34153" marB="3415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0.04 × 2 = </a:t>
                      </a:r>
                      <a:r>
                        <a:rPr lang="en-IN" sz="1800" b="1" dirty="0"/>
                        <a:t>0.08</a:t>
                      </a:r>
                      <a:endParaRPr lang="en-IN" sz="1800" dirty="0"/>
                    </a:p>
                  </a:txBody>
                  <a:tcPr marL="68305" marR="68305" marT="34153" marB="34153" anchor="ctr"/>
                </a:tc>
                <a:extLst>
                  <a:ext uri="{0D108BD9-81ED-4DB2-BD59-A6C34878D82A}">
                    <a16:rowId xmlns:a16="http://schemas.microsoft.com/office/drawing/2014/main" val="4015956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23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Example Documents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82B21D-69F2-0A4A-28F2-861918562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418570"/>
              </p:ext>
            </p:extLst>
          </p:nvPr>
        </p:nvGraphicFramePr>
        <p:xfrm>
          <a:off x="2743200" y="2458211"/>
          <a:ext cx="8731250" cy="257098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511161334"/>
                    </a:ext>
                  </a:extLst>
                </a:gridCol>
                <a:gridCol w="6292850">
                  <a:extLst>
                    <a:ext uri="{9D8B030D-6E8A-4147-A177-3AD203B41FA5}">
                      <a16:colId xmlns:a16="http://schemas.microsoft.com/office/drawing/2014/main" val="4038842821"/>
                    </a:ext>
                  </a:extLst>
                </a:gridCol>
              </a:tblGrid>
              <a:tr h="64274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Doc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652619"/>
                  </a:ext>
                </a:extLst>
              </a:tr>
              <a:tr h="64274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data retrieval is important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993244"/>
                  </a:ext>
                </a:extLst>
              </a:tr>
              <a:tr h="642746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data analysis and mining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408882"/>
                  </a:ext>
                </a:extLst>
              </a:tr>
              <a:tr h="64274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retrieval of information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26091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9D7F3CB-0093-5998-3C8F-2766B14EAB43}"/>
              </a:ext>
            </a:extLst>
          </p:cNvPr>
          <p:cNvSpPr txBox="1"/>
          <p:nvPr/>
        </p:nvSpPr>
        <p:spPr>
          <a:xfrm>
            <a:off x="4494783" y="52243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Query → </a:t>
            </a:r>
            <a:r>
              <a:rPr lang="en-IN" b="1" dirty="0"/>
              <a:t>“data retrieval”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600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Step 1 – Term Frequency (TF)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27056B-6A38-2042-A016-10723DE109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33978"/>
              </p:ext>
            </p:extLst>
          </p:nvPr>
        </p:nvGraphicFramePr>
        <p:xfrm>
          <a:off x="3125905" y="2321955"/>
          <a:ext cx="8387734" cy="31921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23748">
                  <a:extLst>
                    <a:ext uri="{9D8B030D-6E8A-4147-A177-3AD203B41FA5}">
                      <a16:colId xmlns:a16="http://schemas.microsoft.com/office/drawing/2014/main" val="2426323339"/>
                    </a:ext>
                  </a:extLst>
                </a:gridCol>
                <a:gridCol w="2154662">
                  <a:extLst>
                    <a:ext uri="{9D8B030D-6E8A-4147-A177-3AD203B41FA5}">
                      <a16:colId xmlns:a16="http://schemas.microsoft.com/office/drawing/2014/main" val="2397158878"/>
                    </a:ext>
                  </a:extLst>
                </a:gridCol>
                <a:gridCol w="2154662">
                  <a:extLst>
                    <a:ext uri="{9D8B030D-6E8A-4147-A177-3AD203B41FA5}">
                      <a16:colId xmlns:a16="http://schemas.microsoft.com/office/drawing/2014/main" val="3639089942"/>
                    </a:ext>
                  </a:extLst>
                </a:gridCol>
                <a:gridCol w="2154662">
                  <a:extLst>
                    <a:ext uri="{9D8B030D-6E8A-4147-A177-3AD203B41FA5}">
                      <a16:colId xmlns:a16="http://schemas.microsoft.com/office/drawing/2014/main" val="241883718"/>
                    </a:ext>
                  </a:extLst>
                </a:gridCol>
              </a:tblGrid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Term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D1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D2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D3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58696037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data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822448820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retrieval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1652713079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analysis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100277493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mining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1427063042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information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377047492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systems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26473154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5E5C59D-5C37-351B-C6CA-E056F0246E0E}"/>
              </a:ext>
            </a:extLst>
          </p:cNvPr>
          <p:cNvSpPr txBox="1"/>
          <p:nvPr/>
        </p:nvSpPr>
        <p:spPr>
          <a:xfrm>
            <a:off x="4953000" y="571200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(Each doc has 3 words → TF = 1/3 = 0.33 for words that appear)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125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Step 2 – IDF (Rareness Across Docs)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E7130F-F4A1-C1FD-FDD7-AA6C9A2A0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946086"/>
              </p:ext>
            </p:extLst>
          </p:nvPr>
        </p:nvGraphicFramePr>
        <p:xfrm>
          <a:off x="3233461" y="2438400"/>
          <a:ext cx="8618646" cy="27654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72882">
                  <a:extLst>
                    <a:ext uri="{9D8B030D-6E8A-4147-A177-3AD203B41FA5}">
                      <a16:colId xmlns:a16="http://schemas.microsoft.com/office/drawing/2014/main" val="585422495"/>
                    </a:ext>
                  </a:extLst>
                </a:gridCol>
                <a:gridCol w="2872882">
                  <a:extLst>
                    <a:ext uri="{9D8B030D-6E8A-4147-A177-3AD203B41FA5}">
                      <a16:colId xmlns:a16="http://schemas.microsoft.com/office/drawing/2014/main" val="3731750291"/>
                    </a:ext>
                  </a:extLst>
                </a:gridCol>
                <a:gridCol w="2872882">
                  <a:extLst>
                    <a:ext uri="{9D8B030D-6E8A-4147-A177-3AD203B41FA5}">
                      <a16:colId xmlns:a16="http://schemas.microsoft.com/office/drawing/2014/main" val="1973820886"/>
                    </a:ext>
                  </a:extLst>
                </a:gridCol>
              </a:tblGrid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Term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df (no. of docs)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IDF = log(3/df)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1496345755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data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2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0.176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271310474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retrieval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2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0.176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564306577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analysis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0.477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182242059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mining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0.477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672457055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information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0.477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16890322"/>
                  </a:ext>
                </a:extLst>
              </a:tr>
              <a:tr h="361043"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systems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/>
                        <a:t>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0.477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2170494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6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Step 3 – TF × IDF (Weights)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5662F4-F8B7-BFD8-14CE-C8452718B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938845"/>
              </p:ext>
            </p:extLst>
          </p:nvPr>
        </p:nvGraphicFramePr>
        <p:xfrm>
          <a:off x="3321606" y="2177032"/>
          <a:ext cx="8770620" cy="424815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92655">
                  <a:extLst>
                    <a:ext uri="{9D8B030D-6E8A-4147-A177-3AD203B41FA5}">
                      <a16:colId xmlns:a16="http://schemas.microsoft.com/office/drawing/2014/main" val="1188083630"/>
                    </a:ext>
                  </a:extLst>
                </a:gridCol>
                <a:gridCol w="2192655">
                  <a:extLst>
                    <a:ext uri="{9D8B030D-6E8A-4147-A177-3AD203B41FA5}">
                      <a16:colId xmlns:a16="http://schemas.microsoft.com/office/drawing/2014/main" val="1917234020"/>
                    </a:ext>
                  </a:extLst>
                </a:gridCol>
                <a:gridCol w="2192655">
                  <a:extLst>
                    <a:ext uri="{9D8B030D-6E8A-4147-A177-3AD203B41FA5}">
                      <a16:colId xmlns:a16="http://schemas.microsoft.com/office/drawing/2014/main" val="3868557640"/>
                    </a:ext>
                  </a:extLst>
                </a:gridCol>
                <a:gridCol w="2192655">
                  <a:extLst>
                    <a:ext uri="{9D8B030D-6E8A-4147-A177-3AD203B41FA5}">
                      <a16:colId xmlns:a16="http://schemas.microsoft.com/office/drawing/2014/main" val="2034921456"/>
                    </a:ext>
                  </a:extLst>
                </a:gridCol>
              </a:tblGrid>
              <a:tr h="60687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Term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D1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D2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D3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2197350130"/>
                  </a:ext>
                </a:extLst>
              </a:tr>
              <a:tr h="60687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data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0.058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0.058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2478999026"/>
                  </a:ext>
                </a:extLst>
              </a:tr>
              <a:tr h="606879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retrieval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0.058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0.058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363865555"/>
                  </a:ext>
                </a:extLst>
              </a:tr>
              <a:tr h="606879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analysis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0.158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1146743976"/>
                  </a:ext>
                </a:extLst>
              </a:tr>
              <a:tr h="606879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mining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0.158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619520742"/>
                  </a:ext>
                </a:extLst>
              </a:tr>
              <a:tr h="606879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information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0.158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1710099959"/>
                  </a:ext>
                </a:extLst>
              </a:tr>
              <a:tr h="606879"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systems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/>
                        <a:t>0</a:t>
                      </a:r>
                    </a:p>
                  </a:txBody>
                  <a:tcPr marL="90261" marR="90261" marT="45130" marB="4513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/>
                        <a:t>0.158</a:t>
                      </a:r>
                    </a:p>
                  </a:txBody>
                  <a:tcPr marL="90261" marR="90261" marT="45130" marB="45130" anchor="ctr"/>
                </a:tc>
                <a:extLst>
                  <a:ext uri="{0D108BD9-81ED-4DB2-BD59-A6C34878D82A}">
                    <a16:rowId xmlns:a16="http://schemas.microsoft.com/office/drawing/2014/main" val="31039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0379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11     What is Cosine Similarity?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AC83998F-2C28-F9B4-4579-5344C6972C6A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angle between the query vector and document vectors.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angle → higher similarity.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Larger angle → lower similarity.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003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PDF] Application of Vector Space Model to Query Ranking and Information  Retrieval | Semantic Scholar">
            <a:extLst>
              <a:ext uri="{FF2B5EF4-FFF2-40B4-BE49-F238E27FC236}">
                <a16:creationId xmlns:a16="http://schemas.microsoft.com/office/drawing/2014/main" id="{0CE316E1-1099-D018-4E78-43384412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85583"/>
            <a:ext cx="6629400" cy="6486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040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Step 4 – Cosine Similarity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F39C7-8455-2C3B-26D9-7931423895DF}"/>
              </a:ext>
            </a:extLst>
          </p:cNvPr>
          <p:cNvSpPr txBox="1"/>
          <p:nvPr/>
        </p:nvSpPr>
        <p:spPr>
          <a:xfrm>
            <a:off x="4717316" y="2362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Query = </a:t>
            </a:r>
            <a:r>
              <a:rPr lang="en-IN" b="1" dirty="0"/>
              <a:t>[data, retrieval]</a:t>
            </a:r>
            <a:endParaRPr lang="en-I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93D4261-FBD0-E3CA-F2F1-E4A79C057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567614"/>
              </p:ext>
            </p:extLst>
          </p:nvPr>
        </p:nvGraphicFramePr>
        <p:xfrm>
          <a:off x="3276600" y="3153975"/>
          <a:ext cx="8731248" cy="29420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82812">
                  <a:extLst>
                    <a:ext uri="{9D8B030D-6E8A-4147-A177-3AD203B41FA5}">
                      <a16:colId xmlns:a16="http://schemas.microsoft.com/office/drawing/2014/main" val="398158826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1607124582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3557872992"/>
                    </a:ext>
                  </a:extLst>
                </a:gridCol>
                <a:gridCol w="2182812">
                  <a:extLst>
                    <a:ext uri="{9D8B030D-6E8A-4147-A177-3AD203B41FA5}">
                      <a16:colId xmlns:a16="http://schemas.microsoft.com/office/drawing/2014/main" val="1080774356"/>
                    </a:ext>
                  </a:extLst>
                </a:gridCol>
              </a:tblGrid>
              <a:tr h="735506">
                <a:tc>
                  <a:txBody>
                    <a:bodyPr/>
                    <a:lstStyle/>
                    <a:p>
                      <a:r>
                        <a:rPr lang="en-IN" sz="2400"/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Has “data”?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Has “retrieval”?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Similarity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023313"/>
                  </a:ext>
                </a:extLst>
              </a:tr>
              <a:tr h="735506">
                <a:tc>
                  <a:txBody>
                    <a:bodyPr/>
                    <a:lstStyle/>
                    <a:p>
                      <a:r>
                        <a:rPr lang="en-IN" sz="240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Highest (~1.0)</a:t>
                      </a:r>
                      <a:endParaRPr lang="en-I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339974"/>
                  </a:ext>
                </a:extLst>
              </a:tr>
              <a:tr h="735506">
                <a:tc>
                  <a:txBody>
                    <a:bodyPr/>
                    <a:lstStyle/>
                    <a:p>
                      <a:r>
                        <a:rPr lang="en-IN" sz="24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Medium (~0.5)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701390"/>
                  </a:ext>
                </a:extLst>
              </a:tr>
              <a:tr h="735506">
                <a:tc>
                  <a:txBody>
                    <a:bodyPr/>
                    <a:lstStyle/>
                    <a:p>
                      <a:r>
                        <a:rPr lang="en-IN" sz="240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Medium (~0.5)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843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800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Step 5 – </a:t>
            </a:r>
            <a:r>
              <a:rPr lang="en-IN" sz="3200" b="1" dirty="0"/>
              <a:t>Query–Document Matching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5F9B04-8B2C-6D5F-AA1E-0CE252A39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576081"/>
              </p:ext>
            </p:extLst>
          </p:nvPr>
        </p:nvGraphicFramePr>
        <p:xfrm>
          <a:off x="2934462" y="2590798"/>
          <a:ext cx="8731251" cy="289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47138">
                  <a:extLst>
                    <a:ext uri="{9D8B030D-6E8A-4147-A177-3AD203B41FA5}">
                      <a16:colId xmlns:a16="http://schemas.microsoft.com/office/drawing/2014/main" val="341614178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157093859"/>
                    </a:ext>
                  </a:extLst>
                </a:gridCol>
                <a:gridCol w="4198113">
                  <a:extLst>
                    <a:ext uri="{9D8B030D-6E8A-4147-A177-3AD203B41FA5}">
                      <a16:colId xmlns:a16="http://schemas.microsoft.com/office/drawing/2014/main" val="2153462870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Reason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963157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Has both “data” &amp; “retrieval”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154719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Only has “data”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6582846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Only has “retrieval”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690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432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F93A59-4A4B-C9A0-8D26-13118C4E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8A17DA2-9173-306D-B034-AE0F12F5F8D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281F64ED-CBD9-CDCC-6B07-DEB446FB1C1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E4CEAA-149F-C050-C848-6B18591D5AB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04EC3D2-1ACE-C7E9-0613-A76DF8C2AF99}"/>
              </a:ext>
            </a:extLst>
          </p:cNvPr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b="1" dirty="0"/>
              <a:t>Documents: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D1:</a:t>
            </a:r>
            <a:r>
              <a:rPr lang="en-IN" sz="2800" dirty="0"/>
              <a:t> data retrieval is important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D2:</a:t>
            </a:r>
            <a:r>
              <a:rPr lang="en-IN" sz="2800" dirty="0"/>
              <a:t> data analysis and mining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D3:</a:t>
            </a:r>
            <a:r>
              <a:rPr lang="en-IN" sz="2800" dirty="0"/>
              <a:t> retrieval of information systems</a:t>
            </a:r>
          </a:p>
          <a:p>
            <a:r>
              <a:rPr lang="en-IN" sz="2800" b="1" dirty="0"/>
              <a:t>Query:</a:t>
            </a:r>
            <a:r>
              <a:rPr lang="en-IN" sz="2800" dirty="0"/>
              <a:t> 👉 </a:t>
            </a:r>
            <a:r>
              <a:rPr lang="en-IN" sz="2800" i="1" dirty="0"/>
              <a:t>data mining</a:t>
            </a:r>
            <a:endParaRPr lang="en-IN" sz="28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2645713-0867-730C-557C-BE42AECDF9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 – Find the Most Relevant</a:t>
            </a:r>
            <a:b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</a:b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                   Document</a:t>
            </a:r>
            <a:r>
              <a:rPr lang="en-IN" sz="4400" b="0" spc="22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endParaRPr lang="en-IN"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2B4AB-73FE-5D9E-C2CB-CF138349A0A9}"/>
              </a:ext>
            </a:extLst>
          </p:cNvPr>
          <p:cNvSpPr txBox="1"/>
          <p:nvPr/>
        </p:nvSpPr>
        <p:spPr>
          <a:xfrm>
            <a:off x="6096000" y="4814889"/>
            <a:ext cx="6096000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Task:</a:t>
            </a:r>
            <a:br>
              <a:rPr lang="en-US" dirty="0"/>
            </a:br>
            <a:r>
              <a:rPr lang="en-US" dirty="0"/>
              <a:t>1️⃣ Find which document has </a:t>
            </a:r>
            <a:r>
              <a:rPr lang="en-US" b="1" dirty="0"/>
              <a:t>“data”</a:t>
            </a:r>
            <a:br>
              <a:rPr lang="en-US" dirty="0"/>
            </a:br>
            <a:r>
              <a:rPr lang="en-US" dirty="0"/>
              <a:t>2️⃣ Find which has </a:t>
            </a:r>
            <a:r>
              <a:rPr lang="en-US" b="1" dirty="0"/>
              <a:t>“mining”</a:t>
            </a:r>
            <a:br>
              <a:rPr lang="en-US" dirty="0"/>
            </a:br>
            <a:r>
              <a:rPr lang="en-US" dirty="0"/>
              <a:t>3️⃣ Which document has </a:t>
            </a:r>
            <a:r>
              <a:rPr lang="en-US" b="1" dirty="0"/>
              <a:t>both words?</a:t>
            </a:r>
            <a:br>
              <a:rPr lang="en-US" dirty="0"/>
            </a:br>
            <a:r>
              <a:rPr lang="en-US" dirty="0"/>
              <a:t>4️⃣ That document is </a:t>
            </a:r>
            <a:r>
              <a:rPr lang="en-US" b="1" dirty="0"/>
              <a:t>most relevant</a:t>
            </a:r>
            <a:r>
              <a:rPr lang="en-US" dirty="0"/>
              <a:t> to the query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140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143689" y="935650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Probabilistic Model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455B7781-9973-A11D-E3D8-8F92302614D3}"/>
              </a:ext>
            </a:extLst>
          </p:cNvPr>
          <p:cNvSpPr txBox="1"/>
          <p:nvPr/>
        </p:nvSpPr>
        <p:spPr>
          <a:xfrm>
            <a:off x="3878305" y="2700084"/>
            <a:ext cx="537319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“Ever wondered how your search e</a:t>
            </a:r>
            <a:r>
              <a:rPr lang="en-US" sz="2800" i="1" dirty="0"/>
              <a:t>ngines learn </a:t>
            </a:r>
          </a:p>
          <a:p>
            <a:r>
              <a:rPr lang="en-US" sz="2800" i="1" dirty="0"/>
              <a:t>what you really want!”</a:t>
            </a:r>
            <a:r>
              <a:rPr lang="en-US" sz="2800" dirty="0"/>
              <a:t> 🤔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143689" y="935650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What is the Probabilistic Model?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B6F45A-3E48-C83F-505A-1069ACABA0A4}"/>
              </a:ext>
            </a:extLst>
          </p:cNvPr>
          <p:cNvSpPr txBox="1"/>
          <p:nvPr/>
        </p:nvSpPr>
        <p:spPr>
          <a:xfrm>
            <a:off x="2934462" y="2286000"/>
            <a:ext cx="8448040" cy="374910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dirty="0"/>
              <a:t>This model ranks documents based on the </a:t>
            </a:r>
            <a:r>
              <a:rPr lang="en-US" sz="2800" b="1" dirty="0"/>
              <a:t>probability</a:t>
            </a:r>
            <a:r>
              <a:rPr lang="en-US" sz="2800" dirty="0"/>
              <a:t> that a document is </a:t>
            </a:r>
            <a:r>
              <a:rPr lang="en-US" sz="2800" b="1" dirty="0"/>
              <a:t>relevant</a:t>
            </a:r>
            <a:r>
              <a:rPr lang="en-US" sz="2800" dirty="0"/>
              <a:t> to a given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dirty="0"/>
          </a:p>
          <a:p>
            <a:r>
              <a:rPr lang="en-US" sz="2000" dirty="0"/>
              <a:t>📘 </a:t>
            </a:r>
            <a:r>
              <a:rPr lang="en-US" sz="2000" i="1" dirty="0"/>
              <a:t>It doesn’t just match words — it estimates how likely a document answers your question.</a:t>
            </a:r>
          </a:p>
          <a:p>
            <a:endParaRPr lang="en-US" sz="2000" dirty="0"/>
          </a:p>
          <a:p>
            <a:r>
              <a:rPr lang="en-US" sz="2000" b="1" dirty="0"/>
              <a:t>Formula (optional small):</a:t>
            </a:r>
            <a:br>
              <a:rPr lang="en-US" sz="2000" dirty="0"/>
            </a:br>
            <a:r>
              <a:rPr lang="en-US" sz="2000" dirty="0"/>
              <a:t>P(Relevant | Document, Query)</a:t>
            </a:r>
          </a:p>
          <a:p>
            <a:r>
              <a:rPr lang="en-US" sz="2000" dirty="0"/>
              <a:t>💡 </a:t>
            </a:r>
            <a:r>
              <a:rPr lang="en-US" sz="2000" i="1" dirty="0"/>
              <a:t>Higher probability → Higher ranking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0943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989A023-D8AC-C8C8-48C8-99A1B8E0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3E1331-B366-C4A6-0000-31AA066575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4F8E966-4115-99B1-8AD7-76213302C4F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6B5C0EB-67D8-4E53-AE11-19266AEC13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253EE2-134A-A42E-F75F-B763336986D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5D773F1-4D91-07D8-D8C0-B67C8C052C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3689" y="935650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b="0" dirty="0">
                <a:solidFill>
                  <a:srgbClr val="464A56"/>
                </a:solidFill>
                <a:latin typeface="Cambria"/>
                <a:cs typeface="Cambria"/>
              </a:rPr>
              <a:t>               </a:t>
            </a:r>
            <a:r>
              <a:rPr lang="en-IN" sz="3200" dirty="0"/>
              <a:t>How it Works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04D3CE4-1FF3-2A99-8559-254670A3E87D}"/>
              </a:ext>
            </a:extLst>
          </p:cNvPr>
          <p:cNvGraphicFramePr>
            <a:graphicFrameLocks noGrp="1"/>
          </p:cNvGraphicFramePr>
          <p:nvPr/>
        </p:nvGraphicFramePr>
        <p:xfrm>
          <a:off x="1730375" y="3350895"/>
          <a:ext cx="8731250" cy="365760"/>
        </p:xfrm>
        <a:graphic>
          <a:graphicData uri="http://schemas.openxmlformats.org/drawingml/2006/table">
            <a:tbl>
              <a:tblPr/>
              <a:tblGrid>
                <a:gridCol w="8731250">
                  <a:extLst>
                    <a:ext uri="{9D8B030D-6E8A-4147-A177-3AD203B41FA5}">
                      <a16:colId xmlns:a16="http://schemas.microsoft.com/office/drawing/2014/main" val="2203176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17531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C190DA-91CC-200A-4382-771782762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639534"/>
              </p:ext>
            </p:extLst>
          </p:nvPr>
        </p:nvGraphicFramePr>
        <p:xfrm>
          <a:off x="2089616" y="2367592"/>
          <a:ext cx="9677400" cy="3749040"/>
        </p:xfrm>
        <a:graphic>
          <a:graphicData uri="http://schemas.openxmlformats.org/drawingml/2006/table">
            <a:tbl>
              <a:tblPr/>
              <a:tblGrid>
                <a:gridCol w="9677400">
                  <a:extLst>
                    <a:ext uri="{9D8B030D-6E8A-4147-A177-3AD203B41FA5}">
                      <a16:colId xmlns:a16="http://schemas.microsoft.com/office/drawing/2014/main" val="4273267407"/>
                    </a:ext>
                  </a:extLst>
                </a:gridCol>
              </a:tblGrid>
              <a:tr h="3657600">
                <a:tc>
                  <a:txBody>
                    <a:bodyPr/>
                    <a:lstStyle/>
                    <a:p>
                      <a:r>
                        <a:rPr lang="en-US" sz="2400" dirty="0"/>
                        <a:t>1️⃣ </a:t>
                      </a:r>
                      <a:r>
                        <a:rPr lang="en-US" sz="2400" b="1" dirty="0"/>
                        <a:t>Initial Guess: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system assumes which words appear in relevant documents.</a:t>
                      </a:r>
                    </a:p>
                    <a:p>
                      <a:r>
                        <a:rPr lang="en-US" sz="2400" dirty="0"/>
                        <a:t>2️⃣ </a:t>
                      </a:r>
                      <a:r>
                        <a:rPr lang="en-US" sz="2400" b="1" dirty="0"/>
                        <a:t>Compute Probabilities: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It calculates for each term —</a:t>
                      </a:r>
                    </a:p>
                    <a:p>
                      <a:r>
                        <a:rPr lang="en-US" sz="2400" dirty="0"/>
                        <a:t>How often it appears in relevant docs (P(k | R))</a:t>
                      </a:r>
                    </a:p>
                    <a:p>
                      <a:r>
                        <a:rPr lang="en-US" sz="2400" dirty="0"/>
                        <a:t>How often it appears in non-relevant docs (P(k | ¬R))</a:t>
                      </a:r>
                    </a:p>
                    <a:p>
                      <a:r>
                        <a:rPr lang="en-US" sz="2400" dirty="0"/>
                        <a:t>3️⃣ </a:t>
                      </a:r>
                      <a:r>
                        <a:rPr lang="en-US" sz="2400" b="1" dirty="0"/>
                        <a:t>Ranking: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Documents with higher </a:t>
                      </a:r>
                      <a:r>
                        <a:rPr lang="en-US" sz="2400" b="1" dirty="0"/>
                        <a:t>odds of being relevant</a:t>
                      </a:r>
                      <a:r>
                        <a:rPr lang="en-US" sz="2400" dirty="0"/>
                        <a:t> are ranked higher.</a:t>
                      </a:r>
                    </a:p>
                    <a:p>
                      <a:r>
                        <a:rPr lang="en-US" sz="2400" dirty="0"/>
                        <a:t>4️⃣ </a:t>
                      </a:r>
                      <a:r>
                        <a:rPr lang="en-US" sz="2400" b="1" dirty="0"/>
                        <a:t>User Feedback: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When users click or mark documents, the system </a:t>
                      </a:r>
                      <a:r>
                        <a:rPr lang="en-US" sz="2400" b="1" dirty="0"/>
                        <a:t>updates probabilities</a:t>
                      </a:r>
                      <a:r>
                        <a:rPr lang="en-US" sz="24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62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156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58B26C-CA3D-F82E-C926-6DEA8985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6BD9E-3BF0-7D78-BF0F-52327D0BF1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90FEC-80C6-46BF-04D6-65E1ED2B3C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25273F-FCA6-B598-619D-7741F83117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82A5D1-1A07-B29F-B31C-A6E4936D95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17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Bayesian Retrieval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2443626" y="2281458"/>
            <a:ext cx="886172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The model uses </a:t>
            </a:r>
            <a:r>
              <a:rPr lang="en-US" sz="2800" b="1" dirty="0"/>
              <a:t>Bayes’ Theorem</a:t>
            </a:r>
            <a:r>
              <a:rPr lang="en-US" sz="2800" dirty="0"/>
              <a:t> to estimate probabilities.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solidFill>
                <a:schemeClr val="tx1"/>
              </a:solidFill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solidFill>
                <a:schemeClr val="tx1"/>
              </a:solidFill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solidFill>
                <a:schemeClr val="tx1"/>
              </a:solidFill>
              <a:latin typeface="+mj-lt"/>
            </a:endParaRP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Instead of guessing if a document is relevant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 →It </a:t>
            </a:r>
            <a:r>
              <a:rPr lang="en-US" sz="2800" i="1" dirty="0"/>
              <a:t>computes the probability</a:t>
            </a:r>
            <a:r>
              <a:rPr lang="en-US" sz="2800" dirty="0"/>
              <a:t> using previous data</a:t>
            </a:r>
            <a:endParaRPr lang="en-US" sz="28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1154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58B26C-CA3D-F82E-C926-6DEA8985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6BD9E-3BF0-7D78-BF0F-52327D0BF1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90FEC-80C6-46BF-04D6-65E1ED2B3C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25273F-FCA6-B598-619D-7741F83117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82A5D1-1A07-B29F-B31C-A6E4936D95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dirty="0">
                <a:solidFill>
                  <a:srgbClr val="464A56"/>
                </a:solidFill>
                <a:latin typeface="Cambria"/>
                <a:cs typeface="Cambria"/>
              </a:rPr>
              <a:t>18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Relevance Feedback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1981960" y="2434198"/>
            <a:ext cx="1023709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/>
              <a:t>The system improves its ranking by learning from user behavior.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800" dirty="0">
              <a:solidFill>
                <a:schemeClr val="tx1"/>
              </a:solidFill>
              <a:latin typeface="+mj-lt"/>
            </a:endParaRPr>
          </a:p>
          <a:p>
            <a:r>
              <a:rPr lang="en-US" sz="2800" b="1" dirty="0"/>
              <a:t>Example: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 click fruit pages for “apple” → it learns </a:t>
            </a:r>
            <a:r>
              <a:rPr lang="en-US" sz="2800" i="1" dirty="0"/>
              <a:t>you mean the fruit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Most people click iPhone pages → it learns </a:t>
            </a:r>
            <a:r>
              <a:rPr lang="en-US" sz="2800" i="1" dirty="0"/>
              <a:t>they mean the company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456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58B26C-CA3D-F82E-C926-6DEA8985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6BD9E-3BF0-7D78-BF0F-52327D0BF1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90FEC-80C6-46BF-04D6-65E1ED2B3C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25273F-FCA6-B598-619D-7741F83117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82A5D1-1A07-B29F-B31C-A6E4936D95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dirty="0">
                <a:solidFill>
                  <a:srgbClr val="464A56"/>
                </a:solidFill>
                <a:latin typeface="Cambria"/>
                <a:cs typeface="Cambria"/>
              </a:rPr>
              <a:t>19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Two Types of Feedback</a:t>
            </a:r>
            <a:endParaRPr sz="32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B05DDA-8AA2-F98D-CF8D-261AB87F5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317898"/>
              </p:ext>
            </p:extLst>
          </p:nvPr>
        </p:nvGraphicFramePr>
        <p:xfrm>
          <a:off x="2362200" y="2530109"/>
          <a:ext cx="8731251" cy="37044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910417">
                  <a:extLst>
                    <a:ext uri="{9D8B030D-6E8A-4147-A177-3AD203B41FA5}">
                      <a16:colId xmlns:a16="http://schemas.microsoft.com/office/drawing/2014/main" val="8405776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894533759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1997729054"/>
                    </a:ext>
                  </a:extLst>
                </a:gridCol>
              </a:tblGrid>
              <a:tr h="686011">
                <a:tc>
                  <a:txBody>
                    <a:bodyPr/>
                    <a:lstStyle/>
                    <a:p>
                      <a:r>
                        <a:rPr lang="en-IN" sz="24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749351"/>
                  </a:ext>
                </a:extLst>
              </a:tr>
              <a:tr h="1234820">
                <a:tc>
                  <a:txBody>
                    <a:bodyPr/>
                    <a:lstStyle/>
                    <a:p>
                      <a:r>
                        <a:rPr lang="en-IN" sz="2400" b="1"/>
                        <a:t>Explicit Feedback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 marks docs as relevant or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“Was this helpful?” 👍👎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390972"/>
                  </a:ext>
                </a:extLst>
              </a:tr>
              <a:tr h="1783629">
                <a:tc>
                  <a:txBody>
                    <a:bodyPr/>
                    <a:lstStyle/>
                    <a:p>
                      <a:r>
                        <a:rPr lang="en-IN" sz="2400" b="1"/>
                        <a:t>Implicit Feedback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System tracks clicks, time spent,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You click or scroll more → it learns silently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600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6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58B26C-CA3D-F82E-C926-6DEA8985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6BD9E-3BF0-7D78-BF0F-52327D0BF1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90FEC-80C6-46BF-04D6-65E1ED2B3C9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725273F-FCA6-B598-619D-7741F83117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982A5D1-1A07-B29F-B31C-A6E4936D95C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40B576D-C6FE-A639-B0A3-ECB9730A7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78505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20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Example: Search “Apple”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1981960" y="2218755"/>
            <a:ext cx="939872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/>
              <a:t>1️⃣ You type “apple”</a:t>
            </a:r>
            <a:br>
              <a:rPr lang="en-IN" sz="2800" dirty="0"/>
            </a:br>
            <a:r>
              <a:rPr lang="en-IN" sz="2800" dirty="0"/>
              <a:t>2️⃣ System guesses: most users want Apple company</a:t>
            </a:r>
            <a:br>
              <a:rPr lang="en-IN" sz="2800" dirty="0"/>
            </a:br>
            <a:r>
              <a:rPr lang="en-IN" sz="2800" dirty="0"/>
              <a:t>3️⃣ Ranks Apple.com, iPhone page higher</a:t>
            </a:r>
            <a:br>
              <a:rPr lang="en-IN" sz="2800" dirty="0"/>
            </a:br>
            <a:r>
              <a:rPr lang="en-IN" sz="2800" dirty="0"/>
              <a:t>4️⃣ You click fruit pages 🍏 → system updates your preference</a:t>
            </a:r>
            <a:br>
              <a:rPr lang="en-IN" sz="2800" dirty="0"/>
            </a:br>
            <a:r>
              <a:rPr lang="en-IN" sz="2800" dirty="0"/>
              <a:t>5️⃣ Next time, you get fruit results first</a:t>
            </a:r>
          </a:p>
          <a:p>
            <a:r>
              <a:rPr lang="en-IN" sz="2800" dirty="0"/>
              <a:t>🧠 </a:t>
            </a:r>
            <a:r>
              <a:rPr lang="en-IN" sz="2800" i="1" dirty="0"/>
              <a:t>Learning through Bayesian feedback!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0877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54767-56D1-34C8-0DA3-E8330FDB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6522F53-4D7E-F4FF-A932-C0B14B3821C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A2A3701-FCE2-0318-0949-1B992D157ED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8B1ACF-EE84-88BE-C3FC-2C62F1DD5FE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B81D36A-8543-4A62-916F-67D3F27E6FD6}"/>
              </a:ext>
            </a:extLst>
          </p:cNvPr>
          <p:cNvSpPr txBox="1"/>
          <p:nvPr/>
        </p:nvSpPr>
        <p:spPr>
          <a:xfrm>
            <a:off x="3095752" y="3073666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Doc 1: </a:t>
            </a:r>
            <a:r>
              <a:rPr lang="en-US" sz="2800" i="1" dirty="0"/>
              <a:t>Apple releases new iPhone 16 with AI camera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Doc 2: </a:t>
            </a:r>
            <a:r>
              <a:rPr lang="en-US" sz="2800" i="1" dirty="0"/>
              <a:t>Apples are rich in fiber and vitamin C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Doc 3: </a:t>
            </a:r>
            <a:r>
              <a:rPr lang="en-US" sz="2800" i="1" dirty="0"/>
              <a:t>How to plant apple trees in your backyard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💬 Task:</a:t>
            </a:r>
            <a:br>
              <a:rPr lang="en-US" sz="2800" dirty="0"/>
            </a:br>
            <a:r>
              <a:rPr lang="en-US" sz="2800" dirty="0"/>
              <a:t>👉 Pick which docs are relevant to the query.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9F5586F-C34D-97F0-B402-617F143DD6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235256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Activity: “Guess &amp; Learn!” – Probabilistic Model</a:t>
            </a:r>
            <a:b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</a:br>
            <a:b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</a:br>
            <a:r>
              <a:rPr lang="en-IN" sz="2000" b="1" dirty="0"/>
              <a:t>🧠 Query:</a:t>
            </a:r>
            <a:r>
              <a:rPr lang="en-IN" sz="2000" dirty="0"/>
              <a:t> “Apple”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45984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7BAA12-1698-8F37-3EA5-54E278334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E9F218-91BB-308F-AFF3-DD8C4E9516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87F6948-DD78-FEEF-1F8E-A769ED7919D2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CD2DD62-7FBF-A398-024B-84A3A04575E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FC66173-CE9C-1D3D-B810-141BAFE611B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12D522E-3E86-C07F-27C0-77FB6F4A31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819400"/>
            <a:ext cx="10057640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 ✅ Boolean Model = “Find exact match”</a:t>
            </a:r>
            <a:b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          ✅ Vector Space Model = “Find close match”</a:t>
            </a:r>
            <a:b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</a:br>
            <a:r>
              <a:rPr lang="en-US" sz="3200" b="0" spc="-50" dirty="0">
                <a:solidFill>
                  <a:srgbClr val="464A56"/>
                </a:solidFill>
                <a:latin typeface="Cambria"/>
                <a:cs typeface="Cambria"/>
              </a:rPr>
              <a:t>          ✅ Probabilistic Model = “Learn best match”</a:t>
            </a:r>
            <a:endParaRPr lang="en-US" sz="3200" dirty="0">
              <a:latin typeface="Cambria"/>
              <a:cs typeface="Cambria"/>
            </a:endParaRPr>
          </a:p>
        </p:txBody>
      </p:sp>
      <p:sp>
        <p:nvSpPr>
          <p:cNvPr id="8" name="object 7" descr="$PPTXTitle">
            <a:extLst>
              <a:ext uri="{FF2B5EF4-FFF2-40B4-BE49-F238E27FC236}">
                <a16:creationId xmlns:a16="http://schemas.microsoft.com/office/drawing/2014/main" id="{13E318B0-CB32-BE05-9E3A-6F1DBD2EAE59}"/>
              </a:ext>
            </a:extLst>
          </p:cNvPr>
          <p:cNvSpPr txBox="1">
            <a:spLocks/>
          </p:cNvSpPr>
          <p:nvPr/>
        </p:nvSpPr>
        <p:spPr>
          <a:xfrm>
            <a:off x="1259457" y="1229090"/>
            <a:ext cx="1005764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algn="ctr">
              <a:spcBef>
                <a:spcPts val="105"/>
              </a:spcBef>
              <a:tabLst>
                <a:tab pos="1043305" algn="l"/>
              </a:tabLst>
            </a:pPr>
            <a:r>
              <a:rPr lang="en-US" b="0" spc="-50" dirty="0">
                <a:solidFill>
                  <a:srgbClr val="464A56"/>
                </a:solidFill>
                <a:latin typeface="Cambria"/>
                <a:cs typeface="Cambria"/>
              </a:rPr>
              <a:t>           Quick Recap Content</a:t>
            </a:r>
            <a:endParaRPr lang="en-US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68350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 dirty="0"/>
          </a:p>
        </p:txBody>
      </p:sp>
      <p:sp>
        <p:nvSpPr>
          <p:cNvPr id="9" name="object 8" descr="$PPTXTitle">
            <a:extLst>
              <a:ext uri="{FF2B5EF4-FFF2-40B4-BE49-F238E27FC236}">
                <a16:creationId xmlns:a16="http://schemas.microsoft.com/office/drawing/2014/main" id="{FF7DBD81-81E4-5217-8D20-821728DE217F}"/>
              </a:ext>
            </a:extLst>
          </p:cNvPr>
          <p:cNvSpPr txBox="1">
            <a:spLocks/>
          </p:cNvSpPr>
          <p:nvPr/>
        </p:nvSpPr>
        <p:spPr>
          <a:xfrm>
            <a:off x="5093646" y="4068088"/>
            <a:ext cx="639172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dirty="0"/>
              <a:t>“Ever typed ‘</a:t>
            </a:r>
            <a:r>
              <a:rPr lang="en-US" sz="2400" dirty="0" err="1"/>
              <a:t>googel</a:t>
            </a:r>
            <a:r>
              <a:rPr lang="en-US" sz="2400" dirty="0"/>
              <a:t>’ instead of Google? 😅 Let’s see how IR systems still understand you!”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</TotalTime>
  <Words>1218</Words>
  <Application>Microsoft Office PowerPoint</Application>
  <PresentationFormat>Widescreen</PresentationFormat>
  <Paragraphs>243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Cambria</vt:lpstr>
      <vt:lpstr>Segoe UI</vt:lpstr>
      <vt:lpstr>Office Theme</vt:lpstr>
      <vt:lpstr>Information Retrieval                    Chapter 3: Retrieval Models                   TY B.Sc. (CS) </vt:lpstr>
      <vt:lpstr>2 Topics:</vt:lpstr>
      <vt:lpstr>3 Introduction to Retrieval Models?</vt:lpstr>
      <vt:lpstr>4 Boolean Model</vt:lpstr>
      <vt:lpstr>PowerPoint Presentation</vt:lpstr>
      <vt:lpstr>Activity – Boolean Model Practice </vt:lpstr>
      <vt:lpstr>5 Vector Space Model (VSM)</vt:lpstr>
      <vt:lpstr>6 Steps in Vector Space Model (VSM) </vt:lpstr>
      <vt:lpstr>PowerPoint Presentation</vt:lpstr>
      <vt:lpstr>7 Example Documents</vt:lpstr>
      <vt:lpstr>8 Step 1 – Term Frequency (TF)</vt:lpstr>
      <vt:lpstr>9 Step 2 – IDF (Rareness Across Docs)</vt:lpstr>
      <vt:lpstr>10 Step 3 – TF × IDF (Weights)</vt:lpstr>
      <vt:lpstr>11     What is Cosine Similarity?</vt:lpstr>
      <vt:lpstr>PowerPoint Presentation</vt:lpstr>
      <vt:lpstr>12 Step 4 – Cosine Similarity</vt:lpstr>
      <vt:lpstr>13 Step 5 – Query–Document Matching</vt:lpstr>
      <vt:lpstr>Activity – Find the Most Relevant                    Document </vt:lpstr>
      <vt:lpstr>14 Probabilistic Model</vt:lpstr>
      <vt:lpstr>15 What is the Probabilistic Model?</vt:lpstr>
      <vt:lpstr>16                How it Works</vt:lpstr>
      <vt:lpstr>17 Bayesian Retrieval</vt:lpstr>
      <vt:lpstr>18 Relevance Feedback</vt:lpstr>
      <vt:lpstr>19 Two Types of Feedback</vt:lpstr>
      <vt:lpstr>20 Example: Search “Apple”</vt:lpstr>
      <vt:lpstr>Activity: “Guess &amp; Learn!” – Probabilistic Model  🧠 Query: “Apple”</vt:lpstr>
      <vt:lpstr> ✅ Boolean Model = “Find exact match”           ✅ Vector Space Model = “Find close match”           ✅ Probabilistic Model = “Learn best match”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poornimanadar1234@gmail.com</cp:lastModifiedBy>
  <cp:revision>20</cp:revision>
  <dcterms:created xsi:type="dcterms:W3CDTF">2025-11-04T17:06:10Z</dcterms:created>
  <dcterms:modified xsi:type="dcterms:W3CDTF">2025-11-12T18:08:28Z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