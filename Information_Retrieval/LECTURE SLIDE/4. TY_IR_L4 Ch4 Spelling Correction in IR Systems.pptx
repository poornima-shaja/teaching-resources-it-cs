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5"/>
  </p:notesMasterIdLst>
  <p:sldIdLst>
    <p:sldId id="256" r:id="rId2"/>
    <p:sldId id="257" r:id="rId3"/>
    <p:sldId id="309" r:id="rId4"/>
    <p:sldId id="311" r:id="rId5"/>
    <p:sldId id="275" r:id="rId6"/>
    <p:sldId id="286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10" r:id="rId15"/>
    <p:sldId id="312" r:id="rId16"/>
    <p:sldId id="313" r:id="rId17"/>
    <p:sldId id="314" r:id="rId18"/>
    <p:sldId id="315" r:id="rId19"/>
    <p:sldId id="316" r:id="rId20"/>
    <p:sldId id="317" r:id="rId21"/>
    <p:sldId id="318" r:id="rId22"/>
    <p:sldId id="319" r:id="rId23"/>
    <p:sldId id="320" r:id="rId24"/>
    <p:sldId id="321" r:id="rId25"/>
    <p:sldId id="322" r:id="rId26"/>
    <p:sldId id="258" r:id="rId27"/>
    <p:sldId id="259" r:id="rId28"/>
    <p:sldId id="323" r:id="rId29"/>
    <p:sldId id="260" r:id="rId30"/>
    <p:sldId id="261" r:id="rId31"/>
    <p:sldId id="262" r:id="rId32"/>
    <p:sldId id="263" r:id="rId33"/>
    <p:sldId id="324" r:id="rId34"/>
    <p:sldId id="325" r:id="rId35"/>
    <p:sldId id="326" r:id="rId36"/>
    <p:sldId id="327" r:id="rId37"/>
    <p:sldId id="328" r:id="rId38"/>
    <p:sldId id="330" r:id="rId39"/>
    <p:sldId id="329" r:id="rId40"/>
    <p:sldId id="340" r:id="rId41"/>
    <p:sldId id="341" r:id="rId42"/>
    <p:sldId id="342" r:id="rId43"/>
    <p:sldId id="343" r:id="rId44"/>
    <p:sldId id="332" r:id="rId45"/>
    <p:sldId id="331" r:id="rId46"/>
    <p:sldId id="333" r:id="rId47"/>
    <p:sldId id="334" r:id="rId48"/>
    <p:sldId id="335" r:id="rId49"/>
    <p:sldId id="336" r:id="rId50"/>
    <p:sldId id="337" r:id="rId51"/>
    <p:sldId id="338" r:id="rId52"/>
    <p:sldId id="339" r:id="rId53"/>
    <p:sldId id="269" r:id="rId5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01" autoAdjust="0"/>
    <p:restoredTop sz="94660"/>
  </p:normalViewPr>
  <p:slideViewPr>
    <p:cSldViewPr>
      <p:cViewPr varScale="1">
        <p:scale>
          <a:sx n="86" d="100"/>
          <a:sy n="86" d="100"/>
        </p:scale>
        <p:origin x="72" y="1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50E53-DE1B-407D-A709-579CCB904A6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43FC4-0F31-4797-9FA8-1F6AE7072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606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43FC4-0F31-4797-9FA8-1F6AE707272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15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984" y="432816"/>
            <a:ext cx="3459183" cy="612343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934462" y="2177033"/>
            <a:ext cx="8770620" cy="0"/>
          </a:xfrm>
          <a:custGeom>
            <a:avLst/>
            <a:gdLst/>
            <a:ahLst/>
            <a:cxnLst/>
            <a:rect l="l" t="t" r="r" b="b"/>
            <a:pathLst>
              <a:path w="8770620">
                <a:moveTo>
                  <a:pt x="0" y="0"/>
                </a:moveTo>
                <a:lnTo>
                  <a:pt x="8770619" y="0"/>
                </a:lnTo>
              </a:path>
            </a:pathLst>
          </a:custGeom>
          <a:ln w="38100">
            <a:solidFill>
              <a:srgbClr val="79A8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44368" y="2456687"/>
            <a:ext cx="3077845" cy="1516380"/>
          </a:xfrm>
          <a:custGeom>
            <a:avLst/>
            <a:gdLst/>
            <a:ahLst/>
            <a:cxnLst/>
            <a:rect l="l" t="t" r="r" b="b"/>
            <a:pathLst>
              <a:path w="3077845" h="1516379">
                <a:moveTo>
                  <a:pt x="3077845" y="757428"/>
                </a:moveTo>
                <a:lnTo>
                  <a:pt x="3066948" y="751078"/>
                </a:lnTo>
                <a:lnTo>
                  <a:pt x="2989199" y="705739"/>
                </a:lnTo>
                <a:lnTo>
                  <a:pt x="2985262" y="706755"/>
                </a:lnTo>
                <a:lnTo>
                  <a:pt x="2981706" y="712851"/>
                </a:lnTo>
                <a:lnTo>
                  <a:pt x="2982722" y="716661"/>
                </a:lnTo>
                <a:lnTo>
                  <a:pt x="3041700" y="751078"/>
                </a:lnTo>
                <a:lnTo>
                  <a:pt x="2528316" y="751078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lnTo>
                  <a:pt x="2528316" y="1516380"/>
                </a:lnTo>
                <a:lnTo>
                  <a:pt x="2528316" y="763778"/>
                </a:lnTo>
                <a:lnTo>
                  <a:pt x="3041700" y="763778"/>
                </a:lnTo>
                <a:lnTo>
                  <a:pt x="2982722" y="798195"/>
                </a:lnTo>
                <a:lnTo>
                  <a:pt x="2981706" y="802005"/>
                </a:lnTo>
                <a:lnTo>
                  <a:pt x="2985262" y="808101"/>
                </a:lnTo>
                <a:lnTo>
                  <a:pt x="2989199" y="809117"/>
                </a:lnTo>
                <a:lnTo>
                  <a:pt x="3066948" y="763778"/>
                </a:lnTo>
                <a:lnTo>
                  <a:pt x="3077845" y="757428"/>
                </a:lnTo>
                <a:close/>
              </a:path>
            </a:pathLst>
          </a:custGeom>
          <a:solidFill>
            <a:srgbClr val="79A8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944368" y="2456688"/>
            <a:ext cx="2528570" cy="1516380"/>
          </a:xfrm>
          <a:custGeom>
            <a:avLst/>
            <a:gdLst/>
            <a:ahLst/>
            <a:cxnLst/>
            <a:rect l="l" t="t" r="r" b="b"/>
            <a:pathLst>
              <a:path w="2528570" h="1516379">
                <a:moveTo>
                  <a:pt x="0" y="1516380"/>
                </a:moveTo>
                <a:lnTo>
                  <a:pt x="2528316" y="1516380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6155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2769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40" cy="2769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357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9780" y="130251"/>
            <a:ext cx="5954395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31010" y="2270505"/>
            <a:ext cx="8729980" cy="2527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-685800" y="954180"/>
            <a:ext cx="11216275" cy="2821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650490" algn="ctr">
              <a:lnSpc>
                <a:spcPts val="5550"/>
              </a:lnSpc>
            </a:pP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Information Retrieval</a:t>
            </a:r>
            <a:b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                   </a:t>
            </a:r>
            <a:r>
              <a:rPr lang="en-IN" sz="3200" b="0" spc="150" dirty="0">
                <a:solidFill>
                  <a:srgbClr val="FFFFFF"/>
                </a:solidFill>
                <a:latin typeface="Cambria"/>
                <a:cs typeface="Cambria"/>
              </a:rPr>
              <a:t>Chapter 4: </a:t>
            </a:r>
            <a:r>
              <a:rPr lang="en-US" sz="3200" b="0" spc="150" dirty="0">
                <a:solidFill>
                  <a:srgbClr val="FFFFFF"/>
                </a:solidFill>
                <a:latin typeface="Cambria"/>
                <a:cs typeface="Cambria"/>
              </a:rPr>
              <a:t>Spelling Correction </a:t>
            </a:r>
            <a:br>
              <a:rPr lang="en-US" sz="32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US" sz="3200" b="0" spc="150" dirty="0">
                <a:solidFill>
                  <a:srgbClr val="FFFFFF"/>
                </a:solidFill>
                <a:latin typeface="Cambria"/>
                <a:cs typeface="Cambria"/>
              </a:rPr>
              <a:t>                       in IR Systems</a:t>
            </a:r>
            <a:b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                  </a:t>
            </a:r>
            <a:r>
              <a:rPr lang="en-IN" sz="2400" b="0" spc="150" dirty="0">
                <a:solidFill>
                  <a:srgbClr val="FFFFFF"/>
                </a:solidFill>
                <a:latin typeface="Cambria"/>
                <a:cs typeface="Cambria"/>
              </a:rPr>
              <a:t>TY B.Sc. (CS) 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33290" y="3920997"/>
            <a:ext cx="2729865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Semester</a:t>
            </a:r>
            <a:r>
              <a:rPr sz="17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Calibri"/>
                <a:cs typeface="Calibri"/>
              </a:rPr>
              <a:t>VI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10961" y="3766565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599" y="0"/>
                </a:lnTo>
              </a:path>
            </a:pathLst>
          </a:custGeom>
          <a:ln w="38100">
            <a:solidFill>
              <a:srgbClr val="00A4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5388" y="6519164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DFCF8"/>
                </a:solidFill>
                <a:latin typeface="Cambria"/>
                <a:cs typeface="Cambria"/>
              </a:rPr>
              <a:t>1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7" name="object 3" descr="$PPTXTitle">
            <a:extLst>
              <a:ext uri="{FF2B5EF4-FFF2-40B4-BE49-F238E27FC236}">
                <a16:creationId xmlns:a16="http://schemas.microsoft.com/office/drawing/2014/main" id="{C83E2C76-DF6F-6D6A-CB74-60A6C5734F58}"/>
              </a:ext>
            </a:extLst>
          </p:cNvPr>
          <p:cNvSpPr txBox="1">
            <a:spLocks/>
          </p:cNvSpPr>
          <p:nvPr/>
        </p:nvSpPr>
        <p:spPr>
          <a:xfrm>
            <a:off x="3276600" y="5410200"/>
            <a:ext cx="8609839" cy="1315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 marR="5080" indent="2650490" algn="ctr">
              <a:lnSpc>
                <a:spcPts val="5550"/>
              </a:lnSpc>
            </a:pPr>
            <a:r>
              <a:rPr lang="en-IN" sz="2000" spc="150" dirty="0">
                <a:solidFill>
                  <a:srgbClr val="FFFFFF"/>
                </a:solidFill>
                <a:latin typeface="Cambria"/>
                <a:cs typeface="Cambria"/>
              </a:rPr>
              <a:t>Poornima .N</a:t>
            </a:r>
          </a:p>
          <a:p>
            <a:pPr marL="12700" marR="5080" indent="2650490" algn="ctr">
              <a:lnSpc>
                <a:spcPts val="5550"/>
              </a:lnSpc>
            </a:pPr>
            <a:r>
              <a:rPr lang="en-US" sz="2000" dirty="0"/>
              <a:t>Assistant Professor, Department of IT/CS</a:t>
            </a:r>
            <a:endParaRPr lang="en-IN" sz="20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286000"/>
            <a:ext cx="8448040" cy="30001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469900" indent="-457200">
              <a:spcBef>
                <a:spcPts val="1395"/>
              </a:spcBef>
              <a:buFont typeface="Arial" panose="020B0604020202020204" pitchFamily="34" charset="0"/>
              <a:buChar char="•"/>
            </a:pPr>
            <a:r>
              <a:rPr lang="en-US" sz="3200" dirty="0"/>
              <a:t>Challenges of spelling errors in queries and documents,</a:t>
            </a:r>
          </a:p>
          <a:p>
            <a:pPr marL="469900" indent="-457200">
              <a:spcBef>
                <a:spcPts val="1395"/>
              </a:spcBef>
              <a:buFont typeface="Arial" panose="020B0604020202020204" pitchFamily="34" charset="0"/>
              <a:buChar char="•"/>
            </a:pPr>
            <a:r>
              <a:rPr lang="en-US" sz="3200" dirty="0"/>
              <a:t>Edit distance and string similarity measures</a:t>
            </a:r>
          </a:p>
          <a:p>
            <a:pPr marL="469900" indent="-457200">
              <a:spcBef>
                <a:spcPts val="1395"/>
              </a:spcBef>
              <a:buFont typeface="Arial" panose="020B0604020202020204" pitchFamily="34" charset="0"/>
              <a:buChar char="•"/>
            </a:pPr>
            <a:r>
              <a:rPr lang="en-US" sz="3200" dirty="0"/>
              <a:t>Techniques for spelling correction in IR systems</a:t>
            </a:r>
            <a:endParaRPr lang="en-IN" sz="3200" dirty="0"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69437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chemeClr val="tx1"/>
                </a:solidFill>
                <a:latin typeface="Cambria"/>
                <a:cs typeface="Cambria"/>
              </a:rPr>
              <a:t>1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sz="4400" b="0" spc="225" dirty="0">
                <a:solidFill>
                  <a:schemeClr val="tx1"/>
                </a:solidFill>
                <a:latin typeface="Cambria"/>
                <a:cs typeface="Cambria"/>
              </a:rPr>
              <a:t>Topics</a:t>
            </a:r>
            <a:r>
              <a:rPr sz="4400" b="0" spc="140" dirty="0">
                <a:solidFill>
                  <a:schemeClr val="tx1"/>
                </a:solidFill>
                <a:latin typeface="Cambria"/>
                <a:cs typeface="Cambria"/>
              </a:rPr>
              <a:t>: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object 6" descr="$PPTXTitle">
            <a:extLst>
              <a:ext uri="{FF2B5EF4-FFF2-40B4-BE49-F238E27FC236}">
                <a16:creationId xmlns:a16="http://schemas.microsoft.com/office/drawing/2014/main" id="{3C06A57B-6092-F540-3D10-2B0F13362CFF}"/>
              </a:ext>
            </a:extLst>
          </p:cNvPr>
          <p:cNvSpPr txBox="1">
            <a:spLocks/>
          </p:cNvSpPr>
          <p:nvPr/>
        </p:nvSpPr>
        <p:spPr>
          <a:xfrm>
            <a:off x="5105400" y="5549136"/>
            <a:ext cx="694372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US" sz="2000" b="0" i="1" spc="225" dirty="0">
                <a:solidFill>
                  <a:schemeClr val="tx1"/>
                </a:solidFill>
                <a:latin typeface="Cambria"/>
                <a:cs typeface="Cambria"/>
              </a:rPr>
              <a:t>Ever noticed Google still finds what you meant, even if you type ‘</a:t>
            </a:r>
            <a:r>
              <a:rPr lang="en-US" sz="2000" b="0" i="1" spc="225" dirty="0" err="1">
                <a:solidFill>
                  <a:schemeClr val="tx1"/>
                </a:solidFill>
                <a:latin typeface="Cambria"/>
                <a:cs typeface="Cambria"/>
              </a:rPr>
              <a:t>iphon</a:t>
            </a:r>
            <a:r>
              <a:rPr lang="en-US" sz="2000" b="0" i="1" spc="225" dirty="0">
                <a:solidFill>
                  <a:schemeClr val="tx1"/>
                </a:solidFill>
                <a:latin typeface="Cambria"/>
                <a:cs typeface="Cambria"/>
              </a:rPr>
              <a:t>’ instead of ‘iPhone’? 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150336"/>
            <a:ext cx="8448040" cy="411843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IN" sz="3200" b="1" dirty="0"/>
              <a:t>1. Typographical Errors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Mistyped characters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Extra or missing letters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e.g., “</a:t>
            </a:r>
            <a:r>
              <a:rPr lang="en-IN" sz="3200" dirty="0" err="1"/>
              <a:t>infomation</a:t>
            </a:r>
            <a:r>
              <a:rPr lang="en-IN" sz="3200" dirty="0"/>
              <a:t>” → “information”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3200" dirty="0"/>
          </a:p>
          <a:p>
            <a:r>
              <a:rPr lang="en-IN" sz="3200" b="1" dirty="0"/>
              <a:t>2. Cognitive / Phonetic Errors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User spells based on sound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e.g., “</a:t>
            </a:r>
            <a:r>
              <a:rPr lang="en-IN" sz="3200" dirty="0" err="1"/>
              <a:t>fone</a:t>
            </a:r>
            <a:r>
              <a:rPr lang="en-IN" sz="3200" dirty="0"/>
              <a:t>” for “phone”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69437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spc="-50" dirty="0">
                <a:solidFill>
                  <a:schemeClr val="tx1"/>
                </a:solidFill>
                <a:latin typeface="Cambria"/>
                <a:cs typeface="Cambria"/>
              </a:rPr>
              <a:t>2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600" dirty="0"/>
              <a:t>Types of Spelling Errors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642988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0128A4D-1591-8BE6-006E-0A2813F0A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7611B29B-C1F5-7F77-3831-0726530A5650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6BF957CE-CC5D-431D-A47B-8802A8A2AE1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601EF98-5760-7FE7-0CDB-608326B0ABF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16BBF158-4415-D736-3F09-ED5B347DDB05}"/>
              </a:ext>
            </a:extLst>
          </p:cNvPr>
          <p:cNvSpPr txBox="1"/>
          <p:nvPr/>
        </p:nvSpPr>
        <p:spPr>
          <a:xfrm>
            <a:off x="2916533" y="1981200"/>
            <a:ext cx="8448040" cy="461087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enviroment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becuase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frend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recieve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compewter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resturant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nite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bussines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telefhone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22173B5C-E434-A5C8-4016-8C28E8E60A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600" dirty="0"/>
              <a:t>Words for Classification Activity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115365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286000"/>
            <a:ext cx="8448040" cy="190244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800" dirty="0"/>
              <a:t>Spelling errors—whether in </a:t>
            </a:r>
            <a:r>
              <a:rPr lang="en-US" sz="2800" b="1" dirty="0"/>
              <a:t>user queries</a:t>
            </a:r>
            <a:r>
              <a:rPr lang="en-US" sz="2800" dirty="0"/>
              <a:t> or in </a:t>
            </a:r>
            <a:r>
              <a:rPr lang="en-US" sz="2800" b="1" dirty="0"/>
              <a:t>document contents</a:t>
            </a:r>
            <a:r>
              <a:rPr lang="en-US" sz="2800" dirty="0"/>
              <a:t>—create major difficulties for IR systems because they interfere with accurate term matching and retrieval effectiveness.</a:t>
            </a:r>
            <a:endParaRPr sz="2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18301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sz="3200" dirty="0"/>
              <a:t>Challenges of Spelling Errors in Queries</a:t>
            </a:r>
            <a:br>
              <a:rPr lang="en-US" sz="3200" dirty="0"/>
            </a:br>
            <a:r>
              <a:rPr lang="en-US" sz="3200" dirty="0"/>
              <a:t>                             and Documents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489727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068481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If the user misspells a word, the system cannot find the correct documents.</a:t>
            </a:r>
          </a:p>
          <a:p>
            <a:endParaRPr lang="en-US" sz="2800" dirty="0"/>
          </a:p>
          <a:p>
            <a:r>
              <a:rPr lang="en-US" sz="2800" b="1" dirty="0"/>
              <a:t>Example:</a:t>
            </a:r>
            <a:br>
              <a:rPr lang="en-US" sz="2800" dirty="0"/>
            </a:br>
            <a:r>
              <a:rPr lang="en-US" sz="2800" dirty="0"/>
              <a:t>User types: </a:t>
            </a:r>
            <a:r>
              <a:rPr lang="en-US" sz="2800" b="1" dirty="0"/>
              <a:t>“</a:t>
            </a:r>
            <a:r>
              <a:rPr lang="en-US" sz="2800" b="1" dirty="0" err="1"/>
              <a:t>enviroment</a:t>
            </a:r>
            <a:r>
              <a:rPr lang="en-US" sz="2800" b="1" dirty="0"/>
              <a:t>”</a:t>
            </a:r>
            <a:br>
              <a:rPr lang="en-US" sz="2800" dirty="0"/>
            </a:br>
            <a:r>
              <a:rPr lang="en-US" sz="2800" dirty="0"/>
              <a:t>Correct word in documents: </a:t>
            </a:r>
            <a:r>
              <a:rPr lang="en-US" sz="2800" b="1" dirty="0"/>
              <a:t>“environment”</a:t>
            </a:r>
            <a:endParaRPr lang="en-US" sz="2800" dirty="0"/>
          </a:p>
          <a:p>
            <a:r>
              <a:rPr lang="en-US" sz="2800" dirty="0"/>
              <a:t>→ The system does not match them → relevant documents are not retrieved.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1. Vocabulary Mismatch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539705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086209"/>
            <a:ext cx="8448040" cy="4487767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Recall drops</a:t>
            </a:r>
            <a:r>
              <a:rPr lang="en-US" sz="2800" dirty="0"/>
              <a:t> because relevant documents are missed due to the spelling error.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Precision drops</a:t>
            </a:r>
            <a:r>
              <a:rPr lang="en-US" sz="2800" dirty="0"/>
              <a:t> if the system guesses wrong or retrieves incorrect documents based on a mistaken correction.</a:t>
            </a:r>
          </a:p>
          <a:p>
            <a:r>
              <a:rPr lang="en-US" sz="2800" b="1" dirty="0"/>
              <a:t>Example:</a:t>
            </a:r>
            <a:br>
              <a:rPr lang="en-US" sz="2800" dirty="0"/>
            </a:br>
            <a:r>
              <a:rPr lang="en-US" sz="2800" dirty="0"/>
              <a:t>User searches: </a:t>
            </a:r>
            <a:r>
              <a:rPr lang="en-US" sz="2800" b="1" dirty="0"/>
              <a:t>“</a:t>
            </a:r>
            <a:r>
              <a:rPr lang="en-US" sz="2800" b="1" dirty="0" err="1"/>
              <a:t>nutirtion</a:t>
            </a:r>
            <a:r>
              <a:rPr lang="en-US" sz="2800" b="1" dirty="0"/>
              <a:t>” </a:t>
            </a:r>
            <a:r>
              <a:rPr lang="en-US" sz="2800" dirty="0"/>
              <a:t>Correct word: </a:t>
            </a:r>
            <a:r>
              <a:rPr lang="en-US" sz="2800" b="1" dirty="0"/>
              <a:t>“nutrition”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Recall ↓: Good articles about </a:t>
            </a:r>
            <a:r>
              <a:rPr lang="en-US" sz="2800" i="1" dirty="0"/>
              <a:t>nutrition</a:t>
            </a:r>
            <a:r>
              <a:rPr lang="en-US" sz="2800" dirty="0"/>
              <a:t> don’t show up.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Precision ↓: System may return unrelated results like </a:t>
            </a:r>
            <a:r>
              <a:rPr lang="en-US" sz="2800" i="1" dirty="0"/>
              <a:t>“nation”</a:t>
            </a:r>
            <a:r>
              <a:rPr lang="en-US" sz="2800" dirty="0"/>
              <a:t> if it guesses wrong.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2. Lower Recall &amp; Precision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80821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086209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When the spelling is wrong, it becomes unclear what the user </a:t>
            </a:r>
            <a:r>
              <a:rPr lang="en-US" sz="2800" i="1" dirty="0"/>
              <a:t>actually meant</a:t>
            </a:r>
            <a:r>
              <a:rPr lang="en-US" sz="2800" dirty="0"/>
              <a:t>.</a:t>
            </a:r>
          </a:p>
          <a:p>
            <a:r>
              <a:rPr lang="en-US" sz="2800" b="1" dirty="0"/>
              <a:t>Example:</a:t>
            </a:r>
            <a:br>
              <a:rPr lang="en-US" sz="2800" dirty="0"/>
            </a:br>
            <a:r>
              <a:rPr lang="en-US" sz="2800" dirty="0"/>
              <a:t>User types: </a:t>
            </a:r>
            <a:r>
              <a:rPr lang="en-US" sz="2800" b="1" dirty="0"/>
              <a:t>“</a:t>
            </a:r>
            <a:r>
              <a:rPr lang="en-US" sz="2800" b="1" dirty="0" err="1"/>
              <a:t>moden</a:t>
            </a:r>
            <a:r>
              <a:rPr lang="en-US" sz="2800" b="1" dirty="0"/>
              <a:t>”</a:t>
            </a:r>
            <a:br>
              <a:rPr lang="en-US" sz="2800" dirty="0"/>
            </a:br>
            <a:r>
              <a:rPr lang="en-US" sz="2800" dirty="0"/>
              <a:t>Possible meanings: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i="1" dirty="0"/>
              <a:t>modern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i="1" dirty="0"/>
              <a:t>modem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i="1" dirty="0"/>
              <a:t>model</a:t>
            </a:r>
            <a:r>
              <a:rPr lang="en-US" sz="2800" dirty="0"/>
              <a:t> (if very flexible correction)</a:t>
            </a:r>
          </a:p>
          <a:p>
            <a:r>
              <a:rPr lang="en-US" sz="2800" dirty="0"/>
              <a:t>The system must </a:t>
            </a:r>
            <a:r>
              <a:rPr lang="en-US" sz="2800" i="1" dirty="0"/>
              <a:t>guess</a:t>
            </a:r>
            <a:r>
              <a:rPr lang="en-US" sz="2800" dirty="0"/>
              <a:t> the correct one → risky.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3. Ambiguity in User Intent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984274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086209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If documents themselves have spelling errors, the index contains many incorrect or rare terms.</a:t>
            </a:r>
          </a:p>
          <a:p>
            <a:r>
              <a:rPr lang="en-US" sz="2800" dirty="0"/>
              <a:t>This makes the index bigger and less useful.</a:t>
            </a:r>
          </a:p>
          <a:p>
            <a:r>
              <a:rPr lang="en-US" sz="2800" b="1" dirty="0"/>
              <a:t>Example:</a:t>
            </a:r>
            <a:br>
              <a:rPr lang="en-US" sz="2800" dirty="0"/>
            </a:br>
            <a:r>
              <a:rPr lang="en-US" sz="2800" dirty="0"/>
              <a:t>A document contains: </a:t>
            </a:r>
            <a:r>
              <a:rPr lang="en-US" sz="2800" i="1" dirty="0"/>
              <a:t>“</a:t>
            </a:r>
            <a:r>
              <a:rPr lang="en-US" sz="2800" i="1" dirty="0" err="1"/>
              <a:t>tecnology</a:t>
            </a:r>
            <a:r>
              <a:rPr lang="en-US" sz="2800" i="1" dirty="0"/>
              <a:t>”</a:t>
            </a:r>
            <a:br>
              <a:rPr lang="en-US" sz="2800" dirty="0"/>
            </a:br>
            <a:r>
              <a:rPr lang="en-US" sz="2800" dirty="0"/>
              <a:t>Another contains: </a:t>
            </a:r>
            <a:r>
              <a:rPr lang="en-US" sz="2800" i="1" dirty="0"/>
              <a:t>“technology”</a:t>
            </a:r>
            <a:br>
              <a:rPr lang="en-US" sz="2800" dirty="0"/>
            </a:br>
            <a:r>
              <a:rPr lang="en-US" sz="2800" dirty="0"/>
              <a:t>The system treats them as two separate words → term frequency gets split → ranking becomes inaccurate.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7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4. Noisy Index in Documents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637435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086209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Stemming tries to reduce words to a common root.</a:t>
            </a:r>
            <a:br>
              <a:rPr lang="en-US" sz="2800" dirty="0"/>
            </a:br>
            <a:r>
              <a:rPr lang="en-US" sz="2800" dirty="0"/>
              <a:t>If the spelling is wrong, the stemmer fails.</a:t>
            </a:r>
          </a:p>
          <a:p>
            <a:r>
              <a:rPr lang="en-US" sz="2800" b="1" dirty="0"/>
              <a:t>Example:</a:t>
            </a:r>
            <a:br>
              <a:rPr lang="en-US" sz="2800" dirty="0"/>
            </a:br>
            <a:r>
              <a:rPr lang="en-US" sz="2800" dirty="0"/>
              <a:t>Correct: </a:t>
            </a:r>
            <a:r>
              <a:rPr lang="en-US" sz="2800" b="1" dirty="0"/>
              <a:t>“accommodation” → accommodate → </a:t>
            </a:r>
            <a:r>
              <a:rPr lang="en-US" sz="2800" b="1" dirty="0" err="1"/>
              <a:t>accommod</a:t>
            </a:r>
            <a:r>
              <a:rPr lang="en-US" sz="2800" b="1" dirty="0"/>
              <a:t>”</a:t>
            </a:r>
            <a:br>
              <a:rPr lang="en-US" sz="2800" dirty="0"/>
            </a:br>
            <a:r>
              <a:rPr lang="en-US" sz="2800" dirty="0"/>
              <a:t>Misspelled: </a:t>
            </a:r>
            <a:r>
              <a:rPr lang="en-US" sz="2800" b="1" dirty="0"/>
              <a:t>“</a:t>
            </a:r>
            <a:r>
              <a:rPr lang="en-US" sz="2800" b="1" dirty="0" err="1"/>
              <a:t>acommodation</a:t>
            </a:r>
            <a:r>
              <a:rPr lang="en-US" sz="2800" b="1" dirty="0"/>
              <a:t>”</a:t>
            </a:r>
            <a:br>
              <a:rPr lang="en-US" sz="2800" dirty="0"/>
            </a:br>
            <a:r>
              <a:rPr lang="en-US" sz="2800" dirty="0"/>
              <a:t>→ The system doesn’t know how to stem it → it becomes a separate, unlinked term.</a:t>
            </a:r>
          </a:p>
          <a:p>
            <a:r>
              <a:rPr lang="en-US" sz="2800" dirty="0"/>
              <a:t>This means similar words don’t get grouped.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8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5. Breaks Stemming &amp; Normalization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896642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1910038"/>
            <a:ext cx="8448040" cy="491865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Query expansion uses related terms or synonyms to improve search.</a:t>
            </a:r>
            <a:br>
              <a:rPr lang="en-US" sz="2800" dirty="0"/>
            </a:br>
            <a:r>
              <a:rPr lang="en-US" sz="2800" dirty="0"/>
              <a:t>If the base word is misspelled, the system finds </a:t>
            </a:r>
            <a:r>
              <a:rPr lang="en-US" sz="2800" b="1" dirty="0"/>
              <a:t>wrong or meaningless expansions</a:t>
            </a:r>
            <a:r>
              <a:rPr lang="en-US" sz="2800" dirty="0"/>
              <a:t>.</a:t>
            </a:r>
          </a:p>
          <a:p>
            <a:r>
              <a:rPr lang="en-US" sz="2800" b="1" dirty="0"/>
              <a:t>Example:</a:t>
            </a:r>
            <a:br>
              <a:rPr lang="en-US" sz="2800" dirty="0"/>
            </a:br>
            <a:r>
              <a:rPr lang="en-US" sz="2800" dirty="0"/>
              <a:t>Query: </a:t>
            </a:r>
            <a:r>
              <a:rPr lang="en-US" sz="2800" b="1" dirty="0"/>
              <a:t>“</a:t>
            </a:r>
            <a:r>
              <a:rPr lang="en-US" sz="2800" b="1" dirty="0" err="1"/>
              <a:t>enviromental</a:t>
            </a:r>
            <a:r>
              <a:rPr lang="en-US" sz="2800" b="1" dirty="0"/>
              <a:t> issues”</a:t>
            </a:r>
            <a:br>
              <a:rPr lang="en-US" sz="2800" dirty="0"/>
            </a:br>
            <a:r>
              <a:rPr lang="en-US" sz="2800" dirty="0"/>
              <a:t>Correct: </a:t>
            </a:r>
            <a:r>
              <a:rPr lang="en-US" sz="2800" b="1" dirty="0"/>
              <a:t>environmental</a:t>
            </a:r>
            <a:endParaRPr lang="en-US" sz="2800" dirty="0"/>
          </a:p>
          <a:p>
            <a:r>
              <a:rPr lang="en-US" sz="2800" dirty="0"/>
              <a:t>The system cannot expand it to terms like: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Climate, pollution and ecology</a:t>
            </a:r>
          </a:p>
          <a:p>
            <a:r>
              <a:rPr lang="en-US" sz="2800" dirty="0"/>
              <a:t>So ranking becomes poor because the system loses important context.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9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sz="3200" dirty="0"/>
              <a:t>6. Affects Query Expansion &amp; Ranking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772579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1910038"/>
            <a:ext cx="8448040" cy="491865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To fix spelling mistakes, the IR system must perform extra computation: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edit distance calculations, dictionary lookup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probability scoring, suggesting best correction</a:t>
            </a:r>
          </a:p>
          <a:p>
            <a:r>
              <a:rPr lang="en-US" sz="2800" b="1" dirty="0"/>
              <a:t>Example:</a:t>
            </a:r>
            <a:br>
              <a:rPr lang="en-US" sz="2800" dirty="0"/>
            </a:br>
            <a:r>
              <a:rPr lang="en-US" sz="2800" dirty="0"/>
              <a:t>Finding the closest word to </a:t>
            </a:r>
            <a:r>
              <a:rPr lang="en-US" sz="2800" b="1" dirty="0"/>
              <a:t>“</a:t>
            </a:r>
            <a:r>
              <a:rPr lang="en-US" sz="2800" b="1" dirty="0" err="1"/>
              <a:t>naturle</a:t>
            </a:r>
            <a:r>
              <a:rPr lang="en-US" sz="2800" b="1" dirty="0"/>
              <a:t>”</a:t>
            </a:r>
            <a:br>
              <a:rPr lang="en-US" sz="2800" dirty="0"/>
            </a:br>
            <a:r>
              <a:rPr lang="en-US" sz="2800" dirty="0"/>
              <a:t>→ The system compares it with thousands of dictionary words</a:t>
            </a:r>
            <a:br>
              <a:rPr lang="en-US" sz="2800" dirty="0"/>
            </a:br>
            <a:r>
              <a:rPr lang="en-US" sz="2800" dirty="0"/>
              <a:t>→ Calculates edit distance (natural, nature, nurture…)</a:t>
            </a:r>
            <a:br>
              <a:rPr lang="en-US" sz="2800" dirty="0"/>
            </a:br>
            <a:r>
              <a:rPr lang="en-US" sz="2800" dirty="0"/>
              <a:t>→ Selects the best one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10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sz="3200" dirty="0"/>
              <a:t>7. More Cost &amp; Processing Needed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4087040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095752" y="2438400"/>
            <a:ext cx="8448040" cy="165622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We fix spelling errors by checking which correct word looks the most similar to the misspelled one.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11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dirty="0"/>
              <a:t>Solutions to Spelling Errors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295794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12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dirty="0"/>
              <a:t>Solution Techniques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9292464-1F28-FA1F-9537-AF25F8ED46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479487"/>
              </p:ext>
            </p:extLst>
          </p:nvPr>
        </p:nvGraphicFramePr>
        <p:xfrm>
          <a:off x="2819400" y="2235647"/>
          <a:ext cx="8947616" cy="4426662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3192476">
                  <a:extLst>
                    <a:ext uri="{9D8B030D-6E8A-4147-A177-3AD203B41FA5}">
                      <a16:colId xmlns:a16="http://schemas.microsoft.com/office/drawing/2014/main" val="1431649684"/>
                    </a:ext>
                  </a:extLst>
                </a:gridCol>
                <a:gridCol w="5755140">
                  <a:extLst>
                    <a:ext uri="{9D8B030D-6E8A-4147-A177-3AD203B41FA5}">
                      <a16:colId xmlns:a16="http://schemas.microsoft.com/office/drawing/2014/main" val="4031595889"/>
                    </a:ext>
                  </a:extLst>
                </a:gridCol>
              </a:tblGrid>
              <a:tr h="304254">
                <a:tc>
                  <a:txBody>
                    <a:bodyPr/>
                    <a:lstStyle/>
                    <a:p>
                      <a:r>
                        <a:rPr lang="en-IN" sz="1600" b="1"/>
                        <a:t>Technique</a:t>
                      </a:r>
                      <a:endParaRPr lang="en-IN" sz="1600"/>
                    </a:p>
                  </a:txBody>
                  <a:tcPr marL="48602" marR="48602" marT="24301" marB="24301" anchor="ctr"/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Simple One-Line Meaning</a:t>
                      </a:r>
                      <a:endParaRPr lang="en-IN" sz="1600" dirty="0"/>
                    </a:p>
                  </a:txBody>
                  <a:tcPr marL="48602" marR="48602" marT="24301" marB="24301" anchor="ctr"/>
                </a:tc>
                <a:extLst>
                  <a:ext uri="{0D108BD9-81ED-4DB2-BD59-A6C34878D82A}">
                    <a16:rowId xmlns:a16="http://schemas.microsoft.com/office/drawing/2014/main" val="2576816028"/>
                  </a:ext>
                </a:extLst>
              </a:tr>
              <a:tr h="534941">
                <a:tc>
                  <a:txBody>
                    <a:bodyPr/>
                    <a:lstStyle/>
                    <a:p>
                      <a:r>
                        <a:rPr lang="en-IN" sz="1600" b="1" dirty="0"/>
                        <a:t>Edit Distance</a:t>
                      </a:r>
                      <a:endParaRPr lang="en-IN" sz="1600" dirty="0"/>
                    </a:p>
                  </a:txBody>
                  <a:tcPr marL="48602" marR="48602" marT="24301" marB="24301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Number of changes needed to fix the word.</a:t>
                      </a:r>
                    </a:p>
                  </a:txBody>
                  <a:tcPr marL="48602" marR="48602" marT="24301" marB="24301" anchor="ctr"/>
                </a:tc>
                <a:extLst>
                  <a:ext uri="{0D108BD9-81ED-4DB2-BD59-A6C34878D82A}">
                    <a16:rowId xmlns:a16="http://schemas.microsoft.com/office/drawing/2014/main" val="2243090146"/>
                  </a:ext>
                </a:extLst>
              </a:tr>
              <a:tr h="534941">
                <a:tc>
                  <a:txBody>
                    <a:bodyPr/>
                    <a:lstStyle/>
                    <a:p>
                      <a:r>
                        <a:rPr lang="en-IN" sz="1600" b="1" dirty="0" err="1"/>
                        <a:t>Levenshtein</a:t>
                      </a:r>
                      <a:r>
                        <a:rPr lang="en-IN" sz="1600" b="1" dirty="0"/>
                        <a:t> Distance</a:t>
                      </a:r>
                      <a:endParaRPr lang="en-IN" sz="1600" dirty="0"/>
                    </a:p>
                  </a:txBody>
                  <a:tcPr marL="48602" marR="48602" marT="24301" marB="24301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Counts insert, delete, substitute to find the closest word.</a:t>
                      </a:r>
                    </a:p>
                  </a:txBody>
                  <a:tcPr marL="48602" marR="48602" marT="24301" marB="24301" anchor="ctr"/>
                </a:tc>
                <a:extLst>
                  <a:ext uri="{0D108BD9-81ED-4DB2-BD59-A6C34878D82A}">
                    <a16:rowId xmlns:a16="http://schemas.microsoft.com/office/drawing/2014/main" val="514083879"/>
                  </a:ext>
                </a:extLst>
              </a:tr>
              <a:tr h="304254">
                <a:tc>
                  <a:txBody>
                    <a:bodyPr/>
                    <a:lstStyle/>
                    <a:p>
                      <a:r>
                        <a:rPr lang="en-IN" sz="1600" b="1" dirty="0" err="1"/>
                        <a:t>Damerau</a:t>
                      </a:r>
                      <a:r>
                        <a:rPr lang="en-IN" sz="1600" b="1" dirty="0"/>
                        <a:t>–</a:t>
                      </a:r>
                      <a:r>
                        <a:rPr lang="en-IN" sz="1600" b="1" dirty="0" err="1"/>
                        <a:t>Levenshtein</a:t>
                      </a:r>
                      <a:r>
                        <a:rPr lang="en-IN" sz="1600" b="1" dirty="0"/>
                        <a:t> Distance</a:t>
                      </a:r>
                      <a:endParaRPr lang="en-IN" sz="1600" dirty="0"/>
                    </a:p>
                  </a:txBody>
                  <a:tcPr marL="48602" marR="48602" marT="24301" marB="24301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Also fixes swapped letters (ab → ba).</a:t>
                      </a:r>
                    </a:p>
                  </a:txBody>
                  <a:tcPr marL="48602" marR="48602" marT="24301" marB="24301" anchor="ctr"/>
                </a:tc>
                <a:extLst>
                  <a:ext uri="{0D108BD9-81ED-4DB2-BD59-A6C34878D82A}">
                    <a16:rowId xmlns:a16="http://schemas.microsoft.com/office/drawing/2014/main" val="4288446462"/>
                  </a:ext>
                </a:extLst>
              </a:tr>
              <a:tr h="534941">
                <a:tc>
                  <a:txBody>
                    <a:bodyPr/>
                    <a:lstStyle/>
                    <a:p>
                      <a:r>
                        <a:rPr lang="en-IN" sz="1600" b="1" dirty="0"/>
                        <a:t>Jaccard Similarity</a:t>
                      </a:r>
                      <a:endParaRPr lang="en-IN" sz="1600" dirty="0"/>
                    </a:p>
                  </a:txBody>
                  <a:tcPr marL="48602" marR="48602" marT="24301" marB="24301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Checks how many letters/parts are common.</a:t>
                      </a:r>
                    </a:p>
                  </a:txBody>
                  <a:tcPr marL="48602" marR="48602" marT="24301" marB="24301" anchor="ctr"/>
                </a:tc>
                <a:extLst>
                  <a:ext uri="{0D108BD9-81ED-4DB2-BD59-A6C34878D82A}">
                    <a16:rowId xmlns:a16="http://schemas.microsoft.com/office/drawing/2014/main" val="235028648"/>
                  </a:ext>
                </a:extLst>
              </a:tr>
              <a:tr h="304254">
                <a:tc>
                  <a:txBody>
                    <a:bodyPr/>
                    <a:lstStyle/>
                    <a:p>
                      <a:r>
                        <a:rPr lang="en-IN" sz="1600" b="1" dirty="0"/>
                        <a:t>Soundex / Phonetic Matching</a:t>
                      </a:r>
                      <a:endParaRPr lang="en-IN" sz="1600" dirty="0"/>
                    </a:p>
                  </a:txBody>
                  <a:tcPr marL="48602" marR="48602" marT="24301" marB="24301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Matches words that sound similar.</a:t>
                      </a:r>
                    </a:p>
                  </a:txBody>
                  <a:tcPr marL="48602" marR="48602" marT="24301" marB="24301" anchor="ctr"/>
                </a:tc>
                <a:extLst>
                  <a:ext uri="{0D108BD9-81ED-4DB2-BD59-A6C34878D82A}">
                    <a16:rowId xmlns:a16="http://schemas.microsoft.com/office/drawing/2014/main" val="700826444"/>
                  </a:ext>
                </a:extLst>
              </a:tr>
              <a:tr h="534941">
                <a:tc>
                  <a:txBody>
                    <a:bodyPr/>
                    <a:lstStyle/>
                    <a:p>
                      <a:r>
                        <a:rPr lang="en-IN" sz="1600" b="1" dirty="0"/>
                        <a:t>N-gram Matching</a:t>
                      </a:r>
                      <a:endParaRPr lang="en-IN" sz="1600" dirty="0"/>
                    </a:p>
                  </a:txBody>
                  <a:tcPr marL="48602" marR="48602" marT="24301" marB="24301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Breaks words into small parts and matches overlaps.</a:t>
                      </a:r>
                    </a:p>
                  </a:txBody>
                  <a:tcPr marL="48602" marR="48602" marT="24301" marB="24301" anchor="ctr"/>
                </a:tc>
                <a:extLst>
                  <a:ext uri="{0D108BD9-81ED-4DB2-BD59-A6C34878D82A}">
                    <a16:rowId xmlns:a16="http://schemas.microsoft.com/office/drawing/2014/main" val="2707974385"/>
                  </a:ext>
                </a:extLst>
              </a:tr>
              <a:tr h="534941">
                <a:tc>
                  <a:txBody>
                    <a:bodyPr/>
                    <a:lstStyle/>
                    <a:p>
                      <a:r>
                        <a:rPr lang="en-IN" sz="1600" b="1" dirty="0"/>
                        <a:t>Dictionary-Based Correction</a:t>
                      </a:r>
                      <a:endParaRPr lang="en-IN" sz="1600" dirty="0"/>
                    </a:p>
                  </a:txBody>
                  <a:tcPr marL="48602" marR="48602" marT="24301" marB="24301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Compares wrong word with all dictionary words.</a:t>
                      </a:r>
                    </a:p>
                  </a:txBody>
                  <a:tcPr marL="48602" marR="48602" marT="24301" marB="24301" anchor="ctr"/>
                </a:tc>
                <a:extLst>
                  <a:ext uri="{0D108BD9-81ED-4DB2-BD59-A6C34878D82A}">
                    <a16:rowId xmlns:a16="http://schemas.microsoft.com/office/drawing/2014/main" val="4009706504"/>
                  </a:ext>
                </a:extLst>
              </a:tr>
              <a:tr h="304254">
                <a:tc>
                  <a:txBody>
                    <a:bodyPr/>
                    <a:lstStyle/>
                    <a:p>
                      <a:r>
                        <a:rPr lang="en-IN" sz="1600" b="1" dirty="0"/>
                        <a:t>Noisy Channel Model</a:t>
                      </a:r>
                      <a:endParaRPr lang="en-IN" sz="1600" dirty="0"/>
                    </a:p>
                  </a:txBody>
                  <a:tcPr marL="48602" marR="48602" marT="24301" marB="24301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Picks the most probable correct word.</a:t>
                      </a:r>
                    </a:p>
                  </a:txBody>
                  <a:tcPr marL="48602" marR="48602" marT="24301" marB="24301" anchor="ctr"/>
                </a:tc>
                <a:extLst>
                  <a:ext uri="{0D108BD9-81ED-4DB2-BD59-A6C34878D82A}">
                    <a16:rowId xmlns:a16="http://schemas.microsoft.com/office/drawing/2014/main" val="626291619"/>
                  </a:ext>
                </a:extLst>
              </a:tr>
              <a:tr h="534941">
                <a:tc>
                  <a:txBody>
                    <a:bodyPr/>
                    <a:lstStyle/>
                    <a:p>
                      <a:r>
                        <a:rPr lang="en-IN" sz="1600" b="1" dirty="0"/>
                        <a:t>Context-Based Correction</a:t>
                      </a:r>
                      <a:endParaRPr lang="en-IN" sz="1600" dirty="0"/>
                    </a:p>
                  </a:txBody>
                  <a:tcPr marL="48602" marR="48602" marT="24301" marB="24301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Uses surrounding words to guess the correct spelling.</a:t>
                      </a:r>
                    </a:p>
                  </a:txBody>
                  <a:tcPr marL="48602" marR="48602" marT="24301" marB="24301" anchor="ctr"/>
                </a:tc>
                <a:extLst>
                  <a:ext uri="{0D108BD9-81ED-4DB2-BD59-A6C34878D82A}">
                    <a16:rowId xmlns:a16="http://schemas.microsoft.com/office/drawing/2014/main" val="33473091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5363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63B7947-5692-A8E4-E361-AACDF2301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72BC461-EEA0-0EB1-D037-70D6AA0CE557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CA9E978C-82E7-8D50-935F-93374CB3E33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D1AE2C0-7A94-72C5-6EE1-06F2CAC743E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2845F3DA-484A-5C9D-F9AD-374D03CDEC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13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dirty="0"/>
              <a:t>Edit Distance (</a:t>
            </a:r>
            <a:r>
              <a:rPr lang="en-IN" dirty="0" err="1"/>
              <a:t>Levenshtein</a:t>
            </a:r>
            <a:r>
              <a:rPr lang="en-IN" dirty="0"/>
              <a:t> Distance)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DA30095-A9F4-316F-BAFF-009DD7FE9528}"/>
              </a:ext>
            </a:extLst>
          </p:cNvPr>
          <p:cNvSpPr>
            <a:spLocks noGrp="1"/>
          </p:cNvSpPr>
          <p:nvPr/>
        </p:nvSpPr>
        <p:spPr>
          <a:xfrm>
            <a:off x="2976282" y="221289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dirty="0"/>
              <a:t>• Edit Distance measures how many operations are needed to convert one string into another.</a:t>
            </a:r>
          </a:p>
          <a:p>
            <a:pPr marL="0" indent="0">
              <a:buNone/>
            </a:pPr>
            <a:r>
              <a:rPr dirty="0"/>
              <a:t>• Operations:</a:t>
            </a:r>
          </a:p>
          <a:p>
            <a:r>
              <a:rPr dirty="0"/>
              <a:t>   - Insertion</a:t>
            </a:r>
          </a:p>
          <a:p>
            <a:r>
              <a:rPr dirty="0"/>
              <a:t>   - Deletion</a:t>
            </a:r>
          </a:p>
          <a:p>
            <a:r>
              <a:rPr dirty="0"/>
              <a:t>   - Substitution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Levenshtein</a:t>
            </a:r>
            <a:r>
              <a:rPr dirty="0"/>
              <a:t> Distance uses all three operations.</a:t>
            </a:r>
          </a:p>
        </p:txBody>
      </p:sp>
    </p:spTree>
    <p:extLst>
      <p:ext uri="{BB962C8B-B14F-4D97-AF65-F5344CB8AC3E}">
        <p14:creationId xmlns:p14="http://schemas.microsoft.com/office/powerpoint/2010/main" val="1713035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0997186-39A0-E5A7-FB7C-FCB7F4273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B00C6E06-DBE1-7E9E-2D02-C879C651A8D9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05953392-9A49-02D6-9947-B0596E8B737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645E6A5-F03B-6C9B-DFA0-4586D31DDAF0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41D413CE-35D3-744D-FDF4-EAE058A152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14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dirty="0"/>
              <a:t> Example: kitten → sitting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1A2E4DE-FF87-8ED3-E9B5-B94F07E45B0B}"/>
              </a:ext>
            </a:extLst>
          </p:cNvPr>
          <p:cNvSpPr>
            <a:spLocks noGrp="1"/>
          </p:cNvSpPr>
          <p:nvPr/>
        </p:nvSpPr>
        <p:spPr>
          <a:xfrm>
            <a:off x="3450396" y="229851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k </a:t>
            </a:r>
            <a:r>
              <a:rPr dirty="0" err="1"/>
              <a:t>i</a:t>
            </a:r>
            <a:r>
              <a:rPr dirty="0"/>
              <a:t> t </a:t>
            </a:r>
            <a:r>
              <a:rPr dirty="0" err="1"/>
              <a:t>t</a:t>
            </a:r>
            <a:r>
              <a:rPr dirty="0"/>
              <a:t> e n</a:t>
            </a:r>
          </a:p>
          <a:p>
            <a:r>
              <a:rPr dirty="0"/>
              <a:t>s </a:t>
            </a:r>
            <a:r>
              <a:rPr dirty="0" err="1"/>
              <a:t>i</a:t>
            </a:r>
            <a:r>
              <a:rPr dirty="0"/>
              <a:t> t </a:t>
            </a:r>
            <a:r>
              <a:rPr dirty="0" err="1"/>
              <a:t>t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n g</a:t>
            </a:r>
          </a:p>
          <a:p>
            <a:endParaRPr dirty="0"/>
          </a:p>
          <a:p>
            <a:r>
              <a:rPr dirty="0"/>
              <a:t>Operations:</a:t>
            </a:r>
          </a:p>
          <a:p>
            <a:r>
              <a:rPr dirty="0"/>
              <a:t>1. Substitute 'k' → 's'</a:t>
            </a:r>
          </a:p>
          <a:p>
            <a:r>
              <a:rPr dirty="0"/>
              <a:t>2. Substitute 'e' → '</a:t>
            </a:r>
            <a:r>
              <a:rPr dirty="0" err="1"/>
              <a:t>i</a:t>
            </a:r>
            <a:r>
              <a:rPr dirty="0"/>
              <a:t>'</a:t>
            </a:r>
          </a:p>
          <a:p>
            <a:r>
              <a:rPr dirty="0"/>
              <a:t>3. Insert 'g'</a:t>
            </a:r>
          </a:p>
          <a:p>
            <a:endParaRPr dirty="0"/>
          </a:p>
          <a:p>
            <a:r>
              <a:rPr dirty="0" err="1"/>
              <a:t>Levenshtein</a:t>
            </a:r>
            <a:r>
              <a:rPr dirty="0"/>
              <a:t> Distance = 3</a:t>
            </a:r>
          </a:p>
        </p:txBody>
      </p:sp>
    </p:spTree>
    <p:extLst>
      <p:ext uri="{BB962C8B-B14F-4D97-AF65-F5344CB8AC3E}">
        <p14:creationId xmlns:p14="http://schemas.microsoft.com/office/powerpoint/2010/main" val="31633408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FA2A97E-B160-ED1F-1D0A-9DF44D371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220BB63-6D9C-22FC-380A-7A1A722988FD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498472AC-239F-231C-A559-F6939355546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B6E666A-767B-FB81-8FAC-205A342D9C83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0651FA81-6416-7E05-C348-6FFBF9B60A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How </a:t>
            </a:r>
            <a:r>
              <a:rPr lang="en-US" dirty="0" err="1"/>
              <a:t>Levenshtein</a:t>
            </a:r>
            <a:r>
              <a:rPr lang="en-US" dirty="0"/>
              <a:t> Distance is Calculated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07F9834-8E41-B33F-233F-079B0C84C0D1}"/>
              </a:ext>
            </a:extLst>
          </p:cNvPr>
          <p:cNvSpPr>
            <a:spLocks noGrp="1"/>
          </p:cNvSpPr>
          <p:nvPr/>
        </p:nvSpPr>
        <p:spPr>
          <a:xfrm>
            <a:off x="3003176" y="228058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• Uses Dynamic Programming</a:t>
            </a:r>
          </a:p>
          <a:p>
            <a:r>
              <a:t>• Creates a matrix of size (len(str1)+1) × (len(str2)+1)</a:t>
            </a:r>
          </a:p>
          <a:p>
            <a:r>
              <a:t>• Each cell represents minimum operations required</a:t>
            </a:r>
          </a:p>
          <a:p>
            <a:r>
              <a:t>• Final cell gives the Edit Distance</a:t>
            </a:r>
          </a:p>
        </p:txBody>
      </p:sp>
    </p:spTree>
    <p:extLst>
      <p:ext uri="{BB962C8B-B14F-4D97-AF65-F5344CB8AC3E}">
        <p14:creationId xmlns:p14="http://schemas.microsoft.com/office/powerpoint/2010/main" val="2088646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040B2FA-F8B5-C1E5-2A53-B6F78E094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F438ED1-2D20-A9EF-A6A6-DD25C156F88B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5DE2ABB-E3D6-2AF5-C660-208B03751D5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59C3064-5CBC-90D4-1C34-C30A6E6ACE7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B66888AA-886A-AFB5-3E9A-096A6387F8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Manual Example: cat → cut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B2CF576-FBF1-E532-3F39-71F48033157E}"/>
              </a:ext>
            </a:extLst>
          </p:cNvPr>
          <p:cNvSpPr>
            <a:spLocks noGrp="1"/>
          </p:cNvSpPr>
          <p:nvPr/>
        </p:nvSpPr>
        <p:spPr>
          <a:xfrm>
            <a:off x="3204972" y="230962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c a t</a:t>
            </a:r>
          </a:p>
          <a:p>
            <a:r>
              <a:t>c u t</a:t>
            </a:r>
          </a:p>
          <a:p>
            <a:endParaRPr/>
          </a:p>
          <a:p>
            <a:r>
              <a:t>Operation:</a:t>
            </a:r>
          </a:p>
          <a:p>
            <a:r>
              <a:t>• Substitute 'a' → 'u'</a:t>
            </a:r>
          </a:p>
          <a:p>
            <a:endParaRPr/>
          </a:p>
          <a:p>
            <a:r>
              <a:t>Distance = 1</a:t>
            </a:r>
          </a:p>
        </p:txBody>
      </p:sp>
    </p:spTree>
    <p:extLst>
      <p:ext uri="{BB962C8B-B14F-4D97-AF65-F5344CB8AC3E}">
        <p14:creationId xmlns:p14="http://schemas.microsoft.com/office/powerpoint/2010/main" val="25578872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67B23C2-7E73-A7A3-1840-1FCF32F60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BC98DA1-6053-EB8A-ED90-8B8BA61ABA83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60AC54A6-905E-2BD3-9834-9133FA75C4B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ED4B701-699C-9802-2C14-B2398857044A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51726CE1-1C99-5A3A-5255-56842555FC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Class Activity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1CD07B2-3D4E-8FC3-A56A-0FD384F7D769}"/>
              </a:ext>
            </a:extLst>
          </p:cNvPr>
          <p:cNvSpPr>
            <a:spLocks noGrp="1"/>
          </p:cNvSpPr>
          <p:nvPr/>
        </p:nvSpPr>
        <p:spPr>
          <a:xfrm>
            <a:off x="3048000" y="215462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C</a:t>
            </a:r>
            <a:r>
              <a:rPr dirty="0"/>
              <a:t>ompute Edit Distance:</a:t>
            </a:r>
          </a:p>
          <a:p>
            <a:r>
              <a:rPr dirty="0"/>
              <a:t>1. 'book' → 'back'</a:t>
            </a:r>
          </a:p>
          <a:p>
            <a:r>
              <a:rPr dirty="0"/>
              <a:t>2. 'ros</a:t>
            </a:r>
            <a:r>
              <a:rPr lang="en-US" dirty="0"/>
              <a:t>es</a:t>
            </a:r>
            <a:r>
              <a:rPr dirty="0"/>
              <a:t>' → 'rows'</a:t>
            </a:r>
          </a:p>
          <a:p>
            <a:r>
              <a:rPr dirty="0"/>
              <a:t>3. 'game' → 'fame</a:t>
            </a:r>
            <a:r>
              <a:rPr lang="en-US" dirty="0"/>
              <a:t>s</a:t>
            </a:r>
            <a:r>
              <a:rPr dirty="0"/>
              <a:t>’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dirty="0"/>
              <a:t>• Identify operations: insertion, deletion, substitution</a:t>
            </a:r>
          </a:p>
        </p:txBody>
      </p:sp>
    </p:spTree>
    <p:extLst>
      <p:ext uri="{BB962C8B-B14F-4D97-AF65-F5344CB8AC3E}">
        <p14:creationId xmlns:p14="http://schemas.microsoft.com/office/powerpoint/2010/main" val="19293410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3E4D77C-D568-56D6-EBE2-A899D811B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394800E3-A4E1-45C9-2952-D90150CBBF15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A4BB81EC-A48F-504A-B731-0A5E6C45792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C2407C3-F552-8113-D057-04A1F9E38B0A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F250DA35-E46E-00BE-4B19-BE8E41CFC6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Challenge Question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AD3C98E-99B3-3C6F-7302-B4C971908D31}"/>
              </a:ext>
            </a:extLst>
          </p:cNvPr>
          <p:cNvSpPr>
            <a:spLocks noGrp="1"/>
          </p:cNvSpPr>
          <p:nvPr/>
        </p:nvSpPr>
        <p:spPr>
          <a:xfrm>
            <a:off x="2971800" y="2300662"/>
            <a:ext cx="8229600" cy="3795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Find the Edit Distance:</a:t>
            </a:r>
          </a:p>
          <a:p>
            <a:r>
              <a:rPr dirty="0"/>
              <a:t>• 'intention' → </a:t>
            </a:r>
            <a:r>
              <a:rPr lang="en-US" dirty="0"/>
              <a:t>____________</a:t>
            </a:r>
          </a:p>
          <a:p>
            <a:r>
              <a:rPr lang="en-IN" b="1" dirty="0"/>
              <a:t>Possible correct words:</a:t>
            </a:r>
            <a:endParaRPr lang="en-IN" dirty="0"/>
          </a:p>
          <a:p>
            <a:r>
              <a:rPr lang="en-IN" b="1" dirty="0"/>
              <a:t>‘attention’</a:t>
            </a:r>
            <a:endParaRPr lang="en-IN" dirty="0"/>
          </a:p>
          <a:p>
            <a:r>
              <a:rPr lang="en-IN" b="1" dirty="0"/>
              <a:t>‘invention’</a:t>
            </a:r>
            <a:endParaRPr lang="en-IN" dirty="0"/>
          </a:p>
          <a:p>
            <a:r>
              <a:rPr lang="en-IN" b="1" dirty="0"/>
              <a:t>‘retention’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971024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4414718-72FB-24E6-4292-AEC7E6761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E3171E6-C16A-72B6-8717-6DB64702C673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07D8E6AA-7DBE-8143-0FF5-52798B9FD68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63F6139-0043-992A-8DDE-7AA44F5838F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6695D18E-8D9E-0044-888D-14B0E8C4A4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 err="1"/>
              <a:t>Damerau</a:t>
            </a:r>
            <a:r>
              <a:rPr lang="en-IN" dirty="0"/>
              <a:t>–</a:t>
            </a:r>
            <a:r>
              <a:rPr lang="en-IN" dirty="0" err="1"/>
              <a:t>Levenshtein</a:t>
            </a:r>
            <a:r>
              <a:rPr lang="en-IN" dirty="0"/>
              <a:t> Distance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264EBE5-56D9-5934-619B-825DD94C75CB}"/>
              </a:ext>
            </a:extLst>
          </p:cNvPr>
          <p:cNvSpPr>
            <a:spLocks noGrp="1"/>
          </p:cNvSpPr>
          <p:nvPr/>
        </p:nvSpPr>
        <p:spPr>
          <a:xfrm>
            <a:off x="2971800" y="2300662"/>
            <a:ext cx="8229600" cy="3795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Damerau</a:t>
            </a:r>
            <a:r>
              <a:rPr lang="en-US" dirty="0"/>
              <a:t>–</a:t>
            </a:r>
            <a:r>
              <a:rPr lang="en-US" dirty="0" err="1"/>
              <a:t>Levenshtein</a:t>
            </a:r>
            <a:r>
              <a:rPr lang="en-US" dirty="0"/>
              <a:t> Distance extends the </a:t>
            </a:r>
            <a:r>
              <a:rPr lang="en-US" dirty="0" err="1"/>
              <a:t>Levenshtein</a:t>
            </a:r>
            <a:r>
              <a:rPr lang="en-US" dirty="0"/>
              <a:t> Distance by adding </a:t>
            </a:r>
            <a:r>
              <a:rPr lang="en-US" b="1" dirty="0"/>
              <a:t>one more operation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b="1" dirty="0"/>
              <a:t>Transposition – swapping two adjacent characters</a:t>
            </a:r>
          </a:p>
          <a:p>
            <a:r>
              <a:rPr lang="en-US" dirty="0"/>
              <a:t>Example: "form" → "from"</a:t>
            </a:r>
            <a:br>
              <a:rPr lang="en-US" dirty="0"/>
            </a:br>
            <a:r>
              <a:rPr lang="en-US" dirty="0"/>
              <a:t>(o and r are swapped)</a:t>
            </a:r>
          </a:p>
          <a:p>
            <a:endParaRPr lang="en-US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972626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C48005E-9073-DD16-60EF-220B8DCA8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F3DEE8A-ADAC-3277-2BCA-F8EB8682D070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0A3F0FDC-3CEF-D608-0D6E-D84E53882A4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2D4B2BC-211B-90B1-3E32-17ECCD9BB37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729A9EA8-B5F2-F7C6-6030-67D61FD9C2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Activity Slide: Practice – Transposition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9465FA-1D46-09E7-EEEC-09761E60D050}"/>
              </a:ext>
            </a:extLst>
          </p:cNvPr>
          <p:cNvSpPr txBox="1"/>
          <p:nvPr/>
        </p:nvSpPr>
        <p:spPr>
          <a:xfrm>
            <a:off x="3962400" y="2458711"/>
            <a:ext cx="16764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Easy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form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 err="1"/>
              <a:t>hte</a:t>
            </a: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paly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 err="1"/>
              <a:t>baord</a:t>
            </a: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 err="1"/>
              <a:t>adn</a:t>
            </a:r>
            <a:endParaRPr lang="en-IN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EFA2B3-AABE-7845-7C2D-BC26EE423479}"/>
              </a:ext>
            </a:extLst>
          </p:cNvPr>
          <p:cNvSpPr txBox="1"/>
          <p:nvPr/>
        </p:nvSpPr>
        <p:spPr>
          <a:xfrm>
            <a:off x="5334000" y="2458711"/>
            <a:ext cx="16764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Medium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 err="1"/>
              <a:t>stduy</a:t>
            </a: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 err="1"/>
              <a:t>peolpe</a:t>
            </a: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 err="1"/>
              <a:t>cahse</a:t>
            </a: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 err="1"/>
              <a:t>fial</a:t>
            </a:r>
            <a:endParaRPr lang="en-IN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88BF61-4D57-5E82-684A-47C0C6E3C8B2}"/>
              </a:ext>
            </a:extLst>
          </p:cNvPr>
          <p:cNvSpPr txBox="1"/>
          <p:nvPr/>
        </p:nvSpPr>
        <p:spPr>
          <a:xfrm>
            <a:off x="7319772" y="2463193"/>
            <a:ext cx="28194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Hard / Tricky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 err="1"/>
              <a:t>retsaurant</a:t>
            </a: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 err="1"/>
              <a:t>mroe</a:t>
            </a: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 err="1"/>
              <a:t>tihkn</a:t>
            </a:r>
            <a:endParaRPr lang="en-IN" sz="2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B6012D-BDAA-8876-D5F4-2855855014C4}"/>
              </a:ext>
            </a:extLst>
          </p:cNvPr>
          <p:cNvSpPr txBox="1"/>
          <p:nvPr/>
        </p:nvSpPr>
        <p:spPr>
          <a:xfrm>
            <a:off x="9677400" y="2362200"/>
            <a:ext cx="17526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Challenge 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 err="1"/>
              <a:t>chnage</a:t>
            </a: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 err="1"/>
              <a:t>clsoe</a:t>
            </a: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 err="1"/>
              <a:t>prdouct</a:t>
            </a: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 err="1"/>
              <a:t>shcool</a:t>
            </a: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 err="1"/>
              <a:t>puzle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7515307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9D84783-2CCF-FE52-792C-C3E51800A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F54B8990-EC56-F358-2B6B-996487F6CFB4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B0ADEEF-CF90-BBF0-E2F0-25924966BC6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6D8A515-11C6-2C31-C214-97C3EAF6BB1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AA033080-903E-CE3F-5F76-60DD156857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Which distance is smaller? (Think &amp; Decide)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C34A091-D707-C2F5-3D20-4D928535D6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643069"/>
              </p:ext>
            </p:extLst>
          </p:nvPr>
        </p:nvGraphicFramePr>
        <p:xfrm>
          <a:off x="2203710" y="2270124"/>
          <a:ext cx="9501370" cy="4155053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900274">
                  <a:extLst>
                    <a:ext uri="{9D8B030D-6E8A-4147-A177-3AD203B41FA5}">
                      <a16:colId xmlns:a16="http://schemas.microsoft.com/office/drawing/2014/main" val="720641324"/>
                    </a:ext>
                  </a:extLst>
                </a:gridCol>
                <a:gridCol w="1900274">
                  <a:extLst>
                    <a:ext uri="{9D8B030D-6E8A-4147-A177-3AD203B41FA5}">
                      <a16:colId xmlns:a16="http://schemas.microsoft.com/office/drawing/2014/main" val="1799270109"/>
                    </a:ext>
                  </a:extLst>
                </a:gridCol>
                <a:gridCol w="1900274">
                  <a:extLst>
                    <a:ext uri="{9D8B030D-6E8A-4147-A177-3AD203B41FA5}">
                      <a16:colId xmlns:a16="http://schemas.microsoft.com/office/drawing/2014/main" val="4129437932"/>
                    </a:ext>
                  </a:extLst>
                </a:gridCol>
                <a:gridCol w="1900274">
                  <a:extLst>
                    <a:ext uri="{9D8B030D-6E8A-4147-A177-3AD203B41FA5}">
                      <a16:colId xmlns:a16="http://schemas.microsoft.com/office/drawing/2014/main" val="1490386872"/>
                    </a:ext>
                  </a:extLst>
                </a:gridCol>
                <a:gridCol w="1900274">
                  <a:extLst>
                    <a:ext uri="{9D8B030D-6E8A-4147-A177-3AD203B41FA5}">
                      <a16:colId xmlns:a16="http://schemas.microsoft.com/office/drawing/2014/main" val="67784051"/>
                    </a:ext>
                  </a:extLst>
                </a:gridCol>
              </a:tblGrid>
              <a:tr h="966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Mistyped Word</a:t>
                      </a:r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Correct Word</a:t>
                      </a:r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L-Distance</a:t>
                      </a:r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D-L Distance</a:t>
                      </a:r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Which is smaller?</a:t>
                      </a:r>
                    </a:p>
                  </a:txBody>
                  <a:tcPr marL="81526" marR="81526" marT="40763" marB="40763" anchor="ctr"/>
                </a:tc>
                <a:extLst>
                  <a:ext uri="{0D108BD9-81ED-4DB2-BD59-A6C34878D82A}">
                    <a16:rowId xmlns:a16="http://schemas.microsoft.com/office/drawing/2014/main" val="1864748798"/>
                  </a:ext>
                </a:extLst>
              </a:tr>
              <a:tr h="531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becuase</a:t>
                      </a:r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because</a:t>
                      </a:r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2</a:t>
                      </a:r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1</a:t>
                      </a:r>
                      <a:endParaRPr lang="en-IN" sz="2400"/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D-L</a:t>
                      </a:r>
                    </a:p>
                  </a:txBody>
                  <a:tcPr marL="81526" marR="81526" marT="40763" marB="40763" anchor="ctr"/>
                </a:tc>
                <a:extLst>
                  <a:ext uri="{0D108BD9-81ED-4DB2-BD59-A6C34878D82A}">
                    <a16:rowId xmlns:a16="http://schemas.microsoft.com/office/drawing/2014/main" val="3202452093"/>
                  </a:ext>
                </a:extLst>
              </a:tr>
              <a:tr h="531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 err="1"/>
                        <a:t>foi</a:t>
                      </a:r>
                      <a:endParaRPr lang="en-IN" sz="2400" dirty="0"/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for</a:t>
                      </a:r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</a:t>
                      </a:r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1</a:t>
                      </a:r>
                      <a:endParaRPr lang="en-IN" sz="2400"/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Same</a:t>
                      </a:r>
                    </a:p>
                  </a:txBody>
                  <a:tcPr marL="81526" marR="81526" marT="40763" marB="40763" anchor="ctr"/>
                </a:tc>
                <a:extLst>
                  <a:ext uri="{0D108BD9-81ED-4DB2-BD59-A6C34878D82A}">
                    <a16:rowId xmlns:a16="http://schemas.microsoft.com/office/drawing/2014/main" val="1566258615"/>
                  </a:ext>
                </a:extLst>
              </a:tr>
              <a:tr h="531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tihs</a:t>
                      </a:r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this</a:t>
                      </a:r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2</a:t>
                      </a:r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1</a:t>
                      </a:r>
                      <a:endParaRPr lang="en-IN" sz="2400" dirty="0"/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400"/>
                    </a:p>
                  </a:txBody>
                  <a:tcPr marL="81526" marR="81526" marT="40763" marB="40763" anchor="ctr"/>
                </a:tc>
                <a:extLst>
                  <a:ext uri="{0D108BD9-81ED-4DB2-BD59-A6C34878D82A}">
                    <a16:rowId xmlns:a16="http://schemas.microsoft.com/office/drawing/2014/main" val="4207171588"/>
                  </a:ext>
                </a:extLst>
              </a:tr>
              <a:tr h="531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d</a:t>
                      </a:r>
                      <a:r>
                        <a:rPr lang="en-IN" sz="2400" dirty="0"/>
                        <a:t>cba</a:t>
                      </a:r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 err="1"/>
                        <a:t>abcd</a:t>
                      </a:r>
                      <a:endParaRPr lang="en-IN" sz="2400" dirty="0"/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4</a:t>
                      </a:r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2</a:t>
                      </a:r>
                      <a:endParaRPr lang="en-IN" sz="2400" dirty="0"/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400"/>
                    </a:p>
                  </a:txBody>
                  <a:tcPr marL="81526" marR="81526" marT="40763" marB="40763" anchor="ctr"/>
                </a:tc>
                <a:extLst>
                  <a:ext uri="{0D108BD9-81ED-4DB2-BD59-A6C34878D82A}">
                    <a16:rowId xmlns:a16="http://schemas.microsoft.com/office/drawing/2014/main" val="3995933668"/>
                  </a:ext>
                </a:extLst>
              </a:tr>
              <a:tr h="531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 err="1"/>
                        <a:t>hte</a:t>
                      </a:r>
                      <a:endParaRPr lang="en-IN" sz="2400" dirty="0"/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the</a:t>
                      </a:r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2</a:t>
                      </a:r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1</a:t>
                      </a:r>
                      <a:endParaRPr lang="en-IN" sz="2400" dirty="0"/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400"/>
                    </a:p>
                  </a:txBody>
                  <a:tcPr marL="81526" marR="81526" marT="40763" marB="40763" anchor="ctr"/>
                </a:tc>
                <a:extLst>
                  <a:ext uri="{0D108BD9-81ED-4DB2-BD59-A6C34878D82A}">
                    <a16:rowId xmlns:a16="http://schemas.microsoft.com/office/drawing/2014/main" val="561254978"/>
                  </a:ext>
                </a:extLst>
              </a:tr>
              <a:tr h="531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frmo</a:t>
                      </a:r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from</a:t>
                      </a:r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2</a:t>
                      </a:r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1</a:t>
                      </a:r>
                      <a:endParaRPr lang="en-IN" sz="2400"/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400" dirty="0"/>
                    </a:p>
                  </a:txBody>
                  <a:tcPr marL="81526" marR="81526" marT="40763" marB="40763" anchor="ctr"/>
                </a:tc>
                <a:extLst>
                  <a:ext uri="{0D108BD9-81ED-4DB2-BD59-A6C34878D82A}">
                    <a16:rowId xmlns:a16="http://schemas.microsoft.com/office/drawing/2014/main" val="1343030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1134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197894"/>
            <a:ext cx="10363200" cy="1231106"/>
          </a:xfrm>
        </p:spPr>
        <p:txBody>
          <a:bodyPr/>
          <a:lstStyle/>
          <a:p>
            <a:pPr algn="ctr"/>
            <a:r>
              <a:rPr dirty="0"/>
              <a:t>String Similarity Measures in Spelling Correction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Jaccard • Cosine • N-gram Overlap</a:t>
            </a:r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B7829C65-3812-CF3E-203C-5626DB6C2019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5" name="object 3">
              <a:extLst>
                <a:ext uri="{FF2B5EF4-FFF2-40B4-BE49-F238E27FC236}">
                  <a16:creationId xmlns:a16="http://schemas.microsoft.com/office/drawing/2014/main" id="{42DF493B-4ABF-7115-6C94-EF0C84B74C7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A783CABD-6F80-3360-C028-C7978F62FA8A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600" y="1371600"/>
            <a:ext cx="5954395" cy="615553"/>
          </a:xfrm>
        </p:spPr>
        <p:txBody>
          <a:bodyPr/>
          <a:lstStyle/>
          <a:p>
            <a:r>
              <a:rPr dirty="0"/>
              <a:t>1. Jaccard Similarity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0400" y="2386536"/>
            <a:ext cx="8729980" cy="2769989"/>
          </a:xfrm>
        </p:spPr>
        <p:txBody>
          <a:bodyPr/>
          <a:lstStyle/>
          <a:p>
            <a:r>
              <a:rPr sz="3600" dirty="0"/>
              <a:t>Definition: Measures overlap between two sets.</a:t>
            </a:r>
          </a:p>
          <a:p>
            <a:pPr lvl="1"/>
            <a:r>
              <a:rPr sz="3600" dirty="0"/>
              <a:t>Example: night vs </a:t>
            </a:r>
            <a:r>
              <a:rPr sz="3600" dirty="0" err="1"/>
              <a:t>nite</a:t>
            </a:r>
            <a:endParaRPr sz="3600" dirty="0"/>
          </a:p>
          <a:p>
            <a:pPr lvl="1"/>
            <a:r>
              <a:rPr sz="3600" dirty="0"/>
              <a:t>Sets: {</a:t>
            </a:r>
            <a:r>
              <a:rPr sz="3600" dirty="0" err="1"/>
              <a:t>n,i,g,h,t</a:t>
            </a:r>
            <a:r>
              <a:rPr sz="3600" dirty="0"/>
              <a:t>} &amp; {</a:t>
            </a:r>
            <a:r>
              <a:rPr sz="3600" dirty="0" err="1"/>
              <a:t>n,i,t,e</a:t>
            </a:r>
            <a:r>
              <a:rPr sz="3600" dirty="0"/>
              <a:t>}</a:t>
            </a:r>
          </a:p>
          <a:p>
            <a:pPr lvl="1"/>
            <a:r>
              <a:rPr sz="3600" dirty="0"/>
              <a:t>Jaccard = 3/6 = 0.50</a:t>
            </a:r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509083C3-F40E-D086-8BD4-0C2006DF8C69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5" name="object 3">
              <a:extLst>
                <a:ext uri="{FF2B5EF4-FFF2-40B4-BE49-F238E27FC236}">
                  <a16:creationId xmlns:a16="http://schemas.microsoft.com/office/drawing/2014/main" id="{6B169200-46C1-1026-871A-F78DB63E0D0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57993F79-12EF-97E7-1AB7-81CF4FAE57D3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600" y="838962"/>
            <a:ext cx="7620000" cy="1244600"/>
          </a:xfrm>
        </p:spPr>
        <p:txBody>
          <a:bodyPr/>
          <a:lstStyle/>
          <a:p>
            <a:r>
              <a:rPr dirty="0"/>
              <a:t>Activity: Jaccard Similarity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0400" y="2306364"/>
            <a:ext cx="8729980" cy="1969770"/>
          </a:xfrm>
        </p:spPr>
        <p:txBody>
          <a:bodyPr/>
          <a:lstStyle/>
          <a:p>
            <a:r>
              <a:rPr sz="3200" dirty="0"/>
              <a:t>Calculate Jaccard for:</a:t>
            </a:r>
          </a:p>
          <a:p>
            <a:pPr lvl="1"/>
            <a:r>
              <a:rPr sz="3200" dirty="0"/>
              <a:t>Word1: extensions | Word2: </a:t>
            </a:r>
            <a:r>
              <a:rPr sz="3200" dirty="0" err="1"/>
              <a:t>extenssions</a:t>
            </a:r>
            <a:endParaRPr sz="3200" dirty="0"/>
          </a:p>
          <a:p>
            <a:pPr lvl="1"/>
            <a:r>
              <a:rPr sz="3200" dirty="0"/>
              <a:t>Task: Form character sets and compute intersection &amp; union.</a:t>
            </a:r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B367690C-8D81-DD12-C7BB-A855C3459AA9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5" name="object 3">
              <a:extLst>
                <a:ext uri="{FF2B5EF4-FFF2-40B4-BE49-F238E27FC236}">
                  <a16:creationId xmlns:a16="http://schemas.microsoft.com/office/drawing/2014/main" id="{B84D5023-8302-7F2A-136E-757F52FB1CA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3BCAB7A2-8B62-CB07-E585-2B6113E07309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8802" y="1327334"/>
            <a:ext cx="5954395" cy="615553"/>
          </a:xfrm>
        </p:spPr>
        <p:txBody>
          <a:bodyPr/>
          <a:lstStyle/>
          <a:p>
            <a:r>
              <a:rPr dirty="0"/>
              <a:t>2. Cosine Similarity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7767" y="2411180"/>
            <a:ext cx="8729980" cy="2462213"/>
          </a:xfrm>
        </p:spPr>
        <p:txBody>
          <a:bodyPr/>
          <a:lstStyle/>
          <a:p>
            <a:r>
              <a:rPr sz="3200" dirty="0"/>
              <a:t>Definition: Measures similarity between two vector representations.</a:t>
            </a:r>
          </a:p>
          <a:p>
            <a:pPr lvl="1"/>
            <a:r>
              <a:rPr sz="3200" dirty="0"/>
              <a:t>Example (simple vector idea):</a:t>
            </a:r>
          </a:p>
          <a:p>
            <a:pPr lvl="1"/>
            <a:r>
              <a:rPr sz="3200" dirty="0"/>
              <a:t>night → [1,1,1,1,1], </a:t>
            </a:r>
            <a:r>
              <a:rPr sz="3200" dirty="0" err="1"/>
              <a:t>nite</a:t>
            </a:r>
            <a:r>
              <a:rPr sz="3200" dirty="0"/>
              <a:t> → [1,1,0,1,1]</a:t>
            </a:r>
          </a:p>
          <a:p>
            <a:pPr lvl="1"/>
            <a:r>
              <a:rPr sz="3200" dirty="0"/>
              <a:t>Higher cosine = more similar.</a:t>
            </a:r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F7A4F54B-654F-01E0-5658-661964FFC857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5" name="object 3">
              <a:extLst>
                <a:ext uri="{FF2B5EF4-FFF2-40B4-BE49-F238E27FC236}">
                  <a16:creationId xmlns:a16="http://schemas.microsoft.com/office/drawing/2014/main" id="{E4E8601A-027D-6D0B-0EC5-F851791CB44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1200B604-3DE5-459F-2F97-D6E995452C3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848360A-702B-DD4D-AC61-84DA58D704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6855321"/>
              </p:ext>
            </p:extLst>
          </p:nvPr>
        </p:nvGraphicFramePr>
        <p:xfrm>
          <a:off x="1600200" y="1676400"/>
          <a:ext cx="8731251" cy="231648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910417">
                  <a:extLst>
                    <a:ext uri="{9D8B030D-6E8A-4147-A177-3AD203B41FA5}">
                      <a16:colId xmlns:a16="http://schemas.microsoft.com/office/drawing/2014/main" val="2178538949"/>
                    </a:ext>
                  </a:extLst>
                </a:gridCol>
                <a:gridCol w="2910417">
                  <a:extLst>
                    <a:ext uri="{9D8B030D-6E8A-4147-A177-3AD203B41FA5}">
                      <a16:colId xmlns:a16="http://schemas.microsoft.com/office/drawing/2014/main" val="344411599"/>
                    </a:ext>
                  </a:extLst>
                </a:gridCol>
                <a:gridCol w="2910417">
                  <a:extLst>
                    <a:ext uri="{9D8B030D-6E8A-4147-A177-3AD203B41FA5}">
                      <a16:colId xmlns:a16="http://schemas.microsoft.com/office/drawing/2014/main" val="370649652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Letter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my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752502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176338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749232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89471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18652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1800" y="932433"/>
            <a:ext cx="7489190" cy="1244600"/>
          </a:xfrm>
        </p:spPr>
        <p:txBody>
          <a:bodyPr/>
          <a:lstStyle/>
          <a:p>
            <a:r>
              <a:rPr dirty="0"/>
              <a:t>Activity: Cosine Similarity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2800" y="2743200"/>
            <a:ext cx="8729980" cy="2215991"/>
          </a:xfrm>
        </p:spPr>
        <p:txBody>
          <a:bodyPr/>
          <a:lstStyle/>
          <a:p>
            <a:r>
              <a:rPr sz="3600" dirty="0"/>
              <a:t>Convert words to frequency vectors:</a:t>
            </a:r>
          </a:p>
          <a:p>
            <a:pPr lvl="1"/>
            <a:r>
              <a:rPr sz="3600" dirty="0"/>
              <a:t>Word1: </a:t>
            </a:r>
            <a:r>
              <a:rPr lang="en-IN" sz="3600" dirty="0"/>
              <a:t>cat</a:t>
            </a:r>
            <a:r>
              <a:rPr sz="3600" dirty="0"/>
              <a:t> | Word2: </a:t>
            </a:r>
            <a:r>
              <a:rPr lang="en-IN" sz="3600" dirty="0"/>
              <a:t>cut</a:t>
            </a:r>
            <a:endParaRPr sz="3600" dirty="0"/>
          </a:p>
          <a:p>
            <a:pPr lvl="1"/>
            <a:r>
              <a:rPr sz="3600" dirty="0"/>
              <a:t>Task: Create letter frequency table and compare.</a:t>
            </a:r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6FE2E38C-C330-4807-5C10-9AD05E3C1514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5" name="object 3">
              <a:extLst>
                <a:ext uri="{FF2B5EF4-FFF2-40B4-BE49-F238E27FC236}">
                  <a16:creationId xmlns:a16="http://schemas.microsoft.com/office/drawing/2014/main" id="{FA1264B9-AFA7-8628-76D0-2F68AA7B1D0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1F38C4B6-AE79-4EF8-19FC-3A13241737D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0" y="1300440"/>
            <a:ext cx="5954395" cy="615553"/>
          </a:xfrm>
        </p:spPr>
        <p:txBody>
          <a:bodyPr/>
          <a:lstStyle/>
          <a:p>
            <a:r>
              <a:rPr dirty="0"/>
              <a:t>3. N-gram Overlap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3086" y="2281680"/>
            <a:ext cx="8729980" cy="2954655"/>
          </a:xfrm>
        </p:spPr>
        <p:txBody>
          <a:bodyPr/>
          <a:lstStyle/>
          <a:p>
            <a:r>
              <a:rPr sz="3200" dirty="0"/>
              <a:t>Definition: Break words into small fragments and compare overlap.</a:t>
            </a:r>
          </a:p>
          <a:p>
            <a:pPr lvl="1"/>
            <a:r>
              <a:rPr sz="3200" dirty="0"/>
              <a:t>Example (bi-grams): </a:t>
            </a:r>
            <a:endParaRPr lang="en-IN" sz="3200" dirty="0"/>
          </a:p>
          <a:p>
            <a:pPr lvl="1"/>
            <a:r>
              <a:rPr sz="3200" dirty="0" err="1"/>
              <a:t>poornima</a:t>
            </a:r>
            <a:r>
              <a:rPr sz="3200" dirty="0"/>
              <a:t> → po, </a:t>
            </a:r>
            <a:r>
              <a:rPr sz="3200" dirty="0" err="1"/>
              <a:t>oo</a:t>
            </a:r>
            <a:r>
              <a:rPr sz="3200" dirty="0"/>
              <a:t>, or, </a:t>
            </a:r>
            <a:r>
              <a:rPr sz="3200" dirty="0" err="1"/>
              <a:t>rn</a:t>
            </a:r>
            <a:r>
              <a:rPr sz="3200" dirty="0"/>
              <a:t>, </a:t>
            </a:r>
            <a:r>
              <a:rPr sz="3200" dirty="0" err="1"/>
              <a:t>ni</a:t>
            </a:r>
            <a:r>
              <a:rPr sz="3200" dirty="0"/>
              <a:t>, </a:t>
            </a:r>
            <a:r>
              <a:rPr sz="3200" dirty="0" err="1"/>
              <a:t>im</a:t>
            </a:r>
            <a:r>
              <a:rPr sz="3200" dirty="0"/>
              <a:t>, ma</a:t>
            </a:r>
          </a:p>
          <a:p>
            <a:pPr lvl="1"/>
            <a:r>
              <a:rPr sz="3200" dirty="0" err="1"/>
              <a:t>poohnima</a:t>
            </a:r>
            <a:r>
              <a:rPr sz="3200" dirty="0"/>
              <a:t> → po, </a:t>
            </a:r>
            <a:r>
              <a:rPr sz="3200" dirty="0" err="1"/>
              <a:t>oo</a:t>
            </a:r>
            <a:r>
              <a:rPr sz="3200" dirty="0"/>
              <a:t>, oh, </a:t>
            </a:r>
            <a:r>
              <a:rPr sz="3200" dirty="0" err="1"/>
              <a:t>hn</a:t>
            </a:r>
            <a:r>
              <a:rPr sz="3200" dirty="0"/>
              <a:t>, </a:t>
            </a:r>
            <a:r>
              <a:rPr sz="3200" dirty="0" err="1"/>
              <a:t>ni</a:t>
            </a:r>
            <a:r>
              <a:rPr sz="3200" dirty="0"/>
              <a:t>, </a:t>
            </a:r>
            <a:r>
              <a:rPr sz="3200" dirty="0" err="1"/>
              <a:t>im</a:t>
            </a:r>
            <a:r>
              <a:rPr sz="3200" dirty="0"/>
              <a:t>, ma</a:t>
            </a:r>
          </a:p>
          <a:p>
            <a:pPr lvl="1"/>
            <a:r>
              <a:rPr sz="3200" dirty="0"/>
              <a:t>Overlap = {po, </a:t>
            </a:r>
            <a:r>
              <a:rPr sz="3200" dirty="0" err="1"/>
              <a:t>oo</a:t>
            </a:r>
            <a:r>
              <a:rPr sz="3200" dirty="0"/>
              <a:t>, </a:t>
            </a:r>
            <a:r>
              <a:rPr sz="3200" dirty="0" err="1"/>
              <a:t>ni</a:t>
            </a:r>
            <a:r>
              <a:rPr sz="3200" dirty="0"/>
              <a:t>, </a:t>
            </a:r>
            <a:r>
              <a:rPr sz="3200" dirty="0" err="1"/>
              <a:t>im</a:t>
            </a:r>
            <a:r>
              <a:rPr sz="3200" dirty="0"/>
              <a:t>, ma}</a:t>
            </a:r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E35AF23C-817B-0262-0373-CAADB24BAB7D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5" name="object 3">
              <a:extLst>
                <a:ext uri="{FF2B5EF4-FFF2-40B4-BE49-F238E27FC236}">
                  <a16:creationId xmlns:a16="http://schemas.microsoft.com/office/drawing/2014/main" id="{521C379F-156D-5715-3AF0-B8B1A6A0AE4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7B5F9FE2-28B7-087D-DF30-5182E3D7CEA9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0" y="1143000"/>
            <a:ext cx="7162800" cy="1244600"/>
          </a:xfrm>
        </p:spPr>
        <p:txBody>
          <a:bodyPr/>
          <a:lstStyle/>
          <a:p>
            <a:r>
              <a:rPr dirty="0"/>
              <a:t>Activity: N-gram Overlap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8400" y="2590636"/>
            <a:ext cx="8729980" cy="1661993"/>
          </a:xfrm>
        </p:spPr>
        <p:txBody>
          <a:bodyPr/>
          <a:lstStyle/>
          <a:p>
            <a:r>
              <a:rPr sz="3600" dirty="0"/>
              <a:t>Compare bi-grams for:</a:t>
            </a:r>
          </a:p>
          <a:p>
            <a:pPr lvl="1"/>
            <a:r>
              <a:rPr sz="3600" dirty="0"/>
              <a:t>Word1: </a:t>
            </a:r>
            <a:r>
              <a:rPr sz="3600" dirty="0" err="1"/>
              <a:t>birmingham</a:t>
            </a:r>
            <a:r>
              <a:rPr sz="3600" dirty="0"/>
              <a:t> | Word2: </a:t>
            </a:r>
            <a:r>
              <a:rPr sz="3600" dirty="0" err="1"/>
              <a:t>brimingham</a:t>
            </a:r>
            <a:endParaRPr sz="3600" dirty="0"/>
          </a:p>
          <a:p>
            <a:pPr lvl="1"/>
            <a:r>
              <a:rPr sz="3600" dirty="0"/>
              <a:t>Task: Generate bi-grams and count overlap.</a:t>
            </a:r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164090ED-7FA0-25BF-1053-1DE3CBCBBFC1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5" name="object 3">
              <a:extLst>
                <a:ext uri="{FF2B5EF4-FFF2-40B4-BE49-F238E27FC236}">
                  <a16:creationId xmlns:a16="http://schemas.microsoft.com/office/drawing/2014/main" id="{64FE160B-8D39-DB89-F44D-FFA80352512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9DCC79F1-C649-D01D-4C28-C2D94F170FE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1247836"/>
            <a:ext cx="5954395" cy="615553"/>
          </a:xfrm>
        </p:spPr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5259" y="2289298"/>
            <a:ext cx="8729980" cy="2154436"/>
          </a:xfrm>
        </p:spPr>
        <p:txBody>
          <a:bodyPr/>
          <a:lstStyle/>
          <a:p>
            <a:r>
              <a:rPr sz="2800" dirty="0"/>
              <a:t>• Jaccard → Set overlap</a:t>
            </a:r>
          </a:p>
          <a:p>
            <a:r>
              <a:rPr sz="2800" dirty="0"/>
              <a:t>• Cosine → Vector similarity</a:t>
            </a:r>
          </a:p>
          <a:p>
            <a:r>
              <a:rPr sz="2800" dirty="0"/>
              <a:t>• N-gram → Fragment overlap</a:t>
            </a:r>
          </a:p>
          <a:p>
            <a:endParaRPr sz="2800" dirty="0"/>
          </a:p>
          <a:p>
            <a:r>
              <a:rPr sz="2800" dirty="0"/>
              <a:t>Useful for spelling correction &amp; IR systems.</a:t>
            </a:r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B2C5BCEF-4992-4481-4669-32A90040FAFD}"/>
              </a:ext>
            </a:extLst>
          </p:cNvPr>
          <p:cNvGrpSpPr/>
          <p:nvPr/>
        </p:nvGrpSpPr>
        <p:grpSpPr>
          <a:xfrm>
            <a:off x="228600" y="304800"/>
            <a:ext cx="11280140" cy="6123940"/>
            <a:chOff x="424984" y="432816"/>
            <a:chExt cx="11280140" cy="6123940"/>
          </a:xfrm>
        </p:grpSpPr>
        <p:pic>
          <p:nvPicPr>
            <p:cNvPr id="5" name="object 3">
              <a:extLst>
                <a:ext uri="{FF2B5EF4-FFF2-40B4-BE49-F238E27FC236}">
                  <a16:creationId xmlns:a16="http://schemas.microsoft.com/office/drawing/2014/main" id="{74930D79-0590-D48F-426C-9DD79E2CC9E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F443D61A-3074-20E0-979E-88D536E5EC46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862A1-968A-8B53-194E-ECF9C3333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F1307-6050-23AC-7CBE-3D9A526EE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197893"/>
            <a:ext cx="7924800" cy="1477328"/>
          </a:xfrm>
        </p:spPr>
        <p:txBody>
          <a:bodyPr/>
          <a:lstStyle/>
          <a:p>
            <a:r>
              <a:rPr lang="en-US" sz="4800" dirty="0"/>
              <a:t>Techniques for Spelling Correction in IR Systems</a:t>
            </a:r>
            <a:endParaRPr sz="4800" dirty="0"/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F4732020-9AAD-3ED7-FACF-B6AA318187F5}"/>
              </a:ext>
            </a:extLst>
          </p:cNvPr>
          <p:cNvGrpSpPr/>
          <p:nvPr/>
        </p:nvGrpSpPr>
        <p:grpSpPr>
          <a:xfrm>
            <a:off x="228600" y="304800"/>
            <a:ext cx="11280140" cy="6123940"/>
            <a:chOff x="424984" y="432816"/>
            <a:chExt cx="11280140" cy="6123940"/>
          </a:xfrm>
        </p:grpSpPr>
        <p:pic>
          <p:nvPicPr>
            <p:cNvPr id="5" name="object 3">
              <a:extLst>
                <a:ext uri="{FF2B5EF4-FFF2-40B4-BE49-F238E27FC236}">
                  <a16:creationId xmlns:a16="http://schemas.microsoft.com/office/drawing/2014/main" id="{D0C94A09-30B4-40DE-B8DA-E5E6610DF73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FB194546-9DDB-9010-1F5D-93E692598F2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041067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60A8D-8AC3-162F-CF24-A87186B74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84DAF-4A00-6775-3697-D859F5672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400" y="1247836"/>
            <a:ext cx="7239000" cy="1231106"/>
          </a:xfrm>
        </p:spPr>
        <p:txBody>
          <a:bodyPr/>
          <a:lstStyle/>
          <a:p>
            <a:r>
              <a:rPr lang="en-IN" dirty="0"/>
              <a:t>Core Techniques (Overview)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C36AB-533A-B10B-43B9-E081BC3BF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5259" y="2289298"/>
            <a:ext cx="8729980" cy="1723549"/>
          </a:xfrm>
        </p:spPr>
        <p:txBody>
          <a:bodyPr/>
          <a:lstStyle/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Arial" panose="020B0604020202020204" pitchFamily="34" charset="0"/>
              </a:rPr>
              <a:t>Edit Distance Techniques</a:t>
            </a:r>
            <a:endParaRPr lang="en-US" altLang="en-US" sz="2800" dirty="0">
              <a:latin typeface="Arial" panose="020B0604020202020204" pitchFamily="34" charset="0"/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Arial" panose="020B0604020202020204" pitchFamily="34" charset="0"/>
              </a:rPr>
              <a:t>Phonetic Techniques</a:t>
            </a:r>
            <a:endParaRPr lang="en-US" altLang="en-US" sz="2800" dirty="0">
              <a:latin typeface="Arial" panose="020B0604020202020204" pitchFamily="34" charset="0"/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Arial" panose="020B0604020202020204" pitchFamily="34" charset="0"/>
              </a:rPr>
              <a:t>Similarity-Based Techniques</a:t>
            </a:r>
            <a:endParaRPr lang="en-US" altLang="en-US" sz="2800" dirty="0">
              <a:latin typeface="Arial" panose="020B0604020202020204" pitchFamily="34" charset="0"/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Arial" panose="020B0604020202020204" pitchFamily="34" charset="0"/>
              </a:rPr>
              <a:t>Statistical / Language Models</a:t>
            </a:r>
            <a:endParaRPr lang="en-US" altLang="en-US" sz="2800" dirty="0">
              <a:latin typeface="Arial" panose="020B0604020202020204" pitchFamily="34" charset="0"/>
            </a:endParaRPr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EDA3C6E5-32B6-378D-6B48-6E12A419948E}"/>
              </a:ext>
            </a:extLst>
          </p:cNvPr>
          <p:cNvGrpSpPr/>
          <p:nvPr/>
        </p:nvGrpSpPr>
        <p:grpSpPr>
          <a:xfrm>
            <a:off x="228600" y="304800"/>
            <a:ext cx="11280140" cy="6123940"/>
            <a:chOff x="424984" y="432816"/>
            <a:chExt cx="11280140" cy="6123940"/>
          </a:xfrm>
        </p:grpSpPr>
        <p:pic>
          <p:nvPicPr>
            <p:cNvPr id="5" name="object 3">
              <a:extLst>
                <a:ext uri="{FF2B5EF4-FFF2-40B4-BE49-F238E27FC236}">
                  <a16:creationId xmlns:a16="http://schemas.microsoft.com/office/drawing/2014/main" id="{5A4519FE-0EA8-0034-F652-06DB674DCA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12D35520-CB64-3D66-77B5-A2EA87F4FD2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223885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D705E-5F8E-F2E2-CB10-3C23EAB50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5C7D0-0547-0B7B-3B8E-C94107BB2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197893"/>
            <a:ext cx="9372600" cy="1477328"/>
          </a:xfrm>
        </p:spPr>
        <p:txBody>
          <a:bodyPr/>
          <a:lstStyle/>
          <a:p>
            <a:r>
              <a:rPr lang="en-IN" sz="4800" dirty="0"/>
              <a:t>EDIT DISTANCE TECHNIQUES</a:t>
            </a:r>
            <a:endParaRPr sz="4800" dirty="0"/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6638362E-06B3-6F37-E803-C589265EAA48}"/>
              </a:ext>
            </a:extLst>
          </p:cNvPr>
          <p:cNvGrpSpPr/>
          <p:nvPr/>
        </p:nvGrpSpPr>
        <p:grpSpPr>
          <a:xfrm>
            <a:off x="228600" y="304800"/>
            <a:ext cx="11280140" cy="6123940"/>
            <a:chOff x="424984" y="432816"/>
            <a:chExt cx="11280140" cy="6123940"/>
          </a:xfrm>
        </p:grpSpPr>
        <p:pic>
          <p:nvPicPr>
            <p:cNvPr id="5" name="object 3">
              <a:extLst>
                <a:ext uri="{FF2B5EF4-FFF2-40B4-BE49-F238E27FC236}">
                  <a16:creationId xmlns:a16="http://schemas.microsoft.com/office/drawing/2014/main" id="{5D5865DF-AD5F-5875-FCED-839AE234823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4E8698A9-42FE-0D73-5956-40F99F1F599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827788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5A8C0-8F71-BEC8-5063-62314D8FA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94CC0-01DE-ABC1-7740-E81D887C9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400" y="1247836"/>
            <a:ext cx="7239000" cy="615553"/>
          </a:xfrm>
        </p:spPr>
        <p:txBody>
          <a:bodyPr/>
          <a:lstStyle/>
          <a:p>
            <a:r>
              <a:rPr lang="en-IN" dirty="0"/>
              <a:t>1. </a:t>
            </a:r>
            <a:r>
              <a:rPr lang="en-IN" dirty="0" err="1"/>
              <a:t>Levenshtein</a:t>
            </a:r>
            <a:r>
              <a:rPr lang="en-IN" dirty="0"/>
              <a:t> Distance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0A1FE-560E-0B3A-B6F8-0C1695628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1800" y="2017641"/>
            <a:ext cx="8729980" cy="4678204"/>
          </a:xfrm>
        </p:spPr>
        <p:txBody>
          <a:bodyPr/>
          <a:lstStyle/>
          <a:p>
            <a:r>
              <a:rPr lang="en-US" sz="2400" dirty="0"/>
              <a:t>Counts operations required to convert one word → another:</a:t>
            </a:r>
          </a:p>
          <a:p>
            <a:r>
              <a:rPr lang="en-US" sz="2800" dirty="0"/>
              <a:t>Insert</a:t>
            </a:r>
          </a:p>
          <a:p>
            <a:r>
              <a:rPr lang="en-US" sz="2800" dirty="0"/>
              <a:t>Delete</a:t>
            </a:r>
          </a:p>
          <a:p>
            <a:r>
              <a:rPr lang="en-US" sz="2800" dirty="0"/>
              <a:t>Substitute</a:t>
            </a:r>
          </a:p>
          <a:p>
            <a:r>
              <a:rPr lang="en-US" sz="2800" dirty="0"/>
              <a:t>Example:</a:t>
            </a:r>
            <a:br>
              <a:rPr lang="en-US" sz="2800" dirty="0"/>
            </a:br>
            <a:r>
              <a:rPr lang="en-US" sz="2800" dirty="0"/>
              <a:t>kitten → sitting</a:t>
            </a:r>
            <a:br>
              <a:rPr lang="en-US" sz="2800" dirty="0"/>
            </a:br>
            <a:r>
              <a:rPr lang="en-US" sz="2800" dirty="0"/>
              <a:t>Distance = </a:t>
            </a:r>
            <a:r>
              <a:rPr lang="en-US" sz="2800" b="1" dirty="0"/>
              <a:t>3</a:t>
            </a:r>
            <a:endParaRPr lang="en-US" sz="2800" dirty="0"/>
          </a:p>
          <a:p>
            <a:r>
              <a:rPr lang="en-US" sz="2800" dirty="0"/>
              <a:t>Used for:</a:t>
            </a:r>
          </a:p>
          <a:p>
            <a:r>
              <a:rPr lang="en-US" sz="2800" dirty="0"/>
              <a:t>Query suggestions</a:t>
            </a:r>
          </a:p>
          <a:p>
            <a:r>
              <a:rPr lang="en-US" sz="2800" dirty="0"/>
              <a:t>Spelling correction</a:t>
            </a:r>
          </a:p>
          <a:p>
            <a:r>
              <a:rPr lang="en-US" sz="2800" dirty="0"/>
              <a:t>Fuzzy matching</a:t>
            </a:r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807EF9AA-2E09-8095-0D45-A5F631C7227D}"/>
              </a:ext>
            </a:extLst>
          </p:cNvPr>
          <p:cNvGrpSpPr/>
          <p:nvPr/>
        </p:nvGrpSpPr>
        <p:grpSpPr>
          <a:xfrm>
            <a:off x="228600" y="304800"/>
            <a:ext cx="11280140" cy="6123940"/>
            <a:chOff x="424984" y="432816"/>
            <a:chExt cx="11280140" cy="6123940"/>
          </a:xfrm>
        </p:grpSpPr>
        <p:pic>
          <p:nvPicPr>
            <p:cNvPr id="5" name="object 3">
              <a:extLst>
                <a:ext uri="{FF2B5EF4-FFF2-40B4-BE49-F238E27FC236}">
                  <a16:creationId xmlns:a16="http://schemas.microsoft.com/office/drawing/2014/main" id="{0786EB54-8372-6E9A-CB07-DEE2E2326F7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2980510E-FE12-850C-DCFB-E81C7798253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075512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2ADEF-689C-B8F6-ADE2-67B15C192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1F1D3-CA91-7457-D0D1-B757A54F7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400" y="1247836"/>
            <a:ext cx="9144000" cy="1231106"/>
          </a:xfrm>
        </p:spPr>
        <p:txBody>
          <a:bodyPr/>
          <a:lstStyle/>
          <a:p>
            <a:r>
              <a:rPr lang="en-IN" dirty="0"/>
              <a:t>2. </a:t>
            </a:r>
            <a:r>
              <a:rPr lang="en-IN" dirty="0" err="1"/>
              <a:t>Damerau</a:t>
            </a:r>
            <a:r>
              <a:rPr lang="en-IN" dirty="0"/>
              <a:t>–</a:t>
            </a:r>
            <a:r>
              <a:rPr lang="en-IN" dirty="0" err="1"/>
              <a:t>Levenshtein</a:t>
            </a:r>
            <a:r>
              <a:rPr lang="en-IN" dirty="0"/>
              <a:t> Distance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37863-51CA-702F-73D9-80A8A435B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1800" y="2017641"/>
            <a:ext cx="8729980" cy="3447098"/>
          </a:xfrm>
        </p:spPr>
        <p:txBody>
          <a:bodyPr/>
          <a:lstStyle/>
          <a:p>
            <a:r>
              <a:rPr lang="en-US" sz="2800" dirty="0"/>
              <a:t>Includes:</a:t>
            </a:r>
          </a:p>
          <a:p>
            <a:r>
              <a:rPr lang="en-US" sz="2800" dirty="0"/>
              <a:t>Insert</a:t>
            </a:r>
          </a:p>
          <a:p>
            <a:r>
              <a:rPr lang="en-US" sz="2800" dirty="0"/>
              <a:t>Delete</a:t>
            </a:r>
          </a:p>
          <a:p>
            <a:r>
              <a:rPr lang="en-US" sz="2800" dirty="0"/>
              <a:t>Substitute</a:t>
            </a:r>
          </a:p>
          <a:p>
            <a:r>
              <a:rPr lang="en-US" sz="2800" b="1" dirty="0"/>
              <a:t>Transpose</a:t>
            </a:r>
            <a:r>
              <a:rPr lang="en-US" sz="2800" dirty="0"/>
              <a:t> (swapping letters)</a:t>
            </a:r>
          </a:p>
          <a:p>
            <a:r>
              <a:rPr lang="en-US" sz="2800" dirty="0"/>
              <a:t>Example:</a:t>
            </a:r>
            <a:br>
              <a:rPr lang="en-US" sz="2800" dirty="0"/>
            </a:br>
            <a:r>
              <a:rPr lang="en-US" sz="2800" b="1" dirty="0" err="1"/>
              <a:t>acress</a:t>
            </a:r>
            <a:r>
              <a:rPr lang="en-US" sz="2800" b="1" dirty="0"/>
              <a:t> → actress</a:t>
            </a:r>
            <a:br>
              <a:rPr lang="en-US" sz="2800" dirty="0"/>
            </a:br>
            <a:r>
              <a:rPr lang="en-US" sz="2800" dirty="0"/>
              <a:t>Only 1 transposition → distance is </a:t>
            </a:r>
            <a:r>
              <a:rPr lang="en-US" sz="2800" b="1" dirty="0"/>
              <a:t>1</a:t>
            </a:r>
            <a:endParaRPr lang="en-US" sz="2800" dirty="0"/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460381C4-3A13-260E-0AFB-D29DE7A010BF}"/>
              </a:ext>
            </a:extLst>
          </p:cNvPr>
          <p:cNvGrpSpPr/>
          <p:nvPr/>
        </p:nvGrpSpPr>
        <p:grpSpPr>
          <a:xfrm>
            <a:off x="228600" y="304800"/>
            <a:ext cx="11280140" cy="6123940"/>
            <a:chOff x="424984" y="432816"/>
            <a:chExt cx="11280140" cy="6123940"/>
          </a:xfrm>
        </p:grpSpPr>
        <p:pic>
          <p:nvPicPr>
            <p:cNvPr id="5" name="object 3">
              <a:extLst>
                <a:ext uri="{FF2B5EF4-FFF2-40B4-BE49-F238E27FC236}">
                  <a16:creationId xmlns:a16="http://schemas.microsoft.com/office/drawing/2014/main" id="{0D828501-3000-EDB4-0335-3A35232D8C7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A8C2BB44-DBF9-3874-FEF1-72926781265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597996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29C0C-19F9-A24A-ABE5-FB7941254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4EEC0-979F-D786-42F3-8BB8C28FA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197893"/>
            <a:ext cx="9372600" cy="738664"/>
          </a:xfrm>
        </p:spPr>
        <p:txBody>
          <a:bodyPr/>
          <a:lstStyle/>
          <a:p>
            <a:r>
              <a:rPr lang="en-IN" sz="4800" dirty="0"/>
              <a:t>PHONETIC TECHNIQUES</a:t>
            </a:r>
            <a:endParaRPr sz="4800" dirty="0"/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FD90A98D-8678-3EA0-13C5-EEF6181DC4DD}"/>
              </a:ext>
            </a:extLst>
          </p:cNvPr>
          <p:cNvGrpSpPr/>
          <p:nvPr/>
        </p:nvGrpSpPr>
        <p:grpSpPr>
          <a:xfrm>
            <a:off x="228600" y="304800"/>
            <a:ext cx="11280140" cy="6123940"/>
            <a:chOff x="424984" y="432816"/>
            <a:chExt cx="11280140" cy="6123940"/>
          </a:xfrm>
        </p:grpSpPr>
        <p:pic>
          <p:nvPicPr>
            <p:cNvPr id="5" name="object 3">
              <a:extLst>
                <a:ext uri="{FF2B5EF4-FFF2-40B4-BE49-F238E27FC236}">
                  <a16:creationId xmlns:a16="http://schemas.microsoft.com/office/drawing/2014/main" id="{C7CAC7D2-4025-7D43-5316-1000FB973F2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DEF35B68-7623-8E0D-1448-78B52739CFF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326348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0043B-14C0-41A2-37C7-34753C704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E31CC-4022-04AA-E7FF-AA81A50F8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400" y="1247836"/>
            <a:ext cx="9144000" cy="615553"/>
          </a:xfrm>
        </p:spPr>
        <p:txBody>
          <a:bodyPr/>
          <a:lstStyle/>
          <a:p>
            <a:r>
              <a:rPr lang="en-IN" dirty="0"/>
              <a:t>3. Soundex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CCAD7-992B-5FD0-88F0-F88851015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1800" y="2017641"/>
            <a:ext cx="8729980" cy="3016210"/>
          </a:xfrm>
        </p:spPr>
        <p:txBody>
          <a:bodyPr/>
          <a:lstStyle/>
          <a:p>
            <a:r>
              <a:rPr lang="en-US" sz="2800" dirty="0"/>
              <a:t>Words sound the same even if spelled differently.</a:t>
            </a:r>
          </a:p>
          <a:p>
            <a:r>
              <a:rPr lang="en-US" sz="2800" dirty="0"/>
              <a:t>Example:</a:t>
            </a:r>
            <a:br>
              <a:rPr lang="en-US" sz="2800" dirty="0"/>
            </a:br>
            <a:r>
              <a:rPr lang="en-US" sz="2800" dirty="0"/>
              <a:t>“Color” and “</a:t>
            </a:r>
            <a:r>
              <a:rPr lang="en-US" sz="2800" dirty="0" err="1"/>
              <a:t>Colour</a:t>
            </a:r>
            <a:r>
              <a:rPr lang="en-US" sz="2800" dirty="0"/>
              <a:t>” → Similar Soundex codes</a:t>
            </a:r>
            <a:br>
              <a:rPr lang="en-US" sz="2800" dirty="0"/>
            </a:br>
            <a:r>
              <a:rPr lang="en-US" sz="2800" dirty="0"/>
              <a:t>Useful for names:</a:t>
            </a:r>
          </a:p>
          <a:p>
            <a:r>
              <a:rPr lang="en-US" sz="2800" dirty="0"/>
              <a:t>Jon</a:t>
            </a:r>
          </a:p>
          <a:p>
            <a:r>
              <a:rPr lang="en-US" sz="2800" dirty="0"/>
              <a:t>John</a:t>
            </a:r>
          </a:p>
          <a:p>
            <a:r>
              <a:rPr lang="en-US" sz="2800" dirty="0"/>
              <a:t>Jhon</a:t>
            </a:r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FF1E7E37-D9D4-3193-9066-CC4006B654D7}"/>
              </a:ext>
            </a:extLst>
          </p:cNvPr>
          <p:cNvGrpSpPr/>
          <p:nvPr/>
        </p:nvGrpSpPr>
        <p:grpSpPr>
          <a:xfrm>
            <a:off x="228600" y="304800"/>
            <a:ext cx="11280140" cy="6123940"/>
            <a:chOff x="424984" y="432816"/>
            <a:chExt cx="11280140" cy="6123940"/>
          </a:xfrm>
        </p:grpSpPr>
        <p:pic>
          <p:nvPicPr>
            <p:cNvPr id="5" name="object 3">
              <a:extLst>
                <a:ext uri="{FF2B5EF4-FFF2-40B4-BE49-F238E27FC236}">
                  <a16:creationId xmlns:a16="http://schemas.microsoft.com/office/drawing/2014/main" id="{AF07640C-E826-72C6-F023-49B3A6A0456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34F64E22-554C-6ED4-7003-538E7888F15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361613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A63B3-4FA0-C893-7839-EAFA2FECA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A51D5-92C9-81E8-2F9A-E2FA77066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400" y="1247836"/>
            <a:ext cx="9144000" cy="615553"/>
          </a:xfrm>
        </p:spPr>
        <p:txBody>
          <a:bodyPr/>
          <a:lstStyle/>
          <a:p>
            <a:r>
              <a:rPr lang="en-IN" dirty="0"/>
              <a:t>3. Soundex</a:t>
            </a:r>
            <a:endParaRPr dirty="0"/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51BB682C-5950-731E-0AD4-127C0173D8A1}"/>
              </a:ext>
            </a:extLst>
          </p:cNvPr>
          <p:cNvGrpSpPr/>
          <p:nvPr/>
        </p:nvGrpSpPr>
        <p:grpSpPr>
          <a:xfrm>
            <a:off x="228600" y="304800"/>
            <a:ext cx="11280140" cy="6123940"/>
            <a:chOff x="424984" y="432816"/>
            <a:chExt cx="11280140" cy="6123940"/>
          </a:xfrm>
        </p:grpSpPr>
        <p:pic>
          <p:nvPicPr>
            <p:cNvPr id="5" name="object 3">
              <a:extLst>
                <a:ext uri="{FF2B5EF4-FFF2-40B4-BE49-F238E27FC236}">
                  <a16:creationId xmlns:a16="http://schemas.microsoft.com/office/drawing/2014/main" id="{8368E539-2A59-3EBF-A763-85CE8854750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ACC6CC03-D7C4-33E5-4616-EC4110206753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7DBA5A1-31D1-0925-AA12-21A62FF6F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91343"/>
              </p:ext>
            </p:extLst>
          </p:nvPr>
        </p:nvGraphicFramePr>
        <p:xfrm>
          <a:off x="4167448" y="3124200"/>
          <a:ext cx="7326454" cy="3557904"/>
        </p:xfrm>
        <a:graphic>
          <a:graphicData uri="http://schemas.openxmlformats.org/drawingml/2006/table">
            <a:tbl>
              <a:tblPr/>
              <a:tblGrid>
                <a:gridCol w="3663227">
                  <a:extLst>
                    <a:ext uri="{9D8B030D-6E8A-4147-A177-3AD203B41FA5}">
                      <a16:colId xmlns:a16="http://schemas.microsoft.com/office/drawing/2014/main" val="1977718070"/>
                    </a:ext>
                  </a:extLst>
                </a:gridCol>
                <a:gridCol w="3663227">
                  <a:extLst>
                    <a:ext uri="{9D8B030D-6E8A-4147-A177-3AD203B41FA5}">
                      <a16:colId xmlns:a16="http://schemas.microsoft.com/office/drawing/2014/main" val="2592335763"/>
                    </a:ext>
                  </a:extLst>
                </a:gridCol>
              </a:tblGrid>
              <a:tr h="315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Code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Letters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5593601"/>
                  </a:ext>
                </a:extLst>
              </a:tr>
              <a:tr h="315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1</a:t>
                      </a:r>
                      <a:endParaRPr lang="en-IN" sz="2400"/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B, F, P, V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2371129"/>
                  </a:ext>
                </a:extLst>
              </a:tr>
              <a:tr h="315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2</a:t>
                      </a:r>
                      <a:endParaRPr lang="en-IN" sz="2400"/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2400"/>
                        <a:t>C, G, J, K, Q, S, X, Z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7719770"/>
                  </a:ext>
                </a:extLst>
              </a:tr>
              <a:tr h="315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3</a:t>
                      </a:r>
                      <a:endParaRPr lang="en-IN" sz="2400"/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D, T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347339"/>
                  </a:ext>
                </a:extLst>
              </a:tr>
              <a:tr h="315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4</a:t>
                      </a:r>
                      <a:endParaRPr lang="en-IN" sz="2400"/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5634713"/>
                  </a:ext>
                </a:extLst>
              </a:tr>
              <a:tr h="315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5</a:t>
                      </a:r>
                      <a:endParaRPr lang="en-IN" sz="2400"/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M, N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5311088"/>
                  </a:ext>
                </a:extLst>
              </a:tr>
              <a:tr h="315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6</a:t>
                      </a:r>
                      <a:endParaRPr lang="en-IN" sz="2400"/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640703"/>
                  </a:ext>
                </a:extLst>
              </a:tr>
              <a:tr h="315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– (Hyphen)</a:t>
                      </a:r>
                      <a:endParaRPr lang="en-IN" sz="2400"/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A, E, I, O, U, Y, H, W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813719"/>
                  </a:ext>
                </a:extLst>
              </a:tr>
            </a:tbl>
          </a:graphicData>
        </a:graphic>
      </p:graphicFrame>
      <p:sp>
        <p:nvSpPr>
          <p:cNvPr id="10" name="Rectangle 1">
            <a:extLst>
              <a:ext uri="{FF2B5EF4-FFF2-40B4-BE49-F238E27FC236}">
                <a16:creationId xmlns:a16="http://schemas.microsoft.com/office/drawing/2014/main" id="{A1F7AADB-8BB6-F819-4E49-32039B250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099502"/>
            <a:ext cx="742791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Keep the first letter (uppercase).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poornima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P</a:t>
            </a:r>
            <a:endParaRPr kumimoji="0" lang="en-US" altLang="en-US" sz="105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Convert letters to digits using the table below: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9413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124E2-FC01-9A2E-3BA0-2BA78C3B5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BA44A-56B6-A566-1485-BB066C701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400" y="1247836"/>
            <a:ext cx="9144000" cy="615553"/>
          </a:xfrm>
        </p:spPr>
        <p:txBody>
          <a:bodyPr/>
          <a:lstStyle/>
          <a:p>
            <a:r>
              <a:rPr lang="en-IN" dirty="0"/>
              <a:t>3. Soundex</a:t>
            </a:r>
            <a:endParaRPr dirty="0"/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95DD9A7A-419B-192F-D6A8-B53B6AB3CE0B}"/>
              </a:ext>
            </a:extLst>
          </p:cNvPr>
          <p:cNvGrpSpPr/>
          <p:nvPr/>
        </p:nvGrpSpPr>
        <p:grpSpPr>
          <a:xfrm>
            <a:off x="228600" y="304800"/>
            <a:ext cx="11280140" cy="6123940"/>
            <a:chOff x="424984" y="432816"/>
            <a:chExt cx="11280140" cy="6123940"/>
          </a:xfrm>
        </p:grpSpPr>
        <p:pic>
          <p:nvPicPr>
            <p:cNvPr id="5" name="object 3">
              <a:extLst>
                <a:ext uri="{FF2B5EF4-FFF2-40B4-BE49-F238E27FC236}">
                  <a16:creationId xmlns:a16="http://schemas.microsoft.com/office/drawing/2014/main" id="{B249D495-25D3-D458-CBA5-4AB811F931C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BC728CA2-4867-2716-7056-CCEF91D2B5D3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504C3A8-9CB3-8BB7-4947-F6B886F08082}"/>
              </a:ext>
            </a:extLst>
          </p:cNvPr>
          <p:cNvSpPr txBox="1"/>
          <p:nvPr/>
        </p:nvSpPr>
        <p:spPr>
          <a:xfrm>
            <a:off x="3505200" y="2165731"/>
            <a:ext cx="60945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3. Replace letters with numbers (except first letter).</a:t>
            </a:r>
          </a:p>
          <a:p>
            <a:pPr>
              <a:buNone/>
            </a:pPr>
            <a:r>
              <a:rPr lang="en-IN" dirty="0"/>
              <a:t>Example:</a:t>
            </a:r>
            <a:br>
              <a:rPr lang="en-IN" dirty="0"/>
            </a:br>
            <a:r>
              <a:rPr lang="en-IN" b="1" dirty="0" err="1"/>
              <a:t>poornima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 → P (keep)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 → –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 → –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 → 6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 → 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i</a:t>
            </a:r>
            <a:r>
              <a:rPr lang="en-IN" dirty="0"/>
              <a:t> → –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 → 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 → –</a:t>
            </a:r>
          </a:p>
          <a:p>
            <a:pPr>
              <a:buNone/>
            </a:pPr>
            <a:r>
              <a:rPr lang="en-IN" dirty="0"/>
              <a:t>→ </a:t>
            </a:r>
            <a:r>
              <a:rPr lang="en-IN" b="1" dirty="0"/>
              <a:t>P– – 6 5 – 5 –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73479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880E7-9778-E4C0-B711-F51F0A743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4201F-A9BD-3B86-7956-7897205B1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400" y="1247836"/>
            <a:ext cx="9144000" cy="615553"/>
          </a:xfrm>
        </p:spPr>
        <p:txBody>
          <a:bodyPr/>
          <a:lstStyle/>
          <a:p>
            <a:r>
              <a:rPr lang="en-IN" dirty="0"/>
              <a:t>3. Soundex</a:t>
            </a:r>
            <a:endParaRPr dirty="0"/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BD90BB46-46DC-575E-11CD-5759C105FCB5}"/>
              </a:ext>
            </a:extLst>
          </p:cNvPr>
          <p:cNvGrpSpPr/>
          <p:nvPr/>
        </p:nvGrpSpPr>
        <p:grpSpPr>
          <a:xfrm>
            <a:off x="228600" y="304800"/>
            <a:ext cx="11280140" cy="6123940"/>
            <a:chOff x="424984" y="432816"/>
            <a:chExt cx="11280140" cy="6123940"/>
          </a:xfrm>
        </p:grpSpPr>
        <p:pic>
          <p:nvPicPr>
            <p:cNvPr id="5" name="object 3">
              <a:extLst>
                <a:ext uri="{FF2B5EF4-FFF2-40B4-BE49-F238E27FC236}">
                  <a16:creationId xmlns:a16="http://schemas.microsoft.com/office/drawing/2014/main" id="{2E2347DE-074C-4EA7-0C22-FAFFBEBA290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E75CDD6B-97E5-BFB7-2074-35CB0C044C4A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E9A2B40-D7BF-5BEF-98CC-22F39939AD68}"/>
              </a:ext>
            </a:extLst>
          </p:cNvPr>
          <p:cNvSpPr txBox="1"/>
          <p:nvPr/>
        </p:nvSpPr>
        <p:spPr>
          <a:xfrm>
            <a:off x="3672987" y="2234646"/>
            <a:ext cx="60945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4. Remove adjacent duplicate numbers</a:t>
            </a:r>
          </a:p>
          <a:p>
            <a:pPr>
              <a:buNone/>
            </a:pPr>
            <a:r>
              <a:rPr lang="en-US" dirty="0"/>
              <a:t>(If two same codes appear next to each other, keep only one.)</a:t>
            </a:r>
          </a:p>
          <a:p>
            <a:pPr>
              <a:buNone/>
            </a:pPr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If you get </a:t>
            </a:r>
            <a:r>
              <a:rPr lang="en-US" b="1" dirty="0"/>
              <a:t>P2665</a:t>
            </a:r>
            <a:r>
              <a:rPr lang="en-US" dirty="0"/>
              <a:t>, but “66” is adjacent → reduce to </a:t>
            </a:r>
            <a:r>
              <a:rPr lang="en-US" b="1" dirty="0"/>
              <a:t>P265</a:t>
            </a:r>
            <a:endParaRPr lang="en-US" dirty="0"/>
          </a:p>
          <a:p>
            <a:pPr>
              <a:buNone/>
            </a:pPr>
            <a:r>
              <a:rPr lang="en-US" dirty="0"/>
              <a:t>(</a:t>
            </a:r>
            <a:r>
              <a:rPr lang="en-US" i="1" dirty="0"/>
              <a:t>Our example doesn’t have duplicates.</a:t>
            </a:r>
            <a:r>
              <a:rPr lang="en-US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BBCD5C-7BCC-8A77-1973-4AD326C4B28D}"/>
              </a:ext>
            </a:extLst>
          </p:cNvPr>
          <p:cNvSpPr txBox="1"/>
          <p:nvPr/>
        </p:nvSpPr>
        <p:spPr>
          <a:xfrm>
            <a:off x="3672987" y="4172381"/>
            <a:ext cx="60945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5. Remove all hyphens</a:t>
            </a:r>
          </a:p>
          <a:p>
            <a:pPr>
              <a:buNone/>
            </a:pPr>
            <a:r>
              <a:rPr lang="en-IN" dirty="0"/>
              <a:t>P – – 6 5 – 5 –</a:t>
            </a:r>
            <a:br>
              <a:rPr lang="en-IN" dirty="0"/>
            </a:br>
            <a:r>
              <a:rPr lang="en-IN" dirty="0"/>
              <a:t>→ </a:t>
            </a:r>
            <a:r>
              <a:rPr lang="en-IN" b="1" dirty="0"/>
              <a:t>P655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7F0D9B-5C04-4AB1-67AB-F01612CEAB0C}"/>
              </a:ext>
            </a:extLst>
          </p:cNvPr>
          <p:cNvSpPr txBox="1"/>
          <p:nvPr/>
        </p:nvSpPr>
        <p:spPr>
          <a:xfrm>
            <a:off x="3680385" y="5286998"/>
            <a:ext cx="6094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6. Keep only 3 digits (pad with 0s if fewer)</a:t>
            </a:r>
          </a:p>
          <a:p>
            <a:pPr>
              <a:buNone/>
            </a:pPr>
            <a:r>
              <a:rPr lang="en-US" dirty="0"/>
              <a:t>P655 → already 3 digits → </a:t>
            </a:r>
            <a:r>
              <a:rPr lang="en-US" b="1" dirty="0"/>
              <a:t>Final Soundex Code: P655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0497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0594A-E080-E3C2-438F-24BB48048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2E2E7-0FFE-F5D6-B698-26FEE29AF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400" y="1247836"/>
            <a:ext cx="9144000" cy="615553"/>
          </a:xfrm>
        </p:spPr>
        <p:txBody>
          <a:bodyPr/>
          <a:lstStyle/>
          <a:p>
            <a:r>
              <a:rPr lang="en-IN" dirty="0"/>
              <a:t>3. Soundex</a:t>
            </a:r>
            <a:endParaRPr dirty="0"/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109D9818-9415-4689-1DAD-7A0F2EA2C2C5}"/>
              </a:ext>
            </a:extLst>
          </p:cNvPr>
          <p:cNvGrpSpPr/>
          <p:nvPr/>
        </p:nvGrpSpPr>
        <p:grpSpPr>
          <a:xfrm>
            <a:off x="228600" y="304800"/>
            <a:ext cx="11280140" cy="6123940"/>
            <a:chOff x="424984" y="432816"/>
            <a:chExt cx="11280140" cy="6123940"/>
          </a:xfrm>
        </p:grpSpPr>
        <p:pic>
          <p:nvPicPr>
            <p:cNvPr id="5" name="object 3">
              <a:extLst>
                <a:ext uri="{FF2B5EF4-FFF2-40B4-BE49-F238E27FC236}">
                  <a16:creationId xmlns:a16="http://schemas.microsoft.com/office/drawing/2014/main" id="{FFBCF187-6FD3-EFA5-CE1B-9F978090EBD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299294DE-7E9F-437A-78AA-EF47A7B614B0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04D5C29-2FBB-D2EA-213A-33E52AFF53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0537775"/>
              </p:ext>
            </p:extLst>
          </p:nvPr>
        </p:nvGraphicFramePr>
        <p:xfrm>
          <a:off x="2971800" y="2224196"/>
          <a:ext cx="8731251" cy="18288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910417">
                  <a:extLst>
                    <a:ext uri="{9D8B030D-6E8A-4147-A177-3AD203B41FA5}">
                      <a16:colId xmlns:a16="http://schemas.microsoft.com/office/drawing/2014/main" val="3492461359"/>
                    </a:ext>
                  </a:extLst>
                </a:gridCol>
                <a:gridCol w="2910417">
                  <a:extLst>
                    <a:ext uri="{9D8B030D-6E8A-4147-A177-3AD203B41FA5}">
                      <a16:colId xmlns:a16="http://schemas.microsoft.com/office/drawing/2014/main" val="572735590"/>
                    </a:ext>
                  </a:extLst>
                </a:gridCol>
                <a:gridCol w="2910417">
                  <a:extLst>
                    <a:ext uri="{9D8B030D-6E8A-4147-A177-3AD203B41FA5}">
                      <a16:colId xmlns:a16="http://schemas.microsoft.com/office/drawing/2014/main" val="398763837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Steps (Short)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Soundex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528782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poornima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P – – 6 5 – 5 – → P655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P655</a:t>
                      </a:r>
                      <a:endParaRPr lang="en-IN" sz="1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144509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 err="1"/>
                        <a:t>poohnima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 – – 6 5 – 5 – → P655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P655</a:t>
                      </a:r>
                      <a:endParaRPr lang="en-IN" sz="1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359018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pointer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 – 5 – 6 – 5 → P565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P565</a:t>
                      </a:r>
                      <a:endParaRPr lang="en-IN" sz="1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409013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poiner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 – 5 – 6 – 5 → P565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P565</a:t>
                      </a:r>
                      <a:endParaRPr lang="en-IN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665029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DE3EDEA-4090-3A57-E6F0-809F7DF93A50}"/>
              </a:ext>
            </a:extLst>
          </p:cNvPr>
          <p:cNvSpPr txBox="1"/>
          <p:nvPr/>
        </p:nvSpPr>
        <p:spPr>
          <a:xfrm>
            <a:off x="3200400" y="4299829"/>
            <a:ext cx="60945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These two words sound similar.</a:t>
            </a:r>
            <a:br>
              <a:rPr lang="en-US" dirty="0"/>
            </a:br>
            <a:r>
              <a:rPr lang="en-US" dirty="0"/>
              <a:t>Check if they have the same Soundex code: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“pointer”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“</a:t>
            </a:r>
            <a:r>
              <a:rPr lang="en-US" b="1" dirty="0" err="1"/>
              <a:t>poiner</a:t>
            </a:r>
            <a:r>
              <a:rPr lang="en-US" b="1" dirty="0"/>
              <a:t>”</a:t>
            </a:r>
            <a:endParaRPr lang="en-US" dirty="0"/>
          </a:p>
          <a:p>
            <a:pPr>
              <a:buNone/>
            </a:pPr>
            <a:r>
              <a:rPr lang="en-US" b="1" dirty="0"/>
              <a:t>Do they match? Yes / No?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9547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77C0D-B6C7-21E8-8C73-02208E5C9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E9543-DD67-B39A-354C-7FFCD457F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2197893"/>
            <a:ext cx="10515600" cy="1477328"/>
          </a:xfrm>
        </p:spPr>
        <p:txBody>
          <a:bodyPr/>
          <a:lstStyle/>
          <a:p>
            <a:r>
              <a:rPr lang="en-IN" sz="4800" dirty="0"/>
              <a:t>SIMILARITY-BASED TECHNIQUES</a:t>
            </a:r>
            <a:endParaRPr sz="4800" dirty="0"/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2DAC0D1A-2601-ADE7-A9EA-1AB1B0C9B561}"/>
              </a:ext>
            </a:extLst>
          </p:cNvPr>
          <p:cNvGrpSpPr/>
          <p:nvPr/>
        </p:nvGrpSpPr>
        <p:grpSpPr>
          <a:xfrm>
            <a:off x="228600" y="304800"/>
            <a:ext cx="11280140" cy="6123940"/>
            <a:chOff x="424984" y="432816"/>
            <a:chExt cx="11280140" cy="6123940"/>
          </a:xfrm>
        </p:grpSpPr>
        <p:pic>
          <p:nvPicPr>
            <p:cNvPr id="5" name="object 3">
              <a:extLst>
                <a:ext uri="{FF2B5EF4-FFF2-40B4-BE49-F238E27FC236}">
                  <a16:creationId xmlns:a16="http://schemas.microsoft.com/office/drawing/2014/main" id="{389362E2-A287-5C71-56FD-46DE8B76AB8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B9E7ED70-A5B7-BCE6-AE27-EE6CF5B4073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6372021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57817-A195-B785-C3B2-0C8B9C380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37F85-AE6C-DA93-84C3-94F096855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400" y="1247836"/>
            <a:ext cx="9144000" cy="615553"/>
          </a:xfrm>
        </p:spPr>
        <p:txBody>
          <a:bodyPr/>
          <a:lstStyle/>
          <a:p>
            <a:r>
              <a:rPr lang="en-IN" dirty="0"/>
              <a:t>5. Jaccard Similarity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BD1C3-F7FE-8196-B783-154CB50D9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1800" y="2017641"/>
            <a:ext cx="8729980" cy="2154436"/>
          </a:xfrm>
        </p:spPr>
        <p:txBody>
          <a:bodyPr/>
          <a:lstStyle/>
          <a:p>
            <a:r>
              <a:rPr lang="en-US" sz="2800" dirty="0"/>
              <a:t>Based on </a:t>
            </a:r>
            <a:r>
              <a:rPr lang="en-US" sz="2800" b="1" dirty="0"/>
              <a:t>character sets / bigrams</a:t>
            </a:r>
            <a:r>
              <a:rPr lang="en-US" sz="2800" dirty="0"/>
              <a:t>.</a:t>
            </a:r>
          </a:p>
          <a:p>
            <a:r>
              <a:rPr lang="en-US" sz="2800" dirty="0"/>
              <a:t>Example (bigrams):</a:t>
            </a:r>
            <a:br>
              <a:rPr lang="en-US" sz="2800" dirty="0"/>
            </a:br>
            <a:r>
              <a:rPr lang="en-US" sz="2800" dirty="0"/>
              <a:t>night = {</a:t>
            </a:r>
            <a:r>
              <a:rPr lang="en-US" sz="2800" dirty="0" err="1"/>
              <a:t>ni</a:t>
            </a:r>
            <a:r>
              <a:rPr lang="en-US" sz="2800" dirty="0"/>
              <a:t>, </a:t>
            </a:r>
            <a:r>
              <a:rPr lang="en-US" sz="2800" dirty="0" err="1"/>
              <a:t>ig</a:t>
            </a:r>
            <a:r>
              <a:rPr lang="en-US" sz="2800" dirty="0"/>
              <a:t>, </a:t>
            </a:r>
            <a:r>
              <a:rPr lang="en-US" sz="2800" dirty="0" err="1"/>
              <a:t>gh</a:t>
            </a:r>
            <a:r>
              <a:rPr lang="en-US" sz="2800" dirty="0"/>
              <a:t>, </a:t>
            </a:r>
            <a:r>
              <a:rPr lang="en-US" sz="2800" dirty="0" err="1"/>
              <a:t>ht</a:t>
            </a:r>
            <a:r>
              <a:rPr lang="en-US" sz="2800" dirty="0"/>
              <a:t>}</a:t>
            </a:r>
            <a:br>
              <a:rPr lang="en-US" sz="2800" dirty="0"/>
            </a:br>
            <a:r>
              <a:rPr lang="en-US" sz="2800" dirty="0" err="1"/>
              <a:t>nite</a:t>
            </a:r>
            <a:r>
              <a:rPr lang="en-US" sz="2800" dirty="0"/>
              <a:t> = {</a:t>
            </a:r>
            <a:r>
              <a:rPr lang="en-US" sz="2800" dirty="0" err="1"/>
              <a:t>ni</a:t>
            </a:r>
            <a:r>
              <a:rPr lang="en-US" sz="2800" dirty="0"/>
              <a:t>, it, </a:t>
            </a:r>
            <a:r>
              <a:rPr lang="en-US" sz="2800" dirty="0" err="1"/>
              <a:t>te</a:t>
            </a:r>
            <a:r>
              <a:rPr lang="en-US" sz="2800" dirty="0"/>
              <a:t>}</a:t>
            </a:r>
            <a:br>
              <a:rPr lang="en-US" sz="2800" dirty="0"/>
            </a:br>
            <a:r>
              <a:rPr lang="en-US" sz="2800" dirty="0"/>
              <a:t>Jaccard = intersection / union</a:t>
            </a:r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E11FA903-EE20-A48E-70AA-1028B76C79C8}"/>
              </a:ext>
            </a:extLst>
          </p:cNvPr>
          <p:cNvGrpSpPr/>
          <p:nvPr/>
        </p:nvGrpSpPr>
        <p:grpSpPr>
          <a:xfrm>
            <a:off x="228600" y="304800"/>
            <a:ext cx="11280140" cy="6123940"/>
            <a:chOff x="424984" y="432816"/>
            <a:chExt cx="11280140" cy="6123940"/>
          </a:xfrm>
        </p:grpSpPr>
        <p:pic>
          <p:nvPicPr>
            <p:cNvPr id="5" name="object 3">
              <a:extLst>
                <a:ext uri="{FF2B5EF4-FFF2-40B4-BE49-F238E27FC236}">
                  <a16:creationId xmlns:a16="http://schemas.microsoft.com/office/drawing/2014/main" id="{E27AD8A7-CE98-9C12-665E-83FE70D6FC0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10FAFC4D-2BCD-84C4-9A54-6BB7A248638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512886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E40D4-851C-702A-7C8B-8A1EB8A95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1EA73-BEEF-79F6-AEA2-B16CBB2F1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400" y="1247836"/>
            <a:ext cx="9144000" cy="615553"/>
          </a:xfrm>
        </p:spPr>
        <p:txBody>
          <a:bodyPr/>
          <a:lstStyle/>
          <a:p>
            <a:r>
              <a:rPr lang="en-IN" dirty="0"/>
              <a:t>6. Cosine Similarity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6EA33-C9F9-5346-39D1-F95749FB7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1800" y="2017641"/>
            <a:ext cx="8729980" cy="2585323"/>
          </a:xfrm>
        </p:spPr>
        <p:txBody>
          <a:bodyPr/>
          <a:lstStyle/>
          <a:p>
            <a:r>
              <a:rPr lang="en-US" sz="2800" dirty="0"/>
              <a:t>Convert words → vectors</a:t>
            </a:r>
            <a:br>
              <a:rPr lang="en-US" sz="2800" dirty="0"/>
            </a:br>
            <a:r>
              <a:rPr lang="en-US" sz="2800" dirty="0"/>
              <a:t>Compare using cosine angle.</a:t>
            </a:r>
          </a:p>
          <a:p>
            <a:r>
              <a:rPr lang="en-US" sz="2800" dirty="0"/>
              <a:t>Useful when using:</a:t>
            </a:r>
          </a:p>
          <a:p>
            <a:r>
              <a:rPr lang="en-US" sz="2800" dirty="0"/>
              <a:t>TF-IDF</a:t>
            </a:r>
          </a:p>
          <a:p>
            <a:r>
              <a:rPr lang="en-US" sz="2800" dirty="0"/>
              <a:t>Bag-of-words</a:t>
            </a:r>
          </a:p>
          <a:p>
            <a:r>
              <a:rPr lang="en-US" sz="2800" dirty="0"/>
              <a:t>Frequency vectors</a:t>
            </a:r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E4F92B34-462E-FDF5-B135-83B50438A75D}"/>
              </a:ext>
            </a:extLst>
          </p:cNvPr>
          <p:cNvGrpSpPr/>
          <p:nvPr/>
        </p:nvGrpSpPr>
        <p:grpSpPr>
          <a:xfrm>
            <a:off x="228600" y="304800"/>
            <a:ext cx="11280140" cy="6123940"/>
            <a:chOff x="424984" y="432816"/>
            <a:chExt cx="11280140" cy="6123940"/>
          </a:xfrm>
        </p:grpSpPr>
        <p:pic>
          <p:nvPicPr>
            <p:cNvPr id="5" name="object 3">
              <a:extLst>
                <a:ext uri="{FF2B5EF4-FFF2-40B4-BE49-F238E27FC236}">
                  <a16:creationId xmlns:a16="http://schemas.microsoft.com/office/drawing/2014/main" id="{801417FA-FA93-0979-E7F3-4DAAD73C1AA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C0654CF5-962E-443F-CAA1-FB2BD1B2D299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278452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04807-328B-EC80-2648-D0DEC9F0E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1B4FE-DAC3-7B4D-9E3D-8B3BFE37C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400" y="1247836"/>
            <a:ext cx="9144000" cy="615553"/>
          </a:xfrm>
        </p:spPr>
        <p:txBody>
          <a:bodyPr/>
          <a:lstStyle/>
          <a:p>
            <a:r>
              <a:rPr lang="en-IN" dirty="0"/>
              <a:t>7. N-gram Overlap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1DD7E-6249-A49D-75FC-291B7EC2D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1800" y="2017641"/>
            <a:ext cx="8729980" cy="2154436"/>
          </a:xfrm>
        </p:spPr>
        <p:txBody>
          <a:bodyPr/>
          <a:lstStyle/>
          <a:p>
            <a:r>
              <a:rPr lang="en-IN" sz="2800" dirty="0"/>
              <a:t>Break word into chunks of 2 or 3 letters.</a:t>
            </a:r>
          </a:p>
          <a:p>
            <a:r>
              <a:rPr lang="en-IN" sz="2800" dirty="0"/>
              <a:t>Example (trigrams):</a:t>
            </a:r>
            <a:br>
              <a:rPr lang="en-IN" sz="2800" dirty="0"/>
            </a:br>
            <a:r>
              <a:rPr lang="en-IN" sz="2800" dirty="0"/>
              <a:t>“environment” → env, </a:t>
            </a:r>
            <a:r>
              <a:rPr lang="en-IN" sz="2800" dirty="0" err="1"/>
              <a:t>nvi</a:t>
            </a:r>
            <a:r>
              <a:rPr lang="en-IN" sz="2800" dirty="0"/>
              <a:t>, vir…</a:t>
            </a:r>
            <a:br>
              <a:rPr lang="en-IN" sz="2800" dirty="0"/>
            </a:br>
            <a:r>
              <a:rPr lang="en-IN" sz="2800" dirty="0"/>
              <a:t>“</a:t>
            </a:r>
            <a:r>
              <a:rPr lang="en-IN" sz="2800" dirty="0" err="1"/>
              <a:t>enviroment</a:t>
            </a:r>
            <a:r>
              <a:rPr lang="en-IN" sz="2800" dirty="0"/>
              <a:t>” → env, </a:t>
            </a:r>
            <a:r>
              <a:rPr lang="en-IN" sz="2800" dirty="0" err="1"/>
              <a:t>nvi</a:t>
            </a:r>
            <a:r>
              <a:rPr lang="en-IN" sz="2800" dirty="0"/>
              <a:t>, vir… (1 “n” missing)</a:t>
            </a:r>
          </a:p>
          <a:p>
            <a:r>
              <a:rPr lang="en-IN" sz="2800" dirty="0"/>
              <a:t>More overlap = more similar.</a:t>
            </a:r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AD566E24-2348-E8F2-03D2-6AD98701E313}"/>
              </a:ext>
            </a:extLst>
          </p:cNvPr>
          <p:cNvGrpSpPr/>
          <p:nvPr/>
        </p:nvGrpSpPr>
        <p:grpSpPr>
          <a:xfrm>
            <a:off x="228600" y="304800"/>
            <a:ext cx="11280140" cy="6123940"/>
            <a:chOff x="424984" y="432816"/>
            <a:chExt cx="11280140" cy="6123940"/>
          </a:xfrm>
        </p:grpSpPr>
        <p:pic>
          <p:nvPicPr>
            <p:cNvPr id="5" name="object 3">
              <a:extLst>
                <a:ext uri="{FF2B5EF4-FFF2-40B4-BE49-F238E27FC236}">
                  <a16:creationId xmlns:a16="http://schemas.microsoft.com/office/drawing/2014/main" id="{CBDD0685-0909-4572-1E90-5AC3E51BD4E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CC14CBD7-C285-1C5E-B695-96CB659F9500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403215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B984D-B0B3-B36D-B0AA-56C960CB2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F0C16-CE8E-463F-1D09-286994051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2197893"/>
            <a:ext cx="10515600" cy="738664"/>
          </a:xfrm>
        </p:spPr>
        <p:txBody>
          <a:bodyPr/>
          <a:lstStyle/>
          <a:p>
            <a:r>
              <a:rPr lang="en-IN" sz="4800" dirty="0"/>
              <a:t>STATISTICAL &amp; ML TECHNIQUES</a:t>
            </a:r>
            <a:endParaRPr sz="4800" dirty="0"/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105ACA9A-0D3F-A54A-440D-691A30FE574E}"/>
              </a:ext>
            </a:extLst>
          </p:cNvPr>
          <p:cNvGrpSpPr/>
          <p:nvPr/>
        </p:nvGrpSpPr>
        <p:grpSpPr>
          <a:xfrm>
            <a:off x="228600" y="304800"/>
            <a:ext cx="11280140" cy="6123940"/>
            <a:chOff x="424984" y="432816"/>
            <a:chExt cx="11280140" cy="6123940"/>
          </a:xfrm>
        </p:grpSpPr>
        <p:pic>
          <p:nvPicPr>
            <p:cNvPr id="5" name="object 3">
              <a:extLst>
                <a:ext uri="{FF2B5EF4-FFF2-40B4-BE49-F238E27FC236}">
                  <a16:creationId xmlns:a16="http://schemas.microsoft.com/office/drawing/2014/main" id="{DBE79A90-0155-CCA4-13D9-F6EDB76CD5F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B6309F36-8143-4505-78C3-CDBCAAF5914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664813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E05BB-10ED-C633-4A35-135238AEB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BDF1B-ABD1-D6D1-B858-579A99154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400" y="1247836"/>
            <a:ext cx="9144000" cy="615553"/>
          </a:xfrm>
        </p:spPr>
        <p:txBody>
          <a:bodyPr/>
          <a:lstStyle/>
          <a:p>
            <a:r>
              <a:rPr lang="en-IN" dirty="0"/>
              <a:t>8. Language Models (LM)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03876-366C-152A-CBC2-1B3D22883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1800" y="2017641"/>
            <a:ext cx="8729980" cy="3877985"/>
          </a:xfrm>
        </p:spPr>
        <p:txBody>
          <a:bodyPr/>
          <a:lstStyle/>
          <a:p>
            <a:r>
              <a:rPr lang="en-US" sz="2800" dirty="0"/>
              <a:t>Probability-based correction.</a:t>
            </a:r>
          </a:p>
          <a:p>
            <a:r>
              <a:rPr lang="en-US" sz="2800" dirty="0"/>
              <a:t>Example:</a:t>
            </a:r>
            <a:br>
              <a:rPr lang="en-US" sz="2800" dirty="0"/>
            </a:br>
            <a:r>
              <a:rPr lang="en-US" sz="2800" dirty="0"/>
              <a:t>“I want to buy a phone”</a:t>
            </a:r>
            <a:br>
              <a:rPr lang="en-US" sz="2800" dirty="0"/>
            </a:br>
            <a:r>
              <a:rPr lang="en-US" sz="2800" dirty="0"/>
              <a:t>We pick </a:t>
            </a:r>
            <a:r>
              <a:rPr lang="en-US" sz="2800" i="1" dirty="0"/>
              <a:t>buy</a:t>
            </a:r>
            <a:r>
              <a:rPr lang="en-US" sz="2800" dirty="0"/>
              <a:t> because</a:t>
            </a:r>
            <a:br>
              <a:rPr lang="en-US" sz="2800" dirty="0"/>
            </a:br>
            <a:r>
              <a:rPr lang="en-US" sz="2800" dirty="0"/>
              <a:t>P(buy | to) is higher than P(by | to)</a:t>
            </a:r>
          </a:p>
          <a:p>
            <a:r>
              <a:rPr lang="en-US" sz="2800" dirty="0"/>
              <a:t>Used in:</a:t>
            </a:r>
          </a:p>
          <a:p>
            <a:r>
              <a:rPr lang="en-US" sz="2800" dirty="0"/>
              <a:t>Google</a:t>
            </a:r>
          </a:p>
          <a:p>
            <a:r>
              <a:rPr lang="en-US" sz="2800" dirty="0"/>
              <a:t>Bing</a:t>
            </a:r>
          </a:p>
          <a:p>
            <a:r>
              <a:rPr lang="en-US" sz="2800" dirty="0"/>
              <a:t>Grammarly</a:t>
            </a:r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8B0F1576-F0CE-BFE3-7811-483D3AE8FEA1}"/>
              </a:ext>
            </a:extLst>
          </p:cNvPr>
          <p:cNvGrpSpPr/>
          <p:nvPr/>
        </p:nvGrpSpPr>
        <p:grpSpPr>
          <a:xfrm>
            <a:off x="228600" y="304800"/>
            <a:ext cx="11280140" cy="6123940"/>
            <a:chOff x="424984" y="432816"/>
            <a:chExt cx="11280140" cy="6123940"/>
          </a:xfrm>
        </p:grpSpPr>
        <p:pic>
          <p:nvPicPr>
            <p:cNvPr id="5" name="object 3">
              <a:extLst>
                <a:ext uri="{FF2B5EF4-FFF2-40B4-BE49-F238E27FC236}">
                  <a16:creationId xmlns:a16="http://schemas.microsoft.com/office/drawing/2014/main" id="{D87CBD61-B659-1B41-A3D8-E1C5277D33F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90381CE5-3671-6C5D-08E6-707F947277F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480893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21A9A-CEC1-0CD4-920C-81626FC0E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44C3F-83F2-48FB-42DC-4870B5BF2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400" y="1247836"/>
            <a:ext cx="9144000" cy="615553"/>
          </a:xfrm>
        </p:spPr>
        <p:txBody>
          <a:bodyPr/>
          <a:lstStyle/>
          <a:p>
            <a:r>
              <a:rPr lang="en-IN" dirty="0"/>
              <a:t>9. Noisy Channel Model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745C6-71EE-AD37-6BC9-8823AF3D2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1800" y="2017641"/>
            <a:ext cx="8729980" cy="3447098"/>
          </a:xfrm>
        </p:spPr>
        <p:txBody>
          <a:bodyPr/>
          <a:lstStyle/>
          <a:p>
            <a:r>
              <a:rPr lang="en-US" sz="2800" dirty="0"/>
              <a:t>User typed a “noisy” version of the word.</a:t>
            </a:r>
            <a:br>
              <a:rPr lang="en-US" sz="2800" dirty="0"/>
            </a:br>
            <a:r>
              <a:rPr lang="en-US" sz="2800" dirty="0"/>
              <a:t>System finds the most probable correct word.</a:t>
            </a:r>
          </a:p>
          <a:p>
            <a:r>
              <a:rPr lang="en-US" sz="2800" dirty="0"/>
              <a:t>Formula:</a:t>
            </a:r>
            <a:br>
              <a:rPr lang="en-US" sz="2800" dirty="0"/>
            </a:br>
            <a:r>
              <a:rPr lang="en-US" sz="2800" dirty="0"/>
              <a:t>Correct word = word with highest P(actual) × P(</a:t>
            </a:r>
            <a:r>
              <a:rPr lang="en-US" sz="2800" dirty="0" err="1"/>
              <a:t>typed|actual</a:t>
            </a:r>
            <a:r>
              <a:rPr lang="en-US" sz="2800" dirty="0"/>
              <a:t>)</a:t>
            </a:r>
          </a:p>
          <a:p>
            <a:r>
              <a:rPr lang="en-US" sz="2800" dirty="0"/>
              <a:t>Example:</a:t>
            </a:r>
            <a:br>
              <a:rPr lang="en-US" sz="2800" dirty="0"/>
            </a:br>
            <a:r>
              <a:rPr lang="en-US" sz="2800" dirty="0"/>
              <a:t>"the" → typed as “</a:t>
            </a:r>
            <a:r>
              <a:rPr lang="en-US" sz="2800" dirty="0" err="1"/>
              <a:t>teh</a:t>
            </a:r>
            <a:r>
              <a:rPr lang="en-US" sz="2800" dirty="0"/>
              <a:t>”</a:t>
            </a:r>
            <a:br>
              <a:rPr lang="en-US" sz="2800" dirty="0"/>
            </a:br>
            <a:r>
              <a:rPr lang="en-US" sz="2800" dirty="0"/>
              <a:t>Correction probability is high.</a:t>
            </a:r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870FB762-D628-0A81-152A-FC8808D24B64}"/>
              </a:ext>
            </a:extLst>
          </p:cNvPr>
          <p:cNvGrpSpPr/>
          <p:nvPr/>
        </p:nvGrpSpPr>
        <p:grpSpPr>
          <a:xfrm>
            <a:off x="228600" y="304800"/>
            <a:ext cx="11280140" cy="6123940"/>
            <a:chOff x="424984" y="432816"/>
            <a:chExt cx="11280140" cy="6123940"/>
          </a:xfrm>
        </p:grpSpPr>
        <p:pic>
          <p:nvPicPr>
            <p:cNvPr id="5" name="object 3">
              <a:extLst>
                <a:ext uri="{FF2B5EF4-FFF2-40B4-BE49-F238E27FC236}">
                  <a16:creationId xmlns:a16="http://schemas.microsoft.com/office/drawing/2014/main" id="{0D02419A-0163-553E-5CDA-8F2EFDAA103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0918F9B5-5529-506A-5A61-FD393540957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89880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7B227-D434-12F2-FC13-1D1BECE3D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45B42-454A-6D48-AF4A-0F9DA1C4E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6419" y="2209800"/>
            <a:ext cx="10515600" cy="738664"/>
          </a:xfrm>
        </p:spPr>
        <p:txBody>
          <a:bodyPr/>
          <a:lstStyle/>
          <a:p>
            <a:r>
              <a:rPr lang="en-IN" sz="4800" dirty="0"/>
              <a:t>COMBINED METHODS</a:t>
            </a:r>
            <a:endParaRPr sz="4800" dirty="0"/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58212BC0-3E02-766F-995C-1A9F9F8C43A9}"/>
              </a:ext>
            </a:extLst>
          </p:cNvPr>
          <p:cNvGrpSpPr/>
          <p:nvPr/>
        </p:nvGrpSpPr>
        <p:grpSpPr>
          <a:xfrm>
            <a:off x="228600" y="304800"/>
            <a:ext cx="11280140" cy="6123940"/>
            <a:chOff x="424984" y="432816"/>
            <a:chExt cx="11280140" cy="6123940"/>
          </a:xfrm>
        </p:grpSpPr>
        <p:pic>
          <p:nvPicPr>
            <p:cNvPr id="5" name="object 3">
              <a:extLst>
                <a:ext uri="{FF2B5EF4-FFF2-40B4-BE49-F238E27FC236}">
                  <a16:creationId xmlns:a16="http://schemas.microsoft.com/office/drawing/2014/main" id="{E84A5166-9F95-40DE-1BE6-76FE0FDE80F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B3FB43D7-BE0C-155C-97D8-2E507ADB0EC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80378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4B8A5-5A74-C192-B8E8-42161A8DA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453DE-5FD5-1CDD-F659-D0F31D001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400" y="1247836"/>
            <a:ext cx="9144000" cy="615553"/>
          </a:xfrm>
        </p:spPr>
        <p:txBody>
          <a:bodyPr/>
          <a:lstStyle/>
          <a:p>
            <a:r>
              <a:rPr lang="en-IN" dirty="0"/>
              <a:t>10. Candidate Generation + Ranking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B5ADA-48D0-823B-F931-5214251AF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1800" y="2017641"/>
            <a:ext cx="8729980" cy="4431983"/>
          </a:xfrm>
        </p:spPr>
        <p:txBody>
          <a:bodyPr/>
          <a:lstStyle/>
          <a:p>
            <a:r>
              <a:rPr lang="en-US" sz="2400" dirty="0"/>
              <a:t>Steps:</a:t>
            </a:r>
          </a:p>
          <a:p>
            <a:r>
              <a:rPr lang="en-US" sz="2400" dirty="0"/>
              <a:t>Generate possible corrections</a:t>
            </a:r>
          </a:p>
          <a:p>
            <a:r>
              <a:rPr lang="en-US" sz="2400" dirty="0"/>
              <a:t>Rank using:</a:t>
            </a:r>
          </a:p>
          <a:p>
            <a:pPr lvl="1"/>
            <a:r>
              <a:rPr lang="en-US" sz="2400" dirty="0"/>
              <a:t>Edit distance</a:t>
            </a:r>
          </a:p>
          <a:p>
            <a:pPr lvl="1"/>
            <a:r>
              <a:rPr lang="en-US" sz="2400" dirty="0"/>
              <a:t>Soundex/phonetics</a:t>
            </a:r>
          </a:p>
          <a:p>
            <a:pPr lvl="1"/>
            <a:r>
              <a:rPr lang="en-US" sz="2400" dirty="0"/>
              <a:t>Frequency models</a:t>
            </a:r>
          </a:p>
          <a:p>
            <a:pPr lvl="1"/>
            <a:r>
              <a:rPr lang="en-US" sz="2400" dirty="0"/>
              <a:t>Language models</a:t>
            </a:r>
          </a:p>
          <a:p>
            <a:pPr lvl="1"/>
            <a:r>
              <a:rPr lang="en-US" sz="2400" dirty="0"/>
              <a:t>Similarity metrics</a:t>
            </a:r>
          </a:p>
          <a:p>
            <a:r>
              <a:rPr lang="en-US" sz="2400" dirty="0"/>
              <a:t>Example:</a:t>
            </a:r>
            <a:br>
              <a:rPr lang="en-US" sz="2400" dirty="0"/>
            </a:br>
            <a:r>
              <a:rPr lang="en-US" sz="2400" dirty="0"/>
              <a:t>Query: </a:t>
            </a:r>
            <a:r>
              <a:rPr lang="en-US" sz="2400" b="1" dirty="0" err="1"/>
              <a:t>enviroment</a:t>
            </a:r>
            <a:br>
              <a:rPr lang="en-US" sz="2400" dirty="0"/>
            </a:br>
            <a:r>
              <a:rPr lang="en-US" sz="2400" dirty="0"/>
              <a:t>Candidates: environment, enthronement, enrichment</a:t>
            </a:r>
            <a:br>
              <a:rPr lang="en-US" sz="2400" dirty="0"/>
            </a:br>
            <a:r>
              <a:rPr lang="en-US" sz="2400" dirty="0"/>
              <a:t>Rank → </a:t>
            </a:r>
            <a:r>
              <a:rPr lang="en-US" sz="2400" b="1" dirty="0"/>
              <a:t>environment</a:t>
            </a:r>
            <a:endParaRPr lang="en-US" sz="2400" dirty="0"/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008C7A34-6A3B-6242-DA73-BA4D8F188114}"/>
              </a:ext>
            </a:extLst>
          </p:cNvPr>
          <p:cNvGrpSpPr/>
          <p:nvPr/>
        </p:nvGrpSpPr>
        <p:grpSpPr>
          <a:xfrm>
            <a:off x="228600" y="304800"/>
            <a:ext cx="11280140" cy="6123940"/>
            <a:chOff x="424984" y="432816"/>
            <a:chExt cx="11280140" cy="6123940"/>
          </a:xfrm>
        </p:grpSpPr>
        <p:pic>
          <p:nvPicPr>
            <p:cNvPr id="5" name="object 3">
              <a:extLst>
                <a:ext uri="{FF2B5EF4-FFF2-40B4-BE49-F238E27FC236}">
                  <a16:creationId xmlns:a16="http://schemas.microsoft.com/office/drawing/2014/main" id="{BBFA63AF-5F1D-7A6F-45BF-B41E8D63B2E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3BA2B2EF-A772-CD39-6A46-3597EAACFB6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258197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72" y="-2359"/>
            <a:ext cx="12182475" cy="6501765"/>
            <a:chOff x="9972" y="-2359"/>
            <a:chExt cx="12182475" cy="6501765"/>
          </a:xfrm>
        </p:grpSpPr>
        <p:sp>
          <p:nvSpPr>
            <p:cNvPr id="3" name="object 3"/>
            <p:cNvSpPr/>
            <p:nvPr/>
          </p:nvSpPr>
          <p:spPr>
            <a:xfrm>
              <a:off x="623876" y="-2359"/>
              <a:ext cx="4548505" cy="3168650"/>
            </a:xfrm>
            <a:custGeom>
              <a:avLst/>
              <a:gdLst/>
              <a:ahLst/>
              <a:cxnLst/>
              <a:rect l="l" t="t" r="r" b="b"/>
              <a:pathLst>
                <a:path w="4548505" h="3168650">
                  <a:moveTo>
                    <a:pt x="1256288" y="0"/>
                  </a:moveTo>
                  <a:lnTo>
                    <a:pt x="0" y="0"/>
                  </a:lnTo>
                  <a:lnTo>
                    <a:pt x="3293242" y="3168630"/>
                  </a:lnTo>
                  <a:lnTo>
                    <a:pt x="4548038" y="3168630"/>
                  </a:lnTo>
                  <a:lnTo>
                    <a:pt x="3674989" y="2327497"/>
                  </a:lnTo>
                  <a:lnTo>
                    <a:pt x="1256288" y="0"/>
                  </a:lnTo>
                  <a:close/>
                </a:path>
              </a:pathLst>
            </a:custGeom>
            <a:solidFill>
              <a:srgbClr val="797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6691" y="0"/>
              <a:ext cx="10465308" cy="351129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788097" y="2242136"/>
              <a:ext cx="1691005" cy="1092200"/>
            </a:xfrm>
            <a:custGeom>
              <a:avLst/>
              <a:gdLst/>
              <a:ahLst/>
              <a:cxnLst/>
              <a:rect l="l" t="t" r="r" b="b"/>
              <a:pathLst>
                <a:path w="1691004" h="1092200">
                  <a:moveTo>
                    <a:pt x="554199" y="0"/>
                  </a:moveTo>
                  <a:lnTo>
                    <a:pt x="0" y="0"/>
                  </a:lnTo>
                  <a:lnTo>
                    <a:pt x="1136342" y="1091875"/>
                  </a:lnTo>
                  <a:lnTo>
                    <a:pt x="1690541" y="1091875"/>
                  </a:lnTo>
                  <a:lnTo>
                    <a:pt x="1471838" y="882606"/>
                  </a:lnTo>
                  <a:lnTo>
                    <a:pt x="554199" y="0"/>
                  </a:lnTo>
                  <a:close/>
                </a:path>
              </a:pathLst>
            </a:custGeom>
            <a:solidFill>
              <a:srgbClr val="99D9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972" y="2972399"/>
              <a:ext cx="3660775" cy="3526790"/>
            </a:xfrm>
            <a:custGeom>
              <a:avLst/>
              <a:gdLst/>
              <a:ahLst/>
              <a:cxnLst/>
              <a:rect l="l" t="t" r="r" b="b"/>
              <a:pathLst>
                <a:path w="3660775" h="3526790">
                  <a:moveTo>
                    <a:pt x="0" y="0"/>
                  </a:moveTo>
                  <a:lnTo>
                    <a:pt x="0" y="477832"/>
                  </a:lnTo>
                  <a:lnTo>
                    <a:pt x="3163571" y="3526622"/>
                  </a:lnTo>
                  <a:lnTo>
                    <a:pt x="3660562" y="35266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5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41" y="2320818"/>
              <a:ext cx="2994025" cy="2885440"/>
            </a:xfrm>
            <a:custGeom>
              <a:avLst/>
              <a:gdLst/>
              <a:ahLst/>
              <a:cxnLst/>
              <a:rect l="l" t="t" r="r" b="b"/>
              <a:pathLst>
                <a:path w="2994025" h="2885440">
                  <a:moveTo>
                    <a:pt x="0" y="0"/>
                  </a:moveTo>
                  <a:lnTo>
                    <a:pt x="0" y="458147"/>
                  </a:lnTo>
                  <a:lnTo>
                    <a:pt x="2519204" y="2885259"/>
                  </a:lnTo>
                  <a:lnTo>
                    <a:pt x="2993958" y="2885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B0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8130667" y="1879549"/>
            <a:ext cx="3354704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dirty="0">
                <a:solidFill>
                  <a:srgbClr val="252525"/>
                </a:solidFill>
              </a:rPr>
              <a:t>Thank</a:t>
            </a:r>
            <a:r>
              <a:rPr sz="4500" spc="-20" dirty="0">
                <a:solidFill>
                  <a:srgbClr val="252525"/>
                </a:solidFill>
              </a:rPr>
              <a:t> you…</a:t>
            </a:r>
            <a:endParaRPr sz="4500" dirty="0"/>
          </a:p>
        </p:txBody>
      </p:sp>
      <p:sp>
        <p:nvSpPr>
          <p:cNvPr id="9" name="object 8" descr="$PPTXTitle">
            <a:extLst>
              <a:ext uri="{FF2B5EF4-FFF2-40B4-BE49-F238E27FC236}">
                <a16:creationId xmlns:a16="http://schemas.microsoft.com/office/drawing/2014/main" id="{FF7DBD81-81E4-5217-8D20-821728DE217F}"/>
              </a:ext>
            </a:extLst>
          </p:cNvPr>
          <p:cNvSpPr txBox="1">
            <a:spLocks/>
          </p:cNvSpPr>
          <p:nvPr/>
        </p:nvSpPr>
        <p:spPr>
          <a:xfrm>
            <a:off x="5093646" y="4068088"/>
            <a:ext cx="6391725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400" dirty="0"/>
              <a:t>“If spelling errors cause mismatches and confusion in search, what can an IR system do to still understand the user’s intended word?”</a:t>
            </a:r>
            <a:endParaRPr lang="en-US" sz="4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5C4D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1403</TotalTime>
  <Words>2184</Words>
  <Application>Microsoft Office PowerPoint</Application>
  <PresentationFormat>Widescreen</PresentationFormat>
  <Paragraphs>375</Paragraphs>
  <Slides>53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9" baseType="lpstr">
      <vt:lpstr>Aptos</vt:lpstr>
      <vt:lpstr>Arial</vt:lpstr>
      <vt:lpstr>Calibri</vt:lpstr>
      <vt:lpstr>Cambria</vt:lpstr>
      <vt:lpstr>Segoe UI</vt:lpstr>
      <vt:lpstr>Office Theme</vt:lpstr>
      <vt:lpstr>Information Retrieval                    Chapter 4: Spelling Correction                         in IR Systems                   TY B.Sc. (CS) </vt:lpstr>
      <vt:lpstr>1 Topics:</vt:lpstr>
      <vt:lpstr>2 Types of Spelling Errors</vt:lpstr>
      <vt:lpstr> Words for Classification Activity</vt:lpstr>
      <vt:lpstr>3 Challenges of Spelling Errors in Queries                              and Documents</vt:lpstr>
      <vt:lpstr>4 1. Vocabulary Mismatch</vt:lpstr>
      <vt:lpstr>5 2. Lower Recall &amp; Precision</vt:lpstr>
      <vt:lpstr>6 3. Ambiguity in User Intent</vt:lpstr>
      <vt:lpstr>7 4. Noisy Index in Documents</vt:lpstr>
      <vt:lpstr>8 5. Breaks Stemming &amp; Normalization</vt:lpstr>
      <vt:lpstr>9 6. Affects Query Expansion &amp; Ranking</vt:lpstr>
      <vt:lpstr>10 7. More Cost &amp; Processing Needed</vt:lpstr>
      <vt:lpstr>11 Solutions to Spelling Errors</vt:lpstr>
      <vt:lpstr>12 Solution Techniques</vt:lpstr>
      <vt:lpstr>13 Edit Distance (Levenshtein Distance)</vt:lpstr>
      <vt:lpstr>14  Example: kitten → sitting</vt:lpstr>
      <vt:lpstr>15  How Levenshtein Distance is Calculated</vt:lpstr>
      <vt:lpstr>15  Manual Example: cat → cut</vt:lpstr>
      <vt:lpstr>15  Class Activity</vt:lpstr>
      <vt:lpstr>15  Challenge Question</vt:lpstr>
      <vt:lpstr>15  Damerau–Levenshtein Distance</vt:lpstr>
      <vt:lpstr>15  Activity Slide: Practice – Transposition</vt:lpstr>
      <vt:lpstr>15  Which distance is smaller? (Think &amp; Decide)</vt:lpstr>
      <vt:lpstr>String Similarity Measures in Spelling Correction</vt:lpstr>
      <vt:lpstr>1. Jaccard Similarity</vt:lpstr>
      <vt:lpstr>Activity: Jaccard Similarity</vt:lpstr>
      <vt:lpstr>2. Cosine Similarity</vt:lpstr>
      <vt:lpstr>PowerPoint Presentation</vt:lpstr>
      <vt:lpstr>Activity: Cosine Similarity</vt:lpstr>
      <vt:lpstr>3. N-gram Overlap</vt:lpstr>
      <vt:lpstr>Activity: N-gram Overlap</vt:lpstr>
      <vt:lpstr>Summary</vt:lpstr>
      <vt:lpstr>Techniques for Spelling Correction in IR Systems</vt:lpstr>
      <vt:lpstr>Core Techniques (Overview)</vt:lpstr>
      <vt:lpstr>EDIT DISTANCE TECHNIQUES</vt:lpstr>
      <vt:lpstr>1. Levenshtein Distance</vt:lpstr>
      <vt:lpstr>2. Damerau–Levenshtein Distance</vt:lpstr>
      <vt:lpstr>PHONETIC TECHNIQUES</vt:lpstr>
      <vt:lpstr>3. Soundex</vt:lpstr>
      <vt:lpstr>3. Soundex</vt:lpstr>
      <vt:lpstr>3. Soundex</vt:lpstr>
      <vt:lpstr>3. Soundex</vt:lpstr>
      <vt:lpstr>3. Soundex</vt:lpstr>
      <vt:lpstr>SIMILARITY-BASED TECHNIQUES</vt:lpstr>
      <vt:lpstr>5. Jaccard Similarity</vt:lpstr>
      <vt:lpstr>6. Cosine Similarity</vt:lpstr>
      <vt:lpstr>7. N-gram Overlap</vt:lpstr>
      <vt:lpstr>STATISTICAL &amp; ML TECHNIQUES</vt:lpstr>
      <vt:lpstr>8. Language Models (LM)</vt:lpstr>
      <vt:lpstr>9. Noisy Channel Model</vt:lpstr>
      <vt:lpstr>COMBINED METHODS</vt:lpstr>
      <vt:lpstr>10. Candidate Generation + Ranking</vt:lpstr>
      <vt:lpstr>Thank you…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 Geographic Information Systems </dc:title>
  <dc:creator>Pushpa Mahapatro</dc:creator>
  <cp:lastModifiedBy>poornimanadar1234@gmail.com</cp:lastModifiedBy>
  <cp:revision>37</cp:revision>
  <dcterms:created xsi:type="dcterms:W3CDTF">2025-11-04T17:06:10Z</dcterms:created>
  <dcterms:modified xsi:type="dcterms:W3CDTF">2025-11-27T16:40:06Z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2021-01-13T00:00:00Z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2025-11-04T00:00:00Z</vt:filetime>
  </property>
  <property fmtid="{D5CDD505-2E9C-101B-9397-08002B2CF9AE}" pid="5" name="Producer">
    <vt:lpwstr>Microsoft® PowerPoint® for Microsoft 365</vt:lpwstr>
  </property>
</Properties>
</file>