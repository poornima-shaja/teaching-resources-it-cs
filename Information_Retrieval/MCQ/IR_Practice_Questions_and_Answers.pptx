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63" r:id="rId4"/>
    <p:sldId id="273" r:id="rId5"/>
    <p:sldId id="257" r:id="rId6"/>
    <p:sldId id="264" r:id="rId7"/>
    <p:sldId id="258" r:id="rId8"/>
    <p:sldId id="271" r:id="rId9"/>
    <p:sldId id="259" r:id="rId10"/>
    <p:sldId id="266" r:id="rId11"/>
    <p:sldId id="260" r:id="rId12"/>
    <p:sldId id="267" r:id="rId13"/>
    <p:sldId id="261" r:id="rId14"/>
    <p:sldId id="270" r:id="rId15"/>
    <p:sldId id="262" r:id="rId16"/>
    <p:sldId id="269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5" r:id="rId27"/>
    <p:sldId id="284" r:id="rId28"/>
    <p:sldId id="286" r:id="rId29"/>
    <p:sldId id="287" r:id="rId30"/>
    <p:sldId id="288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Draw the term-document incidence matrix for:</a:t>
            </a:r>
          </a:p>
          <a:p>
            <a:r>
              <a:rPr dirty="0"/>
              <a:t>Doc1: new home sales top forecasts</a:t>
            </a:r>
          </a:p>
          <a:p>
            <a:r>
              <a:rPr dirty="0"/>
              <a:t>Doc2: home sales rise in </a:t>
            </a:r>
            <a:r>
              <a:rPr dirty="0" err="1"/>
              <a:t>july</a:t>
            </a:r>
            <a:endParaRPr dirty="0"/>
          </a:p>
          <a:p>
            <a:r>
              <a:rPr dirty="0"/>
              <a:t>Doc3: increase in home sales in </a:t>
            </a:r>
            <a:r>
              <a:rPr dirty="0" err="1"/>
              <a:t>july</a:t>
            </a:r>
            <a:endParaRPr dirty="0"/>
          </a:p>
          <a:p>
            <a:r>
              <a:rPr dirty="0"/>
              <a:t>Doc4: </a:t>
            </a:r>
            <a:r>
              <a:rPr dirty="0" err="1"/>
              <a:t>july</a:t>
            </a:r>
            <a:r>
              <a:rPr dirty="0"/>
              <a:t> new home sales rise</a:t>
            </a:r>
          </a:p>
          <a:p>
            <a:r>
              <a:rPr b="1" dirty="0"/>
              <a:t>Answer queries:</a:t>
            </a:r>
          </a:p>
          <a:p>
            <a:r>
              <a:rPr dirty="0"/>
              <a:t>(</a:t>
            </a:r>
            <a:r>
              <a:rPr dirty="0" err="1"/>
              <a:t>i</a:t>
            </a:r>
            <a:r>
              <a:rPr dirty="0"/>
              <a:t>) home AND sales AND </a:t>
            </a:r>
            <a:r>
              <a:rPr dirty="0" err="1"/>
              <a:t>july</a:t>
            </a:r>
            <a:endParaRPr dirty="0"/>
          </a:p>
          <a:p>
            <a:r>
              <a:rPr dirty="0"/>
              <a:t>(ii) rise AND sales NOT increase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C924C9-0390-C170-7BF2-E0FB54CCE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1399674"/>
              </p:ext>
            </p:extLst>
          </p:nvPr>
        </p:nvGraphicFramePr>
        <p:xfrm>
          <a:off x="457200" y="1289538"/>
          <a:ext cx="8229600" cy="531055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48680355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461946207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86599491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191835207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559533875"/>
                    </a:ext>
                  </a:extLst>
                </a:gridCol>
              </a:tblGrid>
              <a:tr h="531055">
                <a:tc>
                  <a:txBody>
                    <a:bodyPr/>
                    <a:lstStyle/>
                    <a:p>
                      <a:r>
                        <a:rPr lang="en-IN" sz="2800" b="1" dirty="0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D2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1317650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2694164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home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6787261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3028125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2078433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forecasts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885016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8763281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5062969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july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419230"/>
                  </a:ext>
                </a:extLst>
              </a:tr>
              <a:tr h="531055">
                <a:tc>
                  <a:txBody>
                    <a:bodyPr/>
                    <a:lstStyle/>
                    <a:p>
                      <a:r>
                        <a:rPr lang="en-IN" sz="2800"/>
                        <a:t>increase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476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13689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Query (</a:t>
            </a:r>
            <a:r>
              <a:rPr lang="en-US" b="1" dirty="0" err="1"/>
              <a:t>i</a:t>
            </a:r>
            <a:r>
              <a:rPr lang="en-US" b="1" dirty="0"/>
              <a:t>): home AND sales AND </a:t>
            </a:r>
            <a:r>
              <a:rPr lang="en-US" b="1" dirty="0" err="1"/>
              <a:t>july</a:t>
            </a:r>
            <a:endParaRPr lang="en-US" b="1" dirty="0"/>
          </a:p>
          <a:p>
            <a:r>
              <a:rPr lang="en-US" dirty="0"/>
              <a:t>Documents containing </a:t>
            </a:r>
            <a:r>
              <a:rPr lang="en-US" b="1" dirty="0"/>
              <a:t>all three terms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D2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D3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D4 ✔</a:t>
            </a:r>
          </a:p>
          <a:p>
            <a:r>
              <a:rPr lang="en-US" dirty="0"/>
              <a:t>✅ </a:t>
            </a:r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b="1" dirty="0"/>
              <a:t>D2, D3, D4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Query (ii): rise AND sales NOT increase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Documents with </a:t>
            </a:r>
            <a:r>
              <a:rPr lang="en-US" b="1" dirty="0"/>
              <a:t>rise</a:t>
            </a:r>
            <a:r>
              <a:rPr lang="en-US" dirty="0"/>
              <a:t> → D2, D4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Documents with </a:t>
            </a:r>
            <a:r>
              <a:rPr lang="en-US" b="1" dirty="0"/>
              <a:t>sales</a:t>
            </a:r>
            <a:r>
              <a:rPr lang="en-US" dirty="0"/>
              <a:t> → D1, D2, D3, D4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Documents with </a:t>
            </a:r>
            <a:r>
              <a:rPr lang="en-US" b="1" dirty="0"/>
              <a:t>increase</a:t>
            </a:r>
            <a:r>
              <a:rPr lang="en-US" dirty="0"/>
              <a:t> → D3</a:t>
            </a:r>
          </a:p>
          <a:p>
            <a:r>
              <a:rPr lang="en-US" dirty="0"/>
              <a:t>Exclude D3.</a:t>
            </a:r>
          </a:p>
          <a:p>
            <a:r>
              <a:rPr lang="en-US" dirty="0"/>
              <a:t>✅ </a:t>
            </a:r>
            <a:r>
              <a:rPr lang="en-US" b="1" dirty="0"/>
              <a:t>Answer:</a:t>
            </a:r>
            <a:r>
              <a:rPr lang="en-US" dirty="0"/>
              <a:t> </a:t>
            </a:r>
            <a:r>
              <a:rPr lang="en-US" b="1" dirty="0"/>
              <a:t>D2 and D4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9598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the edit distance to convert CATS to FATS.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CATS → FATS</a:t>
            </a:r>
          </a:p>
          <a:p>
            <a:r>
              <a:t>One substitution (C → F)</a:t>
            </a:r>
          </a:p>
          <a:p>
            <a:r>
              <a:t>Edit Distance =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 the inverted index for:</a:t>
            </a:r>
          </a:p>
          <a:p>
            <a:r>
              <a:t>Doc1: one fish, two fish</a:t>
            </a:r>
          </a:p>
          <a:p>
            <a:r>
              <a:t>Doc2: red fish, blue fish</a:t>
            </a:r>
          </a:p>
          <a:p>
            <a:r>
              <a:t>Doc3: one red bird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FC3A38D-8D5D-3310-EE1A-644064EB5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538634"/>
              </p:ext>
            </p:extLst>
          </p:nvPr>
        </p:nvGraphicFramePr>
        <p:xfrm>
          <a:off x="457200" y="1477108"/>
          <a:ext cx="8229600" cy="3666236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3534378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90928276"/>
                    </a:ext>
                  </a:extLst>
                </a:gridCol>
              </a:tblGrid>
              <a:tr h="523748">
                <a:tc>
                  <a:txBody>
                    <a:bodyPr/>
                    <a:lstStyle/>
                    <a:p>
                      <a:r>
                        <a:rPr lang="en-IN" sz="2800" b="1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Document 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759523"/>
                  </a:ext>
                </a:extLst>
              </a:tr>
              <a:tr h="523748">
                <a:tc>
                  <a:txBody>
                    <a:bodyPr/>
                    <a:lstStyle/>
                    <a:p>
                      <a:r>
                        <a:rPr lang="en-IN" sz="2800"/>
                        <a:t>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D1, 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2226655"/>
                  </a:ext>
                </a:extLst>
              </a:tr>
              <a:tr h="523748">
                <a:tc>
                  <a:txBody>
                    <a:bodyPr/>
                    <a:lstStyle/>
                    <a:p>
                      <a:r>
                        <a:rPr lang="en-IN" sz="2800" dirty="0"/>
                        <a:t>fish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D1, D2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779992"/>
                  </a:ext>
                </a:extLst>
              </a:tr>
              <a:tr h="523748">
                <a:tc>
                  <a:txBody>
                    <a:bodyPr/>
                    <a:lstStyle/>
                    <a:p>
                      <a:r>
                        <a:rPr lang="en-IN" sz="2800"/>
                        <a:t>two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9361510"/>
                  </a:ext>
                </a:extLst>
              </a:tr>
              <a:tr h="523748">
                <a:tc>
                  <a:txBody>
                    <a:bodyPr/>
                    <a:lstStyle/>
                    <a:p>
                      <a:r>
                        <a:rPr lang="en-IN" sz="2800"/>
                        <a:t>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D2, 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2519725"/>
                  </a:ext>
                </a:extLst>
              </a:tr>
              <a:tr h="523748">
                <a:tc>
                  <a:txBody>
                    <a:bodyPr/>
                    <a:lstStyle/>
                    <a:p>
                      <a:r>
                        <a:rPr lang="en-IN" sz="2800"/>
                        <a:t>blue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7148855"/>
                  </a:ext>
                </a:extLst>
              </a:tr>
              <a:tr h="523748">
                <a:tc>
                  <a:txBody>
                    <a:bodyPr/>
                    <a:lstStyle/>
                    <a:p>
                      <a:r>
                        <a:rPr lang="en-IN" sz="2800"/>
                        <a:t>bird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415014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DBA73250-3167-7765-B83D-AB31DFA90D5B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/>
              <a:t>Answer 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838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the Levenshtein edit distance between GUMBO and GAMBOL.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GUMBO → GAMBO (U→A)</a:t>
            </a:r>
          </a:p>
          <a:p>
            <a:r>
              <a:t>GAMBO → GAMBOL (Insert L)</a:t>
            </a:r>
          </a:p>
          <a:p>
            <a:r>
              <a:t>Levenshtein Distance =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Construct 2-gram, 3-gram and 4-gram index for:</a:t>
            </a:r>
          </a:p>
          <a:p>
            <a:r>
              <a:t>a) banana</a:t>
            </a:r>
          </a:p>
          <a:p>
            <a:r>
              <a:t>b) pineapple</a:t>
            </a:r>
          </a:p>
          <a:p>
            <a:r>
              <a:t>c) computer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9367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banana:</a:t>
            </a:r>
          </a:p>
          <a:p>
            <a:r>
              <a:rPr dirty="0"/>
              <a:t>2g: </a:t>
            </a:r>
            <a:r>
              <a:rPr dirty="0" err="1"/>
              <a:t>ba</a:t>
            </a:r>
            <a:r>
              <a:rPr dirty="0"/>
              <a:t> an </a:t>
            </a:r>
            <a:r>
              <a:rPr dirty="0" err="1"/>
              <a:t>na</a:t>
            </a:r>
            <a:r>
              <a:rPr dirty="0"/>
              <a:t> an </a:t>
            </a:r>
            <a:r>
              <a:rPr dirty="0" err="1"/>
              <a:t>na</a:t>
            </a:r>
            <a:endParaRPr dirty="0"/>
          </a:p>
          <a:p>
            <a:r>
              <a:rPr dirty="0"/>
              <a:t>3g: ban ana nan ana</a:t>
            </a:r>
          </a:p>
          <a:p>
            <a:r>
              <a:rPr dirty="0"/>
              <a:t>4g: </a:t>
            </a:r>
            <a:r>
              <a:rPr dirty="0" err="1"/>
              <a:t>bana</a:t>
            </a:r>
            <a:r>
              <a:rPr dirty="0"/>
              <a:t> </a:t>
            </a:r>
            <a:r>
              <a:rPr dirty="0" err="1"/>
              <a:t>anan</a:t>
            </a:r>
            <a:r>
              <a:rPr dirty="0"/>
              <a:t> nana</a:t>
            </a:r>
          </a:p>
          <a:p>
            <a:pPr marL="0" indent="0">
              <a:buNone/>
            </a:pPr>
            <a:r>
              <a:rPr dirty="0"/>
              <a:t>pineapple:</a:t>
            </a:r>
          </a:p>
          <a:p>
            <a:r>
              <a:rPr dirty="0"/>
              <a:t>2g: pi in ne </a:t>
            </a:r>
            <a:r>
              <a:rPr dirty="0" err="1"/>
              <a:t>ea</a:t>
            </a:r>
            <a:r>
              <a:rPr dirty="0"/>
              <a:t> ap pp pl le</a:t>
            </a:r>
          </a:p>
          <a:p>
            <a:r>
              <a:rPr dirty="0"/>
              <a:t>3g: pin </a:t>
            </a:r>
            <a:r>
              <a:rPr dirty="0" err="1"/>
              <a:t>ine</a:t>
            </a:r>
            <a:r>
              <a:rPr dirty="0"/>
              <a:t> </a:t>
            </a:r>
            <a:r>
              <a:rPr dirty="0" err="1"/>
              <a:t>nea</a:t>
            </a:r>
            <a:r>
              <a:rPr dirty="0"/>
              <a:t> </a:t>
            </a:r>
            <a:r>
              <a:rPr dirty="0" err="1"/>
              <a:t>eap</a:t>
            </a:r>
            <a:r>
              <a:rPr dirty="0"/>
              <a:t> app ppl </a:t>
            </a:r>
            <a:r>
              <a:rPr dirty="0" err="1"/>
              <a:t>ple</a:t>
            </a:r>
            <a:endParaRPr dirty="0"/>
          </a:p>
          <a:p>
            <a:r>
              <a:rPr dirty="0"/>
              <a:t>4g: pine </a:t>
            </a:r>
            <a:r>
              <a:rPr dirty="0" err="1"/>
              <a:t>inea</a:t>
            </a:r>
            <a:r>
              <a:rPr dirty="0"/>
              <a:t> neap </a:t>
            </a:r>
            <a:r>
              <a:rPr dirty="0" err="1"/>
              <a:t>eapp</a:t>
            </a:r>
            <a:r>
              <a:rPr dirty="0"/>
              <a:t> appl </a:t>
            </a:r>
            <a:r>
              <a:rPr dirty="0" err="1"/>
              <a:t>pple</a:t>
            </a:r>
            <a:endParaRPr dirty="0"/>
          </a:p>
          <a:p>
            <a:pPr marL="0" indent="0">
              <a:buNone/>
            </a:pPr>
            <a:r>
              <a:rPr dirty="0"/>
              <a:t>computer:</a:t>
            </a:r>
          </a:p>
          <a:p>
            <a:r>
              <a:rPr dirty="0"/>
              <a:t>2g: co om </a:t>
            </a:r>
            <a:r>
              <a:rPr dirty="0" err="1"/>
              <a:t>mp</a:t>
            </a:r>
            <a:r>
              <a:rPr dirty="0"/>
              <a:t> </a:t>
            </a:r>
            <a:r>
              <a:rPr dirty="0" err="1"/>
              <a:t>pu</a:t>
            </a:r>
            <a:r>
              <a:rPr dirty="0"/>
              <a:t> </a:t>
            </a:r>
            <a:r>
              <a:rPr dirty="0" err="1"/>
              <a:t>ut</a:t>
            </a:r>
            <a:r>
              <a:rPr dirty="0"/>
              <a:t> </a:t>
            </a:r>
            <a:r>
              <a:rPr dirty="0" err="1"/>
              <a:t>te</a:t>
            </a:r>
            <a:r>
              <a:rPr dirty="0"/>
              <a:t> er</a:t>
            </a:r>
          </a:p>
          <a:p>
            <a:r>
              <a:rPr dirty="0"/>
              <a:t>3g: com </a:t>
            </a:r>
            <a:r>
              <a:rPr dirty="0" err="1"/>
              <a:t>omp</a:t>
            </a:r>
            <a:r>
              <a:rPr dirty="0"/>
              <a:t> </a:t>
            </a:r>
            <a:r>
              <a:rPr dirty="0" err="1"/>
              <a:t>mpu</a:t>
            </a:r>
            <a:r>
              <a:rPr dirty="0"/>
              <a:t> put </a:t>
            </a:r>
            <a:r>
              <a:rPr dirty="0" err="1"/>
              <a:t>ute</a:t>
            </a:r>
            <a:r>
              <a:rPr dirty="0"/>
              <a:t> </a:t>
            </a:r>
            <a:r>
              <a:rPr dirty="0" err="1"/>
              <a:t>ter</a:t>
            </a:r>
            <a:endParaRPr dirty="0"/>
          </a:p>
          <a:p>
            <a:r>
              <a:rPr dirty="0"/>
              <a:t>4g: comp </a:t>
            </a:r>
            <a:r>
              <a:rPr dirty="0" err="1"/>
              <a:t>ompu</a:t>
            </a:r>
            <a:r>
              <a:rPr dirty="0"/>
              <a:t> </a:t>
            </a:r>
            <a:r>
              <a:rPr dirty="0" err="1"/>
              <a:t>mput</a:t>
            </a:r>
            <a:r>
              <a:rPr dirty="0"/>
              <a:t> </a:t>
            </a:r>
            <a:r>
              <a:rPr dirty="0" err="1"/>
              <a:t>pute</a:t>
            </a:r>
            <a:r>
              <a:rPr dirty="0"/>
              <a:t> </a:t>
            </a:r>
            <a:r>
              <a:rPr dirty="0" err="1"/>
              <a:t>uter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Draw the inverted index for:</a:t>
            </a:r>
          </a:p>
          <a:p>
            <a:r>
              <a:t>Doc1: new home sales top forecasts</a:t>
            </a:r>
          </a:p>
          <a:p>
            <a:r>
              <a:t>Doc2: home sales rise in july</a:t>
            </a:r>
          </a:p>
          <a:p>
            <a:r>
              <a:t>Doc3: increase in home sales in july</a:t>
            </a:r>
          </a:p>
          <a:p>
            <a:r>
              <a:t>Doc4: july new home sales rise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332E76-5733-7F6D-39BD-2D544EADC8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252656"/>
              </p:ext>
            </p:extLst>
          </p:nvPr>
        </p:nvGraphicFramePr>
        <p:xfrm>
          <a:off x="621323" y="1160585"/>
          <a:ext cx="8229600" cy="53340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129743595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55437663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IN" sz="2800" b="1"/>
                        <a:t>Term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Document IDs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47981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399319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home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D1, D2, D3,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615738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 dirty="0"/>
                        <a:t>sales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D1, D2, D3,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514365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top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82774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forecasts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02346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rise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D2,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3642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D2, 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979939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july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D2, D3, D4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810892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IN" sz="2800"/>
                        <a:t>increase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840725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5AF3B334-E96D-62CA-5088-598F97029CA8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Answer 6</a:t>
            </a:r>
          </a:p>
        </p:txBody>
      </p:sp>
    </p:spTree>
    <p:extLst>
      <p:ext uri="{BB962C8B-B14F-4D97-AF65-F5344CB8AC3E}">
        <p14:creationId xmlns:p14="http://schemas.microsoft.com/office/powerpoint/2010/main" val="13470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 the Levenshtein edit distance between paris and alice.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Answer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8846"/>
          </a:xfrm>
        </p:spPr>
        <p:txBody>
          <a:bodyPr>
            <a:normAutofit lnSpcReduction="10000"/>
          </a:bodyPr>
          <a:lstStyle/>
          <a:p>
            <a:r>
              <a:rPr dirty="0" err="1"/>
              <a:t>paris</a:t>
            </a:r>
            <a:r>
              <a:rPr dirty="0"/>
              <a:t> → </a:t>
            </a:r>
            <a:r>
              <a:rPr dirty="0" err="1"/>
              <a:t>alice</a:t>
            </a:r>
            <a:endParaRPr lang="en-US" dirty="0"/>
          </a:p>
          <a:p>
            <a:r>
              <a:rPr lang="pt-BR" b="1" dirty="0"/>
              <a:t>Steps</a:t>
            </a:r>
          </a:p>
          <a:p>
            <a:pPr>
              <a:buFont typeface="+mj-lt"/>
              <a:buAutoNum type="arabicPeriod"/>
            </a:pPr>
            <a:r>
              <a:rPr lang="pt-BR" dirty="0"/>
              <a:t>Substitute </a:t>
            </a:r>
            <a:r>
              <a:rPr lang="pt-BR" b="1" dirty="0"/>
              <a:t>p → a</a:t>
            </a:r>
            <a:r>
              <a:rPr lang="pt-BR" dirty="0"/>
              <a:t> → aris</a:t>
            </a:r>
          </a:p>
          <a:p>
            <a:pPr>
              <a:buFont typeface="+mj-lt"/>
              <a:buAutoNum type="arabicPeriod"/>
            </a:pPr>
            <a:r>
              <a:rPr lang="pt-BR" dirty="0"/>
              <a:t>Substitute </a:t>
            </a:r>
            <a:r>
              <a:rPr lang="pt-BR" b="1" dirty="0"/>
              <a:t>r → l</a:t>
            </a:r>
            <a:r>
              <a:rPr lang="pt-BR" dirty="0"/>
              <a:t> → alis</a:t>
            </a:r>
          </a:p>
          <a:p>
            <a:pPr>
              <a:buFont typeface="+mj-lt"/>
              <a:buAutoNum type="arabicPeriod"/>
            </a:pPr>
            <a:r>
              <a:rPr lang="pt-BR" dirty="0"/>
              <a:t>Substitute </a:t>
            </a:r>
            <a:r>
              <a:rPr lang="pt-BR" b="1" dirty="0"/>
              <a:t>i → i</a:t>
            </a:r>
            <a:r>
              <a:rPr lang="pt-BR" dirty="0"/>
              <a:t> → no change</a:t>
            </a:r>
          </a:p>
          <a:p>
            <a:pPr>
              <a:buFont typeface="+mj-lt"/>
              <a:buAutoNum type="arabicPeriod"/>
            </a:pPr>
            <a:r>
              <a:rPr lang="pt-BR" dirty="0"/>
              <a:t>Substitute </a:t>
            </a:r>
            <a:r>
              <a:rPr lang="pt-BR" b="1" dirty="0"/>
              <a:t>s → c</a:t>
            </a:r>
            <a:r>
              <a:rPr lang="pt-BR" dirty="0"/>
              <a:t> → alic</a:t>
            </a:r>
          </a:p>
          <a:p>
            <a:pPr>
              <a:buFont typeface="+mj-lt"/>
              <a:buAutoNum type="arabicPeriod"/>
            </a:pPr>
            <a:r>
              <a:rPr lang="pt-BR" dirty="0"/>
              <a:t>Insert </a:t>
            </a:r>
            <a:r>
              <a:rPr lang="pt-BR" b="1" dirty="0"/>
              <a:t>e</a:t>
            </a:r>
            <a:r>
              <a:rPr lang="pt-BR" dirty="0"/>
              <a:t> → alice</a:t>
            </a:r>
            <a:endParaRPr dirty="0"/>
          </a:p>
          <a:p>
            <a:r>
              <a:rPr dirty="0"/>
              <a:t>Operations = 4</a:t>
            </a:r>
          </a:p>
          <a:p>
            <a:r>
              <a:rPr dirty="0" err="1"/>
              <a:t>Levenshtein</a:t>
            </a:r>
            <a:r>
              <a:rPr dirty="0"/>
              <a:t> Distance = 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</a:t>
            </a:r>
            <a:r>
              <a:rPr lang="en-US" dirty="0"/>
              <a:t>8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search system retrieves </a:t>
            </a:r>
            <a:r>
              <a:rPr lang="en-US" b="1" dirty="0"/>
              <a:t>12 documents</a:t>
            </a:r>
            <a:r>
              <a:rPr lang="en-US" dirty="0"/>
              <a:t> for a query.</a:t>
            </a:r>
            <a:br>
              <a:rPr lang="en-US" dirty="0"/>
            </a:br>
            <a:r>
              <a:rPr lang="en-US" dirty="0"/>
              <a:t>Out of these: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8 documents are relevant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relevant documents in the collection = </a:t>
            </a:r>
            <a:r>
              <a:rPr lang="en-US" b="1" dirty="0"/>
              <a:t>20</a:t>
            </a:r>
            <a:endParaRPr lang="en-US" dirty="0"/>
          </a:p>
          <a:p>
            <a:r>
              <a:rPr lang="en-US" b="1" dirty="0"/>
              <a:t>Tasks:</a:t>
            </a:r>
          </a:p>
          <a:p>
            <a:pPr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Precision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Recall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Calculate </a:t>
            </a:r>
            <a:r>
              <a:rPr lang="en-US" b="1" dirty="0"/>
              <a:t>F1-score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54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Answer </a:t>
            </a:r>
            <a:r>
              <a:rPr lang="en-US" dirty="0"/>
              <a:t>8</a:t>
            </a:r>
            <a:endParaRPr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9B48024-0C90-57D4-851B-5313B23AF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60" y="1147098"/>
            <a:ext cx="6970480" cy="571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752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For a query, the system retrieves documents in the following order:</a:t>
            </a:r>
          </a:p>
          <a:p>
            <a:r>
              <a:rPr lang="en-US" dirty="0"/>
              <a:t>Relevant documents appear at ranks:</a:t>
            </a:r>
            <a:br>
              <a:rPr lang="en-US" dirty="0"/>
            </a:br>
            <a:r>
              <a:rPr lang="en-US" b="1" dirty="0"/>
              <a:t>1, 3, 6, 8</a:t>
            </a:r>
            <a:endParaRPr lang="en-US" dirty="0"/>
          </a:p>
          <a:p>
            <a:r>
              <a:rPr lang="en-US" dirty="0"/>
              <a:t>Total relevant documents for the query = </a:t>
            </a:r>
            <a:r>
              <a:rPr lang="en-US" b="1" dirty="0"/>
              <a:t>5</a:t>
            </a:r>
            <a:endParaRPr lang="en-US" dirty="0"/>
          </a:p>
          <a:p>
            <a:r>
              <a:rPr lang="en-US" b="1" dirty="0"/>
              <a:t>Tasks:</a:t>
            </a:r>
          </a:p>
          <a:p>
            <a:pPr>
              <a:buFont typeface="+mj-lt"/>
              <a:buAutoNum type="arabicPeriod"/>
            </a:pPr>
            <a:r>
              <a:rPr lang="en-US" dirty="0"/>
              <a:t>Compute </a:t>
            </a:r>
            <a:r>
              <a:rPr lang="en-US" b="1" dirty="0"/>
              <a:t>Precision at each relevant rank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Calculate the </a:t>
            </a:r>
            <a:r>
              <a:rPr lang="en-US" b="1" dirty="0"/>
              <a:t>Average Precision (AP)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591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Answer </a:t>
            </a:r>
            <a:r>
              <a:rPr lang="en-US" dirty="0"/>
              <a:t>9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8846"/>
          </a:xfrm>
        </p:spPr>
        <p:txBody>
          <a:bodyPr>
            <a:normAutofit/>
          </a:bodyPr>
          <a:lstStyle/>
          <a:p>
            <a:r>
              <a:rPr lang="en-IN" dirty="0"/>
              <a:t>Precision at relevant ranks</a:t>
            </a:r>
            <a:endParaRPr lang="pt-BR" b="1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1D59EAF-C147-F689-6BE2-763CF886B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6252"/>
              </p:ext>
            </p:extLst>
          </p:nvPr>
        </p:nvGraphicFramePr>
        <p:xfrm>
          <a:off x="703385" y="2335823"/>
          <a:ext cx="7104184" cy="2286000"/>
        </p:xfrm>
        <a:graphic>
          <a:graphicData uri="http://schemas.openxmlformats.org/drawingml/2006/table">
            <a:tbl>
              <a:tblPr/>
              <a:tblGrid>
                <a:gridCol w="3552092">
                  <a:extLst>
                    <a:ext uri="{9D8B030D-6E8A-4147-A177-3AD203B41FA5}">
                      <a16:colId xmlns:a16="http://schemas.microsoft.com/office/drawing/2014/main" val="2423957183"/>
                    </a:ext>
                  </a:extLst>
                </a:gridCol>
                <a:gridCol w="3552092">
                  <a:extLst>
                    <a:ext uri="{9D8B030D-6E8A-4147-A177-3AD203B41FA5}">
                      <a16:colId xmlns:a16="http://schemas.microsoft.com/office/drawing/2014/main" val="2843307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Rank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073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1/1 = 1.00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207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2/3 = 0.67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6111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3/6 = 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2067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4/8 = 0.50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776512"/>
                  </a:ext>
                </a:extLst>
              </a:tr>
            </a:tbl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0C707B02-58F4-C950-B0A2-1FDF6E329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956" y="4562377"/>
            <a:ext cx="8053029" cy="2095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964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Mean Average Precision (MAP)</a:t>
            </a:r>
          </a:p>
          <a:p>
            <a:r>
              <a:rPr lang="en-US" dirty="0"/>
              <a:t>Average Precision values for three queries are: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Query 1 AP = 0.62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Query 2 AP = 0.48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Query 3 AP = 0.70</a:t>
            </a:r>
            <a:endParaRPr lang="en-US" dirty="0"/>
          </a:p>
          <a:p>
            <a:r>
              <a:rPr lang="en-US" b="1" dirty="0"/>
              <a:t>Task:</a:t>
            </a:r>
          </a:p>
          <a:p>
            <a:r>
              <a:rPr lang="en-US" dirty="0"/>
              <a:t>Calculate the </a:t>
            </a:r>
            <a:r>
              <a:rPr lang="en-US" b="1" dirty="0"/>
              <a:t>Mean Average Precision (MAP)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943633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Answer </a:t>
            </a:r>
            <a:r>
              <a:rPr lang="en-US" dirty="0"/>
              <a:t>10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8CC8EA-2BB2-08CC-6D24-13DF3518AC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" y="1417638"/>
            <a:ext cx="9102195" cy="247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342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Compare Two IR Systems</a:t>
            </a:r>
          </a:p>
          <a:p>
            <a:r>
              <a:rPr lang="en-US" dirty="0"/>
              <a:t>Two IR systems return the following results for the same query: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Tasks:</a:t>
            </a:r>
          </a:p>
          <a:p>
            <a:pPr>
              <a:buFont typeface="+mj-lt"/>
              <a:buAutoNum type="arabicPeriod"/>
            </a:pPr>
            <a:r>
              <a:rPr lang="en-US" dirty="0"/>
              <a:t>Which system is better for </a:t>
            </a:r>
            <a:r>
              <a:rPr lang="en-US" b="1" dirty="0"/>
              <a:t>precision-oriented tasks</a:t>
            </a:r>
            <a:r>
              <a:rPr lang="en-US" dirty="0"/>
              <a:t>?</a:t>
            </a:r>
          </a:p>
          <a:p>
            <a:pPr>
              <a:buFont typeface="+mj-lt"/>
              <a:buAutoNum type="arabicPeriod"/>
            </a:pPr>
            <a:r>
              <a:rPr lang="en-US" dirty="0"/>
              <a:t>Which system is better for </a:t>
            </a:r>
            <a:r>
              <a:rPr lang="en-US" b="1" dirty="0"/>
              <a:t>recall-oriented tasks</a:t>
            </a:r>
            <a:r>
              <a:rPr lang="en-US" dirty="0"/>
              <a:t>?</a:t>
            </a:r>
          </a:p>
          <a:p>
            <a:pPr>
              <a:buFont typeface="+mj-lt"/>
              <a:buAutoNum type="arabicPeriod"/>
            </a:pPr>
            <a:r>
              <a:rPr lang="en-US" dirty="0"/>
              <a:t>Justify your answer.</a:t>
            </a:r>
          </a:p>
        </p:txBody>
      </p:sp>
    </p:spTree>
    <p:extLst>
      <p:ext uri="{BB962C8B-B14F-4D97-AF65-F5344CB8AC3E}">
        <p14:creationId xmlns:p14="http://schemas.microsoft.com/office/powerpoint/2010/main" val="25606450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10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BF56BC-2126-C365-8DA5-DB1ADD5403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307179"/>
              </p:ext>
            </p:extLst>
          </p:nvPr>
        </p:nvGraphicFramePr>
        <p:xfrm>
          <a:off x="644769" y="2262554"/>
          <a:ext cx="8229600" cy="1727235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407604386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92568871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55134626"/>
                    </a:ext>
                  </a:extLst>
                </a:gridCol>
              </a:tblGrid>
              <a:tr h="575745">
                <a:tc>
                  <a:txBody>
                    <a:bodyPr/>
                    <a:lstStyle/>
                    <a:p>
                      <a:r>
                        <a:rPr lang="en-IN" sz="2400"/>
                        <a:t>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196209"/>
                  </a:ext>
                </a:extLst>
              </a:tr>
              <a:tr h="575745">
                <a:tc>
                  <a:txBody>
                    <a:bodyPr/>
                    <a:lstStyle/>
                    <a:p>
                      <a:r>
                        <a:rPr lang="en-IN" sz="2400" dirty="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0.75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0.40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044178"/>
                  </a:ext>
                </a:extLst>
              </a:tr>
              <a:tr h="575745">
                <a:tc>
                  <a:txBody>
                    <a:bodyPr/>
                    <a:lstStyle/>
                    <a:p>
                      <a:r>
                        <a:rPr lang="en-IN" sz="240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0.55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0.65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037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815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Answer </a:t>
            </a:r>
            <a:r>
              <a:rPr lang="en-US" dirty="0"/>
              <a:t>10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8846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Precision-oriented → </a:t>
            </a:r>
            <a:r>
              <a:rPr lang="en-US" b="1" dirty="0"/>
              <a:t>System A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Recall-oriented → </a:t>
            </a:r>
            <a:r>
              <a:rPr lang="en-US" b="1" dirty="0"/>
              <a:t>System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41900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</a:t>
            </a:r>
            <a:r>
              <a:rPr lang="en-US" dirty="0"/>
              <a:t>11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908" y="1600200"/>
            <a:ext cx="8428892" cy="4525963"/>
          </a:xfrm>
        </p:spPr>
        <p:txBody>
          <a:bodyPr>
            <a:normAutofit/>
          </a:bodyPr>
          <a:lstStyle/>
          <a:p>
            <a:r>
              <a:rPr lang="en-US" dirty="0"/>
              <a:t>A search engine returns the following ranked list for a query:</a:t>
            </a:r>
          </a:p>
          <a:p>
            <a:r>
              <a:rPr lang="en-IN" b="1" dirty="0"/>
              <a:t>Task</a:t>
            </a:r>
          </a:p>
          <a:p>
            <a:r>
              <a:rPr lang="en-IN" dirty="0"/>
              <a:t>Compute:</a:t>
            </a:r>
          </a:p>
          <a:p>
            <a:pPr>
              <a:buFont typeface="+mj-lt"/>
              <a:buAutoNum type="arabicPeriod"/>
            </a:pPr>
            <a:r>
              <a:rPr lang="en-IN" dirty="0"/>
              <a:t>Precision@1</a:t>
            </a:r>
          </a:p>
          <a:p>
            <a:pPr>
              <a:buFont typeface="+mj-lt"/>
              <a:buAutoNum type="arabicPeriod"/>
            </a:pPr>
            <a:r>
              <a:rPr lang="en-IN" dirty="0"/>
              <a:t>Precision@3</a:t>
            </a:r>
          </a:p>
          <a:p>
            <a:pPr>
              <a:buFont typeface="+mj-lt"/>
              <a:buAutoNum type="arabicPeriod"/>
            </a:pPr>
            <a:r>
              <a:rPr lang="en-IN" dirty="0"/>
              <a:t>Precision@5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7DB19B-9F44-8096-AA9A-ACA61932C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478593"/>
              </p:ext>
            </p:extLst>
          </p:nvPr>
        </p:nvGraphicFramePr>
        <p:xfrm>
          <a:off x="2954214" y="2776878"/>
          <a:ext cx="5732586" cy="3623922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910862">
                  <a:extLst>
                    <a:ext uri="{9D8B030D-6E8A-4147-A177-3AD203B41FA5}">
                      <a16:colId xmlns:a16="http://schemas.microsoft.com/office/drawing/2014/main" val="2825332416"/>
                    </a:ext>
                  </a:extLst>
                </a:gridCol>
                <a:gridCol w="1910862">
                  <a:extLst>
                    <a:ext uri="{9D8B030D-6E8A-4147-A177-3AD203B41FA5}">
                      <a16:colId xmlns:a16="http://schemas.microsoft.com/office/drawing/2014/main" val="4265339050"/>
                    </a:ext>
                  </a:extLst>
                </a:gridCol>
                <a:gridCol w="1910862">
                  <a:extLst>
                    <a:ext uri="{9D8B030D-6E8A-4147-A177-3AD203B41FA5}">
                      <a16:colId xmlns:a16="http://schemas.microsoft.com/office/drawing/2014/main" val="3235482525"/>
                    </a:ext>
                  </a:extLst>
                </a:gridCol>
              </a:tblGrid>
              <a:tr h="603987">
                <a:tc>
                  <a:txBody>
                    <a:bodyPr/>
                    <a:lstStyle/>
                    <a:p>
                      <a:r>
                        <a:rPr lang="en-IN" sz="2800"/>
                        <a:t>Rank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Relevant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55321"/>
                  </a:ext>
                </a:extLst>
              </a:tr>
              <a:tr h="603987">
                <a:tc>
                  <a:txBody>
                    <a:bodyPr/>
                    <a:lstStyle/>
                    <a:p>
                      <a:r>
                        <a:rPr lang="en-IN" sz="2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482265"/>
                  </a:ext>
                </a:extLst>
              </a:tr>
              <a:tr h="603987">
                <a:tc>
                  <a:txBody>
                    <a:bodyPr/>
                    <a:lstStyle/>
                    <a:p>
                      <a:r>
                        <a:rPr lang="en-IN" sz="2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4416773"/>
                  </a:ext>
                </a:extLst>
              </a:tr>
              <a:tr h="603987">
                <a:tc>
                  <a:txBody>
                    <a:bodyPr/>
                    <a:lstStyle/>
                    <a:p>
                      <a:r>
                        <a:rPr lang="en-IN" sz="28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7983298"/>
                  </a:ext>
                </a:extLst>
              </a:tr>
              <a:tr h="603987">
                <a:tc>
                  <a:txBody>
                    <a:bodyPr/>
                    <a:lstStyle/>
                    <a:p>
                      <a:r>
                        <a:rPr lang="en-IN" sz="28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4651004"/>
                  </a:ext>
                </a:extLst>
              </a:tr>
              <a:tr h="603987">
                <a:tc>
                  <a:txBody>
                    <a:bodyPr/>
                    <a:lstStyle/>
                    <a:p>
                      <a:r>
                        <a:rPr lang="en-IN" sz="2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D5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800" dirty="0"/>
                        <a:t>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42313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66774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Answer </a:t>
            </a:r>
            <a:r>
              <a:rPr lang="en-US" dirty="0"/>
              <a:t>11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036B6D-9FA0-DDA2-40CD-BABAD63259E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11"/>
          <a:stretch/>
        </p:blipFill>
        <p:spPr>
          <a:xfrm>
            <a:off x="703384" y="1230923"/>
            <a:ext cx="7197970" cy="550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349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Question </a:t>
            </a:r>
            <a:r>
              <a:rPr lang="en-US" dirty="0"/>
              <a:t>12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908" y="1600200"/>
            <a:ext cx="8428892" cy="4525963"/>
          </a:xfrm>
        </p:spPr>
        <p:txBody>
          <a:bodyPr>
            <a:normAutofit/>
          </a:bodyPr>
          <a:lstStyle/>
          <a:p>
            <a:r>
              <a:rPr lang="en-US" dirty="0"/>
              <a:t>For a query: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Total relevant documents = </a:t>
            </a:r>
            <a:r>
              <a:rPr lang="en-US" b="1" dirty="0"/>
              <a:t>4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Relevant documents appear at ranks: </a:t>
            </a:r>
            <a:r>
              <a:rPr lang="en-US" b="1" dirty="0"/>
              <a:t>1, 3, 5, 6</a:t>
            </a:r>
            <a:endParaRPr lang="en-US" dirty="0"/>
          </a:p>
          <a:p>
            <a:r>
              <a:rPr lang="en-US" b="1" dirty="0"/>
              <a:t>Task</a:t>
            </a:r>
          </a:p>
          <a:p>
            <a:r>
              <a:rPr lang="en-US" dirty="0"/>
              <a:t>Compute </a:t>
            </a:r>
            <a:r>
              <a:rPr lang="en-US" b="1" dirty="0"/>
              <a:t>R-Precision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47751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Answer </a:t>
            </a:r>
            <a:r>
              <a:rPr lang="en-US" dirty="0"/>
              <a:t>12</a:t>
            </a:r>
            <a:endParaRPr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82C664-3C25-F6C6-F4DF-CF45D6270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b="1" dirty="0"/>
              <a:t>Step 1: Find R</a:t>
            </a:r>
          </a:p>
          <a:p>
            <a:r>
              <a:rPr lang="pt-BR" dirty="0"/>
              <a:t>R=4 </a:t>
            </a:r>
          </a:p>
          <a:p>
            <a:endParaRPr lang="pt-BR" dirty="0"/>
          </a:p>
          <a:p>
            <a:pPr marL="0" indent="0">
              <a:buNone/>
            </a:pPr>
            <a:r>
              <a:rPr lang="en-US" b="1" dirty="0"/>
              <a:t>Step 2: Consider top R = top 4 documents</a:t>
            </a:r>
          </a:p>
          <a:p>
            <a:r>
              <a:rPr lang="en-US" dirty="0"/>
              <a:t>Relevant in top 4 ranks: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Rank 1 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Rank 3 ✔</a:t>
            </a:r>
          </a:p>
          <a:p>
            <a:r>
              <a:rPr lang="en-US" dirty="0"/>
              <a:t>Total relevant = </a:t>
            </a:r>
            <a:r>
              <a:rPr lang="en-US" b="1" dirty="0"/>
              <a:t>2</a:t>
            </a:r>
          </a:p>
          <a:p>
            <a:pPr marL="0" indent="0">
              <a:buNone/>
            </a:pPr>
            <a:r>
              <a:rPr lang="en-IN" b="1" dirty="0"/>
              <a:t>Step 3: Compute R-Precision</a:t>
            </a:r>
            <a:endParaRPr lang="en-US" b="1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2CF4562-C080-4516-1B04-E8DC29A5A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61" y="5703181"/>
            <a:ext cx="4310101" cy="101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55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882" y="0"/>
            <a:ext cx="9136856" cy="4876324"/>
            <a:chOff x="9972" y="-2359"/>
            <a:chExt cx="12182475" cy="6501765"/>
          </a:xfrm>
        </p:grpSpPr>
        <p:sp>
          <p:nvSpPr>
            <p:cNvPr id="3" name="object 3"/>
            <p:cNvSpPr/>
            <p:nvPr/>
          </p:nvSpPr>
          <p:spPr>
            <a:xfrm>
              <a:off x="623876" y="-2359"/>
              <a:ext cx="4548505" cy="3168650"/>
            </a:xfrm>
            <a:custGeom>
              <a:avLst/>
              <a:gdLst/>
              <a:ahLst/>
              <a:cxnLst/>
              <a:rect l="l" t="t" r="r" b="b"/>
              <a:pathLst>
                <a:path w="4548505" h="3168650">
                  <a:moveTo>
                    <a:pt x="1256288" y="0"/>
                  </a:moveTo>
                  <a:lnTo>
                    <a:pt x="0" y="0"/>
                  </a:lnTo>
                  <a:lnTo>
                    <a:pt x="3293242" y="3168630"/>
                  </a:lnTo>
                  <a:lnTo>
                    <a:pt x="4548038" y="3168630"/>
                  </a:lnTo>
                  <a:lnTo>
                    <a:pt x="3674989" y="2327497"/>
                  </a:lnTo>
                  <a:lnTo>
                    <a:pt x="1256288" y="0"/>
                  </a:lnTo>
                  <a:close/>
                </a:path>
              </a:pathLst>
            </a:custGeom>
            <a:solidFill>
              <a:srgbClr val="79797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6691" y="0"/>
              <a:ext cx="10465308" cy="351129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3788097" y="2242136"/>
              <a:ext cx="1691005" cy="1092200"/>
            </a:xfrm>
            <a:custGeom>
              <a:avLst/>
              <a:gdLst/>
              <a:ahLst/>
              <a:cxnLst/>
              <a:rect l="l" t="t" r="r" b="b"/>
              <a:pathLst>
                <a:path w="1691004" h="1092200">
                  <a:moveTo>
                    <a:pt x="554199" y="0"/>
                  </a:moveTo>
                  <a:lnTo>
                    <a:pt x="0" y="0"/>
                  </a:lnTo>
                  <a:lnTo>
                    <a:pt x="1136342" y="1091875"/>
                  </a:lnTo>
                  <a:lnTo>
                    <a:pt x="1690541" y="1091875"/>
                  </a:lnTo>
                  <a:lnTo>
                    <a:pt x="1471838" y="882606"/>
                  </a:lnTo>
                  <a:lnTo>
                    <a:pt x="554199" y="0"/>
                  </a:lnTo>
                  <a:close/>
                </a:path>
              </a:pathLst>
            </a:custGeom>
            <a:solidFill>
              <a:srgbClr val="99D9E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9972" y="2972399"/>
              <a:ext cx="3660775" cy="3526790"/>
            </a:xfrm>
            <a:custGeom>
              <a:avLst/>
              <a:gdLst/>
              <a:ahLst/>
              <a:cxnLst/>
              <a:rect l="l" t="t" r="r" b="b"/>
              <a:pathLst>
                <a:path w="3660775" h="3526790">
                  <a:moveTo>
                    <a:pt x="0" y="0"/>
                  </a:moveTo>
                  <a:lnTo>
                    <a:pt x="0" y="477832"/>
                  </a:lnTo>
                  <a:lnTo>
                    <a:pt x="3163571" y="3526622"/>
                  </a:lnTo>
                  <a:lnTo>
                    <a:pt x="3660562" y="35266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8540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11841" y="2320818"/>
              <a:ext cx="2994025" cy="2885440"/>
            </a:xfrm>
            <a:custGeom>
              <a:avLst/>
              <a:gdLst/>
              <a:ahLst/>
              <a:cxnLst/>
              <a:rect l="l" t="t" r="r" b="b"/>
              <a:pathLst>
                <a:path w="2994025" h="2885440">
                  <a:moveTo>
                    <a:pt x="0" y="0"/>
                  </a:moveTo>
                  <a:lnTo>
                    <a:pt x="0" y="458147"/>
                  </a:lnTo>
                  <a:lnTo>
                    <a:pt x="2519204" y="2885259"/>
                  </a:lnTo>
                  <a:lnTo>
                    <a:pt x="2993958" y="28852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9B07A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5863538" y="2798346"/>
            <a:ext cx="2516028" cy="528991"/>
          </a:xfrm>
          <a:prstGeom prst="rect">
            <a:avLst/>
          </a:prstGeom>
        </p:spPr>
        <p:txBody>
          <a:bodyPr vert="horz" wrap="square" lIns="0" tIns="9525" rIns="0" bIns="0" rtlCol="0" anchor="ctr">
            <a:spAutoFit/>
          </a:bodyPr>
          <a:lstStyle/>
          <a:p>
            <a:pPr marL="9525">
              <a:spcBef>
                <a:spcPts val="75"/>
              </a:spcBef>
            </a:pPr>
            <a:r>
              <a:rPr sz="3375" dirty="0">
                <a:solidFill>
                  <a:srgbClr val="252525"/>
                </a:solidFill>
              </a:rPr>
              <a:t>Thank</a:t>
            </a:r>
            <a:r>
              <a:rPr sz="3375" spc="-15" dirty="0">
                <a:solidFill>
                  <a:srgbClr val="252525"/>
                </a:solidFill>
              </a:rPr>
              <a:t> you…</a:t>
            </a:r>
            <a:endParaRPr sz="33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862</Words>
  <Application>Microsoft Office PowerPoint</Application>
  <PresentationFormat>On-screen Show (4:3)</PresentationFormat>
  <Paragraphs>263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Question 1</vt:lpstr>
      <vt:lpstr>PowerPoint Presentation</vt:lpstr>
      <vt:lpstr>Answer 1</vt:lpstr>
      <vt:lpstr>Answer 1</vt:lpstr>
      <vt:lpstr>Question 2</vt:lpstr>
      <vt:lpstr>Answer 2</vt:lpstr>
      <vt:lpstr>Question 3</vt:lpstr>
      <vt:lpstr>PowerPoint Presentation</vt:lpstr>
      <vt:lpstr>Question 4</vt:lpstr>
      <vt:lpstr>Answer 4</vt:lpstr>
      <vt:lpstr>Question 5</vt:lpstr>
      <vt:lpstr>Answer 5</vt:lpstr>
      <vt:lpstr>Question 6</vt:lpstr>
      <vt:lpstr>PowerPoint Presentation</vt:lpstr>
      <vt:lpstr>Question 7</vt:lpstr>
      <vt:lpstr>Answer 7</vt:lpstr>
      <vt:lpstr>Question 8</vt:lpstr>
      <vt:lpstr>Answer 8</vt:lpstr>
      <vt:lpstr>Question 9</vt:lpstr>
      <vt:lpstr>Answer 9</vt:lpstr>
      <vt:lpstr>Question 10</vt:lpstr>
      <vt:lpstr>Answer 10</vt:lpstr>
      <vt:lpstr>Question 10</vt:lpstr>
      <vt:lpstr>Question 10</vt:lpstr>
      <vt:lpstr>Answer 10</vt:lpstr>
      <vt:lpstr>Question 11</vt:lpstr>
      <vt:lpstr>Answer 11</vt:lpstr>
      <vt:lpstr>Question 12</vt:lpstr>
      <vt:lpstr>Answer 12</vt:lpstr>
      <vt:lpstr>Thank you…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 1</dc:title>
  <dc:subject/>
  <dc:creator/>
  <cp:keywords/>
  <dc:description>generated using python-pptx</dc:description>
  <cp:lastModifiedBy>LENOVO</cp:lastModifiedBy>
  <cp:revision>5</cp:revision>
  <dcterms:created xsi:type="dcterms:W3CDTF">2013-01-27T09:14:16Z</dcterms:created>
  <dcterms:modified xsi:type="dcterms:W3CDTF">2025-12-16T03:32:39Z</dcterms:modified>
  <cp:category/>
</cp:coreProperties>
</file>